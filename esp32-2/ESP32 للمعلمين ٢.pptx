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</p:sldIdLst>
  <p:notesMasterIdLst>
    <p:notesMasterId r:id="rId18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notesMaster" Target="notesMasters/notesMaster1.xml"/><Relationship Id="rId188" Type="http://schemas.openxmlformats.org/officeDocument/2006/relationships/presProps" Target="presProps.xml"/><Relationship Id="rId189" Type="http://schemas.openxmlformats.org/officeDocument/2006/relationships/viewProps" Target="viewProps.xml"/><Relationship Id="rId190" Type="http://schemas.openxmlformats.org/officeDocument/2006/relationships/theme" Target="theme/theme1.xml"/><Relationship Id="rId1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رحّب بالمعلمين. قل: «في الجزء الأول صنعنا ليدًا يومض وزرًا وإشارة مشاة. اليوم تحسّ اللوحة بالعالم، وتحرّك المحركات… ثم تتصل بالجوال وتتكلم مع لوحة أخرى بلا أسلاك.»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اترك المشهد يعمل: الحساسات على اليسار ترسل نبضاتها إلى ESP32، والمحركات تتحرك، والموجات تخرج إلى الجوال الذي يعرض القراءات حيّة. أشر إلى الكلمات الأربع أسفل المشهد: الكلمة الرابعة «يتصل» هي ما يجعل هذه الدورة مختلفة كليًا عن الأردوينو.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تعِد الأردوينو ٢ كما هو: كل مشروع يأخذ خطوة إضافية «يتصل». هذا ما يجعل الطلاب يقولون «واو».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جملة في هذا الوعد مشروع حقيقي بكود مُجرَّب في الحقيبة.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المعلمين تحليل أي جهاز في بيوتهم بهذه الطبقات: المكيف (يحسّ الحرارة، يقرر، يشغّل الضاغط، ويتصل بتطبيق).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المحاور ١–٧ تبني «العضلات والحواس»، والمحاور ٨–١٣ تبني «الصوت»: الاتصال. كل محور متصل يعيد استعمال حساسات المحاور الأولى.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وزّع هذه الخريطة مطبوعة. حين تبقى الأطراف ثابتة يستطيع الطالب جمع مشروعين في لوحة واحدة دون إعادة التوصيل.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تملك كل القطع؟ Wokwi يحاكي ESP32 مع الواي فاي وخادم الويب فعلًا، ومعظم الحساسات. والمختبرات في هذه الشرائح تعمل بلا أي قطعة.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الشرح الوافي هو طلب المدرّب بعد الجزء الأول: لا مصطلح بلا شرح كامل.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الجزء الأول قرأنا الزر: مضغوط أو لا. اليوم نقرأ «كم»: كم دار المقبض؟ كم الضوء؟ كم الحرارة؟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شغّل الواي فاي في التجربة: هذه الحقيقة سنحتاجها في المحاور ٨–١٣. لهذا وضعنا كل الحساسات التماثلية على 34 و35.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أكثر خطأ عند المعلمين القادمين من الأردوينو. اجعلهم يكتبونه على بطاقة.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ثلاثة أوضاع: ESP32 (الحساب النظري)، والأونو (للمقارنة: الرقم الأقصى ١٠٢٣)، و«الحقيقة»: قارئ ESP32 غير خطي عند الطرفين، يقرأ صفرًا تحت ٠٫١٤ فولت تقريبًا ويتشبّع قرب ٣٫١. لذلك أضافت Espressif الدالة analogReadMilliVolts التي تصحح القراءة. راقب الراسم أعلى اليمين.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جرّب زر «اعكس»: سؤال جميل للطلاب: «متى نحتاج العكس؟» (إنارة تقوى كلما قلّ ضوء الغرفة).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نبّه: الطرفان الخارجيان للمقبض إلى 3V3 وGND، والأوسط إلى 34. لو وُضع الأوسط على طرف خارجي فلن يتغير شيء.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الطلاب يحبون الراسم أكثر من الأرقام. اطلب منهم تحريك المقبض بسرعة ثم ببطء ورؤية الشكل.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قصير يجعل العلاقة بين الدوران والرقم محسوسة في اليد.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نستبدل المقبض بحساس ضوء… ونكتشف «مقسم الجهد».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 افتتاحي: كيف تضيء أعمدة الشارع وحدها عند المغرب؟ الجواب في قطعة سعرها أقل من ريال.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دع المعلمين يقيسون LDR بالملتيميتر مع تغطيتها بأيديهم: الرقم يقفز من ١ك إلى ١٠٠ك أمام أعينهم.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حرّك المؤشر: في الضوء تصغر R1 فيرتفع جهد الطرف، وفي الظلام يحدث العكس. هذه القاعدة وحدها تفسر كل الكود التالي.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حرّك «الضوء» ببطء من النهار إلى الليل: السماء تتغير، ومقاومة LDR تكبر، والجهد على 35 ينخفض، والقراءة تنخفض. حين تنزل تحت العتبة يضيء المصباح. ثم حرّك العتبة: عتبة عالية = يضيء مبكرًا عند الغروب.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نقطة الالتقاء بين LDR والمقاومة هي «قلب» الدائرة. اجعل الطلاب يشيرون إليها قبل توصيل سلك 35.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درس في المنهج العلمي لا في البرمجة فقط: قياس ثم قرار. لا توجد عتبة «صحيحة» في الكتاب.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تحدٍّ للمتقدمين: عدّل الكود ليستخدم عتبتين. التلميح: if (light &lt; 1400) شغّل؛ else if (light &gt; 1600) أطفئ.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النشاط يربط البرمجة بخدمة المدرسة: توفير الكهرباء.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حساس رقمي يرسل الحرارة والرطوبة معًا… ونتعرف على «المكتبات».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أول حساس «ذكي» في الدورة: فيه شريحة صغيرة تقيس وترسل النتيجة أرقامًا جاهزة.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للفصول والمعارض: DHT22 يستحق الفرق. الكود نفسه لكليهما، فقط DHT11 بدل DHT22 في سطر واحد.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مكتبتا هذا المحور: DHT sensor library (من Adafruit)، وستطلب تثبيت Adafruit Unified Sensor معها: اضغط Install All.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لاحظ: القراءة لا تتغير لحظيًا مع المؤشر، بل كل ثانيتين: هذا حد الحساس الحقيقي. ارفع الحرارة فوق الحد: تدور المروحة. ثم «افصل سلك البيانات»: القراءة nan، والكود يتجاهلها بأمان. ثم جرّب DHT11: الأرقام تصبح صحيحة بلا كسور.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تنبيه سلامة إلزامي في كل حصة: المرحّل يعزل الطالب عن الكهرباء العالية فقط إذا لم يلمس أحد الأطراف العلوية.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إن كان الحساس بأربع أرجل (بلا لوحة صغيرة): الرجل الثالث لا تُوصل، وضع مقاومة 10k بين رجل البيانات و3V3.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ليس إلزاميًا للطلاب الصغار. يكفي أن يقرؤوه ويفهموه.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المحور العاشر ستظهر هذه القراءات على الجوال مباشرة، فتصبح محطة أرصاد متصلة.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نقيس المسافة بالصوت… ونحمي ESP32 من الخمسة فولت.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قصة الخفاش: يصرخ صرخات لا نسمعها، ويعرف بُعد الفريسة من زمن عودة الصدى. حساسنا يفعل الشيء نفسه.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اسأل الطلاب: لماذا نقسم على ٢؟ كثيرون ينسون أن الموجة قطعت المسافة مرتين.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المهلة 30000 ميكروثانية = نحو ٥ أمتار ذهابًا وإيابًا. أبعد من ذلك = «لا صدى» فنعيد 999.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توجد مقاومة 2k؟ استعمل مقاومتين 1k على التوالي. أو 1k و2.2k (تعطي ٣٫٤ فولت: مقبول).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اسحب الجدار بعيدًا: الموجة تأخذ وقتًا أطول. قرّبه تحت ٥٠ سم: تبدأ النغمات وتتسارع. فعّل الصوت 🔊. ثم اضغط «Echo بلا مقسم»: يظهر ٥ فولت أحمر يومض على الطرف.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المقاومة 1k من Echo إلى نقطة الالتقاء، و2k من نقطة الالتقاء إلى GND، والسلك إلى 27 من نقطة الالتقاء. أكثر خطأ: عكس المقاومتين فيصل ١٫٧ فولت فقط ولا يُقرأ HIGH.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تجربة: قيسوا المسافة إلى دفتر ثم إلى وسادة ثم إلى جدار مائل.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مشروع إنساني مؤثر، ومناسب لمعارض الابتكار.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حساس يرى حرارة الأجسام المتحركة… وبازر يعزف الألحان.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سؤال: كيف تضيء أنوار الممرات حين نمر؟ وكيف يعرف جهاز الإنذار أن لصًا دخل؟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«سلبي» لأنه لا يرسل شيئًا (بخلاف حساس الموجات الذي يصرخ). يستقبل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نصيحة للفصل: أدر مقبض الزمن إلى أقصى اليسار (٣ ثوانٍ) لترى النتائج بسرعة.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«امشِ»: كلما انتقل الشخص بين مناطق المخروط صار OUT = HIGH لثلاث ثوانٍ وانطلق الإنذار. ثم «قف ساكنًا»: بعد ثلاث ثوانٍ يعود LOW رغم وجود الشخص! هذا أهم درس: PIR يرى التغيّر لا الوجود. ثم اضغط «شغّل اللحن» واستمع.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قبل ledcWriteTone يلزم ledcAttach(pin, 2000, 8) مرة في setup. البازر «السلبي» فقط يعزف نغمات؛ «الإيجابي» يصدر نغمة واحدة ثابتة.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خبر جميل: وحدة HC-SR501 تُغذّى بـ ٥ فولت لكن خرجها ٣٫٣ فولت، فلا تحتاج مقسم جهد. اقرأ دائمًا ورقة بيانات القطعة.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اجعل الطلاب يبحثون عن ترددات النوتات ويكتبون لحنًا قصيرًا يعرفونه.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لعبة تُعلّم حدود الحساس بالتجربة: الحركة البطيئة جدًا والحواجز الزجاجية.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أول محرك في الدورة: السيرفو الذي يتحرك إلى أي زاوية نريدها.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أمثلة: ذراع بوابة المواقف، وجهاز تغذية الأسماك، وعين الروبوت. وفي مشروع «لمسة تراث» استعملنا محركات مشابهة.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السيرفو «مغلق الحلقة»: يقيس موضعه ويصحح نفسه. لهذا يبقى في زاويته حتى لو دفعته.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حرّك الزاوية: النبضة الخضراء تتسع وتضيق. ٥٠٠ ميكروثانية = ٠°، و٢٤٠٠ = ١٨٠°، تتكرر كل ٢٠ مللي ثانية (٥٠ مرة في الثانية). ثم «سيارة تقترب»: البوابة تُفتح بنعومة، تنتظر، ثم تُغلق.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ثبّتها من Library Manager: ابحث عن ESP32Servo (للمؤلف Kevin Harrington).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علامة نقص الطاقة: اللوحة تعيد التشغيل وحدها كلما تحرك السيرفو (Brownout). الحل: مصدر ٥ فولت منفصل للسيرفوهات المتعددة، مع GND مشترك.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ثبّت عصا آيس كريم على ذراع السيرفو لتكون ذراع البوابة. الحساس يواجه الطريق.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المشروع يجمع المحور الأول والسادس في ٥ أسطر.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محرك يدور بلا توقف… ونتحكم في سرعته واتجاهه بجسر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المحور يجهّز عجلات السيارة في المحور الثاني عشر.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المحرك يحتاج تيارًا أكبر بخمسين مرة مما يعطيه الطرف. توصيله مباشرة قد يتلف الطرف أو الشريحة كلها.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«أمامًا»: يُغلق S1 وS4 فيمر التيار في المحرك من اليسار لليمين. «خلفًا»: S2 وS3 فينعكس التيار والدوران. حرّك المؤشر: الرقم الموجب أمام والسالب خلف وحجمه السرعة. ثم «S1+S3 معًا»: تماس قاتل. الدرايفر الحقيقي يمنعه، وهذا سبب وجوده.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لماذا GND المشترك؟ لأن الجهد يُقاس بين نقطتين: IN1 = HIGH لا معنى له للدرايفر إن لم يشترك معنا في «الصفر».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ركّب كل شيء والبطارية مفصولة. افحص، ثم صِل البطارية آخر شيء.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كل مجموعة اكتشاف رقم منطقة الموت لمحركها: يختلف بين المحركات ومع البطارية.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يربط PWM بالقياس الحقيقي، ويكشف أثر البطارية الضعيفة.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انتهى العالم المادي. من المحور التالي: ESP32 يتصل بالعالم.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من هنا يبدأ ما لا يستطيعه الأونو أبدًا. قل للمعلمين: «كل ما سبق كان تمهيدًا لهذه اللحظة».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تنبيه عملي مهم: كثير من شبكات المدارس «معزولة» (Client isolation): الجوال لا يرى الأجهزة الأخرى. الحل: راوتر صغير خاص بالمعمل، أو وضع AP في المحور الثاني عشر.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ESP32-C5 الأحدث يدعم 5GHz، لكن DevKit V1 الذي نستعمله لا يدعمها.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أضف «جدارًا خرسانيًا» في التجربة: يأخذ نحو ١٠–١٢ dBm.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لعنوان ثابت: WiFi.config قبل WiFi.begin، أو احجز العنوان في إعدادات الراوتر (أنظف).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بـ scanNetworks: لاحظ أن شبكة 5G لا تظهر. ثم جرّب ثلاث حالات فشل: Teachers-5G، وكلمة مرور خاطئة، وبعد ٦٠ مترًا. أخيرًا الحالة الناجحة: تابع الرسائل الأربع بين الراوتر وESP32 (DHCP) حتى يظهر العنوان 192.168.1.50 تحت اللوحة.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٥ دقائق مدهش: كل مجموعة تشغّله وتقارن عدد الشبكات وأقواها في أماكن مختلفة من المدرسة.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نصيحة ذهبية للحصص: فعّل «نقطة الاتصال» في جوالك بشبكة 2.4GHz واسم وكلمة مرور بسيطين. هذه شبكة المعمل المضمونة.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علمي حقيقي: هكذا يخطط مهندسو الشبكات.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الجوال يطرق باب ESP32… وESP32 يفتح له صفحة ويب.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«اللحظة التي لا تُنسى» التي وعدنا بها في الجزء الأول: أول ليد يُضاء من الجوال.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رمز ٢٠٠ = تم بنجاح، و٤٠٤ = غير موجود. اطلب من الطلاب تذكر آخر مرة رأوا «404» على موقع.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تجربة سريعة: اكتب الرابط يدويًا في متصفح الجوال بدل الضغط على الزر: يعمل! هذا يكشف أن الزر مجرد رابط.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«أشعل» على شاشة الجوال: الطلب يخرج من الجوال ويمر بالراوتر ويصل ESP32، فيتلون السطر server.on("/on")، ويضيء الليد، ثم يعود الرد الأخضر. ثم اكتب /abc: يعود 404 أحمر. لاحظ سجل HTTP أسفل الوسط.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لماذا HTML؟ لأنها اللغة التي يفهمها كل متصفح. الطلاب الذين تعلموا HTML في الحاسب سيجدونها مألوفة جدًا.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Wokwi: خادم الويب يعمل فعلًا! اتبع تعليمات «Wokwi IoT Gateway» أو استعمل مشروعًا جاهزًا فيه WebServer.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الأخير ممتع جدًا: الطلاب يكتشفون أن أي جهاز على الشبكة يستطيع التحكم… ومن هنا نقاش الأمان.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الاتجاه المعاكس: ESP32 يرسل قراءات الحساسات إلى الجوال حيّة.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هنا نجمع المحاور ١ و٢ و٣ و٦ و٩ في مشروع واحد: هذا هو إنترنت الأشياء.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الفكرة تسمى AJAX، وتستعملها كل التطبيقات: واتساب يسأل باستمرار «هل وصلت رسائل؟».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C++ نبني JSON كنص بالجمع. للمشاريع الكبيرة توجد مكتبة ArduinoJson.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ثانيتين يخرج طلب GET /data من الجوال ويعود JSON أخضر فتتحدث الأرقام. حرّك «حرارة الفصل»: ينتظر الجوال حتى السؤال التالي. ثم اضغط زر الليد على شاشة الجوال، وحرّك «منزلق الجوال»: يخرج /servo?a=… ويدور السيرفو على اللوحة. أوقف التحديث التلقائي لترى المشكلة التي حلّها.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كود JavaScript يعمل في الجوال لا في ESP32! ESP32 يرسله فقط داخل الصفحة. فكرة مذهلة للطلاب: برنامجان بلغتين في جهازين يتعاونان.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المواطنة الرقمية جزء من الدرس: الطلاب يكتشفون الثغرة بأنفسهم في نشاط المحور التاسع، فتكون فرصة رائعة للنقاش.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لحظة ربط مذهلة بين العالم المادي والرقمي يعيشها الفصل كله.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لوحتان تتكلمان مباشرة… بلا راوتر ولا إنترنت.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ما استعملناه في مشروع «لمسة تراث»: الروبوت الأول يبلغ الروبوت الثاني بالتحرك للخطر الأقل. كل ذلك بـ ESP-NOW.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WRO: مسابقات كثيرة تمنع الاتصال بشبكات خارجية، وESP-NOW لا يحتاج أي شبكة.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نشاط: كل مجموعة تطبع MAC لوحتها وتلصقه عليها بشريط ورقي. ستحتاجونه طوال المحور.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زر المرسل A: في وضع البث تصل الرسالة إلى B وC معًا في نحو ٢ مللي ثانية. ثم اختر «B فقط»: الرسالة الخاصة تصل B وحدها. ثم ابعد C إلى ٢٥٠ مترًا وأعد البث: الرسالة لا تصل. لاحظ أن count يزيد مع كل ضغطة: هكذا يعرف المستقبل أنها رسالة جديدة.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لماذا volatile على المتغير؟ لأن الدالة تعمل في «خلفية» النظام: الكلمة تخبر المترجم أن القيمة قد تتغير فجأة.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الكود الكامل في الحقيبة فيه أيضًا الليد ورقم الرسالة. ونسخة NowMAC تطبع عنوان اللوحة.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البلوتوث موضوع الجزء الثالث إن شاء الله، مع الإنترنت السحابي.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هكذا تعمل أنظمة النداء في المستشفيات والمطاعم.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نجمع المحركات والحساس والويب… في سيارة تقودها من جوالك وتحمي نفسها.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مشروع الدمج الأكبر: المحاور ٤ و٧ و٩ معًا، مع فكرتين جديدتين: وضع AP، وmillis.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نصيحة: اجعل اسم كل سيارة مختلفًا (ESP32-Car-1، -2…) حتى لا يتصل الطلاب بسيارة غيرهم.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أهم مهارة برمجية في الدورة للمستقبل: كل مشروع حقيقي يعمل «عدة أشياء معًا» يستعمل millis.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مطوّلًا على ⬆️: السيارة تتقدم والشعاع الأزرق أمامها هو الحساس. وجّهها نحو صندوق: حين تصل ٢٠ سم يتحول الشعاع أحمر وتقف وحدها رغم ضغطك! ثم عطّل الحماية وجرّب: تصطدم. هذا درس «الأمان قبل الأوامر»: القرار الأخير للحساس لا للجوال.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منظّم ٥ فولت على L298N يمكنه تغذية ESP32 عبر VIN إذا كانت البطارية أقل من ١٢ فولت والجسر 5V-EN موضوع. أو باور بنك منفصل للوحة (أكثر استقرارًا).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التحدي الثالث يدمج الدورتين: سيارة الأردوينو ٢ الذاتية + تحكم الجوال.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ختامي حماسي. صوّروه للمعرض.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الأخير: الفصل الذكي، مشروع التخرج الذي يجمع الدورة كلها.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مشروع يستعمل أغلب المحاور، ويمكن تعليقه فعلًا في الفصل.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وضع الحراسة: المعلم يفعّله من جواله قبل مغادرة الفصل؛ أي حركة بعدها تطلق الإنذار وتظهر تنبيهًا أحمر على الجوال.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الكود الكامل في الحقيبة (١١٠ أسطر) مع الصفحة وJSON. اطلب من المعلمين قراءته وتحديد رقم المحور لكل جزء.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الخطوة الثالثة أهم خطوة: أغلب المشاريع الفاشلة دمجت كل شيء دفعة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وزّع هذا الجدول على الطلاب من أول يوم: يعرفون ما المطلوب.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أي ملف لتنزيله. غيّر اسم الشبكة وكلمة المرور في أكواد الويب قبل الرفع.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حصتان في الأسبوع تكفيان. هذه الأسابيع يمكن تدريسها في Wokwi بالكامل إن لم تتوفر القطع.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اجعل الأسبوع الثامن معرضًا مفتوحًا لأولياء الأمور: الجوالات بأيديهم يتحكمون بمشاريع أبنائهم.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ما بنيناه (الحساسات وJSON والخادم) هو الأساس المباشر للجزء الثالث.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عشر دقائق ختامية. اجمع الأفكار: كثير منها يصلح لمعارض الابتكار ومسابقات WRO.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اختم: «في الجزء الأول أضاء طلابكم ليدًا. اليوم يستطيعون بناء فصل ذكي يكلّم جوالًا. هذا هو الفرق الذي تصنعونه».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image" Target="../media/image-1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image" Target="../media/image-17-5.jpg"/><Relationship Id="rId6" Type="http://schemas.openxmlformats.org/officeDocument/2006/relationships/image" Target="../media/image-17-6.jpg"/><Relationship Id="rId7" Type="http://schemas.openxmlformats.org/officeDocument/2006/relationships/image" Target="../media/image-17-7.jpg"/><Relationship Id="rId8" Type="http://schemas.openxmlformats.org/officeDocument/2006/relationships/image" Target="../media/image-17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5" Type="http://schemas.openxmlformats.org/officeDocument/2006/relationships/image" Target="../media/image-19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image" Target="../media/image-29-3.jpg"/><Relationship Id="rId4" Type="http://schemas.openxmlformats.org/officeDocument/2006/relationships/image" Target="../media/image-29-4.jpg"/><Relationship Id="rId5" Type="http://schemas.openxmlformats.org/officeDocument/2006/relationships/image" Target="../media/image-29-5.jpg"/><Relationship Id="rId6" Type="http://schemas.openxmlformats.org/officeDocument/2006/relationships/image" Target="../media/image-29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image" Target="../media/image-30-4.jpg"/><Relationship Id="rId5" Type="http://schemas.openxmlformats.org/officeDocument/2006/relationships/image" Target="../media/image-30-5.jpg"/><Relationship Id="rId6" Type="http://schemas.openxmlformats.org/officeDocument/2006/relationships/image" Target="../media/image-3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image" Target="../media/image-33-3.jpg"/><Relationship Id="rId4" Type="http://schemas.openxmlformats.org/officeDocument/2006/relationships/image" Target="../media/image-33-4.jpg"/><Relationship Id="rId5" Type="http://schemas.openxmlformats.org/officeDocument/2006/relationships/image" Target="../media/image-3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jpg"/><Relationship Id="rId3" Type="http://schemas.openxmlformats.org/officeDocument/2006/relationships/image" Target="../media/image-44-3.jpg"/><Relationship Id="rId4" Type="http://schemas.openxmlformats.org/officeDocument/2006/relationships/image" Target="../media/image-44-4.jpg"/><Relationship Id="rId5" Type="http://schemas.openxmlformats.org/officeDocument/2006/relationships/image" Target="../media/image-44-5.jpg"/><Relationship Id="rId6" Type="http://schemas.openxmlformats.org/officeDocument/2006/relationships/image" Target="../media/image-4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jpg"/><Relationship Id="rId3" Type="http://schemas.openxmlformats.org/officeDocument/2006/relationships/image" Target="../media/image-45-3.jpg"/><Relationship Id="rId4" Type="http://schemas.openxmlformats.org/officeDocument/2006/relationships/image" Target="../media/image-45-4.jpg"/><Relationship Id="rId5" Type="http://schemas.openxmlformats.org/officeDocument/2006/relationships/image" Target="../media/image-45-5.jpg"/><Relationship Id="rId6" Type="http://schemas.openxmlformats.org/officeDocument/2006/relationships/image" Target="../media/image-45-6.jpg"/><Relationship Id="rId7" Type="http://schemas.openxmlformats.org/officeDocument/2006/relationships/image" Target="../media/image-45-7.jpg"/><Relationship Id="rId8" Type="http://schemas.openxmlformats.org/officeDocument/2006/relationships/image" Target="../media/image-45-8.jpg"/><Relationship Id="rId9" Type="http://schemas.openxmlformats.org/officeDocument/2006/relationships/image" Target="../media/image-45-9.jpg"/><Relationship Id="rId10" Type="http://schemas.openxmlformats.org/officeDocument/2006/relationships/image" Target="../media/image-45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jpg"/><Relationship Id="rId3" Type="http://schemas.openxmlformats.org/officeDocument/2006/relationships/image" Target="../media/image-47-3.jpg"/><Relationship Id="rId4" Type="http://schemas.openxmlformats.org/officeDocument/2006/relationships/image" Target="../media/image-47-4.jpg"/><Relationship Id="rId5" Type="http://schemas.openxmlformats.org/officeDocument/2006/relationships/image" Target="../media/image-4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image" Target="../media/image-58-2.jpg"/><Relationship Id="rId3" Type="http://schemas.openxmlformats.org/officeDocument/2006/relationships/image" Target="../media/image-58-3.jpg"/><Relationship Id="rId4" Type="http://schemas.openxmlformats.org/officeDocument/2006/relationships/image" Target="../media/image-58-4.jpg"/><Relationship Id="rId5" Type="http://schemas.openxmlformats.org/officeDocument/2006/relationships/image" Target="../media/image-58-5.jpg"/><Relationship Id="rId6" Type="http://schemas.openxmlformats.org/officeDocument/2006/relationships/image" Target="../media/image-58-6.jpg"/><Relationship Id="rId7" Type="http://schemas.openxmlformats.org/officeDocument/2006/relationships/image" Target="../media/image-58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image" Target="../media/image-59-2.jpg"/><Relationship Id="rId3" Type="http://schemas.openxmlformats.org/officeDocument/2006/relationships/image" Target="../media/image-59-3.jpg"/><Relationship Id="rId4" Type="http://schemas.openxmlformats.org/officeDocument/2006/relationships/image" Target="../media/image-59-4.jpg"/><Relationship Id="rId5" Type="http://schemas.openxmlformats.org/officeDocument/2006/relationships/image" Target="../media/image-59-5.jpg"/><Relationship Id="rId6" Type="http://schemas.openxmlformats.org/officeDocument/2006/relationships/image" Target="../media/image-59-6.jpg"/><Relationship Id="rId7" Type="http://schemas.openxmlformats.org/officeDocument/2006/relationships/image" Target="../media/image-59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image" Target="../media/image-61-2.jpg"/><Relationship Id="rId3" Type="http://schemas.openxmlformats.org/officeDocument/2006/relationships/image" Target="../media/image-61-3.jpg"/><Relationship Id="rId4" Type="http://schemas.openxmlformats.org/officeDocument/2006/relationships/image" Target="../media/image-61-4.jpg"/><Relationship Id="rId5" Type="http://schemas.openxmlformats.org/officeDocument/2006/relationships/image" Target="../media/image-61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image" Target="../media/image-72-2.jpg"/><Relationship Id="rId3" Type="http://schemas.openxmlformats.org/officeDocument/2006/relationships/image" Target="../media/image-72-3.jpg"/><Relationship Id="rId4" Type="http://schemas.openxmlformats.org/officeDocument/2006/relationships/image" Target="../media/image-72-4.jpg"/><Relationship Id="rId5" Type="http://schemas.openxmlformats.org/officeDocument/2006/relationships/image" Target="../media/image-72-5.jpg"/><Relationship Id="rId6" Type="http://schemas.openxmlformats.org/officeDocument/2006/relationships/image" Target="../media/image-72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image" Target="../media/image-73-2.jpg"/><Relationship Id="rId3" Type="http://schemas.openxmlformats.org/officeDocument/2006/relationships/image" Target="../media/image-73-3.jpg"/><Relationship Id="rId4" Type="http://schemas.openxmlformats.org/officeDocument/2006/relationships/image" Target="../media/image-73-4.jpg"/><Relationship Id="rId5" Type="http://schemas.openxmlformats.org/officeDocument/2006/relationships/image" Target="../media/image-73-5.jpg"/><Relationship Id="rId6" Type="http://schemas.openxmlformats.org/officeDocument/2006/relationships/image" Target="../media/image-7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image" Target="../media/image-75-2.jpg"/><Relationship Id="rId3" Type="http://schemas.openxmlformats.org/officeDocument/2006/relationships/image" Target="../media/image-75-3.jpg"/><Relationship Id="rId4" Type="http://schemas.openxmlformats.org/officeDocument/2006/relationships/image" Target="../media/image-75-4.jpg"/><Relationship Id="rId5" Type="http://schemas.openxmlformats.org/officeDocument/2006/relationships/image" Target="../media/image-7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jpg"/><Relationship Id="rId2" Type="http://schemas.openxmlformats.org/officeDocument/2006/relationships/image" Target="../media/image-86-2.jpg"/><Relationship Id="rId3" Type="http://schemas.openxmlformats.org/officeDocument/2006/relationships/image" Target="../media/image-86-3.jpg"/><Relationship Id="rId4" Type="http://schemas.openxmlformats.org/officeDocument/2006/relationships/image" Target="../media/image-86-4.jpg"/><Relationship Id="rId5" Type="http://schemas.openxmlformats.org/officeDocument/2006/relationships/image" Target="../media/image-86-5.jpg"/><Relationship Id="rId6" Type="http://schemas.openxmlformats.org/officeDocument/2006/relationships/image" Target="../media/image-8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jpg"/><Relationship Id="rId2" Type="http://schemas.openxmlformats.org/officeDocument/2006/relationships/image" Target="../media/image-87-2.jpg"/><Relationship Id="rId3" Type="http://schemas.openxmlformats.org/officeDocument/2006/relationships/image" Target="../media/image-87-3.jpg"/><Relationship Id="rId4" Type="http://schemas.openxmlformats.org/officeDocument/2006/relationships/image" Target="../media/image-87-4.jpg"/><Relationship Id="rId5" Type="http://schemas.openxmlformats.org/officeDocument/2006/relationships/image" Target="../media/image-87-5.jpg"/><Relationship Id="rId6" Type="http://schemas.openxmlformats.org/officeDocument/2006/relationships/image" Target="../media/image-87-6.jpg"/><Relationship Id="rId7" Type="http://schemas.openxmlformats.org/officeDocument/2006/relationships/image" Target="../media/image-87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jpg"/><Relationship Id="rId2" Type="http://schemas.openxmlformats.org/officeDocument/2006/relationships/image" Target="../media/image-88-2.jpg"/><Relationship Id="rId3" Type="http://schemas.openxmlformats.org/officeDocument/2006/relationships/image" Target="../media/image-88-3.jpg"/><Relationship Id="rId4" Type="http://schemas.openxmlformats.org/officeDocument/2006/relationships/image" Target="../media/image-88-4.jpg"/><Relationship Id="rId5" Type="http://schemas.openxmlformats.org/officeDocument/2006/relationships/image" Target="../media/image-88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jpg"/><Relationship Id="rId2" Type="http://schemas.openxmlformats.org/officeDocument/2006/relationships/image" Target="../media/image-98-2.jpg"/><Relationship Id="rId3" Type="http://schemas.openxmlformats.org/officeDocument/2006/relationships/image" Target="../media/image-98-3.jpg"/><Relationship Id="rId4" Type="http://schemas.openxmlformats.org/officeDocument/2006/relationships/image" Target="../media/image-98-4.jpg"/><Relationship Id="rId5" Type="http://schemas.openxmlformats.org/officeDocument/2006/relationships/image" Target="../media/image-98-5.jpg"/><Relationship Id="rId6" Type="http://schemas.openxmlformats.org/officeDocument/2006/relationships/image" Target="../media/image-98-6.jpg"/><Relationship Id="rId7" Type="http://schemas.openxmlformats.org/officeDocument/2006/relationships/image" Target="../media/image-98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jpg"/><Relationship Id="rId2" Type="http://schemas.openxmlformats.org/officeDocument/2006/relationships/image" Target="../media/image-99-2.jpg"/><Relationship Id="rId3" Type="http://schemas.openxmlformats.org/officeDocument/2006/relationships/image" Target="../media/image-99-3.jpg"/><Relationship Id="rId4" Type="http://schemas.openxmlformats.org/officeDocument/2006/relationships/image" Target="../media/image-99-4.jpg"/><Relationship Id="rId5" Type="http://schemas.openxmlformats.org/officeDocument/2006/relationships/image" Target="../media/image-99-5.jpg"/><Relationship Id="rId6" Type="http://schemas.openxmlformats.org/officeDocument/2006/relationships/image" Target="../media/image-99-6.jpg"/><Relationship Id="rId7" Type="http://schemas.openxmlformats.org/officeDocument/2006/relationships/image" Target="../media/image-99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jpg"/><Relationship Id="rId2" Type="http://schemas.openxmlformats.org/officeDocument/2006/relationships/image" Target="../media/image-101-2.jpg"/><Relationship Id="rId3" Type="http://schemas.openxmlformats.org/officeDocument/2006/relationships/image" Target="../media/image-101-3.jpg"/><Relationship Id="rId4" Type="http://schemas.openxmlformats.org/officeDocument/2006/relationships/image" Target="../media/image-101-4.jpg"/><Relationship Id="rId5" Type="http://schemas.openxmlformats.org/officeDocument/2006/relationships/image" Target="../media/image-101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jpg"/><Relationship Id="rId2" Type="http://schemas.openxmlformats.org/officeDocument/2006/relationships/image" Target="../media/image-113-2.jpg"/><Relationship Id="rId3" Type="http://schemas.openxmlformats.org/officeDocument/2006/relationships/image" Target="../media/image-113-3.jpg"/><Relationship Id="rId4" Type="http://schemas.openxmlformats.org/officeDocument/2006/relationships/image" Target="../media/image-113-4.jpg"/><Relationship Id="rId5" Type="http://schemas.openxmlformats.org/officeDocument/2006/relationships/image" Target="../media/image-11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jpg"/><Relationship Id="rId2" Type="http://schemas.openxmlformats.org/officeDocument/2006/relationships/image" Target="../media/image-114-2.jpg"/><Relationship Id="rId3" Type="http://schemas.openxmlformats.org/officeDocument/2006/relationships/image" Target="../media/image-114-3.jpg"/><Relationship Id="rId4" Type="http://schemas.openxmlformats.org/officeDocument/2006/relationships/image" Target="../media/image-114-4.jpg"/><Relationship Id="rId5" Type="http://schemas.openxmlformats.org/officeDocument/2006/relationships/image" Target="../media/image-114-5.jpg"/><Relationship Id="rId6" Type="http://schemas.openxmlformats.org/officeDocument/2006/relationships/image" Target="../media/image-11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jpg"/><Relationship Id="rId2" Type="http://schemas.openxmlformats.org/officeDocument/2006/relationships/image" Target="../media/image-116-2.jpg"/><Relationship Id="rId3" Type="http://schemas.openxmlformats.org/officeDocument/2006/relationships/image" Target="../media/image-116-3.jpg"/><Relationship Id="rId4" Type="http://schemas.openxmlformats.org/officeDocument/2006/relationships/image" Target="../media/image-116-4.jpg"/><Relationship Id="rId5" Type="http://schemas.openxmlformats.org/officeDocument/2006/relationships/image" Target="../media/image-11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jpg"/><Relationship Id="rId2" Type="http://schemas.openxmlformats.org/officeDocument/2006/relationships/image" Target="../media/image-126-2.jpg"/><Relationship Id="rId3" Type="http://schemas.openxmlformats.org/officeDocument/2006/relationships/image" Target="../media/image-126-3.jpg"/><Relationship Id="rId4" Type="http://schemas.openxmlformats.org/officeDocument/2006/relationships/image" Target="../media/image-126-4.jpg"/><Relationship Id="rId5" Type="http://schemas.openxmlformats.org/officeDocument/2006/relationships/image" Target="../media/image-126-5.jpg"/><Relationship Id="rId6" Type="http://schemas.openxmlformats.org/officeDocument/2006/relationships/image" Target="../media/image-126-6.jpg"/><Relationship Id="rId7" Type="http://schemas.openxmlformats.org/officeDocument/2006/relationships/image" Target="../media/image-126-7.jpg"/><Relationship Id="rId8" Type="http://schemas.openxmlformats.org/officeDocument/2006/relationships/image" Target="../media/image-126-8.jpg"/><Relationship Id="rId9" Type="http://schemas.openxmlformats.org/officeDocument/2006/relationships/image" Target="../media/image-126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jpg"/><Relationship Id="rId2" Type="http://schemas.openxmlformats.org/officeDocument/2006/relationships/image" Target="../media/image-127-2.jpg"/><Relationship Id="rId3" Type="http://schemas.openxmlformats.org/officeDocument/2006/relationships/image" Target="../media/image-127-3.jpg"/><Relationship Id="rId4" Type="http://schemas.openxmlformats.org/officeDocument/2006/relationships/image" Target="../media/image-127-4.jpg"/><Relationship Id="rId5" Type="http://schemas.openxmlformats.org/officeDocument/2006/relationships/image" Target="../media/image-127-5.jpg"/><Relationship Id="rId6" Type="http://schemas.openxmlformats.org/officeDocument/2006/relationships/image" Target="../media/image-127-6.jpg"/><Relationship Id="rId7" Type="http://schemas.openxmlformats.org/officeDocument/2006/relationships/image" Target="../media/image-127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jpg"/><Relationship Id="rId2" Type="http://schemas.openxmlformats.org/officeDocument/2006/relationships/image" Target="../media/image-129-2.jpg"/><Relationship Id="rId3" Type="http://schemas.openxmlformats.org/officeDocument/2006/relationships/image" Target="../media/image-129-3.jpg"/><Relationship Id="rId4" Type="http://schemas.openxmlformats.org/officeDocument/2006/relationships/image" Target="../media/image-129-4.jpg"/><Relationship Id="rId5" Type="http://schemas.openxmlformats.org/officeDocument/2006/relationships/image" Target="../media/image-129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jpg"/><Relationship Id="rId2" Type="http://schemas.openxmlformats.org/officeDocument/2006/relationships/image" Target="../media/image-139-2.jpg"/><Relationship Id="rId3" Type="http://schemas.openxmlformats.org/officeDocument/2006/relationships/image" Target="../media/image-139-3.jpg"/><Relationship Id="rId4" Type="http://schemas.openxmlformats.org/officeDocument/2006/relationships/image" Target="../media/image-139-4.jpg"/><Relationship Id="rId5" Type="http://schemas.openxmlformats.org/officeDocument/2006/relationships/image" Target="../media/image-139-5.jpg"/><Relationship Id="rId6" Type="http://schemas.openxmlformats.org/officeDocument/2006/relationships/image" Target="../media/image-139-6.jpg"/><Relationship Id="rId7" Type="http://schemas.openxmlformats.org/officeDocument/2006/relationships/image" Target="../media/image-139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jpg"/><Relationship Id="rId2" Type="http://schemas.openxmlformats.org/officeDocument/2006/relationships/image" Target="../media/image-140-2.jpg"/><Relationship Id="rId3" Type="http://schemas.openxmlformats.org/officeDocument/2006/relationships/image" Target="../media/image-140-3.jpg"/><Relationship Id="rId4" Type="http://schemas.openxmlformats.org/officeDocument/2006/relationships/image" Target="../media/image-140-4.jpg"/><Relationship Id="rId5" Type="http://schemas.openxmlformats.org/officeDocument/2006/relationships/image" Target="../media/image-140-5.jpg"/><Relationship Id="rId6" Type="http://schemas.openxmlformats.org/officeDocument/2006/relationships/image" Target="../media/image-14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jpg"/><Relationship Id="rId2" Type="http://schemas.openxmlformats.org/officeDocument/2006/relationships/image" Target="../media/image-142-2.jpg"/><Relationship Id="rId3" Type="http://schemas.openxmlformats.org/officeDocument/2006/relationships/image" Target="../media/image-142-3.jpg"/><Relationship Id="rId4" Type="http://schemas.openxmlformats.org/officeDocument/2006/relationships/image" Target="../media/image-142-4.jpg"/><Relationship Id="rId5" Type="http://schemas.openxmlformats.org/officeDocument/2006/relationships/image" Target="../media/image-14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3-1.jpg"/><Relationship Id="rId2" Type="http://schemas.openxmlformats.org/officeDocument/2006/relationships/image" Target="../media/image-153-2.jpg"/><Relationship Id="rId3" Type="http://schemas.openxmlformats.org/officeDocument/2006/relationships/image" Target="../media/image-153-3.jpg"/><Relationship Id="rId4" Type="http://schemas.openxmlformats.org/officeDocument/2006/relationships/image" Target="../media/image-153-4.jpg"/><Relationship Id="rId5" Type="http://schemas.openxmlformats.org/officeDocument/2006/relationships/image" Target="../media/image-153-5.jpg"/><Relationship Id="rId6" Type="http://schemas.openxmlformats.org/officeDocument/2006/relationships/image" Target="../media/image-153-6.jpg"/><Relationship Id="rId7" Type="http://schemas.openxmlformats.org/officeDocument/2006/relationships/image" Target="../media/image-153-7.jpg"/><Relationship Id="rId8" Type="http://schemas.openxmlformats.org/officeDocument/2006/relationships/image" Target="../media/image-153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jpg"/><Relationship Id="rId2" Type="http://schemas.openxmlformats.org/officeDocument/2006/relationships/image" Target="../media/image-154-2.jpg"/><Relationship Id="rId3" Type="http://schemas.openxmlformats.org/officeDocument/2006/relationships/image" Target="../media/image-154-3.jpg"/><Relationship Id="rId4" Type="http://schemas.openxmlformats.org/officeDocument/2006/relationships/image" Target="../media/image-154-4.jpg"/><Relationship Id="rId5" Type="http://schemas.openxmlformats.org/officeDocument/2006/relationships/image" Target="../media/image-154-5.jpg"/><Relationship Id="rId6" Type="http://schemas.openxmlformats.org/officeDocument/2006/relationships/image" Target="../media/image-154-6.jpg"/><Relationship Id="rId7" Type="http://schemas.openxmlformats.org/officeDocument/2006/relationships/image" Target="../media/image-154-7.jpg"/><Relationship Id="rId8" Type="http://schemas.openxmlformats.org/officeDocument/2006/relationships/image" Target="../media/image-154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jpg"/><Relationship Id="rId2" Type="http://schemas.openxmlformats.org/officeDocument/2006/relationships/image" Target="../media/image-156-2.jpg"/><Relationship Id="rId3" Type="http://schemas.openxmlformats.org/officeDocument/2006/relationships/image" Target="../media/image-156-3.jpg"/><Relationship Id="rId4" Type="http://schemas.openxmlformats.org/officeDocument/2006/relationships/image" Target="../media/image-156-4.jpg"/><Relationship Id="rId5" Type="http://schemas.openxmlformats.org/officeDocument/2006/relationships/image" Target="../media/image-15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jpg"/><Relationship Id="rId2" Type="http://schemas.openxmlformats.org/officeDocument/2006/relationships/image" Target="../media/image-167-2.jpg"/><Relationship Id="rId3" Type="http://schemas.openxmlformats.org/officeDocument/2006/relationships/image" Target="../media/image-167-3.jpg"/><Relationship Id="rId4" Type="http://schemas.openxmlformats.org/officeDocument/2006/relationships/image" Target="../media/image-167-4.jpg"/><Relationship Id="rId5" Type="http://schemas.openxmlformats.org/officeDocument/2006/relationships/image" Target="../media/image-167-5.jpg"/><Relationship Id="rId6" Type="http://schemas.openxmlformats.org/officeDocument/2006/relationships/image" Target="../media/image-167-6.jpg"/><Relationship Id="rId7" Type="http://schemas.openxmlformats.org/officeDocument/2006/relationships/image" Target="../media/image-167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jpg"/><Relationship Id="rId2" Type="http://schemas.openxmlformats.org/officeDocument/2006/relationships/image" Target="../media/image-168-2.jpg"/><Relationship Id="rId3" Type="http://schemas.openxmlformats.org/officeDocument/2006/relationships/image" Target="../media/image-168-3.jpg"/><Relationship Id="rId4" Type="http://schemas.openxmlformats.org/officeDocument/2006/relationships/image" Target="../media/image-168-4.jpg"/><Relationship Id="rId5" Type="http://schemas.openxmlformats.org/officeDocument/2006/relationships/image" Target="../media/image-168-5.jpg"/><Relationship Id="rId6" Type="http://schemas.openxmlformats.org/officeDocument/2006/relationships/image" Target="../media/image-168-6.jpg"/><Relationship Id="rId7" Type="http://schemas.openxmlformats.org/officeDocument/2006/relationships/image" Target="../media/image-168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0-1.jpg"/><Relationship Id="rId2" Type="http://schemas.openxmlformats.org/officeDocument/2006/relationships/image" Target="../media/image-170-2.jpg"/><Relationship Id="rId3" Type="http://schemas.openxmlformats.org/officeDocument/2006/relationships/image" Target="../media/image-170-3.jpg"/><Relationship Id="rId4" Type="http://schemas.openxmlformats.org/officeDocument/2006/relationships/image" Target="../media/image-170-4.jpg"/><Relationship Id="rId5" Type="http://schemas.openxmlformats.org/officeDocument/2006/relationships/image" Target="../media/image-170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7-1.jpg"/><Relationship Id="rId2" Type="http://schemas.openxmlformats.org/officeDocument/2006/relationships/image" Target="../media/image-177-2.jpg"/><Relationship Id="rId3" Type="http://schemas.openxmlformats.org/officeDocument/2006/relationships/image" Target="../media/image-177-3.jpg"/><Relationship Id="rId4" Type="http://schemas.openxmlformats.org/officeDocument/2006/relationships/image" Target="../media/image-177-4.jpg"/><Relationship Id="rId5" Type="http://schemas.openxmlformats.org/officeDocument/2006/relationships/image" Target="../media/image-177-5.jpg"/><Relationship Id="rId6" Type="http://schemas.openxmlformats.org/officeDocument/2006/relationships/image" Target="../media/image-177-6.jpg"/><Relationship Id="rId7" Type="http://schemas.openxmlformats.org/officeDocument/2006/relationships/image" Target="../media/image-177-7.jpg"/><Relationship Id="rId8" Type="http://schemas.openxmlformats.org/officeDocument/2006/relationships/image" Target="../media/image-177-8.jpg"/><Relationship Id="rId9" Type="http://schemas.openxmlformats.org/officeDocument/2006/relationships/image" Target="../media/image-177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15788" y="731520"/>
            <a:ext cx="960120" cy="960120"/>
          </a:xfrm>
          <a:prstGeom prst="roundRect">
            <a:avLst>
              <a:gd name="adj" fmla="val 26667"/>
            </a:avLst>
          </a:prstGeom>
          <a:solidFill>
            <a:srgbClr val="D9AE4B"/>
          </a:solidFill>
          <a:ln/>
          <a:effectLst>
            <a:outerShdw sx="100000" sy="100000" kx="0" ky="0" algn="bl" rotWithShape="0" blurRad="254000" dist="50800" dir="16200000">
              <a:srgbClr val="D9AE4B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15788" y="7315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</a:t>
            </a:r>
            <a:endParaRPr lang="ar-SA" sz="4400" dirty="0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مغامرات ESP32 المتصلة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FFF3D6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 للمعلمين ٢</a:t>
            </a:r>
            <a:endParaRPr lang="ar-SA" sz="9600" dirty="0"/>
          </a:p>
        </p:txBody>
      </p:sp>
      <p:sp>
        <p:nvSpPr>
          <p:cNvPr id="6" name="Text 4"/>
          <p:cNvSpPr/>
          <p:nvPr/>
        </p:nvSpPr>
        <p:spPr>
          <a:xfrm>
            <a:off x="0" y="37947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الجزء الثاني: يحسّ… يتحرك… ويتصل بالعالم</a:t>
            </a:r>
            <a:endParaRPr lang="ar-SA" sz="2800" dirty="0"/>
          </a:p>
        </p:txBody>
      </p:sp>
      <p:sp>
        <p:nvSpPr>
          <p:cNvPr id="7" name="Shape 5"/>
          <p:cNvSpPr/>
          <p:nvPr/>
        </p:nvSpPr>
        <p:spPr>
          <a:xfrm>
            <a:off x="5364328" y="4617720"/>
            <a:ext cx="1463040" cy="36576"/>
          </a:xfrm>
          <a:prstGeom prst="rect">
            <a:avLst/>
          </a:prstGeom>
          <a:solidFill>
            <a:srgbClr val="D9AE4B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20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إعداد وتقديم: </a:t>
            </a:r>
            <a:pPr algn="ct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أ. محمد زيتون</a:t>
            </a:r>
            <a:endParaRPr lang="ar-SA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25919" y="457200"/>
            <a:ext cx="424281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125919" y="457200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لماذا هذه الدورة مختلفة؟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الأردوينو ٢ والجزء الثاني من ESP32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787155" y="1874520"/>
            <a:ext cx="258158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787155" y="1874520"/>
            <a:ext cx="2581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5450453" y="1874520"/>
            <a:ext cx="322697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5450453" y="1874520"/>
            <a:ext cx="3226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الأردوينو ٢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51776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45177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 الجزء الثاني</a:t>
            </a:r>
            <a:endParaRPr lang="ar-SA" sz="1900" dirty="0"/>
          </a:p>
        </p:txBody>
      </p:sp>
      <p:sp>
        <p:nvSpPr>
          <p:cNvPr id="11" name="anim-g1-1"/>
          <p:cNvSpPr/>
          <p:nvPr/>
        </p:nvSpPr>
        <p:spPr>
          <a:xfrm>
            <a:off x="8787155" y="2514600"/>
            <a:ext cx="2581580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2"/>
          <p:cNvSpPr/>
          <p:nvPr/>
        </p:nvSpPr>
        <p:spPr>
          <a:xfrm>
            <a:off x="8924315" y="2514600"/>
            <a:ext cx="230726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👁️ يحسّ</a:t>
            </a:r>
            <a:endParaRPr lang="ar-SA" sz="2100" dirty="0"/>
          </a:p>
        </p:txBody>
      </p:sp>
      <p:sp>
        <p:nvSpPr>
          <p:cNvPr id="13" name="anim-g1-3"/>
          <p:cNvSpPr/>
          <p:nvPr/>
        </p:nvSpPr>
        <p:spPr>
          <a:xfrm>
            <a:off x="5450453" y="2514600"/>
            <a:ext cx="3226975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4"/>
          <p:cNvSpPr/>
          <p:nvPr/>
        </p:nvSpPr>
        <p:spPr>
          <a:xfrm>
            <a:off x="5587613" y="2514600"/>
            <a:ext cx="295265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حساسات تُقرأ على الشاشة التسلسلية</a:t>
            </a:r>
            <a:endParaRPr lang="ar-SA" sz="2100" dirty="0"/>
          </a:p>
        </p:txBody>
      </p:sp>
      <p:sp>
        <p:nvSpPr>
          <p:cNvPr id="15" name="anim-g1-5"/>
          <p:cNvSpPr/>
          <p:nvPr/>
        </p:nvSpPr>
        <p:spPr>
          <a:xfrm>
            <a:off x="822960" y="2514600"/>
            <a:ext cx="4517765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6"/>
          <p:cNvSpPr/>
          <p:nvPr/>
        </p:nvSpPr>
        <p:spPr>
          <a:xfrm>
            <a:off x="960120" y="2514600"/>
            <a:ext cx="424344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الحساسات نفسها… تُعرض حيّة على جوالك</a:t>
            </a:r>
            <a:endParaRPr lang="ar-SA" sz="2100" dirty="0"/>
          </a:p>
        </p:txBody>
      </p:sp>
      <p:sp>
        <p:nvSpPr>
          <p:cNvPr id="17" name="anim-g2-7"/>
          <p:cNvSpPr/>
          <p:nvPr/>
        </p:nvSpPr>
        <p:spPr>
          <a:xfrm>
            <a:off x="8787155" y="3422142"/>
            <a:ext cx="2581580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8"/>
          <p:cNvSpPr/>
          <p:nvPr/>
        </p:nvSpPr>
        <p:spPr>
          <a:xfrm>
            <a:off x="8924315" y="3422142"/>
            <a:ext cx="230726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⚙️ يتحرك</a:t>
            </a:r>
            <a:endParaRPr lang="ar-SA" sz="2100" dirty="0"/>
          </a:p>
        </p:txBody>
      </p:sp>
      <p:sp>
        <p:nvSpPr>
          <p:cNvPr id="19" name="anim-g2-9"/>
          <p:cNvSpPr/>
          <p:nvPr/>
        </p:nvSpPr>
        <p:spPr>
          <a:xfrm>
            <a:off x="5450453" y="3422142"/>
            <a:ext cx="3226975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10"/>
          <p:cNvSpPr/>
          <p:nvPr/>
        </p:nvSpPr>
        <p:spPr>
          <a:xfrm>
            <a:off x="5587613" y="3422142"/>
            <a:ext cx="295265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محركات بأزرار على اللوحة</a:t>
            </a:r>
            <a:endParaRPr lang="ar-SA" sz="2100" dirty="0"/>
          </a:p>
        </p:txBody>
      </p:sp>
      <p:sp>
        <p:nvSpPr>
          <p:cNvPr id="21" name="anim-g2-11"/>
          <p:cNvSpPr/>
          <p:nvPr/>
        </p:nvSpPr>
        <p:spPr>
          <a:xfrm>
            <a:off x="822960" y="3422142"/>
            <a:ext cx="4517765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12"/>
          <p:cNvSpPr/>
          <p:nvPr/>
        </p:nvSpPr>
        <p:spPr>
          <a:xfrm>
            <a:off x="960120" y="3422142"/>
            <a:ext cx="424344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محركات تقودها من جوالك عبر الواي فاي</a:t>
            </a:r>
            <a:endParaRPr lang="ar-SA" sz="2100" dirty="0"/>
          </a:p>
        </p:txBody>
      </p:sp>
      <p:sp>
        <p:nvSpPr>
          <p:cNvPr id="23" name="anim-g3-13"/>
          <p:cNvSpPr/>
          <p:nvPr/>
        </p:nvSpPr>
        <p:spPr>
          <a:xfrm>
            <a:off x="8787155" y="4329684"/>
            <a:ext cx="2581580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14"/>
          <p:cNvSpPr/>
          <p:nvPr/>
        </p:nvSpPr>
        <p:spPr>
          <a:xfrm>
            <a:off x="8924315" y="4329684"/>
            <a:ext cx="230726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📡 يتصل</a:t>
            </a:r>
            <a:endParaRPr lang="ar-SA" sz="2100" dirty="0"/>
          </a:p>
        </p:txBody>
      </p:sp>
      <p:sp>
        <p:nvSpPr>
          <p:cNvPr id="25" name="anim-g3-15"/>
          <p:cNvSpPr/>
          <p:nvPr/>
        </p:nvSpPr>
        <p:spPr>
          <a:xfrm>
            <a:off x="5450453" y="4329684"/>
            <a:ext cx="3226975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16"/>
          <p:cNvSpPr/>
          <p:nvPr/>
        </p:nvSpPr>
        <p:spPr>
          <a:xfrm>
            <a:off x="5587613" y="4329684"/>
            <a:ext cx="295265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</a:t>
            </a:r>
            <a:endParaRPr lang="ar-SA" sz="2100" dirty="0"/>
          </a:p>
        </p:txBody>
      </p:sp>
      <p:sp>
        <p:nvSpPr>
          <p:cNvPr id="27" name="anim-g3-17"/>
          <p:cNvSpPr/>
          <p:nvPr/>
        </p:nvSpPr>
        <p:spPr>
          <a:xfrm>
            <a:off x="822960" y="4329684"/>
            <a:ext cx="4517765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18"/>
          <p:cNvSpPr/>
          <p:nvPr/>
        </p:nvSpPr>
        <p:spPr>
          <a:xfrm>
            <a:off x="960120" y="4329684"/>
            <a:ext cx="424344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خادم ويب · لوحة تحكم · ESP-NOW بين اللوحات</a:t>
            </a:r>
            <a:endParaRPr lang="ar-SA" sz="2100" dirty="0"/>
          </a:p>
        </p:txBody>
      </p:sp>
      <p:sp>
        <p:nvSpPr>
          <p:cNvPr id="29" name="anim-g4-19"/>
          <p:cNvSpPr/>
          <p:nvPr/>
        </p:nvSpPr>
        <p:spPr>
          <a:xfrm>
            <a:off x="8787155" y="5237226"/>
            <a:ext cx="2581580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20"/>
          <p:cNvSpPr/>
          <p:nvPr/>
        </p:nvSpPr>
        <p:spPr>
          <a:xfrm>
            <a:off x="8924315" y="5237226"/>
            <a:ext cx="230726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🎓 التخرج</a:t>
            </a:r>
            <a:endParaRPr lang="ar-SA" sz="2100" dirty="0"/>
          </a:p>
        </p:txBody>
      </p:sp>
      <p:sp>
        <p:nvSpPr>
          <p:cNvPr id="31" name="anim-g4-21"/>
          <p:cNvSpPr/>
          <p:nvPr/>
        </p:nvSpPr>
        <p:spPr>
          <a:xfrm>
            <a:off x="5450453" y="5237226"/>
            <a:ext cx="3226975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22"/>
          <p:cNvSpPr/>
          <p:nvPr/>
        </p:nvSpPr>
        <p:spPr>
          <a:xfrm>
            <a:off x="5587613" y="5237226"/>
            <a:ext cx="295265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سيارة تتجنب العوائق</a:t>
            </a:r>
            <a:endParaRPr lang="ar-SA" sz="2100" dirty="0"/>
          </a:p>
        </p:txBody>
      </p:sp>
      <p:sp>
        <p:nvSpPr>
          <p:cNvPr id="33" name="anim-g4-23"/>
          <p:cNvSpPr/>
          <p:nvPr/>
        </p:nvSpPr>
        <p:spPr>
          <a:xfrm>
            <a:off x="822960" y="5237226"/>
            <a:ext cx="4517765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24"/>
          <p:cNvSpPr/>
          <p:nvPr/>
        </p:nvSpPr>
        <p:spPr>
          <a:xfrm>
            <a:off x="960120" y="5237226"/>
            <a:ext cx="424344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فصل ذكي متصل + سيارة تقاد من الجوال</a:t>
            </a:r>
            <a:endParaRPr lang="ar-SA" sz="21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٣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4328" y="11887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64328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الوعد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بنهاية هذه الدورة…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يفتح طالبك جواله، فيرى حرارة فصله، ويقود سيارته، ويدق جرسًا في غرفة أخرى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٤</a:t>
            </a:r>
            <a:endParaRPr lang="ar-SA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13087" y="457200"/>
            <a:ext cx="175564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613087" y="4572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الطريقة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أربع طبقات في كل مشروع</a:t>
            </a:r>
            <a:endParaRPr lang="ar-SA" sz="3800" dirty="0"/>
          </a:p>
        </p:txBody>
      </p:sp>
      <p:sp>
        <p:nvSpPr>
          <p:cNvPr id="5" name="anim-g1-25"/>
          <p:cNvSpPr/>
          <p:nvPr/>
        </p:nvSpPr>
        <p:spPr>
          <a:xfrm>
            <a:off x="8938031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26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27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👁️</a:t>
            </a:r>
            <a:endParaRPr lang="ar-SA" sz="2200" dirty="0"/>
          </a:p>
        </p:txBody>
      </p:sp>
      <p:sp>
        <p:nvSpPr>
          <p:cNvPr id="8" name="anim-g1-28"/>
          <p:cNvSpPr/>
          <p:nvPr/>
        </p:nvSpPr>
        <p:spPr>
          <a:xfrm>
            <a:off x="9212351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يحسّ</a:t>
            </a:r>
            <a:endParaRPr lang="ar-SA" sz="2200" dirty="0"/>
          </a:p>
        </p:txBody>
      </p:sp>
      <p:sp>
        <p:nvSpPr>
          <p:cNvPr id="9" name="anim-g1-29"/>
          <p:cNvSpPr/>
          <p:nvPr/>
        </p:nvSpPr>
        <p:spPr>
          <a:xfrm>
            <a:off x="9212351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حساس يحوّل العالم إلى رقم</a:t>
            </a:r>
            <a:endParaRPr lang="ar-SA" sz="1900" dirty="0"/>
          </a:p>
        </p:txBody>
      </p:sp>
      <p:sp>
        <p:nvSpPr>
          <p:cNvPr id="10" name="anim-g2-30"/>
          <p:cNvSpPr/>
          <p:nvPr/>
        </p:nvSpPr>
        <p:spPr>
          <a:xfrm>
            <a:off x="6233008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31"/>
          <p:cNvSpPr/>
          <p:nvPr/>
        </p:nvSpPr>
        <p:spPr>
          <a:xfrm>
            <a:off x="7822463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32"/>
          <p:cNvSpPr/>
          <p:nvPr/>
        </p:nvSpPr>
        <p:spPr>
          <a:xfrm>
            <a:off x="7822463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🧠</a:t>
            </a:r>
            <a:endParaRPr lang="ar-SA" sz="2200" dirty="0"/>
          </a:p>
        </p:txBody>
      </p:sp>
      <p:sp>
        <p:nvSpPr>
          <p:cNvPr id="13" name="anim-g2-33"/>
          <p:cNvSpPr/>
          <p:nvPr/>
        </p:nvSpPr>
        <p:spPr>
          <a:xfrm>
            <a:off x="6507328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يقرر</a:t>
            </a:r>
            <a:endParaRPr lang="ar-SA" sz="2200" dirty="0"/>
          </a:p>
        </p:txBody>
      </p:sp>
      <p:sp>
        <p:nvSpPr>
          <p:cNvPr id="14" name="anim-g2-34"/>
          <p:cNvSpPr/>
          <p:nvPr/>
        </p:nvSpPr>
        <p:spPr>
          <a:xfrm>
            <a:off x="6507328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if تقارن الرقم بحدّ</a:t>
            </a:r>
            <a:endParaRPr lang="ar-SA" sz="1900" dirty="0"/>
          </a:p>
        </p:txBody>
      </p:sp>
      <p:sp>
        <p:nvSpPr>
          <p:cNvPr id="15" name="anim-g3-35"/>
          <p:cNvSpPr/>
          <p:nvPr/>
        </p:nvSpPr>
        <p:spPr>
          <a:xfrm>
            <a:off x="3527984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36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37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⚙️</a:t>
            </a:r>
            <a:endParaRPr lang="ar-SA" sz="2200" dirty="0"/>
          </a:p>
        </p:txBody>
      </p:sp>
      <p:sp>
        <p:nvSpPr>
          <p:cNvPr id="18" name="anim-g3-38"/>
          <p:cNvSpPr/>
          <p:nvPr/>
        </p:nvSpPr>
        <p:spPr>
          <a:xfrm>
            <a:off x="3802304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يتحرك</a:t>
            </a:r>
            <a:endParaRPr lang="ar-SA" sz="2200" dirty="0"/>
          </a:p>
        </p:txBody>
      </p:sp>
      <p:sp>
        <p:nvSpPr>
          <p:cNvPr id="19" name="anim-g3-39"/>
          <p:cNvSpPr/>
          <p:nvPr/>
        </p:nvSpPr>
        <p:spPr>
          <a:xfrm>
            <a:off x="3802304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ليد، بازر، سيرفو، محرك</a:t>
            </a:r>
            <a:endParaRPr lang="ar-SA" sz="1900" dirty="0"/>
          </a:p>
        </p:txBody>
      </p:sp>
      <p:sp>
        <p:nvSpPr>
          <p:cNvPr id="20" name="anim-g4-40"/>
          <p:cNvSpPr/>
          <p:nvPr/>
        </p:nvSpPr>
        <p:spPr>
          <a:xfrm>
            <a:off x="822960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41"/>
          <p:cNvSpPr/>
          <p:nvPr/>
        </p:nvSpPr>
        <p:spPr>
          <a:xfrm>
            <a:off x="2412416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42"/>
          <p:cNvSpPr/>
          <p:nvPr/>
        </p:nvSpPr>
        <p:spPr>
          <a:xfrm>
            <a:off x="2412416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📡</a:t>
            </a:r>
            <a:endParaRPr lang="ar-SA" sz="2200" dirty="0"/>
          </a:p>
        </p:txBody>
      </p:sp>
      <p:sp>
        <p:nvSpPr>
          <p:cNvPr id="23" name="anim-g4-43"/>
          <p:cNvSpPr/>
          <p:nvPr/>
        </p:nvSpPr>
        <p:spPr>
          <a:xfrm>
            <a:off x="1097280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يتصل</a:t>
            </a:r>
            <a:endParaRPr lang="ar-SA" sz="2200" dirty="0"/>
          </a:p>
        </p:txBody>
      </p:sp>
      <p:sp>
        <p:nvSpPr>
          <p:cNvPr id="24" name="anim-g4-44"/>
          <p:cNvSpPr/>
          <p:nvPr/>
        </p:nvSpPr>
        <p:spPr>
          <a:xfrm>
            <a:off x="1097280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جوال، شبكة، لوحة أخرى</a:t>
            </a:r>
            <a:endParaRPr lang="ar-SA" sz="19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خريطة الرحلة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أربعة عشر محورًا… نصفها للعالم المتصل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903741" y="1965960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4063" y="2125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64063" y="2125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🚀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9040901" y="2057400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٠</a:t>
            </a:r>
            <a:endParaRPr lang="ar-SA" sz="1400" dirty="0"/>
          </a:p>
        </p:txBody>
      </p:sp>
      <p:sp>
        <p:nvSpPr>
          <p:cNvPr id="9" name="Text 7"/>
          <p:cNvSpPr/>
          <p:nvPr/>
        </p:nvSpPr>
        <p:spPr>
          <a:xfrm>
            <a:off x="9040901" y="2331720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الافتتاح</a:t>
            </a:r>
            <a:endParaRPr lang="ar-SA" sz="1800" dirty="0"/>
          </a:p>
        </p:txBody>
      </p:sp>
      <p:sp>
        <p:nvSpPr>
          <p:cNvPr id="10" name="Shape 8"/>
          <p:cNvSpPr/>
          <p:nvPr/>
        </p:nvSpPr>
        <p:spPr>
          <a:xfrm>
            <a:off x="6210148" y="1965960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70469" y="2125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12" name="Text 10"/>
          <p:cNvSpPr/>
          <p:nvPr/>
        </p:nvSpPr>
        <p:spPr>
          <a:xfrm>
            <a:off x="7870469" y="2125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🎛️</a:t>
            </a:r>
            <a:endParaRPr lang="ar-SA" sz="2400" dirty="0"/>
          </a:p>
        </p:txBody>
      </p:sp>
      <p:sp>
        <p:nvSpPr>
          <p:cNvPr id="13" name="Text 11"/>
          <p:cNvSpPr/>
          <p:nvPr/>
        </p:nvSpPr>
        <p:spPr>
          <a:xfrm>
            <a:off x="6347308" y="2057400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</a:t>
            </a:r>
            <a:endParaRPr lang="ar-SA" sz="1400" dirty="0"/>
          </a:p>
        </p:txBody>
      </p:sp>
      <p:sp>
        <p:nvSpPr>
          <p:cNvPr id="14" name="Text 12"/>
          <p:cNvSpPr/>
          <p:nvPr/>
        </p:nvSpPr>
        <p:spPr>
          <a:xfrm>
            <a:off x="6347308" y="2331720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القراءة التماثلية</a:t>
            </a:r>
            <a:endParaRPr lang="ar-SA" sz="1800" dirty="0"/>
          </a:p>
        </p:txBody>
      </p:sp>
      <p:sp>
        <p:nvSpPr>
          <p:cNvPr id="15" name="Shape 13"/>
          <p:cNvSpPr/>
          <p:nvPr/>
        </p:nvSpPr>
        <p:spPr>
          <a:xfrm>
            <a:off x="3516554" y="1965960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76876" y="2125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17" name="Text 15"/>
          <p:cNvSpPr/>
          <p:nvPr/>
        </p:nvSpPr>
        <p:spPr>
          <a:xfrm>
            <a:off x="5176876" y="2125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☀️</a:t>
            </a:r>
            <a:endParaRPr lang="ar-SA" sz="2400" dirty="0"/>
          </a:p>
        </p:txBody>
      </p:sp>
      <p:sp>
        <p:nvSpPr>
          <p:cNvPr id="18" name="Text 16"/>
          <p:cNvSpPr/>
          <p:nvPr/>
        </p:nvSpPr>
        <p:spPr>
          <a:xfrm>
            <a:off x="3653714" y="2057400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٢</a:t>
            </a:r>
            <a:endParaRPr lang="ar-SA" sz="1400" dirty="0"/>
          </a:p>
        </p:txBody>
      </p:sp>
      <p:sp>
        <p:nvSpPr>
          <p:cNvPr id="19" name="Text 17"/>
          <p:cNvSpPr/>
          <p:nvPr/>
        </p:nvSpPr>
        <p:spPr>
          <a:xfrm>
            <a:off x="3653714" y="2331720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الضوء ومقسم الجهد</a:t>
            </a:r>
            <a:endParaRPr lang="ar-SA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1965960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3282" y="2125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22" name="Text 20"/>
          <p:cNvSpPr/>
          <p:nvPr/>
        </p:nvSpPr>
        <p:spPr>
          <a:xfrm>
            <a:off x="2483282" y="2125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🌡️</a:t>
            </a:r>
            <a:endParaRPr lang="ar-SA" sz="2400" dirty="0"/>
          </a:p>
        </p:txBody>
      </p:sp>
      <p:sp>
        <p:nvSpPr>
          <p:cNvPr id="23" name="Text 21"/>
          <p:cNvSpPr/>
          <p:nvPr/>
        </p:nvSpPr>
        <p:spPr>
          <a:xfrm>
            <a:off x="960120" y="2057400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٣</a:t>
            </a:r>
            <a:endParaRPr lang="ar-SA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2331720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الحرارة والمكتبات</a:t>
            </a:r>
            <a:endParaRPr lang="ar-SA" sz="1800" dirty="0"/>
          </a:p>
        </p:txBody>
      </p:sp>
      <p:sp>
        <p:nvSpPr>
          <p:cNvPr id="25" name="Shape 23"/>
          <p:cNvSpPr/>
          <p:nvPr/>
        </p:nvSpPr>
        <p:spPr>
          <a:xfrm>
            <a:off x="8903741" y="3090672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64063" y="32506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27" name="Text 25"/>
          <p:cNvSpPr/>
          <p:nvPr/>
        </p:nvSpPr>
        <p:spPr>
          <a:xfrm>
            <a:off x="10564063" y="32506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📏</a:t>
            </a:r>
            <a:endParaRPr lang="ar-SA" sz="2400" dirty="0"/>
          </a:p>
        </p:txBody>
      </p:sp>
      <p:sp>
        <p:nvSpPr>
          <p:cNvPr id="28" name="Text 26"/>
          <p:cNvSpPr/>
          <p:nvPr/>
        </p:nvSpPr>
        <p:spPr>
          <a:xfrm>
            <a:off x="9040901" y="3182112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٤</a:t>
            </a:r>
            <a:endParaRPr lang="ar-SA" sz="1400" dirty="0"/>
          </a:p>
        </p:txBody>
      </p:sp>
      <p:sp>
        <p:nvSpPr>
          <p:cNvPr id="29" name="Text 27"/>
          <p:cNvSpPr/>
          <p:nvPr/>
        </p:nvSpPr>
        <p:spPr>
          <a:xfrm>
            <a:off x="9040901" y="3456432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الموجات فوق الصوتية</a:t>
            </a:r>
            <a:endParaRPr lang="ar-SA" sz="1800" dirty="0"/>
          </a:p>
        </p:txBody>
      </p:sp>
      <p:sp>
        <p:nvSpPr>
          <p:cNvPr id="30" name="Shape 28"/>
          <p:cNvSpPr/>
          <p:nvPr/>
        </p:nvSpPr>
        <p:spPr>
          <a:xfrm>
            <a:off x="6210148" y="3090672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70469" y="32506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32" name="Text 30"/>
          <p:cNvSpPr/>
          <p:nvPr/>
        </p:nvSpPr>
        <p:spPr>
          <a:xfrm>
            <a:off x="7870469" y="32506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🚶</a:t>
            </a:r>
            <a:endParaRPr lang="ar-SA" sz="2400" dirty="0"/>
          </a:p>
        </p:txBody>
      </p:sp>
      <p:sp>
        <p:nvSpPr>
          <p:cNvPr id="33" name="Text 31"/>
          <p:cNvSpPr/>
          <p:nvPr/>
        </p:nvSpPr>
        <p:spPr>
          <a:xfrm>
            <a:off x="6347308" y="3182112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٥</a:t>
            </a:r>
            <a:endParaRPr lang="ar-SA" sz="1400" dirty="0"/>
          </a:p>
        </p:txBody>
      </p:sp>
      <p:sp>
        <p:nvSpPr>
          <p:cNvPr id="34" name="Text 32"/>
          <p:cNvSpPr/>
          <p:nvPr/>
        </p:nvSpPr>
        <p:spPr>
          <a:xfrm>
            <a:off x="6347308" y="3456432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الحركة والصوت</a:t>
            </a:r>
            <a:endParaRPr lang="ar-SA" sz="1800" dirty="0"/>
          </a:p>
        </p:txBody>
      </p:sp>
      <p:sp>
        <p:nvSpPr>
          <p:cNvPr id="35" name="Shape 33"/>
          <p:cNvSpPr/>
          <p:nvPr/>
        </p:nvSpPr>
        <p:spPr>
          <a:xfrm>
            <a:off x="3516554" y="3090672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76876" y="32506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37" name="Text 35"/>
          <p:cNvSpPr/>
          <p:nvPr/>
        </p:nvSpPr>
        <p:spPr>
          <a:xfrm>
            <a:off x="5176876" y="32506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🦾</a:t>
            </a:r>
            <a:endParaRPr lang="ar-SA" sz="2400" dirty="0"/>
          </a:p>
        </p:txBody>
      </p:sp>
      <p:sp>
        <p:nvSpPr>
          <p:cNvPr id="38" name="Text 36"/>
          <p:cNvSpPr/>
          <p:nvPr/>
        </p:nvSpPr>
        <p:spPr>
          <a:xfrm>
            <a:off x="3653714" y="3182112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٦</a:t>
            </a:r>
            <a:endParaRPr lang="ar-SA" sz="1400" dirty="0"/>
          </a:p>
        </p:txBody>
      </p:sp>
      <p:sp>
        <p:nvSpPr>
          <p:cNvPr id="39" name="Text 37"/>
          <p:cNvSpPr/>
          <p:nvPr/>
        </p:nvSpPr>
        <p:spPr>
          <a:xfrm>
            <a:off x="3653714" y="3456432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السيرفو</a:t>
            </a:r>
            <a:endParaRPr lang="ar-SA" sz="1800" dirty="0"/>
          </a:p>
        </p:txBody>
      </p:sp>
      <p:sp>
        <p:nvSpPr>
          <p:cNvPr id="40" name="Shape 38"/>
          <p:cNvSpPr/>
          <p:nvPr/>
        </p:nvSpPr>
        <p:spPr>
          <a:xfrm>
            <a:off x="822960" y="3090672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83282" y="32506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42" name="Text 40"/>
          <p:cNvSpPr/>
          <p:nvPr/>
        </p:nvSpPr>
        <p:spPr>
          <a:xfrm>
            <a:off x="2483282" y="32506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⚙️</a:t>
            </a:r>
            <a:endParaRPr lang="ar-SA" sz="2400" dirty="0"/>
          </a:p>
        </p:txBody>
      </p:sp>
      <p:sp>
        <p:nvSpPr>
          <p:cNvPr id="43" name="Text 41"/>
          <p:cNvSpPr/>
          <p:nvPr/>
        </p:nvSpPr>
        <p:spPr>
          <a:xfrm>
            <a:off x="960120" y="3182112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٧</a:t>
            </a:r>
            <a:endParaRPr lang="ar-SA" sz="1400" dirty="0"/>
          </a:p>
        </p:txBody>
      </p:sp>
      <p:sp>
        <p:nvSpPr>
          <p:cNvPr id="44" name="Text 42"/>
          <p:cNvSpPr/>
          <p:nvPr/>
        </p:nvSpPr>
        <p:spPr>
          <a:xfrm>
            <a:off x="960120" y="3456432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محرك DC وجسر H</a:t>
            </a:r>
            <a:endParaRPr lang="ar-SA" sz="1800" dirty="0"/>
          </a:p>
        </p:txBody>
      </p:sp>
      <p:sp>
        <p:nvSpPr>
          <p:cNvPr id="45" name="Shape 43"/>
          <p:cNvSpPr/>
          <p:nvPr/>
        </p:nvSpPr>
        <p:spPr>
          <a:xfrm>
            <a:off x="8903741" y="4215384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64063" y="437540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47" name="Text 45"/>
          <p:cNvSpPr/>
          <p:nvPr/>
        </p:nvSpPr>
        <p:spPr>
          <a:xfrm>
            <a:off x="10564063" y="43754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📶</a:t>
            </a:r>
            <a:endParaRPr lang="ar-SA" sz="2400" dirty="0"/>
          </a:p>
        </p:txBody>
      </p:sp>
      <p:sp>
        <p:nvSpPr>
          <p:cNvPr id="48" name="Text 46"/>
          <p:cNvSpPr/>
          <p:nvPr/>
        </p:nvSpPr>
        <p:spPr>
          <a:xfrm>
            <a:off x="9040901" y="4306824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٨</a:t>
            </a:r>
            <a:endParaRPr lang="ar-SA" sz="1400" dirty="0"/>
          </a:p>
        </p:txBody>
      </p:sp>
      <p:sp>
        <p:nvSpPr>
          <p:cNvPr id="49" name="Text 47"/>
          <p:cNvSpPr/>
          <p:nvPr/>
        </p:nvSpPr>
        <p:spPr>
          <a:xfrm>
            <a:off x="9040901" y="4581144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الواي فاي</a:t>
            </a:r>
            <a:endParaRPr lang="ar-SA" sz="1800" dirty="0"/>
          </a:p>
        </p:txBody>
      </p:sp>
      <p:sp>
        <p:nvSpPr>
          <p:cNvPr id="50" name="Shape 48"/>
          <p:cNvSpPr/>
          <p:nvPr/>
        </p:nvSpPr>
        <p:spPr>
          <a:xfrm>
            <a:off x="6210148" y="4215384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70469" y="437540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52" name="Text 50"/>
          <p:cNvSpPr/>
          <p:nvPr/>
        </p:nvSpPr>
        <p:spPr>
          <a:xfrm>
            <a:off x="7870469" y="43754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🌐</a:t>
            </a:r>
            <a:endParaRPr lang="ar-SA" sz="2400" dirty="0"/>
          </a:p>
        </p:txBody>
      </p:sp>
      <p:sp>
        <p:nvSpPr>
          <p:cNvPr id="53" name="Text 51"/>
          <p:cNvSpPr/>
          <p:nvPr/>
        </p:nvSpPr>
        <p:spPr>
          <a:xfrm>
            <a:off x="6347308" y="4306824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٩</a:t>
            </a:r>
            <a:endParaRPr lang="ar-SA" sz="1400" dirty="0"/>
          </a:p>
        </p:txBody>
      </p:sp>
      <p:sp>
        <p:nvSpPr>
          <p:cNvPr id="54" name="Text 52"/>
          <p:cNvSpPr/>
          <p:nvPr/>
        </p:nvSpPr>
        <p:spPr>
          <a:xfrm>
            <a:off x="6347308" y="4581144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خادم الويب</a:t>
            </a:r>
            <a:endParaRPr lang="ar-SA" sz="1800" dirty="0"/>
          </a:p>
        </p:txBody>
      </p:sp>
      <p:sp>
        <p:nvSpPr>
          <p:cNvPr id="55" name="Shape 53"/>
          <p:cNvSpPr/>
          <p:nvPr/>
        </p:nvSpPr>
        <p:spPr>
          <a:xfrm>
            <a:off x="3516554" y="4215384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76876" y="437540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57" name="Text 55"/>
          <p:cNvSpPr/>
          <p:nvPr/>
        </p:nvSpPr>
        <p:spPr>
          <a:xfrm>
            <a:off x="5176876" y="43754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📊</a:t>
            </a:r>
            <a:endParaRPr lang="ar-SA" sz="2400" dirty="0"/>
          </a:p>
        </p:txBody>
      </p:sp>
      <p:sp>
        <p:nvSpPr>
          <p:cNvPr id="58" name="Text 56"/>
          <p:cNvSpPr/>
          <p:nvPr/>
        </p:nvSpPr>
        <p:spPr>
          <a:xfrm>
            <a:off x="3653714" y="4306824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١٠</a:t>
            </a:r>
            <a:endParaRPr lang="ar-SA" sz="1400" dirty="0"/>
          </a:p>
        </p:txBody>
      </p:sp>
      <p:sp>
        <p:nvSpPr>
          <p:cNvPr id="59" name="Text 57"/>
          <p:cNvSpPr/>
          <p:nvPr/>
        </p:nvSpPr>
        <p:spPr>
          <a:xfrm>
            <a:off x="3653714" y="4581144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لوحة التحكم IoT</a:t>
            </a:r>
            <a:endParaRPr lang="ar-SA" sz="1800" dirty="0"/>
          </a:p>
        </p:txBody>
      </p:sp>
      <p:sp>
        <p:nvSpPr>
          <p:cNvPr id="60" name="Shape 58"/>
          <p:cNvSpPr/>
          <p:nvPr/>
        </p:nvSpPr>
        <p:spPr>
          <a:xfrm>
            <a:off x="822960" y="4215384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83282" y="437540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62" name="Text 60"/>
          <p:cNvSpPr/>
          <p:nvPr/>
        </p:nvSpPr>
        <p:spPr>
          <a:xfrm>
            <a:off x="2483282" y="43754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⚡</a:t>
            </a:r>
            <a:endParaRPr lang="ar-SA" sz="2400" dirty="0"/>
          </a:p>
        </p:txBody>
      </p:sp>
      <p:sp>
        <p:nvSpPr>
          <p:cNvPr id="63" name="Text 61"/>
          <p:cNvSpPr/>
          <p:nvPr/>
        </p:nvSpPr>
        <p:spPr>
          <a:xfrm>
            <a:off x="960120" y="4306824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١١</a:t>
            </a:r>
            <a:endParaRPr lang="ar-SA" sz="1400" dirty="0"/>
          </a:p>
        </p:txBody>
      </p:sp>
      <p:sp>
        <p:nvSpPr>
          <p:cNvPr id="64" name="Text 62"/>
          <p:cNvSpPr/>
          <p:nvPr/>
        </p:nvSpPr>
        <p:spPr>
          <a:xfrm>
            <a:off x="960120" y="4581144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ESP-NOW</a:t>
            </a:r>
            <a:endParaRPr lang="ar-SA" sz="1800" dirty="0"/>
          </a:p>
        </p:txBody>
      </p:sp>
      <p:sp>
        <p:nvSpPr>
          <p:cNvPr id="65" name="Shape 63"/>
          <p:cNvSpPr/>
          <p:nvPr/>
        </p:nvSpPr>
        <p:spPr>
          <a:xfrm>
            <a:off x="8903741" y="5340096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564063" y="5500116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67" name="Text 65"/>
          <p:cNvSpPr/>
          <p:nvPr/>
        </p:nvSpPr>
        <p:spPr>
          <a:xfrm>
            <a:off x="10564063" y="55001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🚗</a:t>
            </a:r>
            <a:endParaRPr lang="ar-SA" sz="2400" dirty="0"/>
          </a:p>
        </p:txBody>
      </p:sp>
      <p:sp>
        <p:nvSpPr>
          <p:cNvPr id="68" name="Text 66"/>
          <p:cNvSpPr/>
          <p:nvPr/>
        </p:nvSpPr>
        <p:spPr>
          <a:xfrm>
            <a:off x="9040901" y="5431536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١٢</a:t>
            </a:r>
            <a:endParaRPr lang="ar-SA" sz="1400" dirty="0"/>
          </a:p>
        </p:txBody>
      </p:sp>
      <p:sp>
        <p:nvSpPr>
          <p:cNvPr id="69" name="Text 67"/>
          <p:cNvSpPr/>
          <p:nvPr/>
        </p:nvSpPr>
        <p:spPr>
          <a:xfrm>
            <a:off x="9040901" y="5705856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السيارة المتصلة</a:t>
            </a:r>
            <a:endParaRPr lang="ar-SA" sz="1800" dirty="0"/>
          </a:p>
        </p:txBody>
      </p:sp>
      <p:sp>
        <p:nvSpPr>
          <p:cNvPr id="70" name="Shape 68"/>
          <p:cNvSpPr/>
          <p:nvPr/>
        </p:nvSpPr>
        <p:spPr>
          <a:xfrm>
            <a:off x="6210148" y="5340096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870469" y="5500116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72" name="Text 70"/>
          <p:cNvSpPr/>
          <p:nvPr/>
        </p:nvSpPr>
        <p:spPr>
          <a:xfrm>
            <a:off x="7870469" y="55001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🎓</a:t>
            </a:r>
            <a:endParaRPr lang="ar-SA" sz="2400" dirty="0"/>
          </a:p>
        </p:txBody>
      </p:sp>
      <p:sp>
        <p:nvSpPr>
          <p:cNvPr id="73" name="Text 71"/>
          <p:cNvSpPr/>
          <p:nvPr/>
        </p:nvSpPr>
        <p:spPr>
          <a:xfrm>
            <a:off x="6347308" y="5431536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١٣</a:t>
            </a:r>
            <a:endParaRPr lang="ar-SA" sz="1400" dirty="0"/>
          </a:p>
        </p:txBody>
      </p:sp>
      <p:sp>
        <p:nvSpPr>
          <p:cNvPr id="74" name="Text 72"/>
          <p:cNvSpPr/>
          <p:nvPr/>
        </p:nvSpPr>
        <p:spPr>
          <a:xfrm>
            <a:off x="6347308" y="5705856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الفصل الذكي</a:t>
            </a:r>
            <a:endParaRPr lang="ar-SA" sz="1800" dirty="0"/>
          </a:p>
        </p:txBody>
      </p:sp>
      <p:sp>
        <p:nvSpPr>
          <p:cNvPr id="75" name="Text 7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76" name="Text 7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٦</a:t>
            </a:r>
            <a:endParaRPr lang="ar-SA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4831" y="457200"/>
            <a:ext cx="380390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564831" y="45720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خريطة الأطراف الموحدة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أطراف ثابتة طوال الدورة… لتبني مشروعًا فوق مشروع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141760" y="1874520"/>
            <a:ext cx="322697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141760" y="1874520"/>
            <a:ext cx="3226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القطعة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6095848" y="1874520"/>
            <a:ext cx="193618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6095848" y="1874520"/>
            <a:ext cx="19361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الطرف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516316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516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لماذا هذا الطرف؟</a:t>
            </a:r>
            <a:endParaRPr lang="ar-SA" sz="1900" dirty="0"/>
          </a:p>
        </p:txBody>
      </p:sp>
      <p:sp>
        <p:nvSpPr>
          <p:cNvPr id="11" name="anim-g1-45"/>
          <p:cNvSpPr/>
          <p:nvPr/>
        </p:nvSpPr>
        <p:spPr>
          <a:xfrm>
            <a:off x="8141760" y="2514600"/>
            <a:ext cx="3226975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46"/>
          <p:cNvSpPr/>
          <p:nvPr/>
        </p:nvSpPr>
        <p:spPr>
          <a:xfrm>
            <a:off x="8278920" y="2514600"/>
            <a:ext cx="295265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🎛️ المقبض · ☀️ LDR</a:t>
            </a:r>
            <a:endParaRPr lang="ar-SA" sz="2100" dirty="0"/>
          </a:p>
        </p:txBody>
      </p:sp>
      <p:sp>
        <p:nvSpPr>
          <p:cNvPr id="13" name="anim-g1-47"/>
          <p:cNvSpPr/>
          <p:nvPr/>
        </p:nvSpPr>
        <p:spPr>
          <a:xfrm>
            <a:off x="6095848" y="2514600"/>
            <a:ext cx="1936185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48"/>
          <p:cNvSpPr/>
          <p:nvPr/>
        </p:nvSpPr>
        <p:spPr>
          <a:xfrm>
            <a:off x="6233008" y="2514600"/>
            <a:ext cx="166186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34 · 35</a:t>
            </a:r>
            <a:endParaRPr lang="ar-SA" sz="2100" dirty="0"/>
          </a:p>
        </p:txBody>
      </p:sp>
      <p:sp>
        <p:nvSpPr>
          <p:cNvPr id="15" name="anim-g1-49"/>
          <p:cNvSpPr/>
          <p:nvPr/>
        </p:nvSpPr>
        <p:spPr>
          <a:xfrm>
            <a:off x="822960" y="2514600"/>
            <a:ext cx="5163160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50"/>
          <p:cNvSpPr/>
          <p:nvPr/>
        </p:nvSpPr>
        <p:spPr>
          <a:xfrm>
            <a:off x="960120" y="2514600"/>
            <a:ext cx="488884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ADC1 مدخل فقط: يقرأ حتى مع الواي فاي</a:t>
            </a:r>
            <a:endParaRPr lang="ar-SA" sz="2100" dirty="0"/>
          </a:p>
        </p:txBody>
      </p:sp>
      <p:sp>
        <p:nvSpPr>
          <p:cNvPr id="17" name="anim-g2-51"/>
          <p:cNvSpPr/>
          <p:nvPr/>
        </p:nvSpPr>
        <p:spPr>
          <a:xfrm>
            <a:off x="8141760" y="3240634"/>
            <a:ext cx="3226975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52"/>
          <p:cNvSpPr/>
          <p:nvPr/>
        </p:nvSpPr>
        <p:spPr>
          <a:xfrm>
            <a:off x="8278920" y="3240634"/>
            <a:ext cx="295265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🌡️ DHT22 · 🚶 PIR</a:t>
            </a:r>
            <a:endParaRPr lang="ar-SA" sz="2100" dirty="0"/>
          </a:p>
        </p:txBody>
      </p:sp>
      <p:sp>
        <p:nvSpPr>
          <p:cNvPr id="19" name="anim-g2-53"/>
          <p:cNvSpPr/>
          <p:nvPr/>
        </p:nvSpPr>
        <p:spPr>
          <a:xfrm>
            <a:off x="6095848" y="3240634"/>
            <a:ext cx="1936185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54"/>
          <p:cNvSpPr/>
          <p:nvPr/>
        </p:nvSpPr>
        <p:spPr>
          <a:xfrm>
            <a:off x="6233008" y="3240634"/>
            <a:ext cx="166186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 · 33</a:t>
            </a:r>
            <a:endParaRPr lang="ar-SA" sz="2100" dirty="0"/>
          </a:p>
        </p:txBody>
      </p:sp>
      <p:sp>
        <p:nvSpPr>
          <p:cNvPr id="21" name="anim-g2-55"/>
          <p:cNvSpPr/>
          <p:nvPr/>
        </p:nvSpPr>
        <p:spPr>
          <a:xfrm>
            <a:off x="822960" y="3240634"/>
            <a:ext cx="5163160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56"/>
          <p:cNvSpPr/>
          <p:nvPr/>
        </p:nvSpPr>
        <p:spPr>
          <a:xfrm>
            <a:off x="960120" y="3240634"/>
            <a:ext cx="488884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أطراف رقمية آمنة</a:t>
            </a:r>
            <a:endParaRPr lang="ar-SA" sz="2100" dirty="0"/>
          </a:p>
        </p:txBody>
      </p:sp>
      <p:sp>
        <p:nvSpPr>
          <p:cNvPr id="23" name="anim-g3-57"/>
          <p:cNvSpPr/>
          <p:nvPr/>
        </p:nvSpPr>
        <p:spPr>
          <a:xfrm>
            <a:off x="8141760" y="3966667"/>
            <a:ext cx="3226975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58"/>
          <p:cNvSpPr/>
          <p:nvPr/>
        </p:nvSpPr>
        <p:spPr>
          <a:xfrm>
            <a:off x="8278920" y="3966667"/>
            <a:ext cx="295265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📏 Trig · Echo</a:t>
            </a:r>
            <a:endParaRPr lang="ar-SA" sz="2100" dirty="0"/>
          </a:p>
        </p:txBody>
      </p:sp>
      <p:sp>
        <p:nvSpPr>
          <p:cNvPr id="25" name="anim-g3-59"/>
          <p:cNvSpPr/>
          <p:nvPr/>
        </p:nvSpPr>
        <p:spPr>
          <a:xfrm>
            <a:off x="6095848" y="3966667"/>
            <a:ext cx="1936185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60"/>
          <p:cNvSpPr/>
          <p:nvPr/>
        </p:nvSpPr>
        <p:spPr>
          <a:xfrm>
            <a:off x="6233008" y="3966667"/>
            <a:ext cx="166186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26 · 27</a:t>
            </a:r>
            <a:endParaRPr lang="ar-SA" sz="2100" dirty="0"/>
          </a:p>
        </p:txBody>
      </p:sp>
      <p:sp>
        <p:nvSpPr>
          <p:cNvPr id="27" name="anim-g3-61"/>
          <p:cNvSpPr/>
          <p:nvPr/>
        </p:nvSpPr>
        <p:spPr>
          <a:xfrm>
            <a:off x="822960" y="3966667"/>
            <a:ext cx="5163160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62"/>
          <p:cNvSpPr/>
          <p:nvPr/>
        </p:nvSpPr>
        <p:spPr>
          <a:xfrm>
            <a:off x="960120" y="3966667"/>
            <a:ext cx="488884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Echo عبر مقسم جهد 1k/2k</a:t>
            </a:r>
            <a:endParaRPr lang="ar-SA" sz="2100" dirty="0"/>
          </a:p>
        </p:txBody>
      </p:sp>
      <p:sp>
        <p:nvSpPr>
          <p:cNvPr id="29" name="anim-g4-63"/>
          <p:cNvSpPr/>
          <p:nvPr/>
        </p:nvSpPr>
        <p:spPr>
          <a:xfrm>
            <a:off x="8141760" y="4692701"/>
            <a:ext cx="3226975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64"/>
          <p:cNvSpPr/>
          <p:nvPr/>
        </p:nvSpPr>
        <p:spPr>
          <a:xfrm>
            <a:off x="8278920" y="4692701"/>
            <a:ext cx="295265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💡 ليد · 🔔 بازر · 🌀 مُرحِّل</a:t>
            </a:r>
            <a:endParaRPr lang="ar-SA" sz="2100" dirty="0"/>
          </a:p>
        </p:txBody>
      </p:sp>
      <p:sp>
        <p:nvSpPr>
          <p:cNvPr id="31" name="anim-g4-65"/>
          <p:cNvSpPr/>
          <p:nvPr/>
        </p:nvSpPr>
        <p:spPr>
          <a:xfrm>
            <a:off x="6095848" y="4692701"/>
            <a:ext cx="1936185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66"/>
          <p:cNvSpPr/>
          <p:nvPr/>
        </p:nvSpPr>
        <p:spPr>
          <a:xfrm>
            <a:off x="6233008" y="4692701"/>
            <a:ext cx="166186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23 · 13 · 19</a:t>
            </a:r>
            <a:endParaRPr lang="ar-SA" sz="2100" dirty="0"/>
          </a:p>
        </p:txBody>
      </p:sp>
      <p:sp>
        <p:nvSpPr>
          <p:cNvPr id="33" name="anim-g4-67"/>
          <p:cNvSpPr/>
          <p:nvPr/>
        </p:nvSpPr>
        <p:spPr>
          <a:xfrm>
            <a:off x="822960" y="4692701"/>
            <a:ext cx="5163160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68"/>
          <p:cNvSpPr/>
          <p:nvPr/>
        </p:nvSpPr>
        <p:spPr>
          <a:xfrm>
            <a:off x="960120" y="4692701"/>
            <a:ext cx="488884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مخرجات آمنة (13 ليس طرف إقلاع)</a:t>
            </a:r>
            <a:endParaRPr lang="ar-SA" sz="2100" dirty="0"/>
          </a:p>
        </p:txBody>
      </p:sp>
      <p:sp>
        <p:nvSpPr>
          <p:cNvPr id="35" name="anim-g5-69"/>
          <p:cNvSpPr/>
          <p:nvPr/>
        </p:nvSpPr>
        <p:spPr>
          <a:xfrm>
            <a:off x="8141760" y="5418734"/>
            <a:ext cx="3226975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6" name="anim-g5-70"/>
          <p:cNvSpPr/>
          <p:nvPr/>
        </p:nvSpPr>
        <p:spPr>
          <a:xfrm>
            <a:off x="8278920" y="5418734"/>
            <a:ext cx="295265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🦾 سيرفو · ⚙️ ENA/IN1/IN2</a:t>
            </a:r>
            <a:endParaRPr lang="ar-SA" sz="2100" dirty="0"/>
          </a:p>
        </p:txBody>
      </p:sp>
      <p:sp>
        <p:nvSpPr>
          <p:cNvPr id="37" name="anim-g5-71"/>
          <p:cNvSpPr/>
          <p:nvPr/>
        </p:nvSpPr>
        <p:spPr>
          <a:xfrm>
            <a:off x="6095848" y="5418734"/>
            <a:ext cx="1936185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8" name="anim-g5-72"/>
          <p:cNvSpPr/>
          <p:nvPr/>
        </p:nvSpPr>
        <p:spPr>
          <a:xfrm>
            <a:off x="6233008" y="5418734"/>
            <a:ext cx="166186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18 · 14/16/17</a:t>
            </a:r>
            <a:endParaRPr lang="ar-SA" sz="2100" dirty="0"/>
          </a:p>
        </p:txBody>
      </p:sp>
      <p:sp>
        <p:nvSpPr>
          <p:cNvPr id="39" name="anim-g5-73"/>
          <p:cNvSpPr/>
          <p:nvPr/>
        </p:nvSpPr>
        <p:spPr>
          <a:xfrm>
            <a:off x="822960" y="5418734"/>
            <a:ext cx="5163160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0" name="anim-g5-74"/>
          <p:cNvSpPr/>
          <p:nvPr/>
        </p:nvSpPr>
        <p:spPr>
          <a:xfrm>
            <a:off x="960120" y="5418734"/>
            <a:ext cx="488884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PWM عبر LEDC على أي طرف آمن</a:t>
            </a:r>
            <a:endParaRPr lang="ar-SA" sz="21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تحتاج لهذه الدورة؟</a:t>
            </a:r>
            <a:endParaRPr lang="ar-SA" sz="3800" dirty="0"/>
          </a:p>
        </p:txBody>
      </p:sp>
      <p:sp>
        <p:nvSpPr>
          <p:cNvPr id="3" name="anim-g1-75"/>
          <p:cNvSpPr/>
          <p:nvPr/>
        </p:nvSpPr>
        <p:spPr>
          <a:xfrm>
            <a:off x="8036357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4" name="anim-g1-76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5" name="anim-g1-77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📡</a:t>
            </a:r>
            <a:endParaRPr lang="ar-SA" sz="2200" dirty="0"/>
          </a:p>
        </p:txBody>
      </p:sp>
      <p:sp>
        <p:nvSpPr>
          <p:cNvPr id="6" name="anim-g1-78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 DevKit + كابل بيانات</a:t>
            </a:r>
            <a:endParaRPr lang="ar-SA" sz="2200" dirty="0"/>
          </a:p>
        </p:txBody>
      </p:sp>
      <p:sp>
        <p:nvSpPr>
          <p:cNvPr id="7" name="anim-g1-79"/>
          <p:cNvSpPr/>
          <p:nvPr/>
        </p:nvSpPr>
        <p:spPr>
          <a:xfrm>
            <a:off x="8310677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الجزء الأول</a:t>
            </a:r>
            <a:endParaRPr lang="ar-SA" sz="1900" dirty="0"/>
          </a:p>
        </p:txBody>
      </p:sp>
      <p:sp>
        <p:nvSpPr>
          <p:cNvPr id="8" name="anim-g2-80"/>
          <p:cNvSpPr/>
          <p:nvPr/>
        </p:nvSpPr>
        <p:spPr>
          <a:xfrm>
            <a:off x="4429658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9" name="anim-g2-81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0" name="anim-g2-82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🎛️</a:t>
            </a:r>
            <a:endParaRPr lang="ar-SA" sz="2200" dirty="0"/>
          </a:p>
        </p:txBody>
      </p:sp>
      <p:sp>
        <p:nvSpPr>
          <p:cNvPr id="11" name="anim-g2-83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حساسات</a:t>
            </a:r>
            <a:endParaRPr lang="ar-SA" sz="2200" dirty="0"/>
          </a:p>
        </p:txBody>
      </p:sp>
      <p:sp>
        <p:nvSpPr>
          <p:cNvPr id="12" name="anim-g2-84"/>
          <p:cNvSpPr/>
          <p:nvPr/>
        </p:nvSpPr>
        <p:spPr>
          <a:xfrm>
            <a:off x="4703978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مقاومة متغيرة · LDR · DHT22 · HC-SR04 · PIR</a:t>
            </a:r>
            <a:endParaRPr lang="ar-SA" sz="1900" dirty="0"/>
          </a:p>
        </p:txBody>
      </p:sp>
      <p:sp>
        <p:nvSpPr>
          <p:cNvPr id="13" name="anim-g3-85"/>
          <p:cNvSpPr/>
          <p:nvPr/>
        </p:nvSpPr>
        <p:spPr>
          <a:xfrm>
            <a:off x="822960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4" name="anim-g3-86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5" name="anim-g3-87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⚙️</a:t>
            </a:r>
            <a:endParaRPr lang="ar-SA" sz="2200" dirty="0"/>
          </a:p>
        </p:txBody>
      </p:sp>
      <p:sp>
        <p:nvSpPr>
          <p:cNvPr id="16" name="anim-g3-88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محركات</a:t>
            </a:r>
            <a:endParaRPr lang="ar-SA" sz="2200" dirty="0"/>
          </a:p>
        </p:txBody>
      </p:sp>
      <p:sp>
        <p:nvSpPr>
          <p:cNvPr id="17" name="anim-g3-89"/>
          <p:cNvSpPr/>
          <p:nvPr/>
        </p:nvSpPr>
        <p:spPr>
          <a:xfrm>
            <a:off x="1097280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سيرفو SG90 · محرك DC · درايفر L298N</a:t>
            </a:r>
            <a:endParaRPr lang="ar-SA" sz="1900" dirty="0"/>
          </a:p>
        </p:txBody>
      </p:sp>
      <p:sp>
        <p:nvSpPr>
          <p:cNvPr id="18" name="anim-g4-90"/>
          <p:cNvSpPr/>
          <p:nvPr/>
        </p:nvSpPr>
        <p:spPr>
          <a:xfrm>
            <a:off x="8036357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9" name="anim-g4-91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0" name="anim-g4-92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🔔</a:t>
            </a:r>
            <a:endParaRPr lang="ar-SA" sz="2200" dirty="0"/>
          </a:p>
        </p:txBody>
      </p:sp>
      <p:sp>
        <p:nvSpPr>
          <p:cNvPr id="21" name="anim-g4-93"/>
          <p:cNvSpPr/>
          <p:nvPr/>
        </p:nvSpPr>
        <p:spPr>
          <a:xfrm>
            <a:off x="8310677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مخرجات</a:t>
            </a:r>
            <a:endParaRPr lang="ar-SA" sz="2200" dirty="0"/>
          </a:p>
        </p:txBody>
      </p:sp>
      <p:sp>
        <p:nvSpPr>
          <p:cNvPr id="22" name="anim-g4-94"/>
          <p:cNvSpPr/>
          <p:nvPr/>
        </p:nvSpPr>
        <p:spPr>
          <a:xfrm>
            <a:off x="8310677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بازر سلبي · مُرحِّل · ليدات</a:t>
            </a:r>
            <a:endParaRPr lang="ar-SA" sz="1900" dirty="0"/>
          </a:p>
        </p:txBody>
      </p:sp>
      <p:sp>
        <p:nvSpPr>
          <p:cNvPr id="23" name="anim-g5-95"/>
          <p:cNvSpPr/>
          <p:nvPr/>
        </p:nvSpPr>
        <p:spPr>
          <a:xfrm>
            <a:off x="4429658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4" name="anim-g5-96"/>
          <p:cNvSpPr/>
          <p:nvPr/>
        </p:nvSpPr>
        <p:spPr>
          <a:xfrm>
            <a:off x="6920789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5" name="anim-g5-97"/>
          <p:cNvSpPr/>
          <p:nvPr/>
        </p:nvSpPr>
        <p:spPr>
          <a:xfrm>
            <a:off x="6920789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🔋</a:t>
            </a:r>
            <a:endParaRPr lang="ar-SA" sz="2200" dirty="0"/>
          </a:p>
        </p:txBody>
      </p:sp>
      <p:sp>
        <p:nvSpPr>
          <p:cNvPr id="26" name="anim-g5-98"/>
          <p:cNvSpPr/>
          <p:nvPr/>
        </p:nvSpPr>
        <p:spPr>
          <a:xfrm>
            <a:off x="4703978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طاقة</a:t>
            </a:r>
            <a:endParaRPr lang="ar-SA" sz="2200" dirty="0"/>
          </a:p>
        </p:txBody>
      </p:sp>
      <p:sp>
        <p:nvSpPr>
          <p:cNvPr id="27" name="anim-g5-99"/>
          <p:cNvSpPr/>
          <p:nvPr/>
        </p:nvSpPr>
        <p:spPr>
          <a:xfrm>
            <a:off x="4703978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بطارية ٩–١٢ فولت للمحركات</a:t>
            </a:r>
            <a:endParaRPr lang="ar-SA" sz="1900" dirty="0"/>
          </a:p>
        </p:txBody>
      </p:sp>
      <p:sp>
        <p:nvSpPr>
          <p:cNvPr id="28" name="anim-g6-100"/>
          <p:cNvSpPr/>
          <p:nvPr/>
        </p:nvSpPr>
        <p:spPr>
          <a:xfrm>
            <a:off x="822960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9" name="anim-g6-101"/>
          <p:cNvSpPr/>
          <p:nvPr/>
        </p:nvSpPr>
        <p:spPr>
          <a:xfrm>
            <a:off x="331409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30" name="anim-g6-102"/>
          <p:cNvSpPr/>
          <p:nvPr/>
        </p:nvSpPr>
        <p:spPr>
          <a:xfrm>
            <a:off x="331409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📱</a:t>
            </a:r>
            <a:endParaRPr lang="ar-SA" sz="2200" dirty="0"/>
          </a:p>
        </p:txBody>
      </p:sp>
      <p:sp>
        <p:nvSpPr>
          <p:cNvPr id="31" name="anim-g6-103"/>
          <p:cNvSpPr/>
          <p:nvPr/>
        </p:nvSpPr>
        <p:spPr>
          <a:xfrm>
            <a:off x="1097280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جوال</a:t>
            </a:r>
            <a:endParaRPr lang="ar-SA" sz="2200" dirty="0"/>
          </a:p>
        </p:txBody>
      </p:sp>
      <p:sp>
        <p:nvSpPr>
          <p:cNvPr id="32" name="anim-g6-104"/>
          <p:cNvSpPr/>
          <p:nvPr/>
        </p:nvSpPr>
        <p:spPr>
          <a:xfrm>
            <a:off x="1097280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على الشبكة نفسها، أو يتصل بشبكة اللوحة</a:t>
            </a:r>
            <a:endParaRPr lang="ar-SA" sz="1900" dirty="0"/>
          </a:p>
        </p:txBody>
      </p:sp>
      <p:sp>
        <p:nvSpPr>
          <p:cNvPr id="33" name="Text 31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منهج كل 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ستة أشياء في كل محور</a:t>
            </a:r>
            <a:endParaRPr lang="ar-SA" sz="3800" dirty="0"/>
          </a:p>
        </p:txBody>
      </p:sp>
      <p:sp>
        <p:nvSpPr>
          <p:cNvPr id="5" name="anim-g1-105"/>
          <p:cNvSpPr/>
          <p:nvPr/>
        </p:nvSpPr>
        <p:spPr>
          <a:xfrm>
            <a:off x="822960" y="1920240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06"/>
          <p:cNvSpPr/>
          <p:nvPr/>
        </p:nvSpPr>
        <p:spPr>
          <a:xfrm>
            <a:off x="10728655" y="2011680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07"/>
          <p:cNvSpPr/>
          <p:nvPr/>
        </p:nvSpPr>
        <p:spPr>
          <a:xfrm>
            <a:off x="10728655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08"/>
          <p:cNvSpPr/>
          <p:nvPr/>
        </p:nvSpPr>
        <p:spPr>
          <a:xfrm>
            <a:off x="1097280" y="1920240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🔎 الشرح الوافي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كل مصطلح جديد: ما هو؟ لماذا؟ متى نستخدمه؟ متى نتجنبه؟ + تجربة حيّة</a:t>
            </a:r>
            <a:endParaRPr lang="ar-SA" sz="2200" dirty="0"/>
          </a:p>
        </p:txBody>
      </p:sp>
      <p:sp>
        <p:nvSpPr>
          <p:cNvPr id="9" name="anim-g2-109"/>
          <p:cNvSpPr/>
          <p:nvPr/>
        </p:nvSpPr>
        <p:spPr>
          <a:xfrm>
            <a:off x="822960" y="2624328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10"/>
          <p:cNvSpPr/>
          <p:nvPr/>
        </p:nvSpPr>
        <p:spPr>
          <a:xfrm>
            <a:off x="10728655" y="2715768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11"/>
          <p:cNvSpPr/>
          <p:nvPr/>
        </p:nvSpPr>
        <p:spPr>
          <a:xfrm>
            <a:off x="10728655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12"/>
          <p:cNvSpPr/>
          <p:nvPr/>
        </p:nvSpPr>
        <p:spPr>
          <a:xfrm>
            <a:off x="1097280" y="2624328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🧪 المختبر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محاكاة تحرّكها بيدك، والسطر المنفَّذ من الكود يضيء</a:t>
            </a:r>
            <a:endParaRPr lang="ar-SA" sz="2200" dirty="0"/>
          </a:p>
        </p:txBody>
      </p:sp>
      <p:sp>
        <p:nvSpPr>
          <p:cNvPr id="13" name="anim-g3-113"/>
          <p:cNvSpPr/>
          <p:nvPr/>
        </p:nvSpPr>
        <p:spPr>
          <a:xfrm>
            <a:off x="822960" y="3328416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14"/>
          <p:cNvSpPr/>
          <p:nvPr/>
        </p:nvSpPr>
        <p:spPr>
          <a:xfrm>
            <a:off x="10728655" y="3419856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15"/>
          <p:cNvSpPr/>
          <p:nvPr/>
        </p:nvSpPr>
        <p:spPr>
          <a:xfrm>
            <a:off x="10728655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16"/>
          <p:cNvSpPr/>
          <p:nvPr/>
        </p:nvSpPr>
        <p:spPr>
          <a:xfrm>
            <a:off x="1097280" y="3328416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🔧 التركيب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قطعة قطعة على ESP32 بأطرافها الصحيحة</a:t>
            </a:r>
            <a:endParaRPr lang="ar-SA" sz="2200" dirty="0"/>
          </a:p>
        </p:txBody>
      </p:sp>
      <p:sp>
        <p:nvSpPr>
          <p:cNvPr id="17" name="anim-g4-117"/>
          <p:cNvSpPr/>
          <p:nvPr/>
        </p:nvSpPr>
        <p:spPr>
          <a:xfrm>
            <a:off x="822960" y="4032504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18"/>
          <p:cNvSpPr/>
          <p:nvPr/>
        </p:nvSpPr>
        <p:spPr>
          <a:xfrm>
            <a:off x="10728655" y="4123944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19"/>
          <p:cNvSpPr/>
          <p:nvPr/>
        </p:nvSpPr>
        <p:spPr>
          <a:xfrm>
            <a:off x="10728655" y="4123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20"/>
          <p:cNvSpPr/>
          <p:nvPr/>
        </p:nvSpPr>
        <p:spPr>
          <a:xfrm>
            <a:off x="1097280" y="4032504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✍️ الكود سطرًا سطرًا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مترجم فعلًا ومُجرَّب، وموجود في الحقيبة</a:t>
            </a:r>
            <a:endParaRPr lang="ar-SA" sz="2200" dirty="0"/>
          </a:p>
        </p:txBody>
      </p:sp>
      <p:sp>
        <p:nvSpPr>
          <p:cNvPr id="21" name="anim-g5-121"/>
          <p:cNvSpPr/>
          <p:nvPr/>
        </p:nvSpPr>
        <p:spPr>
          <a:xfrm>
            <a:off x="822960" y="4736592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2" name="anim-g5-122"/>
          <p:cNvSpPr/>
          <p:nvPr/>
        </p:nvSpPr>
        <p:spPr>
          <a:xfrm>
            <a:off x="10728655" y="4828032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23" name="anim-g5-123"/>
          <p:cNvSpPr/>
          <p:nvPr/>
        </p:nvSpPr>
        <p:spPr>
          <a:xfrm>
            <a:off x="10728655" y="4828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</a:t>
            </a:r>
            <a:endParaRPr lang="ar-SA" sz="2000" dirty="0"/>
          </a:p>
        </p:txBody>
      </p:sp>
      <p:sp>
        <p:nvSpPr>
          <p:cNvPr id="24" name="anim-g5-124"/>
          <p:cNvSpPr/>
          <p:nvPr/>
        </p:nvSpPr>
        <p:spPr>
          <a:xfrm>
            <a:off x="1097280" y="4736592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✅ اختبر نفسك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صح أم خطأ، وأسئلة تكشف الفهم</a:t>
            </a:r>
            <a:endParaRPr lang="ar-SA" sz="2200" dirty="0"/>
          </a:p>
        </p:txBody>
      </p:sp>
      <p:sp>
        <p:nvSpPr>
          <p:cNvPr id="25" name="anim-g6-125"/>
          <p:cNvSpPr/>
          <p:nvPr/>
        </p:nvSpPr>
        <p:spPr>
          <a:xfrm>
            <a:off x="822960" y="5440680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6-126"/>
          <p:cNvSpPr/>
          <p:nvPr/>
        </p:nvSpPr>
        <p:spPr>
          <a:xfrm>
            <a:off x="10728655" y="5532120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27" name="anim-g6-127"/>
          <p:cNvSpPr/>
          <p:nvPr/>
        </p:nvSpPr>
        <p:spPr>
          <a:xfrm>
            <a:off x="10728655" y="5532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٦</a:t>
            </a:r>
            <a:endParaRPr lang="ar-SA" sz="2000" dirty="0"/>
          </a:p>
        </p:txBody>
      </p:sp>
      <p:sp>
        <p:nvSpPr>
          <p:cNvPr id="28" name="anim-g6-128"/>
          <p:cNvSpPr/>
          <p:nvPr/>
        </p:nvSpPr>
        <p:spPr>
          <a:xfrm>
            <a:off x="1097280" y="5440680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👩‍🏫 كيف تدرّسها؟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أخطاء الطلاب الشائعة ونشاط صفي جاهز</a:t>
            </a:r>
            <a:endParaRPr lang="ar-SA" sz="2200" dirty="0"/>
          </a:p>
        </p:txBody>
      </p:sp>
      <p:sp>
        <p:nvSpPr>
          <p:cNvPr id="29" name="Text 27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القراءة التماثلية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«هل؟» إلى «كم؟»… بأربعة آلاف درجة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القراءة التماثلية  ·  ١٠</a:t>
            </a:r>
            <a:endParaRPr lang="ar-SA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129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30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31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32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تقرأ جهدًا متغيرًا بـ analogRead وتفهم الرقم ٠–٤٠٩٥</a:t>
            </a:r>
            <a:endParaRPr lang="ar-SA" sz="2400" dirty="0"/>
          </a:p>
        </p:txBody>
      </p:sp>
      <p:sp>
        <p:nvSpPr>
          <p:cNvPr id="9" name="anim-g2-133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34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35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36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تعرف لماذا تختلف أرقام ESP32 عن الأونو، وكيف تعدّل أكواده</a:t>
            </a:r>
            <a:endParaRPr lang="ar-SA" sz="2400" dirty="0"/>
          </a:p>
        </p:txBody>
      </p:sp>
      <p:sp>
        <p:nvSpPr>
          <p:cNvPr id="13" name="anim-g3-137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38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39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40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تحوّل نطاقًا إلى نطاق بـ map</a:t>
            </a:r>
            <a:endParaRPr lang="ar-SA" sz="2400" dirty="0"/>
          </a:p>
        </p:txBody>
      </p:sp>
      <p:sp>
        <p:nvSpPr>
          <p:cNvPr id="17" name="anim-g4-141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42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43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44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تقرأ الجهد الحقيقي بـ analogReadMilliVolts وترسم القراءة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القراءة التماثلية  ·  ١١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6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45" descr="C:\Users\user\projects\younes-training\esp32-2\.pptx-cache\s16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46" descr="C:\Users\user\projects\younes-training\esp32-2\.pptx-cache\s16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47" descr="C:\Users\user\projects\younes-training\esp32-2\.pptx-cache\s16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48" descr="C:\Users\user\projects\younes-training\esp32-2\.pptx-cache\s16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7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49" descr="C:\Users\user\projects\younes-training\esp32-2\.pptx-cache\s17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50" descr="C:\Users\user\projects\younes-training\esp32-2\.pptx-cache\s17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51" descr="C:\Users\user\projects\younes-training\esp32-2\.pptx-cache\s17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52" descr="C:\Users\user\projects\younes-training\esp32-2\.pptx-cache\s17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53" descr="C:\Users\user\projects\younes-training\esp32-2\.pptx-cache\s17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154" descr="C:\Users\user\projects\younes-training\esp32-2\.pptx-cache\s17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anim-g7-155" descr="C:\Users\user\projects\younes-training\esp32-2\.pptx-cache\s17-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0047" y="457200"/>
            <a:ext cx="321868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150047" y="45720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أداة مجانية مدهشة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الراسم التسلسلي: Tools ← Serial Plotter</a:t>
            </a:r>
            <a:endParaRPr lang="ar-SA" sz="3200" dirty="0"/>
          </a:p>
        </p:txBody>
      </p:sp>
      <p:sp>
        <p:nvSpPr>
          <p:cNvPr id="5" name="anim-g1-156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57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58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📈</a:t>
            </a:r>
            <a:endParaRPr lang="ar-SA" sz="2200" dirty="0"/>
          </a:p>
        </p:txBody>
      </p:sp>
      <p:sp>
        <p:nvSpPr>
          <p:cNvPr id="8" name="anim-g1-159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يرسم ولا يكتب</a:t>
            </a:r>
            <a:endParaRPr lang="ar-SA" sz="2200" dirty="0"/>
          </a:p>
        </p:txBody>
      </p:sp>
      <p:sp>
        <p:nvSpPr>
          <p:cNvPr id="9" name="anim-g1-160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سطر أرقام يصير نقطة على خط يتحرك</a:t>
            </a:r>
            <a:endParaRPr lang="ar-SA" sz="1900" dirty="0"/>
          </a:p>
        </p:txBody>
      </p:sp>
      <p:sp>
        <p:nvSpPr>
          <p:cNvPr id="10" name="anim-g2-161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62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63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🏷️</a:t>
            </a:r>
            <a:endParaRPr lang="ar-SA" sz="2200" dirty="0"/>
          </a:p>
        </p:txBody>
      </p:sp>
      <p:sp>
        <p:nvSpPr>
          <p:cNvPr id="13" name="anim-g2-164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اسم:قيمة</a:t>
            </a:r>
            <a:endParaRPr lang="ar-SA" sz="2200" dirty="0"/>
          </a:p>
        </p:txBody>
      </p:sp>
      <p:sp>
        <p:nvSpPr>
          <p:cNvPr id="14" name="anim-g2-165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اكتب &lt;code&gt;raw:2048 mV:1650&lt;/code&gt; فيظهر كل اسم بلون</a:t>
            </a:r>
            <a:endParaRPr lang="ar-SA" sz="1900" dirty="0"/>
          </a:p>
        </p:txBody>
      </p:sp>
      <p:sp>
        <p:nvSpPr>
          <p:cNvPr id="15" name="anim-g3-166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67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68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⚡</a:t>
            </a:r>
            <a:endParaRPr lang="ar-SA" sz="2200" dirty="0"/>
          </a:p>
        </p:txBody>
      </p:sp>
      <p:sp>
        <p:nvSpPr>
          <p:cNvPr id="18" name="anim-g3-169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115200</a:t>
            </a:r>
            <a:endParaRPr lang="ar-SA" sz="2200" dirty="0"/>
          </a:p>
        </p:txBody>
      </p:sp>
      <p:sp>
        <p:nvSpPr>
          <p:cNvPr id="19" name="anim-g3-170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السرعة نفسها في الكود وأسفل الراسم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القراءة التماثلية  ·  ١٨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9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71" descr="C:\Users\user\projects\younes-training\esp32-2\.pptx-cache\s19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72" descr="C:\Users\user\projects\younes-training\esp32-2\.pptx-cache\s19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73" descr="C:\Users\user\projects\younes-training\esp32-2\.pptx-cache\s19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74" descr="C:\Users\user\projects\younes-training\esp32-2\.pptx-cache\s19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711" y="457200"/>
            <a:ext cx="819302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3175711" y="457200"/>
            <a:ext cx="8193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 · المقبض في المنتصف تمامًا (١٫٦٥ فولت)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كم تعطي analogRead؟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٥١٢</a:t>
            </a:r>
            <a:endParaRPr lang="ar-SA" sz="2200" dirty="0"/>
          </a:p>
        </p:txBody>
      </p:sp>
      <p:sp>
        <p:nvSpPr>
          <p:cNvPr id="9" name="anim-g1-175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176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177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178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٥١٢</a:t>
            </a:r>
            <a:endParaRPr lang="ar-SA" sz="2200" dirty="0"/>
          </a:p>
        </p:txBody>
      </p:sp>
      <p:sp>
        <p:nvSpPr>
          <p:cNvPr id="13" name="anim-g1-179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منتصف الأونو (١٠٢٣ ÷ ٢)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٢٠٤٨</a:t>
            </a:r>
            <a:endParaRPr lang="ar-SA" sz="2200" dirty="0"/>
          </a:p>
        </p:txBody>
      </p:sp>
      <p:sp>
        <p:nvSpPr>
          <p:cNvPr id="18" name="anim-g1-180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181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0" name="anim-g1-182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21" name="anim-g1-183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٢٠٤٨</a:t>
            </a:r>
            <a:endParaRPr lang="ar-SA" sz="2200" dirty="0"/>
          </a:p>
        </p:txBody>
      </p:sp>
      <p:sp>
        <p:nvSpPr>
          <p:cNvPr id="22" name="anim-g1-184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نصف ٤٠٩٥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١٦٥٠</a:t>
            </a:r>
            <a:endParaRPr lang="ar-SA" sz="2200" dirty="0"/>
          </a:p>
        </p:txBody>
      </p:sp>
      <p:sp>
        <p:nvSpPr>
          <p:cNvPr id="27" name="anim-g1-185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186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187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188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١٦٥٠</a:t>
            </a:r>
            <a:endParaRPr lang="ar-SA" sz="2200" dirty="0"/>
          </a:p>
        </p:txBody>
      </p:sp>
      <p:sp>
        <p:nvSpPr>
          <p:cNvPr id="31" name="anim-g1-189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الجهد بالمللي فولت: تعطيه analogReadMilliVolts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٢٥٥</a:t>
            </a:r>
            <a:endParaRPr lang="ar-SA" sz="2200" dirty="0"/>
          </a:p>
        </p:txBody>
      </p:sp>
      <p:sp>
        <p:nvSpPr>
          <p:cNvPr id="36" name="anim-g1-19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19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19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193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٢٥٥</a:t>
            </a:r>
            <a:endParaRPr lang="ar-SA" sz="2200" dirty="0"/>
          </a:p>
        </p:txBody>
      </p:sp>
      <p:sp>
        <p:nvSpPr>
          <p:cNvPr id="40" name="anim-g1-194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ناتج map إلى ٢٥٥ كاملة، لا المنتصف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القراءة التماثلية  ·  ٢٠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جهد ← رقم من ٤٠٩٦ درجة ← map ← أي شيء تريده: هذه هي حاسة اللمس عند ESP32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القراءة التماثلية  ·  ٢٣</a:t>
            </a:r>
            <a:endParaRPr lang="ar-SA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٢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الضوء ومقسم الجهد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كيف «يرى» ESP32 النهار والليل؟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الضوء ومقسم الجهد  ·  ٢٤</a:t>
            </a:r>
            <a:endParaRPr lang="ar-SA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195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96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97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98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تشرح كيف تتغير مقاومة LDR مع الضوء</a:t>
            </a:r>
            <a:endParaRPr lang="ar-SA" sz="2400" dirty="0"/>
          </a:p>
        </p:txBody>
      </p:sp>
      <p:sp>
        <p:nvSpPr>
          <p:cNvPr id="9" name="anim-g2-199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200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201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202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تبني مقسم جهد يحوّل المقاومة إلى جهد يقرؤه ESP32</a:t>
            </a:r>
            <a:endParaRPr lang="ar-SA" sz="2400" dirty="0"/>
          </a:p>
        </p:txBody>
      </p:sp>
      <p:sp>
        <p:nvSpPr>
          <p:cNvPr id="13" name="anim-g3-203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204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205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206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تختار «عتبة» مناسبة من قراءات حقيقية</a:t>
            </a:r>
            <a:endParaRPr lang="ar-SA" sz="2400" dirty="0"/>
          </a:p>
        </p:txBody>
      </p:sp>
      <p:sp>
        <p:nvSpPr>
          <p:cNvPr id="17" name="anim-g4-207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208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209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210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تبني إنارة شارع ذكية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الضوء ومقسم الجهد  ·  ٢٥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59391" y="457200"/>
            <a:ext cx="160934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759391" y="4572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القطعة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LDR: مقاومة تتأثر بالضوء</a:t>
            </a:r>
            <a:endParaRPr lang="ar-SA" sz="3800" dirty="0"/>
          </a:p>
        </p:txBody>
      </p:sp>
      <p:sp>
        <p:nvSpPr>
          <p:cNvPr id="5" name="anim-g1-211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212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213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☀️</a:t>
            </a:r>
            <a:endParaRPr lang="ar-SA" sz="2200" dirty="0"/>
          </a:p>
        </p:txBody>
      </p:sp>
      <p:sp>
        <p:nvSpPr>
          <p:cNvPr id="8" name="anim-g1-214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في الضوء</a:t>
            </a:r>
            <a:endParaRPr lang="ar-SA" sz="2200" dirty="0"/>
          </a:p>
        </p:txBody>
      </p:sp>
      <p:sp>
        <p:nvSpPr>
          <p:cNvPr id="9" name="anim-g1-215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مقاومتها صغيرة: نحو ١ كيلو أوم</a:t>
            </a:r>
            <a:endParaRPr lang="ar-SA" sz="1900" dirty="0"/>
          </a:p>
        </p:txBody>
      </p:sp>
      <p:sp>
        <p:nvSpPr>
          <p:cNvPr id="10" name="anim-g2-216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217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218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🌙</a:t>
            </a:r>
            <a:endParaRPr lang="ar-SA" sz="2200" dirty="0"/>
          </a:p>
        </p:txBody>
      </p:sp>
      <p:sp>
        <p:nvSpPr>
          <p:cNvPr id="13" name="anim-g2-219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في الظلام</a:t>
            </a:r>
            <a:endParaRPr lang="ar-SA" sz="2200" dirty="0"/>
          </a:p>
        </p:txBody>
      </p:sp>
      <p:sp>
        <p:nvSpPr>
          <p:cNvPr id="14" name="anim-g2-220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مقاومتها كبيرة: مئات الكيلو أوم</a:t>
            </a:r>
            <a:endParaRPr lang="ar-SA" sz="1900" dirty="0"/>
          </a:p>
        </p:txBody>
      </p:sp>
      <p:sp>
        <p:nvSpPr>
          <p:cNvPr id="15" name="anim-g3-221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222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223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🤔</a:t>
            </a:r>
            <a:endParaRPr lang="ar-SA" sz="2200" dirty="0"/>
          </a:p>
        </p:txBody>
      </p:sp>
      <p:sp>
        <p:nvSpPr>
          <p:cNvPr id="18" name="anim-g3-224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المشكلة</a:t>
            </a:r>
            <a:endParaRPr lang="ar-SA" sz="2200" dirty="0"/>
          </a:p>
        </p:txBody>
      </p:sp>
      <p:sp>
        <p:nvSpPr>
          <p:cNvPr id="19" name="anim-g3-225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ESP32 يقرأ &lt;b&gt;جهدًا&lt;/b&gt; لا مقاومة… فكيف نحوّلها؟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الضوء ومقسم الجهد  ·  ٢٦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29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226" descr="C:\Users\user\projects\younes-training\esp32-2\.pptx-cache\s29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227" descr="C:\Users\user\projects\younes-training\esp32-2\.pptx-cache\s29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228" descr="C:\Users\user\projects\younes-training\esp32-2\.pptx-cache\s29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229" descr="C:\Users\user\projects\younes-training\esp32-2\.pptx-cache\s29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230" descr="C:\Users\user\projects\younes-training\esp32-2\.pptx-cache\s29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30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231" descr="C:\Users\user\projects\younes-training\esp32-2\.pptx-cache\s30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232" descr="C:\Users\user\projects\younes-training\esp32-2\.pptx-cache\s30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233" descr="C:\Users\user\projects\younes-training\esp32-2\.pptx-cache\s30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234" descr="C:\Users\user\projects\younes-training\esp32-2\.pptx-cache\s30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235" descr="C:\Users\user\projects\younes-training\esp32-2\.pptx-cache\s30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42655" y="4572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442655" y="457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الطريقة العلمية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كيف تختار العتبة الصحيحة؟</a:t>
            </a:r>
            <a:endParaRPr lang="ar-SA" sz="3800" dirty="0"/>
          </a:p>
        </p:txBody>
      </p:sp>
      <p:sp>
        <p:nvSpPr>
          <p:cNvPr id="5" name="anim-g1-236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237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238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239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اطبع القراءة في ضوء الفصل العادي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مثلًا ٢٨٠٠</a:t>
            </a:r>
            <a:endParaRPr lang="ar-SA" sz="2400" dirty="0"/>
          </a:p>
        </p:txBody>
      </p:sp>
      <p:sp>
        <p:nvSpPr>
          <p:cNvPr id="9" name="anim-g2-240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241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242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243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اطبعها والحساس مغطى أو الأنوار مطفأة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مثلًا ٦٠٠</a:t>
            </a:r>
            <a:endParaRPr lang="ar-SA" sz="2400" dirty="0"/>
          </a:p>
        </p:txBody>
      </p:sp>
      <p:sp>
        <p:nvSpPr>
          <p:cNvPr id="13" name="anim-g3-244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245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246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247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اختر رقمًا في المنتصف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(٢٨٠٠ + ٦٠٠) ÷ ٢ = ١٧٠٠</a:t>
            </a:r>
            <a:endParaRPr lang="ar-SA" sz="2400" dirty="0"/>
          </a:p>
        </p:txBody>
      </p:sp>
      <p:sp>
        <p:nvSpPr>
          <p:cNvPr id="17" name="anim-g4-248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249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250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251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جرّب عند الغروب وعدّل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العتبة تختلف من فصل لآخر ومن حساس لآخر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الضوء ومقسم الجهد  ·  ٣١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مشكلة حقيقية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المصباح يرمش عند الغروب! والحل؟</a:t>
            </a:r>
            <a:endParaRPr lang="ar-SA" sz="3800" dirty="0"/>
          </a:p>
        </p:txBody>
      </p:sp>
      <p:sp>
        <p:nvSpPr>
          <p:cNvPr id="5" name="anim-g1-252"/>
          <p:cNvSpPr/>
          <p:nvPr/>
        </p:nvSpPr>
        <p:spPr>
          <a:xfrm>
            <a:off x="6233008" y="2011680"/>
            <a:ext cx="5135728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253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254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😵</a:t>
            </a:r>
            <a:endParaRPr lang="ar-SA" sz="2200" dirty="0"/>
          </a:p>
        </p:txBody>
      </p:sp>
      <p:sp>
        <p:nvSpPr>
          <p:cNvPr id="8" name="anim-g1-255"/>
          <p:cNvSpPr/>
          <p:nvPr/>
        </p:nvSpPr>
        <p:spPr>
          <a:xfrm>
            <a:off x="6507328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المشكلة</a:t>
            </a:r>
            <a:endParaRPr lang="ar-SA" sz="2200" dirty="0"/>
          </a:p>
        </p:txBody>
      </p:sp>
      <p:sp>
        <p:nvSpPr>
          <p:cNvPr id="9" name="anim-g1-256"/>
          <p:cNvSpPr/>
          <p:nvPr/>
        </p:nvSpPr>
        <p:spPr>
          <a:xfrm>
            <a:off x="6507328" y="3493008"/>
            <a:ext cx="458708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حين تكون القراءة قريبة من العتبة تتذبذب حولها (١٤٩٨، ١٥٠٢، ١٤٩٩…) فيضيء وينطفئ بسرعة</a:t>
            </a:r>
            <a:endParaRPr lang="ar-SA" sz="1900" dirty="0"/>
          </a:p>
        </p:txBody>
      </p:sp>
      <p:sp>
        <p:nvSpPr>
          <p:cNvPr id="10" name="anim-g2-257"/>
          <p:cNvSpPr/>
          <p:nvPr/>
        </p:nvSpPr>
        <p:spPr>
          <a:xfrm>
            <a:off x="822960" y="2011680"/>
            <a:ext cx="5135728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258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259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200" dirty="0"/>
          </a:p>
        </p:txBody>
      </p:sp>
      <p:sp>
        <p:nvSpPr>
          <p:cNvPr id="13" name="anim-g2-260"/>
          <p:cNvSpPr/>
          <p:nvPr/>
        </p:nvSpPr>
        <p:spPr>
          <a:xfrm>
            <a:off x="1097280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الحل: عتبتان (Hysteresis)</a:t>
            </a:r>
            <a:endParaRPr lang="ar-SA" sz="2200" dirty="0"/>
          </a:p>
        </p:txBody>
      </p:sp>
      <p:sp>
        <p:nvSpPr>
          <p:cNvPr id="14" name="anim-g2-261"/>
          <p:cNvSpPr/>
          <p:nvPr/>
        </p:nvSpPr>
        <p:spPr>
          <a:xfrm>
            <a:off x="1097280" y="3493008"/>
            <a:ext cx="458708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أشعل تحت ١٤٠٠، ولا تطفئ إلا فوق ١٦٠٠. المسافة بينهما تمنع الرمش. هكذا يعمل منظم المكيف أيضًا</a:t>
            </a:r>
            <a:endParaRPr lang="ar-SA" sz="1900" dirty="0"/>
          </a:p>
        </p:txBody>
      </p:sp>
      <p:sp>
        <p:nvSpPr>
          <p:cNvPr id="15" name="Text 1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الضوء ومقسم الجهد  ·  ٣٢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33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262" descr="C:\Users\user\projects\younes-training\esp32-2\.pptx-cache\s33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263" descr="C:\Users\user\projects\younes-training\esp32-2\.pptx-cache\s33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264" descr="C:\Users\user\projects\younes-training\esp32-2\.pptx-cache\s33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265" descr="C:\Users\user\projects\younes-training\esp32-2\.pptx-cache\s33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لو بدّلنا مكان LDR والمقاومة 10k… ماذا يحدث؟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تتوقف الدائرة</a:t>
            </a:r>
            <a:endParaRPr lang="ar-SA" sz="2200" dirty="0"/>
          </a:p>
        </p:txBody>
      </p:sp>
      <p:sp>
        <p:nvSpPr>
          <p:cNvPr id="9" name="anim-g1-266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267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268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269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تتوقف الدائرة</a:t>
            </a:r>
            <a:endParaRPr lang="ar-SA" sz="2200" dirty="0"/>
          </a:p>
        </p:txBody>
      </p:sp>
      <p:sp>
        <p:nvSpPr>
          <p:cNvPr id="13" name="anim-g1-270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المقسم يعمل في الحالتين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تبقى كما هي</a:t>
            </a:r>
            <a:endParaRPr lang="ar-SA" sz="2200" dirty="0"/>
          </a:p>
        </p:txBody>
      </p:sp>
      <p:sp>
        <p:nvSpPr>
          <p:cNvPr id="18" name="anim-g1-271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272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273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274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تبقى كما هي</a:t>
            </a:r>
            <a:endParaRPr lang="ar-SA" sz="2200" dirty="0"/>
          </a:p>
        </p:txBody>
      </p:sp>
      <p:sp>
        <p:nvSpPr>
          <p:cNvPr id="22" name="anim-g1-275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الجهد على الطرف يتغير بالاتجاه المعاكس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ينعكس السلوك: الظلام يعطي قراءة كبيرة</a:t>
            </a:r>
            <a:endParaRPr lang="ar-SA" sz="2200" dirty="0"/>
          </a:p>
        </p:txBody>
      </p:sp>
      <p:sp>
        <p:nvSpPr>
          <p:cNvPr id="27" name="anim-g1-276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28" name="anim-g1-277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9" name="anim-g1-278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30" name="anim-g1-279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ينعكس السلوك: الظلام يعطي قراءة كبيرة</a:t>
            </a:r>
            <a:endParaRPr lang="ar-SA" sz="2200" dirty="0"/>
          </a:p>
        </p:txBody>
      </p:sp>
      <p:sp>
        <p:nvSpPr>
          <p:cNvPr id="31" name="anim-g1-280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فيجب عكس إشارة المقارنة في if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يحترق الحساس</a:t>
            </a:r>
            <a:endParaRPr lang="ar-SA" sz="2200" dirty="0"/>
          </a:p>
        </p:txBody>
      </p:sp>
      <p:sp>
        <p:nvSpPr>
          <p:cNvPr id="36" name="anim-g1-281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282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283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284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يحترق الحساس</a:t>
            </a:r>
            <a:endParaRPr lang="ar-SA" sz="2200" dirty="0"/>
          </a:p>
        </p:txBody>
      </p:sp>
      <p:sp>
        <p:nvSpPr>
          <p:cNvPr id="40" name="anim-g1-285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خطر: التيار صغير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الضوء ومقسم الجهد  ·  ٣٤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مقاومتان صغيرتان…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تحوّلان النهار والليل إلى رقم يفهمه ESP32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الضوء ومقسم الجهد  ·  ٣٧</a:t>
            </a:r>
            <a:endParaRPr lang="ar-SA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٣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الحرارة والرطوبة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حساس رقمي… ومكتبة تختصر مئة سطر… ومُرحِّل يشغّل الأجهزة الكبيرة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الحرارة والمكتبات  ·  ٣٨</a:t>
            </a:r>
            <a:endParaRPr lang="ar-SA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286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287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288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289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تفرّق بين DHT11 وDHT22 وتختار المناسب</a:t>
            </a:r>
            <a:endParaRPr lang="ar-SA" sz="2400" dirty="0"/>
          </a:p>
        </p:txBody>
      </p:sp>
      <p:sp>
        <p:nvSpPr>
          <p:cNvPr id="9" name="anim-g2-290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291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292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293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تثبّت مكتبة وتستعملها</a:t>
            </a:r>
            <a:endParaRPr lang="ar-SA" sz="2400" dirty="0"/>
          </a:p>
        </p:txBody>
      </p:sp>
      <p:sp>
        <p:nvSpPr>
          <p:cNvPr id="13" name="anim-g3-294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295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296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297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تتعامل مع القراءة الفاشلة nan بأمان</a:t>
            </a:r>
            <a:endParaRPr lang="ar-SA" sz="2400" dirty="0"/>
          </a:p>
        </p:txBody>
      </p:sp>
      <p:sp>
        <p:nvSpPr>
          <p:cNvPr id="17" name="anim-g4-298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299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300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301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تشغّل مروحة عبر مُرحِّل حسب الحرارة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الحرارة والمكتبات  ·  ٣٩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572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174175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اختر حساسك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DHT11 الأزرق أم DHT22 الأبيض؟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164015" y="1874520"/>
            <a:ext cx="320472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164015" y="1874520"/>
            <a:ext cx="320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4493488" y="1874520"/>
            <a:ext cx="356080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4493488" y="1874520"/>
            <a:ext cx="356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DHT11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356080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356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DHT22</a:t>
            </a:r>
            <a:endParaRPr lang="ar-SA" sz="1900" dirty="0"/>
          </a:p>
        </p:txBody>
      </p:sp>
      <p:sp>
        <p:nvSpPr>
          <p:cNvPr id="11" name="anim-g1-302"/>
          <p:cNvSpPr/>
          <p:nvPr/>
        </p:nvSpPr>
        <p:spPr>
          <a:xfrm>
            <a:off x="8164015" y="2514600"/>
            <a:ext cx="3204720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303"/>
          <p:cNvSpPr/>
          <p:nvPr/>
        </p:nvSpPr>
        <p:spPr>
          <a:xfrm>
            <a:off x="8301175" y="2514600"/>
            <a:ext cx="293040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🌡️ الحرارة</a:t>
            </a:r>
            <a:endParaRPr lang="ar-SA" sz="2100" dirty="0"/>
          </a:p>
        </p:txBody>
      </p:sp>
      <p:sp>
        <p:nvSpPr>
          <p:cNvPr id="13" name="anim-g1-304"/>
          <p:cNvSpPr/>
          <p:nvPr/>
        </p:nvSpPr>
        <p:spPr>
          <a:xfrm>
            <a:off x="4493488" y="2514600"/>
            <a:ext cx="3560800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305"/>
          <p:cNvSpPr/>
          <p:nvPr/>
        </p:nvSpPr>
        <p:spPr>
          <a:xfrm>
            <a:off x="4630648" y="2514600"/>
            <a:ext cx="328648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٠ إلى ٥٠° · دقة ±٢°</a:t>
            </a:r>
            <a:endParaRPr lang="ar-SA" sz="2100" dirty="0"/>
          </a:p>
        </p:txBody>
      </p:sp>
      <p:sp>
        <p:nvSpPr>
          <p:cNvPr id="15" name="anim-g1-306"/>
          <p:cNvSpPr/>
          <p:nvPr/>
        </p:nvSpPr>
        <p:spPr>
          <a:xfrm>
            <a:off x="822960" y="2514600"/>
            <a:ext cx="3560800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307"/>
          <p:cNvSpPr/>
          <p:nvPr/>
        </p:nvSpPr>
        <p:spPr>
          <a:xfrm>
            <a:off x="960120" y="2514600"/>
            <a:ext cx="328648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−٤٠ إلى ٨٠° · دقة ±٠٫٥°</a:t>
            </a:r>
            <a:endParaRPr lang="ar-SA" sz="2100" dirty="0"/>
          </a:p>
        </p:txBody>
      </p:sp>
      <p:sp>
        <p:nvSpPr>
          <p:cNvPr id="17" name="anim-g2-308"/>
          <p:cNvSpPr/>
          <p:nvPr/>
        </p:nvSpPr>
        <p:spPr>
          <a:xfrm>
            <a:off x="8164015" y="3240634"/>
            <a:ext cx="3204720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309"/>
          <p:cNvSpPr/>
          <p:nvPr/>
        </p:nvSpPr>
        <p:spPr>
          <a:xfrm>
            <a:off x="8301175" y="3240634"/>
            <a:ext cx="293040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💧 الرطوبة</a:t>
            </a:r>
            <a:endParaRPr lang="ar-SA" sz="2100" dirty="0"/>
          </a:p>
        </p:txBody>
      </p:sp>
      <p:sp>
        <p:nvSpPr>
          <p:cNvPr id="19" name="anim-g2-310"/>
          <p:cNvSpPr/>
          <p:nvPr/>
        </p:nvSpPr>
        <p:spPr>
          <a:xfrm>
            <a:off x="4493488" y="3240634"/>
            <a:ext cx="3560800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311"/>
          <p:cNvSpPr/>
          <p:nvPr/>
        </p:nvSpPr>
        <p:spPr>
          <a:xfrm>
            <a:off x="4630648" y="3240634"/>
            <a:ext cx="328648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٢٠–٨٠٪ · ±٥٪</a:t>
            </a:r>
            <a:endParaRPr lang="ar-SA" sz="2100" dirty="0"/>
          </a:p>
        </p:txBody>
      </p:sp>
      <p:sp>
        <p:nvSpPr>
          <p:cNvPr id="21" name="anim-g2-312"/>
          <p:cNvSpPr/>
          <p:nvPr/>
        </p:nvSpPr>
        <p:spPr>
          <a:xfrm>
            <a:off x="822960" y="3240634"/>
            <a:ext cx="3560800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313"/>
          <p:cNvSpPr/>
          <p:nvPr/>
        </p:nvSpPr>
        <p:spPr>
          <a:xfrm>
            <a:off x="960120" y="3240634"/>
            <a:ext cx="328648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٠–١٠٠٪ · ±٢٪</a:t>
            </a:r>
            <a:endParaRPr lang="ar-SA" sz="2100" dirty="0"/>
          </a:p>
        </p:txBody>
      </p:sp>
      <p:sp>
        <p:nvSpPr>
          <p:cNvPr id="23" name="anim-g3-314"/>
          <p:cNvSpPr/>
          <p:nvPr/>
        </p:nvSpPr>
        <p:spPr>
          <a:xfrm>
            <a:off x="8164015" y="3966667"/>
            <a:ext cx="3204720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315"/>
          <p:cNvSpPr/>
          <p:nvPr/>
        </p:nvSpPr>
        <p:spPr>
          <a:xfrm>
            <a:off x="8301175" y="3966667"/>
            <a:ext cx="293040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🔢 الأرقام</a:t>
            </a:r>
            <a:endParaRPr lang="ar-SA" sz="2100" dirty="0"/>
          </a:p>
        </p:txBody>
      </p:sp>
      <p:sp>
        <p:nvSpPr>
          <p:cNvPr id="25" name="anim-g3-316"/>
          <p:cNvSpPr/>
          <p:nvPr/>
        </p:nvSpPr>
        <p:spPr>
          <a:xfrm>
            <a:off x="4493488" y="3966667"/>
            <a:ext cx="3560800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317"/>
          <p:cNvSpPr/>
          <p:nvPr/>
        </p:nvSpPr>
        <p:spPr>
          <a:xfrm>
            <a:off x="4630648" y="3966667"/>
            <a:ext cx="328648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أعداد صحيحة فقط</a:t>
            </a:r>
            <a:endParaRPr lang="ar-SA" sz="2100" dirty="0"/>
          </a:p>
        </p:txBody>
      </p:sp>
      <p:sp>
        <p:nvSpPr>
          <p:cNvPr id="27" name="anim-g3-318"/>
          <p:cNvSpPr/>
          <p:nvPr/>
        </p:nvSpPr>
        <p:spPr>
          <a:xfrm>
            <a:off x="822960" y="3966667"/>
            <a:ext cx="3560800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319"/>
          <p:cNvSpPr/>
          <p:nvPr/>
        </p:nvSpPr>
        <p:spPr>
          <a:xfrm>
            <a:off x="960120" y="3966667"/>
            <a:ext cx="328648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بكسر عشري واحد</a:t>
            </a:r>
            <a:endParaRPr lang="ar-SA" sz="2100" dirty="0"/>
          </a:p>
        </p:txBody>
      </p:sp>
      <p:sp>
        <p:nvSpPr>
          <p:cNvPr id="29" name="anim-g4-320"/>
          <p:cNvSpPr/>
          <p:nvPr/>
        </p:nvSpPr>
        <p:spPr>
          <a:xfrm>
            <a:off x="8164015" y="4692701"/>
            <a:ext cx="3204720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321"/>
          <p:cNvSpPr/>
          <p:nvPr/>
        </p:nvSpPr>
        <p:spPr>
          <a:xfrm>
            <a:off x="8301175" y="4692701"/>
            <a:ext cx="293040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⏱️ القراءة</a:t>
            </a:r>
            <a:endParaRPr lang="ar-SA" sz="2100" dirty="0"/>
          </a:p>
        </p:txBody>
      </p:sp>
      <p:sp>
        <p:nvSpPr>
          <p:cNvPr id="31" name="anim-g4-322"/>
          <p:cNvSpPr/>
          <p:nvPr/>
        </p:nvSpPr>
        <p:spPr>
          <a:xfrm>
            <a:off x="4493488" y="4692701"/>
            <a:ext cx="3560800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323"/>
          <p:cNvSpPr/>
          <p:nvPr/>
        </p:nvSpPr>
        <p:spPr>
          <a:xfrm>
            <a:off x="4630648" y="4692701"/>
            <a:ext cx="328648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مرة كل ثانية</a:t>
            </a:r>
            <a:endParaRPr lang="ar-SA" sz="2100" dirty="0"/>
          </a:p>
        </p:txBody>
      </p:sp>
      <p:sp>
        <p:nvSpPr>
          <p:cNvPr id="33" name="anim-g4-324"/>
          <p:cNvSpPr/>
          <p:nvPr/>
        </p:nvSpPr>
        <p:spPr>
          <a:xfrm>
            <a:off x="822960" y="4692701"/>
            <a:ext cx="3560800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325"/>
          <p:cNvSpPr/>
          <p:nvPr/>
        </p:nvSpPr>
        <p:spPr>
          <a:xfrm>
            <a:off x="960120" y="4692701"/>
            <a:ext cx="328648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مرة كل ثانيتين</a:t>
            </a:r>
            <a:endParaRPr lang="ar-SA" sz="2100" dirty="0"/>
          </a:p>
        </p:txBody>
      </p:sp>
      <p:sp>
        <p:nvSpPr>
          <p:cNvPr id="35" name="anim-g5-326"/>
          <p:cNvSpPr/>
          <p:nvPr/>
        </p:nvSpPr>
        <p:spPr>
          <a:xfrm>
            <a:off x="8164015" y="5418734"/>
            <a:ext cx="3204720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6" name="anim-g5-327"/>
          <p:cNvSpPr/>
          <p:nvPr/>
        </p:nvSpPr>
        <p:spPr>
          <a:xfrm>
            <a:off x="8301175" y="5418734"/>
            <a:ext cx="293040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💰 السعر</a:t>
            </a:r>
            <a:endParaRPr lang="ar-SA" sz="2100" dirty="0"/>
          </a:p>
        </p:txBody>
      </p:sp>
      <p:sp>
        <p:nvSpPr>
          <p:cNvPr id="37" name="anim-g5-328"/>
          <p:cNvSpPr/>
          <p:nvPr/>
        </p:nvSpPr>
        <p:spPr>
          <a:xfrm>
            <a:off x="4493488" y="5418734"/>
            <a:ext cx="3560800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8" name="anim-g5-329"/>
          <p:cNvSpPr/>
          <p:nvPr/>
        </p:nvSpPr>
        <p:spPr>
          <a:xfrm>
            <a:off x="4630648" y="5418734"/>
            <a:ext cx="328648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أرخص</a:t>
            </a:r>
            <a:endParaRPr lang="ar-SA" sz="2100" dirty="0"/>
          </a:p>
        </p:txBody>
      </p:sp>
      <p:sp>
        <p:nvSpPr>
          <p:cNvPr id="39" name="anim-g5-330"/>
          <p:cNvSpPr/>
          <p:nvPr/>
        </p:nvSpPr>
        <p:spPr>
          <a:xfrm>
            <a:off x="822960" y="5418734"/>
            <a:ext cx="3560800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0" name="anim-g5-331"/>
          <p:cNvSpPr/>
          <p:nvPr/>
        </p:nvSpPr>
        <p:spPr>
          <a:xfrm>
            <a:off x="960120" y="5418734"/>
            <a:ext cx="328648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أغلى قليلًا وأدق بكثير</a:t>
            </a:r>
            <a:endParaRPr lang="ar-SA" sz="21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الحرارة والمكتبات  ·  ٤٠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44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332" descr="C:\Users\user\projects\younes-training\esp32-2\.pptx-cache\s44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333" descr="C:\Users\user\projects\younes-training\esp32-2\.pptx-cache\s44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334" descr="C:\Users\user\projects\younes-training\esp32-2\.pptx-cache\s44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335" descr="C:\Users\user\projects\younes-training\esp32-2\.pptx-cache\s44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336" descr="C:\Users\user\projects\younes-training\esp32-2\.pptx-cache\s44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45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337" descr="C:\Users\user\projects\younes-training\esp32-2\.pptx-cache\s45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338" descr="C:\Users\user\projects\younes-training\esp32-2\.pptx-cache\s45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339" descr="C:\Users\user\projects\younes-training\esp32-2\.pptx-cache\s45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340" descr="C:\Users\user\projects\younes-training\esp32-2\.pptx-cache\s45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341" descr="C:\Users\user\projects\younes-training\esp32-2\.pptx-cache\s45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342" descr="C:\Users\user\projects\younes-training\esp32-2\.pptx-cache\s45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anim-g7-343" descr="C:\Users\user\projects\younes-training\esp32-2\.pptx-cache\s45-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0" name="anim-g8-344" descr="C:\Users\user\projects\younes-training\esp32-2\.pptx-cache\s45-8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1" name="anim-g9-345" descr="C:\Users\user\projects\younes-training\esp32-2\.pptx-cache\s45-9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572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174175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مفهوم جديد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المؤشر الشرطي: سطر واحد بدل if/else</a:t>
            </a:r>
            <a:endParaRPr lang="ar-SA" sz="3200" dirty="0"/>
          </a:p>
        </p:txBody>
      </p:sp>
      <p:sp>
        <p:nvSpPr>
          <p:cNvPr id="5" name="anim-g1-346"/>
          <p:cNvSpPr/>
          <p:nvPr/>
        </p:nvSpPr>
        <p:spPr>
          <a:xfrm>
            <a:off x="6233008" y="2011680"/>
            <a:ext cx="5135728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347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348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📝</a:t>
            </a:r>
            <a:endParaRPr lang="ar-SA" sz="2200" dirty="0"/>
          </a:p>
        </p:txBody>
      </p:sp>
      <p:sp>
        <p:nvSpPr>
          <p:cNvPr id="8" name="anim-g1-349"/>
          <p:cNvSpPr/>
          <p:nvPr/>
        </p:nvSpPr>
        <p:spPr>
          <a:xfrm>
            <a:off x="6507328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الطويل</a:t>
            </a:r>
            <a:endParaRPr lang="ar-SA" sz="2200" dirty="0"/>
          </a:p>
        </p:txBody>
      </p:sp>
      <p:sp>
        <p:nvSpPr>
          <p:cNvPr id="9" name="anim-g1-350"/>
          <p:cNvSpPr/>
          <p:nvPr/>
        </p:nvSpPr>
        <p:spPr>
          <a:xfrm>
            <a:off x="6507328" y="3493008"/>
            <a:ext cx="458708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&lt;code&gt;if (t &gt; limit) digitalWrite(fan, HIGH);&lt;br&gt;else digitalWrite(fan, LOW);&lt;/code&gt;</a:t>
            </a:r>
            <a:endParaRPr lang="ar-SA" sz="1900" dirty="0"/>
          </a:p>
        </p:txBody>
      </p:sp>
      <p:sp>
        <p:nvSpPr>
          <p:cNvPr id="10" name="anim-g2-351"/>
          <p:cNvSpPr/>
          <p:nvPr/>
        </p:nvSpPr>
        <p:spPr>
          <a:xfrm>
            <a:off x="822960" y="2011680"/>
            <a:ext cx="5135728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352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353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⚡</a:t>
            </a:r>
            <a:endParaRPr lang="ar-SA" sz="2200" dirty="0"/>
          </a:p>
        </p:txBody>
      </p:sp>
      <p:sp>
        <p:nvSpPr>
          <p:cNvPr id="13" name="anim-g2-354"/>
          <p:cNvSpPr/>
          <p:nvPr/>
        </p:nvSpPr>
        <p:spPr>
          <a:xfrm>
            <a:off x="1097280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المختصر</a:t>
            </a:r>
            <a:endParaRPr lang="ar-SA" sz="2200" dirty="0"/>
          </a:p>
        </p:txBody>
      </p:sp>
      <p:sp>
        <p:nvSpPr>
          <p:cNvPr id="14" name="anim-g2-355"/>
          <p:cNvSpPr/>
          <p:nvPr/>
        </p:nvSpPr>
        <p:spPr>
          <a:xfrm>
            <a:off x="1097280" y="3493008"/>
            <a:ext cx="458708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&lt;code&gt;digitalWrite(fan, t &gt; limit ? HIGH : LOW);&lt;/code&gt;&lt;br&gt;الشرط ؟ القيمة إن صح : القيمة إن لم يصح</a:t>
            </a:r>
            <a:endParaRPr lang="ar-SA" sz="1900" dirty="0"/>
          </a:p>
        </p:txBody>
      </p:sp>
      <p:sp>
        <p:nvSpPr>
          <p:cNvPr id="15" name="Text 1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الحرارة والمكتبات  ·  ٤٦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47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356" descr="C:\Users\user\projects\younes-training\esp32-2\.pptx-cache\s47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357" descr="C:\Users\user\projects\younes-training\esp32-2\.pptx-cache\s47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358" descr="C:\Users\user\projects\younes-training\esp32-2\.pptx-cache\s47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359" descr="C:\Users\user\projects\younes-training\esp32-2\.pptx-cache\s47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ظهرت «nan» في الشاشة التسلسلية… ما أول ما تفحصه؟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سرعة الشاشة التسلسلية</a:t>
            </a:r>
            <a:endParaRPr lang="ar-SA" sz="2200" dirty="0"/>
          </a:p>
        </p:txBody>
      </p:sp>
      <p:sp>
        <p:nvSpPr>
          <p:cNvPr id="9" name="anim-g1-360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361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362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363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سرعة الشاشة التسلسلية</a:t>
            </a:r>
            <a:endParaRPr lang="ar-SA" sz="2200" dirty="0"/>
          </a:p>
        </p:txBody>
      </p:sp>
      <p:sp>
        <p:nvSpPr>
          <p:cNvPr id="13" name="anim-g1-364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السرعة الخاطئة تعطي رموزًا غريبة لا nan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سلك البيانات ونوع الحساس في الكود</a:t>
            </a:r>
            <a:endParaRPr lang="ar-SA" sz="2200" dirty="0"/>
          </a:p>
        </p:txBody>
      </p:sp>
      <p:sp>
        <p:nvSpPr>
          <p:cNvPr id="18" name="anim-g1-365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366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0" name="anim-g1-367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21" name="anim-g1-368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سلك البيانات ونوع الحساس في الكود</a:t>
            </a:r>
            <a:endParaRPr lang="ar-SA" sz="2200" dirty="0"/>
          </a:p>
        </p:txBody>
      </p:sp>
      <p:sp>
        <p:nvSpPr>
          <p:cNvPr id="22" name="anim-g1-369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nan = لا بيانات صحيحة وصلت من الحساس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المروحة</a:t>
            </a:r>
            <a:endParaRPr lang="ar-SA" sz="2200" dirty="0"/>
          </a:p>
        </p:txBody>
      </p:sp>
      <p:sp>
        <p:nvSpPr>
          <p:cNvPr id="27" name="anim-g1-370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371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372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373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المروحة</a:t>
            </a:r>
            <a:endParaRPr lang="ar-SA" sz="2200" dirty="0"/>
          </a:p>
        </p:txBody>
      </p:sp>
      <p:sp>
        <p:nvSpPr>
          <p:cNvPr id="31" name="anim-g1-374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المروحة لا علاقة لها بالقراءة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كلمة مرور الواي فاي</a:t>
            </a:r>
            <a:endParaRPr lang="ar-SA" sz="2200" dirty="0"/>
          </a:p>
        </p:txBody>
      </p:sp>
      <p:sp>
        <p:nvSpPr>
          <p:cNvPr id="36" name="anim-g1-375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376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377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378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كلمة مرور الواي فاي</a:t>
            </a:r>
            <a:endParaRPr lang="ar-SA" sz="2200" dirty="0"/>
          </a:p>
        </p:txBody>
      </p:sp>
      <p:sp>
        <p:nvSpPr>
          <p:cNvPr id="40" name="anim-g1-379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واي فاي في هذا المشروع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الحرارة والمكتبات  ·  ٤٨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حساس ذكي + مكتبة + مرحّل = جهاز يقيس ويقرر ويشغّل أجهزة البيت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الحرارة والمكتبات  ·  ٥١</a:t>
            </a:r>
            <a:endParaRPr lang="ar-SA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٤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الموجات فوق الصوتية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كيف يرى الخفاش في الظلام؟ ولماذا يحتاج ESP32 مقاومتين إضافيتين؟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الموجات فوق الصوتية  ·  ٥٢</a:t>
            </a:r>
            <a:endParaRPr lang="ar-SA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380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381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382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383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تحسب المسافة من زمن الصدى</a:t>
            </a:r>
            <a:endParaRPr lang="ar-SA" sz="2400" dirty="0"/>
          </a:p>
        </p:txBody>
      </p:sp>
      <p:sp>
        <p:nvSpPr>
          <p:cNvPr id="9" name="anim-g2-384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385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386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387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تقيس زمن النبضة بـ pulseIn</a:t>
            </a:r>
            <a:endParaRPr lang="ar-SA" sz="2400" dirty="0"/>
          </a:p>
        </p:txBody>
      </p:sp>
      <p:sp>
        <p:nvSpPr>
          <p:cNvPr id="13" name="anim-g3-388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389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390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391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تحمي طرف ESP32 من ٥ فولت بمقسم جهد</a:t>
            </a:r>
            <a:endParaRPr lang="ar-SA" sz="2400" dirty="0"/>
          </a:p>
        </p:txBody>
      </p:sp>
      <p:sp>
        <p:nvSpPr>
          <p:cNvPr id="17" name="anim-g4-392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393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394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395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تبني حساس ركن تتسارع نغماته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الموجات فوق الصوتية  ·  ٥٣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11135" y="45720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711135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الفكرة في ثلاث خطوات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اصرخ… انتظر الصدى… احسب</a:t>
            </a:r>
            <a:endParaRPr lang="ar-SA" sz="3800" dirty="0"/>
          </a:p>
        </p:txBody>
      </p:sp>
      <p:sp>
        <p:nvSpPr>
          <p:cNvPr id="5" name="anim-g1-396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397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398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📢</a:t>
            </a:r>
            <a:endParaRPr lang="ar-SA" sz="2200" dirty="0"/>
          </a:p>
        </p:txBody>
      </p:sp>
      <p:sp>
        <p:nvSpPr>
          <p:cNvPr id="8" name="anim-g1-399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Trig: أرسل</a:t>
            </a:r>
            <a:endParaRPr lang="ar-SA" sz="2200" dirty="0"/>
          </a:p>
        </p:txBody>
      </p:sp>
      <p:sp>
        <p:nvSpPr>
          <p:cNvPr id="9" name="anim-g1-400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نبضة ١٠ ميكروثانية تطلق ٨ موجات بتردد ٤٠ كيلوهرتز لا تسمعها الأذن</a:t>
            </a:r>
            <a:endParaRPr lang="ar-SA" sz="1900" dirty="0"/>
          </a:p>
        </p:txBody>
      </p:sp>
      <p:sp>
        <p:nvSpPr>
          <p:cNvPr id="10" name="anim-g2-401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402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403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⏱️</a:t>
            </a:r>
            <a:endParaRPr lang="ar-SA" sz="2200" dirty="0"/>
          </a:p>
        </p:txBody>
      </p:sp>
      <p:sp>
        <p:nvSpPr>
          <p:cNvPr id="13" name="anim-g2-404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Echo: انتظر</a:t>
            </a:r>
            <a:endParaRPr lang="ar-SA" sz="2200" dirty="0"/>
          </a:p>
        </p:txBody>
      </p:sp>
      <p:sp>
        <p:nvSpPr>
          <p:cNvPr id="14" name="anim-g2-405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يبقى Echo عاليًا حتى يعود الصدى: مدته هي زمن الذهاب والعودة</a:t>
            </a:r>
            <a:endParaRPr lang="ar-SA" sz="1900" dirty="0"/>
          </a:p>
        </p:txBody>
      </p:sp>
      <p:sp>
        <p:nvSpPr>
          <p:cNvPr id="15" name="anim-g3-406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407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408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🧮</a:t>
            </a:r>
            <a:endParaRPr lang="ar-SA" sz="2200" dirty="0"/>
          </a:p>
        </p:txBody>
      </p:sp>
      <p:sp>
        <p:nvSpPr>
          <p:cNvPr id="18" name="anim-g3-409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احسب</a:t>
            </a:r>
            <a:endParaRPr lang="ar-SA" sz="2200" dirty="0"/>
          </a:p>
        </p:txBody>
      </p:sp>
      <p:sp>
        <p:nvSpPr>
          <p:cNvPr id="19" name="anim-g3-410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المسافة = الزمن × ٠٫٠٣٤٣ ÷ ٢ (سرعة الصوت ٣٤٣ م/ث، والموجة ذهبت وعادت)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الموجات فوق الصوتية  ·  ٥٤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58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411" descr="C:\Users\user\projects\younes-training\esp32-2\.pptx-cache\s58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412" descr="C:\Users\user\projects\younes-training\esp32-2\.pptx-cache\s58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413" descr="C:\Users\user\projects\younes-training\esp32-2\.pptx-cache\s58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414" descr="C:\Users\user\projects\younes-training\esp32-2\.pptx-cache\s58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415" descr="C:\Users\user\projects\younes-training\esp32-2\.pptx-cache\s58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416" descr="C:\Users\user\projects\younes-training\esp32-2\.pptx-cache\s58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59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417" descr="C:\Users\user\projects\younes-training\esp32-2\.pptx-cache\s59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418" descr="C:\Users\user\projects\younes-training\esp32-2\.pptx-cache\s59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419" descr="C:\Users\user\projects\younes-training\esp32-2\.pptx-cache\s59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420" descr="C:\Users\user\projects\younes-training\esp32-2\.pptx-cache\s59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421" descr="C:\Users\user\projects\younes-training\esp32-2\.pptx-cache\s59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422" descr="C:\Users\user\projects\younes-training\esp32-2\.pptx-cache\s59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27871" y="457200"/>
            <a:ext cx="234086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027871" y="45720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حدود الحساس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متى يخطئ HC-SR04؟</a:t>
            </a:r>
            <a:endParaRPr lang="ar-SA" sz="3800" dirty="0"/>
          </a:p>
        </p:txBody>
      </p:sp>
      <p:sp>
        <p:nvSpPr>
          <p:cNvPr id="5" name="anim-g1-423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424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425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📏</a:t>
            </a:r>
            <a:endParaRPr lang="ar-SA" sz="2200" dirty="0"/>
          </a:p>
        </p:txBody>
      </p:sp>
      <p:sp>
        <p:nvSpPr>
          <p:cNvPr id="8" name="anim-g1-426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المدى</a:t>
            </a:r>
            <a:endParaRPr lang="ar-SA" sz="2200" dirty="0"/>
          </a:p>
        </p:txBody>
      </p:sp>
      <p:sp>
        <p:nvSpPr>
          <p:cNvPr id="9" name="anim-g1-427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٢ سم إلى ٤ أمتار تقريبًا</a:t>
            </a:r>
            <a:endParaRPr lang="ar-SA" sz="1900" dirty="0"/>
          </a:p>
        </p:txBody>
      </p:sp>
      <p:sp>
        <p:nvSpPr>
          <p:cNvPr id="10" name="anim-g2-428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429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430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🧸</a:t>
            </a:r>
            <a:endParaRPr lang="ar-SA" sz="2200" dirty="0"/>
          </a:p>
        </p:txBody>
      </p:sp>
      <p:sp>
        <p:nvSpPr>
          <p:cNvPr id="13" name="anim-g2-431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الأسطح الناعمة</a:t>
            </a:r>
            <a:endParaRPr lang="ar-SA" sz="2200" dirty="0"/>
          </a:p>
        </p:txBody>
      </p:sp>
      <p:sp>
        <p:nvSpPr>
          <p:cNvPr id="14" name="anim-g2-432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القماش والإسفنج تمتص الصوت</a:t>
            </a:r>
            <a:endParaRPr lang="ar-SA" sz="1900" dirty="0"/>
          </a:p>
        </p:txBody>
      </p:sp>
      <p:sp>
        <p:nvSpPr>
          <p:cNvPr id="15" name="anim-g3-433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434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435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📐</a:t>
            </a:r>
            <a:endParaRPr lang="ar-SA" sz="2200" dirty="0"/>
          </a:p>
        </p:txBody>
      </p:sp>
      <p:sp>
        <p:nvSpPr>
          <p:cNvPr id="18" name="anim-g3-436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الزوايا المائلة</a:t>
            </a:r>
            <a:endParaRPr lang="ar-SA" sz="2200" dirty="0"/>
          </a:p>
        </p:txBody>
      </p:sp>
      <p:sp>
        <p:nvSpPr>
          <p:cNvPr id="19" name="anim-g3-437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ترد الصدى بعيدًا عن الحساس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الموجات فوق الصوتية  ·  ٦٠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61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438" descr="C:\Users\user\projects\younes-training\esp32-2\.pptx-cache\s61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439" descr="C:\Users\user\projects\younes-training\esp32-2\.pptx-cache\s61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440" descr="C:\Users\user\projects\younes-training\esp32-2\.pptx-cache\s61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441" descr="C:\Users\user\projects\younes-training\esp32-2\.pptx-cache\s61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39135" y="45720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3139135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 · مقسم 1k (أعلى) و2k (أسفل) على Echo ٥ فولت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كم فولتًا يصل إلى GPIO27؟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١٫٦٧ فولت</a:t>
            </a:r>
            <a:endParaRPr lang="ar-SA" sz="2200" dirty="0"/>
          </a:p>
        </p:txBody>
      </p:sp>
      <p:sp>
        <p:nvSpPr>
          <p:cNvPr id="9" name="anim-g1-442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443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444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445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١٫٦٧ فولت</a:t>
            </a:r>
            <a:endParaRPr lang="ar-SA" sz="2200" dirty="0"/>
          </a:p>
        </p:txBody>
      </p:sp>
      <p:sp>
        <p:nvSpPr>
          <p:cNvPr id="13" name="anim-g1-446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لو عكسنا المقاومتين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٣٫٣٣ فولت</a:t>
            </a:r>
            <a:endParaRPr lang="ar-SA" sz="2200" dirty="0"/>
          </a:p>
        </p:txBody>
      </p:sp>
      <p:sp>
        <p:nvSpPr>
          <p:cNvPr id="18" name="anim-g1-447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448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0" name="anim-g1-449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21" name="anim-g1-450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٣٫٣٣ فولت</a:t>
            </a:r>
            <a:endParaRPr lang="ar-SA" sz="2200" dirty="0"/>
          </a:p>
        </p:txBody>
      </p:sp>
      <p:sp>
        <p:nvSpPr>
          <p:cNvPr id="22" name="anim-g1-451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٥ × ٢ ÷ (١ + ٢)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٥ فولت</a:t>
            </a:r>
            <a:endParaRPr lang="ar-SA" sz="2200" dirty="0"/>
          </a:p>
        </p:txBody>
      </p:sp>
      <p:sp>
        <p:nvSpPr>
          <p:cNvPr id="27" name="anim-g1-452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453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454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455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٥ فولت</a:t>
            </a:r>
            <a:endParaRPr lang="ar-SA" sz="2200" dirty="0"/>
          </a:p>
        </p:txBody>
      </p:sp>
      <p:sp>
        <p:nvSpPr>
          <p:cNvPr id="31" name="anim-g1-456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المقسم يخفض الجهد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٢٫٥ فولت</a:t>
            </a:r>
            <a:endParaRPr lang="ar-SA" sz="2200" dirty="0"/>
          </a:p>
        </p:txBody>
      </p:sp>
      <p:sp>
        <p:nvSpPr>
          <p:cNvPr id="36" name="anim-g1-457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458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459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460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٢٫٥ فولت</a:t>
            </a:r>
            <a:endParaRPr lang="ar-SA" sz="2200" dirty="0"/>
          </a:p>
        </p:txBody>
      </p:sp>
      <p:sp>
        <p:nvSpPr>
          <p:cNvPr id="40" name="anim-g1-461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لو كانتا متساويتين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الموجات فوق الصوتية  ·  ٦٢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صرخة لا نسمعها…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وساعة إيقاف دقيقة… ومقاومتان تحميان الشريحة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الموجات فوق الصوتية  ·  ٦٥</a:t>
            </a:r>
            <a:endParaRPr lang="ar-SA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٥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الحركة والصوت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حساس يرى حرارة الأجسام… وبازر يعزف ويحذّر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الحركة والصوت  ·  ٦٦</a:t>
            </a:r>
            <a:endParaRPr lang="ar-SA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462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463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464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465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تشرح كيف يكشف PIR الحركة ولماذا لا يرى الساكن</a:t>
            </a:r>
            <a:endParaRPr lang="ar-SA" sz="2400" dirty="0"/>
          </a:p>
        </p:txBody>
      </p:sp>
      <p:sp>
        <p:nvSpPr>
          <p:cNvPr id="9" name="anim-g2-466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467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468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469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تضبط مقبضي الحساسية والزمن</a:t>
            </a:r>
            <a:endParaRPr lang="ar-SA" sz="2400" dirty="0"/>
          </a:p>
        </p:txBody>
      </p:sp>
      <p:sp>
        <p:nvSpPr>
          <p:cNvPr id="13" name="anim-g3-470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471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472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473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تصدر نغمات وألحانًا بـ ledcWriteTone</a:t>
            </a:r>
            <a:endParaRPr lang="ar-SA" sz="2400" dirty="0"/>
          </a:p>
        </p:txBody>
      </p:sp>
      <p:sp>
        <p:nvSpPr>
          <p:cNvPr id="17" name="anim-g4-474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475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476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477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تبني إنذار متسلل بصوت وضوء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الحركة والصوت  ·  ٦٧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18527" y="457200"/>
            <a:ext cx="395020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418527" y="45720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PIR = Passive InfraRed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كيف يرى الحساس حرارة جسمك؟</a:t>
            </a:r>
            <a:endParaRPr lang="ar-SA" sz="3800" dirty="0"/>
          </a:p>
        </p:txBody>
      </p:sp>
      <p:sp>
        <p:nvSpPr>
          <p:cNvPr id="5" name="anim-g1-478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479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480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🔥</a:t>
            </a:r>
            <a:endParaRPr lang="ar-SA" sz="2200" dirty="0"/>
          </a:p>
        </p:txBody>
      </p:sp>
      <p:sp>
        <p:nvSpPr>
          <p:cNvPr id="8" name="anim-g1-481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كل جسم دافئ يشع</a:t>
            </a:r>
            <a:endParaRPr lang="ar-SA" sz="2200" dirty="0"/>
          </a:p>
        </p:txBody>
      </p:sp>
      <p:sp>
        <p:nvSpPr>
          <p:cNvPr id="9" name="anim-g1-482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جسمك يطلق أشعة تحت حمراء لا تراها العين</a:t>
            </a:r>
            <a:endParaRPr lang="ar-SA" sz="1900" dirty="0"/>
          </a:p>
        </p:txBody>
      </p:sp>
      <p:sp>
        <p:nvSpPr>
          <p:cNvPr id="10" name="anim-g2-483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484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485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🔮</a:t>
            </a:r>
            <a:endParaRPr lang="ar-SA" sz="2200" dirty="0"/>
          </a:p>
        </p:txBody>
      </p:sp>
      <p:sp>
        <p:nvSpPr>
          <p:cNvPr id="13" name="anim-g2-486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العدسة البيضاء</a:t>
            </a:r>
            <a:endParaRPr lang="ar-SA" sz="2200" dirty="0"/>
          </a:p>
        </p:txBody>
      </p:sp>
      <p:sp>
        <p:nvSpPr>
          <p:cNvPr id="14" name="anim-g2-487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تقسم الغرفة إلى «مناطق». الحساس يقارن المناطق ببعضها</a:t>
            </a:r>
            <a:endParaRPr lang="ar-SA" sz="1900" dirty="0"/>
          </a:p>
        </p:txBody>
      </p:sp>
      <p:sp>
        <p:nvSpPr>
          <p:cNvPr id="15" name="anim-g3-488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489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490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🚶</a:t>
            </a:r>
            <a:endParaRPr lang="ar-SA" sz="2200" dirty="0"/>
          </a:p>
        </p:txBody>
      </p:sp>
      <p:sp>
        <p:nvSpPr>
          <p:cNvPr id="18" name="anim-g3-491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التغيّر هو الإشارة</a:t>
            </a:r>
            <a:endParaRPr lang="ar-SA" sz="2200" dirty="0"/>
          </a:p>
        </p:txBody>
      </p:sp>
      <p:sp>
        <p:nvSpPr>
          <p:cNvPr id="19" name="anim-g3-492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حين تنتقل الحرارة من منطقة لأخرى = حركة ← OUT = HIGH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الحركة والصوت  ·  ٦٨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88959" y="457200"/>
            <a:ext cx="277977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588959" y="45720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على ظهر الوحدة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مقبضان وجسر صغير: اضبطها قبل البرمجة</a:t>
            </a:r>
            <a:endParaRPr lang="ar-SA" sz="3200" dirty="0"/>
          </a:p>
        </p:txBody>
      </p:sp>
      <p:sp>
        <p:nvSpPr>
          <p:cNvPr id="5" name="anim-g1-493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494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495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🎚️</a:t>
            </a:r>
            <a:endParaRPr lang="ar-SA" sz="2200" dirty="0"/>
          </a:p>
        </p:txBody>
      </p:sp>
      <p:sp>
        <p:nvSpPr>
          <p:cNvPr id="8" name="anim-g1-496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Sx: الحساسية</a:t>
            </a:r>
            <a:endParaRPr lang="ar-SA" sz="2200" dirty="0"/>
          </a:p>
        </p:txBody>
      </p:sp>
      <p:sp>
        <p:nvSpPr>
          <p:cNvPr id="9" name="anim-g1-497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المدى من ٣ إلى ٧ أمتار تقريبًا</a:t>
            </a:r>
            <a:endParaRPr lang="ar-SA" sz="1900" dirty="0"/>
          </a:p>
        </p:txBody>
      </p:sp>
      <p:sp>
        <p:nvSpPr>
          <p:cNvPr id="10" name="anim-g2-498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499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500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⏲️</a:t>
            </a:r>
            <a:endParaRPr lang="ar-SA" sz="2200" dirty="0"/>
          </a:p>
        </p:txBody>
      </p:sp>
      <p:sp>
        <p:nvSpPr>
          <p:cNvPr id="13" name="anim-g2-501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Tx: زمن البقاء</a:t>
            </a:r>
            <a:endParaRPr lang="ar-SA" sz="2200" dirty="0"/>
          </a:p>
        </p:txBody>
      </p:sp>
      <p:sp>
        <p:nvSpPr>
          <p:cNvPr id="14" name="anim-g2-502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كم يبقى HIGH بعد الكشف: من ٣ ثوانٍ إلى ٥ دقائق</a:t>
            </a:r>
            <a:endParaRPr lang="ar-SA" sz="1900" dirty="0"/>
          </a:p>
        </p:txBody>
      </p:sp>
      <p:sp>
        <p:nvSpPr>
          <p:cNvPr id="15" name="anim-g3-503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504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505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🔁</a:t>
            </a:r>
            <a:endParaRPr lang="ar-SA" sz="2200" dirty="0"/>
          </a:p>
        </p:txBody>
      </p:sp>
      <p:sp>
        <p:nvSpPr>
          <p:cNvPr id="18" name="anim-g3-506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جسر H / L</a:t>
            </a:r>
            <a:endParaRPr lang="ar-SA" sz="2200" dirty="0"/>
          </a:p>
        </p:txBody>
      </p:sp>
      <p:sp>
        <p:nvSpPr>
          <p:cNvPr id="19" name="anim-g3-507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H: يجدد الزمن ما دامت الحركة. L: نبضة واحدة ثم يرتاح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الحركة والصوت  ·  ٦٩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0479" y="45720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320479" y="45720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صوت ESP32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 طرق لإصدار الصوت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7724152" y="1874520"/>
            <a:ext cx="3644583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7724152" y="1874520"/>
            <a:ext cx="3644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الأمر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3969841" y="1874520"/>
            <a:ext cx="3644583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3969841" y="1874520"/>
            <a:ext cx="3644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يفعل؟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3037153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3037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متى؟</a:t>
            </a:r>
            <a:endParaRPr lang="ar-SA" sz="1900" dirty="0"/>
          </a:p>
        </p:txBody>
      </p:sp>
      <p:sp>
        <p:nvSpPr>
          <p:cNvPr id="11" name="anim-g1-508"/>
          <p:cNvSpPr/>
          <p:nvPr/>
        </p:nvSpPr>
        <p:spPr>
          <a:xfrm>
            <a:off x="7724152" y="2514600"/>
            <a:ext cx="3644583" cy="1100328"/>
          </a:xfrm>
          <a:prstGeom prst="roundRect">
            <a:avLst>
              <a:gd name="adj" fmla="val 9972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509"/>
          <p:cNvSpPr/>
          <p:nvPr/>
        </p:nvSpPr>
        <p:spPr>
          <a:xfrm>
            <a:off x="7861312" y="2514600"/>
            <a:ext cx="3370263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&lt;code&gt;tone(pin, 1000, 50)&lt;/code&gt;</a:t>
            </a:r>
            <a:endParaRPr lang="ar-SA" sz="2100" dirty="0"/>
          </a:p>
        </p:txBody>
      </p:sp>
      <p:sp>
        <p:nvSpPr>
          <p:cNvPr id="13" name="anim-g1-510"/>
          <p:cNvSpPr/>
          <p:nvPr/>
        </p:nvSpPr>
        <p:spPr>
          <a:xfrm>
            <a:off x="3969841" y="2514600"/>
            <a:ext cx="3644583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511"/>
          <p:cNvSpPr/>
          <p:nvPr/>
        </p:nvSpPr>
        <p:spPr>
          <a:xfrm>
            <a:off x="4107001" y="2514600"/>
            <a:ext cx="3370263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نغمة بتردد ومدة (مثل الأونو)</a:t>
            </a:r>
            <a:endParaRPr lang="ar-SA" sz="2100" dirty="0"/>
          </a:p>
        </p:txBody>
      </p:sp>
      <p:sp>
        <p:nvSpPr>
          <p:cNvPr id="15" name="anim-g1-512"/>
          <p:cNvSpPr/>
          <p:nvPr/>
        </p:nvSpPr>
        <p:spPr>
          <a:xfrm>
            <a:off x="822960" y="2514600"/>
            <a:ext cx="3037153" cy="1100328"/>
          </a:xfrm>
          <a:prstGeom prst="roundRect">
            <a:avLst>
              <a:gd name="adj" fmla="val 9972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513"/>
          <p:cNvSpPr/>
          <p:nvPr/>
        </p:nvSpPr>
        <p:spPr>
          <a:xfrm>
            <a:off x="960120" y="2514600"/>
            <a:ext cx="2762833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تنبيه قصير بسيط</a:t>
            </a:r>
            <a:endParaRPr lang="ar-SA" sz="2100" dirty="0"/>
          </a:p>
        </p:txBody>
      </p:sp>
      <p:sp>
        <p:nvSpPr>
          <p:cNvPr id="17" name="anim-g2-514"/>
          <p:cNvSpPr/>
          <p:nvPr/>
        </p:nvSpPr>
        <p:spPr>
          <a:xfrm>
            <a:off x="7724152" y="3724656"/>
            <a:ext cx="3644583" cy="1100328"/>
          </a:xfrm>
          <a:prstGeom prst="roundRect">
            <a:avLst>
              <a:gd name="adj" fmla="val 9972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515"/>
          <p:cNvSpPr/>
          <p:nvPr/>
        </p:nvSpPr>
        <p:spPr>
          <a:xfrm>
            <a:off x="7861312" y="3724656"/>
            <a:ext cx="3370263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&lt;code&gt;ledcWriteTone(pin, 440)&lt;/code&gt;</a:t>
            </a:r>
            <a:endParaRPr lang="ar-SA" sz="2100" dirty="0"/>
          </a:p>
        </p:txBody>
      </p:sp>
      <p:sp>
        <p:nvSpPr>
          <p:cNvPr id="19" name="anim-g2-516"/>
          <p:cNvSpPr/>
          <p:nvPr/>
        </p:nvSpPr>
        <p:spPr>
          <a:xfrm>
            <a:off x="3969841" y="3724656"/>
            <a:ext cx="3644583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517"/>
          <p:cNvSpPr/>
          <p:nvPr/>
        </p:nvSpPr>
        <p:spPr>
          <a:xfrm>
            <a:off x="4107001" y="3724656"/>
            <a:ext cx="3370263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نغمة مستمرة حتى نغيرها</a:t>
            </a:r>
            <a:endParaRPr lang="ar-SA" sz="2100" dirty="0"/>
          </a:p>
        </p:txBody>
      </p:sp>
      <p:sp>
        <p:nvSpPr>
          <p:cNvPr id="21" name="anim-g2-518"/>
          <p:cNvSpPr/>
          <p:nvPr/>
        </p:nvSpPr>
        <p:spPr>
          <a:xfrm>
            <a:off x="822960" y="3724656"/>
            <a:ext cx="3037153" cy="1100328"/>
          </a:xfrm>
          <a:prstGeom prst="roundRect">
            <a:avLst>
              <a:gd name="adj" fmla="val 9972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519"/>
          <p:cNvSpPr/>
          <p:nvPr/>
        </p:nvSpPr>
        <p:spPr>
          <a:xfrm>
            <a:off x="960120" y="3724656"/>
            <a:ext cx="2762833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الألحان والصفارات</a:t>
            </a:r>
            <a:endParaRPr lang="ar-SA" sz="2100" dirty="0"/>
          </a:p>
        </p:txBody>
      </p:sp>
      <p:sp>
        <p:nvSpPr>
          <p:cNvPr id="23" name="anim-g3-520"/>
          <p:cNvSpPr/>
          <p:nvPr/>
        </p:nvSpPr>
        <p:spPr>
          <a:xfrm>
            <a:off x="7724152" y="4934712"/>
            <a:ext cx="3644583" cy="1100328"/>
          </a:xfrm>
          <a:prstGeom prst="roundRect">
            <a:avLst>
              <a:gd name="adj" fmla="val 9972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521"/>
          <p:cNvSpPr/>
          <p:nvPr/>
        </p:nvSpPr>
        <p:spPr>
          <a:xfrm>
            <a:off x="7861312" y="4934712"/>
            <a:ext cx="3370263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&lt;code&gt;ledcWriteTone(pin, 0)&lt;/code&gt;</a:t>
            </a:r>
            <a:endParaRPr lang="ar-SA" sz="2100" dirty="0"/>
          </a:p>
        </p:txBody>
      </p:sp>
      <p:sp>
        <p:nvSpPr>
          <p:cNvPr id="25" name="anim-g3-522"/>
          <p:cNvSpPr/>
          <p:nvPr/>
        </p:nvSpPr>
        <p:spPr>
          <a:xfrm>
            <a:off x="3969841" y="4934712"/>
            <a:ext cx="3644583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523"/>
          <p:cNvSpPr/>
          <p:nvPr/>
        </p:nvSpPr>
        <p:spPr>
          <a:xfrm>
            <a:off x="4107001" y="4934712"/>
            <a:ext cx="3370263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صمت</a:t>
            </a:r>
            <a:endParaRPr lang="ar-SA" sz="2100" dirty="0"/>
          </a:p>
        </p:txBody>
      </p:sp>
      <p:sp>
        <p:nvSpPr>
          <p:cNvPr id="27" name="anim-g3-524"/>
          <p:cNvSpPr/>
          <p:nvPr/>
        </p:nvSpPr>
        <p:spPr>
          <a:xfrm>
            <a:off x="822960" y="4934712"/>
            <a:ext cx="3037153" cy="1100328"/>
          </a:xfrm>
          <a:prstGeom prst="roundRect">
            <a:avLst>
              <a:gd name="adj" fmla="val 9972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525"/>
          <p:cNvSpPr/>
          <p:nvPr/>
        </p:nvSpPr>
        <p:spPr>
          <a:xfrm>
            <a:off x="960120" y="4934712"/>
            <a:ext cx="2762833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إنهاء أي صوت</a:t>
            </a:r>
            <a:endParaRPr lang="ar-SA" sz="2100" dirty="0"/>
          </a:p>
        </p:txBody>
      </p:sp>
      <p:sp>
        <p:nvSpPr>
          <p:cNvPr id="29" name="Text 27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الحركة والصوت  ·  ٧١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72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526" descr="C:\Users\user\projects\younes-training\esp32-2\.pptx-cache\s72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527" descr="C:\Users\user\projects\younes-training\esp32-2\.pptx-cache\s72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528" descr="C:\Users\user\projects\younes-training\esp32-2\.pptx-cache\s72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529" descr="C:\Users\user\projects\younes-training\esp32-2\.pptx-cache\s72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530" descr="C:\Users\user\projects\younes-training\esp32-2\.pptx-cache\s72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73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531" descr="C:\Users\user\projects\younes-training\esp32-2\.pptx-cache\s73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532" descr="C:\Users\user\projects\younes-training\esp32-2\.pptx-cache\s73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533" descr="C:\Users\user\projects\younes-training\esp32-2\.pptx-cache\s73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534" descr="C:\Users\user\projects\younes-training\esp32-2\.pptx-cache\s73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535" descr="C:\Users\user\projects\younes-training\esp32-2\.pptx-cache\s73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75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536" descr="C:\Users\user\projects\younes-training\esp32-2\.pptx-cache\s75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537" descr="C:\Users\user\projects\younes-training\esp32-2\.pptx-cache\s75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538" descr="C:\Users\user\projects\younes-training\esp32-2\.pptx-cache\s75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539" descr="C:\Users\user\projects\younes-training\esp32-2\.pptx-cache\s75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الإنذار يعمل وحده في أول ٢٠ ثانية بعد التشغيل… لماذا؟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الحساس لم يتأقلم بعد مع الغرفة</a:t>
            </a:r>
            <a:endParaRPr lang="ar-SA" sz="2200" dirty="0"/>
          </a:p>
        </p:txBody>
      </p:sp>
      <p:sp>
        <p:nvSpPr>
          <p:cNvPr id="9" name="anim-g1-540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0" name="anim-g1-541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11" name="anim-g1-542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12" name="anim-g1-543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الحساس لم يتأقلم بعد مع الغرفة</a:t>
            </a:r>
            <a:endParaRPr lang="ar-SA" sz="2200" dirty="0"/>
          </a:p>
        </p:txBody>
      </p:sp>
      <p:sp>
        <p:nvSpPr>
          <p:cNvPr id="13" name="anim-g1-544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يحتاج نحو ٣٠ ثانية بعد التشغيل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البازر معطل</a:t>
            </a:r>
            <a:endParaRPr lang="ar-SA" sz="2200" dirty="0"/>
          </a:p>
        </p:txBody>
      </p:sp>
      <p:sp>
        <p:nvSpPr>
          <p:cNvPr id="18" name="anim-g1-545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546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547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548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البازر معطل</a:t>
            </a:r>
            <a:endParaRPr lang="ar-SA" sz="2200" dirty="0"/>
          </a:p>
        </p:txBody>
      </p:sp>
      <p:sp>
        <p:nvSpPr>
          <p:cNvPr id="22" name="anim-g1-549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البازر يعمل لأنه أصدر صوتًا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الكود خاطئ</a:t>
            </a:r>
            <a:endParaRPr lang="ar-SA" sz="2200" dirty="0"/>
          </a:p>
        </p:txBody>
      </p:sp>
      <p:sp>
        <p:nvSpPr>
          <p:cNvPr id="27" name="anim-g1-550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551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552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553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الكود خاطئ</a:t>
            </a:r>
            <a:endParaRPr lang="ar-SA" sz="2200" dirty="0"/>
          </a:p>
        </p:txBody>
      </p:sp>
      <p:sp>
        <p:nvSpPr>
          <p:cNvPr id="31" name="anim-g1-554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الكود سليم، ولهذا وضعنا delay(30000)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الطرف 33 لا يصلح</a:t>
            </a:r>
            <a:endParaRPr lang="ar-SA" sz="2200" dirty="0"/>
          </a:p>
        </p:txBody>
      </p:sp>
      <p:sp>
        <p:nvSpPr>
          <p:cNvPr id="36" name="anim-g1-555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556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557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558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الطرف 33 لا يصلح</a:t>
            </a:r>
            <a:endParaRPr lang="ar-SA" sz="2200" dirty="0"/>
          </a:p>
        </p:txBody>
      </p:sp>
      <p:sp>
        <p:nvSpPr>
          <p:cNvPr id="40" name="anim-g1-559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33 طرف آمن ومن ADC1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الحركة والصوت  ·  ٧٦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PIR يرى التغيّر لا الوجود…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والبازر يتكلم بالترددات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الحركة والصوت  ·  ٧٩</a:t>
            </a:r>
            <a:endParaRPr lang="ar-SA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٦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٦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محرك السيرفو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 يذهب إلى الزاوية التي تطلبها… ويبقى فيها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السيرفو  ·  ٨٠</a:t>
            </a:r>
            <a:endParaRPr lang="ar-SA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560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561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562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563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تشرح كيف يفهم السيرفو الزاوية من عرض النبضة</a:t>
            </a:r>
            <a:endParaRPr lang="ar-SA" sz="2400" dirty="0"/>
          </a:p>
        </p:txBody>
      </p:sp>
      <p:sp>
        <p:nvSpPr>
          <p:cNvPr id="9" name="anim-g2-564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565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566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567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تثبّت مكتبة ESP32Servo وتستعملها</a:t>
            </a:r>
            <a:endParaRPr lang="ar-SA" sz="2400" dirty="0"/>
          </a:p>
        </p:txBody>
      </p:sp>
      <p:sp>
        <p:nvSpPr>
          <p:cNvPr id="13" name="anim-g3-568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569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570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571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تحرّك السيرفو بنعومة بحلقة for</a:t>
            </a:r>
            <a:endParaRPr lang="ar-SA" sz="2400" dirty="0"/>
          </a:p>
        </p:txBody>
      </p:sp>
      <p:sp>
        <p:nvSpPr>
          <p:cNvPr id="17" name="anim-g4-572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573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574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575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تبني بوابة ذكية تُفتح حين تقترب سيارة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السيرفو  ·  ٨١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0479" y="45720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320479" y="45720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الداخل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يوجد داخل الصندوق الأزرق؟</a:t>
            </a:r>
            <a:endParaRPr lang="ar-SA" sz="3800" dirty="0"/>
          </a:p>
        </p:txBody>
      </p:sp>
      <p:sp>
        <p:nvSpPr>
          <p:cNvPr id="5" name="anim-g1-576"/>
          <p:cNvSpPr/>
          <p:nvPr/>
        </p:nvSpPr>
        <p:spPr>
          <a:xfrm>
            <a:off x="8938031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577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578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⚙️</a:t>
            </a:r>
            <a:endParaRPr lang="ar-SA" sz="2200" dirty="0"/>
          </a:p>
        </p:txBody>
      </p:sp>
      <p:sp>
        <p:nvSpPr>
          <p:cNvPr id="8" name="anim-g1-579"/>
          <p:cNvSpPr/>
          <p:nvPr/>
        </p:nvSpPr>
        <p:spPr>
          <a:xfrm>
            <a:off x="9212351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محرك صغير</a:t>
            </a:r>
            <a:endParaRPr lang="ar-SA" sz="2200" dirty="0"/>
          </a:p>
        </p:txBody>
      </p:sp>
      <p:sp>
        <p:nvSpPr>
          <p:cNvPr id="9" name="anim-g1-580"/>
          <p:cNvSpPr/>
          <p:nvPr/>
        </p:nvSpPr>
        <p:spPr>
          <a:xfrm>
            <a:off x="9212351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سريع وضعيف</a:t>
            </a:r>
            <a:endParaRPr lang="ar-SA" sz="1900" dirty="0"/>
          </a:p>
        </p:txBody>
      </p:sp>
      <p:sp>
        <p:nvSpPr>
          <p:cNvPr id="10" name="anim-g2-581"/>
          <p:cNvSpPr/>
          <p:nvPr/>
        </p:nvSpPr>
        <p:spPr>
          <a:xfrm>
            <a:off x="6233008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582"/>
          <p:cNvSpPr/>
          <p:nvPr/>
        </p:nvSpPr>
        <p:spPr>
          <a:xfrm>
            <a:off x="7822463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583"/>
          <p:cNvSpPr/>
          <p:nvPr/>
        </p:nvSpPr>
        <p:spPr>
          <a:xfrm>
            <a:off x="7822463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🔩</a:t>
            </a:r>
            <a:endParaRPr lang="ar-SA" sz="2200" dirty="0"/>
          </a:p>
        </p:txBody>
      </p:sp>
      <p:sp>
        <p:nvSpPr>
          <p:cNvPr id="13" name="anim-g2-584"/>
          <p:cNvSpPr/>
          <p:nvPr/>
        </p:nvSpPr>
        <p:spPr>
          <a:xfrm>
            <a:off x="6507328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تروس</a:t>
            </a:r>
            <a:endParaRPr lang="ar-SA" sz="2200" dirty="0"/>
          </a:p>
        </p:txBody>
      </p:sp>
      <p:sp>
        <p:nvSpPr>
          <p:cNvPr id="14" name="anim-g2-585"/>
          <p:cNvSpPr/>
          <p:nvPr/>
        </p:nvSpPr>
        <p:spPr>
          <a:xfrm>
            <a:off x="6507328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تبطئه وتقوّيه</a:t>
            </a:r>
            <a:endParaRPr lang="ar-SA" sz="1900" dirty="0"/>
          </a:p>
        </p:txBody>
      </p:sp>
      <p:sp>
        <p:nvSpPr>
          <p:cNvPr id="15" name="anim-g3-586"/>
          <p:cNvSpPr/>
          <p:nvPr/>
        </p:nvSpPr>
        <p:spPr>
          <a:xfrm>
            <a:off x="3527984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587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588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🎛️</a:t>
            </a:r>
            <a:endParaRPr lang="ar-SA" sz="2200" dirty="0"/>
          </a:p>
        </p:txBody>
      </p:sp>
      <p:sp>
        <p:nvSpPr>
          <p:cNvPr id="18" name="anim-g3-589"/>
          <p:cNvSpPr/>
          <p:nvPr/>
        </p:nvSpPr>
        <p:spPr>
          <a:xfrm>
            <a:off x="3802304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مقاومة متغيرة</a:t>
            </a:r>
            <a:endParaRPr lang="ar-SA" sz="2200" dirty="0"/>
          </a:p>
        </p:txBody>
      </p:sp>
      <p:sp>
        <p:nvSpPr>
          <p:cNvPr id="19" name="anim-g3-590"/>
          <p:cNvSpPr/>
          <p:nvPr/>
        </p:nvSpPr>
        <p:spPr>
          <a:xfrm>
            <a:off x="3802304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تعرف الزاوية الحالية</a:t>
            </a:r>
            <a:endParaRPr lang="ar-SA" sz="1900" dirty="0"/>
          </a:p>
        </p:txBody>
      </p:sp>
      <p:sp>
        <p:nvSpPr>
          <p:cNvPr id="20" name="anim-g4-591"/>
          <p:cNvSpPr/>
          <p:nvPr/>
        </p:nvSpPr>
        <p:spPr>
          <a:xfrm>
            <a:off x="822960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592"/>
          <p:cNvSpPr/>
          <p:nvPr/>
        </p:nvSpPr>
        <p:spPr>
          <a:xfrm>
            <a:off x="2412416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593"/>
          <p:cNvSpPr/>
          <p:nvPr/>
        </p:nvSpPr>
        <p:spPr>
          <a:xfrm>
            <a:off x="2412416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🧠</a:t>
            </a:r>
            <a:endParaRPr lang="ar-SA" sz="2200" dirty="0"/>
          </a:p>
        </p:txBody>
      </p:sp>
      <p:sp>
        <p:nvSpPr>
          <p:cNvPr id="23" name="anim-g4-594"/>
          <p:cNvSpPr/>
          <p:nvPr/>
        </p:nvSpPr>
        <p:spPr>
          <a:xfrm>
            <a:off x="1097280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دائرة تحكم</a:t>
            </a:r>
            <a:endParaRPr lang="ar-SA" sz="2200" dirty="0"/>
          </a:p>
        </p:txBody>
      </p:sp>
      <p:sp>
        <p:nvSpPr>
          <p:cNvPr id="24" name="anim-g4-595"/>
          <p:cNvSpPr/>
          <p:nvPr/>
        </p:nvSpPr>
        <p:spPr>
          <a:xfrm>
            <a:off x="1097280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تقارن المطلوب بالحالي وتصحح</a:t>
            </a:r>
            <a:endParaRPr lang="ar-SA" sz="19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السيرفو  ·  ٨٢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8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خاص بـ ESP32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لماذا مكتبة ESP32Servo لا Servo العادية؟</a:t>
            </a:r>
            <a:endParaRPr lang="ar-SA" sz="3200" dirty="0"/>
          </a:p>
        </p:txBody>
      </p:sp>
      <p:sp>
        <p:nvSpPr>
          <p:cNvPr id="5" name="anim-g1-596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597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598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ar-SA" sz="2200" dirty="0"/>
          </a:p>
        </p:txBody>
      </p:sp>
      <p:sp>
        <p:nvSpPr>
          <p:cNvPr id="8" name="anim-g1-599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Servo.h</a:t>
            </a:r>
            <a:endParaRPr lang="ar-SA" sz="2200" dirty="0"/>
          </a:p>
        </p:txBody>
      </p:sp>
      <p:sp>
        <p:nvSpPr>
          <p:cNvPr id="9" name="anim-g1-600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مكتبة الأونو تعتمد مؤقتات شريحة AVR: لا تعمل على ESP32</a:t>
            </a:r>
            <a:endParaRPr lang="ar-SA" sz="1900" dirty="0"/>
          </a:p>
        </p:txBody>
      </p:sp>
      <p:sp>
        <p:nvSpPr>
          <p:cNvPr id="10" name="anim-g2-601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602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603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200" dirty="0"/>
          </a:p>
        </p:txBody>
      </p:sp>
      <p:sp>
        <p:nvSpPr>
          <p:cNvPr id="13" name="anim-g2-604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ESP32Servo.h</a:t>
            </a:r>
            <a:endParaRPr lang="ar-SA" sz="2200" dirty="0"/>
          </a:p>
        </p:txBody>
      </p:sp>
      <p:sp>
        <p:nvSpPr>
          <p:cNvPr id="14" name="anim-g2-605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الأوامر نفسها تمامًا، لكنها تستعمل LEDC داخل ESP32</a:t>
            </a:r>
            <a:endParaRPr lang="ar-SA" sz="1900" dirty="0"/>
          </a:p>
        </p:txBody>
      </p:sp>
      <p:sp>
        <p:nvSpPr>
          <p:cNvPr id="15" name="anim-g3-606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607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608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</a:t>
            </a:r>
            <a:endParaRPr lang="ar-SA" sz="2200" dirty="0"/>
          </a:p>
        </p:txBody>
      </p:sp>
      <p:sp>
        <p:nvSpPr>
          <p:cNvPr id="18" name="anim-g3-609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attach(18, 500, 2400)</a:t>
            </a:r>
            <a:endParaRPr lang="ar-SA" sz="2200" dirty="0"/>
          </a:p>
        </p:txBody>
      </p:sp>
      <p:sp>
        <p:nvSpPr>
          <p:cNvPr id="19" name="anim-g3-610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حدود النبضة: عدّلها إن لم يصل سيرفوك إلى ٠ أو ١٨٠ بالضبط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السيرفو  ·  ٨٤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0479" y="45720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320479" y="45720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⚠️ الطاقة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السيرفو يسحب تيارًا كبيرًا لحظة الحركة</a:t>
            </a:r>
            <a:endParaRPr lang="ar-SA" sz="3200" dirty="0"/>
          </a:p>
        </p:txBody>
      </p:sp>
      <p:sp>
        <p:nvSpPr>
          <p:cNvPr id="5" name="anim-g1-611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612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613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🔴</a:t>
            </a:r>
            <a:endParaRPr lang="ar-SA" sz="2200" dirty="0"/>
          </a:p>
        </p:txBody>
      </p:sp>
      <p:sp>
        <p:nvSpPr>
          <p:cNvPr id="8" name="anim-g1-614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الأحمر ← VIN (٥ فولت)</a:t>
            </a:r>
            <a:endParaRPr lang="ar-SA" sz="2200" dirty="0"/>
          </a:p>
        </p:txBody>
      </p:sp>
      <p:sp>
        <p:nvSpPr>
          <p:cNvPr id="9" name="anim-g1-615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من 3V3: منظّم اللوحة ضعيف</a:t>
            </a:r>
            <a:endParaRPr lang="ar-SA" sz="1900" dirty="0"/>
          </a:p>
        </p:txBody>
      </p:sp>
      <p:sp>
        <p:nvSpPr>
          <p:cNvPr id="10" name="anim-g2-616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617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618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🟤</a:t>
            </a:r>
            <a:endParaRPr lang="ar-SA" sz="2200" dirty="0"/>
          </a:p>
        </p:txBody>
      </p:sp>
      <p:sp>
        <p:nvSpPr>
          <p:cNvPr id="13" name="anim-g2-619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البني ← GND</a:t>
            </a:r>
            <a:endParaRPr lang="ar-SA" sz="2200" dirty="0"/>
          </a:p>
        </p:txBody>
      </p:sp>
      <p:sp>
        <p:nvSpPr>
          <p:cNvPr id="14" name="anim-g2-620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أرضي مشترك مع ESP32</a:t>
            </a:r>
            <a:endParaRPr lang="ar-SA" sz="1900" dirty="0"/>
          </a:p>
        </p:txBody>
      </p:sp>
      <p:sp>
        <p:nvSpPr>
          <p:cNvPr id="15" name="anim-g3-621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622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623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🟠</a:t>
            </a:r>
            <a:endParaRPr lang="ar-SA" sz="2200" dirty="0"/>
          </a:p>
        </p:txBody>
      </p:sp>
      <p:sp>
        <p:nvSpPr>
          <p:cNvPr id="18" name="anim-g3-624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البرتقالي ← 18</a:t>
            </a:r>
            <a:endParaRPr lang="ar-SA" sz="2200" dirty="0"/>
          </a:p>
        </p:txBody>
      </p:sp>
      <p:sp>
        <p:nvSpPr>
          <p:cNvPr id="19" name="anim-g3-625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٣٫٣ فولت تكفي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السيرفو  ·  ٨٥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86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626" descr="C:\Users\user\projects\younes-training\esp32-2\.pptx-cache\s86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627" descr="C:\Users\user\projects\younes-training\esp32-2\.pptx-cache\s86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628" descr="C:\Users\user\projects\younes-training\esp32-2\.pptx-cache\s86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629" descr="C:\Users\user\projects\younes-training\esp32-2\.pptx-cache\s86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630" descr="C:\Users\user\projects\younes-training\esp32-2\.pptx-cache\s86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87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631" descr="C:\Users\user\projects\younes-training\esp32-2\.pptx-cache\s87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632" descr="C:\Users\user\projects\younes-training\esp32-2\.pptx-cache\s87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633" descr="C:\Users\user\projects\younes-training\esp32-2\.pptx-cache\s87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634" descr="C:\Users\user\projects\younes-training\esp32-2\.pptx-cache\s87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635" descr="C:\Users\user\projects\younes-training\esp32-2\.pptx-cache\s87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636" descr="C:\Users\user\projects\younes-training\esp32-2\.pptx-cache\s87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88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637" descr="C:\Users\user\projects\younes-training\esp32-2\.pptx-cache\s88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638" descr="C:\Users\user\projects\younes-training\esp32-2\.pptx-cache\s88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639" descr="C:\Users\user\projects\younes-training\esp32-2\.pptx-cache\s88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640" descr="C:\Users\user\projects\younes-training\esp32-2\.pptx-cache\s88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39135" y="45720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3139135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 · كلما تحرك السيرفو أعادت اللوحة التشغيل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 السبب الأرجح؟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الكود خاطئ</a:t>
            </a:r>
            <a:endParaRPr lang="ar-SA" sz="2200" dirty="0"/>
          </a:p>
        </p:txBody>
      </p:sp>
      <p:sp>
        <p:nvSpPr>
          <p:cNvPr id="9" name="anim-g1-641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642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643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644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الكود خاطئ</a:t>
            </a:r>
            <a:endParaRPr lang="ar-SA" sz="2200" dirty="0"/>
          </a:p>
        </p:txBody>
      </p:sp>
      <p:sp>
        <p:nvSpPr>
          <p:cNvPr id="13" name="anim-g1-645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الكود لا يسبب إعادة تشغيل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الطرف 18 لا يصلح</a:t>
            </a:r>
            <a:endParaRPr lang="ar-SA" sz="2200" dirty="0"/>
          </a:p>
        </p:txBody>
      </p:sp>
      <p:sp>
        <p:nvSpPr>
          <p:cNvPr id="18" name="anim-g1-646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647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648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649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الطرف 18 لا يصلح</a:t>
            </a:r>
            <a:endParaRPr lang="ar-SA" sz="2200" dirty="0"/>
          </a:p>
        </p:txBody>
      </p:sp>
      <p:sp>
        <p:nvSpPr>
          <p:cNvPr id="22" name="anim-g1-650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18 طرف آمن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نقص الطاقة لحظة الحركة</a:t>
            </a:r>
            <a:endParaRPr lang="ar-SA" sz="2200" dirty="0"/>
          </a:p>
        </p:txBody>
      </p:sp>
      <p:sp>
        <p:nvSpPr>
          <p:cNvPr id="27" name="anim-g1-65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28" name="anim-g1-65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9" name="anim-g1-65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30" name="anim-g1-654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نقص الطاقة لحظة الحركة</a:t>
            </a:r>
            <a:endParaRPr lang="ar-SA" sz="2200" dirty="0"/>
          </a:p>
        </p:txBody>
      </p:sp>
      <p:sp>
        <p:nvSpPr>
          <p:cNvPr id="31" name="anim-g1-655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السيرفو سحب تيارًا فانخفض الجهد (Brownout). غذّه من مصدر أقوى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المكتبة قديمة</a:t>
            </a:r>
            <a:endParaRPr lang="ar-SA" sz="2200" dirty="0"/>
          </a:p>
        </p:txBody>
      </p:sp>
      <p:sp>
        <p:nvSpPr>
          <p:cNvPr id="36" name="anim-g1-656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657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658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659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المكتبة قديمة</a:t>
            </a:r>
            <a:endParaRPr lang="ar-SA" sz="2200" dirty="0"/>
          </a:p>
        </p:txBody>
      </p:sp>
      <p:sp>
        <p:nvSpPr>
          <p:cNvPr id="40" name="anim-g1-660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المكتبة لا تسبب انهيار الطاقة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السيرفو  ·  ٨٩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نبضة أعرض…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زاوية أكبر. والنعومة سرّها حلقة for صغيرة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السيرفو  ·  ٩٢</a:t>
            </a:r>
            <a:endParaRPr lang="ar-SA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٧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٧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محرك التيار المستمر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كيف نغيّر الاتجاه والسرعة… دون أن نحرق ESP32؟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 DC وجسر H  ·  ٩٣</a:t>
            </a:r>
            <a:endParaRPr lang="ar-SA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661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662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663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664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تشرح لماذا لا يُوصل المحرك بطرف ESP32 مباشرة</a:t>
            </a:r>
            <a:endParaRPr lang="ar-SA" sz="2400" dirty="0"/>
          </a:p>
        </p:txBody>
      </p:sp>
      <p:sp>
        <p:nvSpPr>
          <p:cNvPr id="9" name="anim-g2-665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666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667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668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تفهم جسر H وكيف يعكس الاتجاه</a:t>
            </a:r>
            <a:endParaRPr lang="ar-SA" sz="2400" dirty="0"/>
          </a:p>
        </p:txBody>
      </p:sp>
      <p:sp>
        <p:nvSpPr>
          <p:cNvPr id="13" name="anim-g3-669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670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671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672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تتحكم بالسرعة عبر PWM والاتجاه عبر IN1 وIN2</a:t>
            </a:r>
            <a:endParaRPr lang="ar-SA" sz="2400" dirty="0"/>
          </a:p>
        </p:txBody>
      </p:sp>
      <p:sp>
        <p:nvSpPr>
          <p:cNvPr id="17" name="anim-g4-673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674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675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676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تكتب دالة drive واحدة لكل الحركات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 DC وجسر H  ·  ٩٤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57439" y="4572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857439" y="4572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لماذا نحتاج درايفر؟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طرف ESP32 أمام المحرك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164015" y="1874520"/>
            <a:ext cx="320472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164015" y="1874520"/>
            <a:ext cx="320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4493488" y="1874520"/>
            <a:ext cx="356080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4493488" y="1874520"/>
            <a:ext cx="356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طرف ESP32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356080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356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محرك DC صغير</a:t>
            </a:r>
            <a:endParaRPr lang="ar-SA" sz="1900" dirty="0"/>
          </a:p>
        </p:txBody>
      </p:sp>
      <p:sp>
        <p:nvSpPr>
          <p:cNvPr id="11" name="anim-g1-677"/>
          <p:cNvSpPr/>
          <p:nvPr/>
        </p:nvSpPr>
        <p:spPr>
          <a:xfrm>
            <a:off x="8164015" y="2514600"/>
            <a:ext cx="3204720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678"/>
          <p:cNvSpPr/>
          <p:nvPr/>
        </p:nvSpPr>
        <p:spPr>
          <a:xfrm>
            <a:off x="8301175" y="2514600"/>
            <a:ext cx="29304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⚡ الجهد</a:t>
            </a:r>
            <a:endParaRPr lang="ar-SA" sz="2100" dirty="0"/>
          </a:p>
        </p:txBody>
      </p:sp>
      <p:sp>
        <p:nvSpPr>
          <p:cNvPr id="13" name="anim-g1-679"/>
          <p:cNvSpPr/>
          <p:nvPr/>
        </p:nvSpPr>
        <p:spPr>
          <a:xfrm>
            <a:off x="4493488" y="2514600"/>
            <a:ext cx="3560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680"/>
          <p:cNvSpPr/>
          <p:nvPr/>
        </p:nvSpPr>
        <p:spPr>
          <a:xfrm>
            <a:off x="4630648" y="2514600"/>
            <a:ext cx="328648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٣٫٣ فولت</a:t>
            </a:r>
            <a:endParaRPr lang="ar-SA" sz="2100" dirty="0"/>
          </a:p>
        </p:txBody>
      </p:sp>
      <p:sp>
        <p:nvSpPr>
          <p:cNvPr id="15" name="anim-g1-681"/>
          <p:cNvSpPr/>
          <p:nvPr/>
        </p:nvSpPr>
        <p:spPr>
          <a:xfrm>
            <a:off x="822960" y="2514600"/>
            <a:ext cx="3560800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682"/>
          <p:cNvSpPr/>
          <p:nvPr/>
        </p:nvSpPr>
        <p:spPr>
          <a:xfrm>
            <a:off x="960120" y="2514600"/>
            <a:ext cx="328648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٦–١٢ فولت</a:t>
            </a:r>
            <a:endParaRPr lang="ar-SA" sz="2100" dirty="0"/>
          </a:p>
        </p:txBody>
      </p:sp>
      <p:sp>
        <p:nvSpPr>
          <p:cNvPr id="17" name="anim-g2-683"/>
          <p:cNvSpPr/>
          <p:nvPr/>
        </p:nvSpPr>
        <p:spPr>
          <a:xfrm>
            <a:off x="8164015" y="3422142"/>
            <a:ext cx="3204720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684"/>
          <p:cNvSpPr/>
          <p:nvPr/>
        </p:nvSpPr>
        <p:spPr>
          <a:xfrm>
            <a:off x="8301175" y="3422142"/>
            <a:ext cx="29304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🔌 التيار</a:t>
            </a:r>
            <a:endParaRPr lang="ar-SA" sz="2100" dirty="0"/>
          </a:p>
        </p:txBody>
      </p:sp>
      <p:sp>
        <p:nvSpPr>
          <p:cNvPr id="19" name="anim-g2-685"/>
          <p:cNvSpPr/>
          <p:nvPr/>
        </p:nvSpPr>
        <p:spPr>
          <a:xfrm>
            <a:off x="4493488" y="3422142"/>
            <a:ext cx="3560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686"/>
          <p:cNvSpPr/>
          <p:nvPr/>
        </p:nvSpPr>
        <p:spPr>
          <a:xfrm>
            <a:off x="4630648" y="3422142"/>
            <a:ext cx="328648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نحو ٢٠ مللي أمبير</a:t>
            </a:r>
            <a:endParaRPr lang="ar-SA" sz="2100" dirty="0"/>
          </a:p>
        </p:txBody>
      </p:sp>
      <p:sp>
        <p:nvSpPr>
          <p:cNvPr id="21" name="anim-g2-687"/>
          <p:cNvSpPr/>
          <p:nvPr/>
        </p:nvSpPr>
        <p:spPr>
          <a:xfrm>
            <a:off x="822960" y="3422142"/>
            <a:ext cx="3560800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688"/>
          <p:cNvSpPr/>
          <p:nvPr/>
        </p:nvSpPr>
        <p:spPr>
          <a:xfrm>
            <a:off x="960120" y="3422142"/>
            <a:ext cx="328648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٢٠٠–١٠٠٠ مللي أمبير</a:t>
            </a:r>
            <a:endParaRPr lang="ar-SA" sz="2100" dirty="0"/>
          </a:p>
        </p:txBody>
      </p:sp>
      <p:sp>
        <p:nvSpPr>
          <p:cNvPr id="23" name="anim-g3-689"/>
          <p:cNvSpPr/>
          <p:nvPr/>
        </p:nvSpPr>
        <p:spPr>
          <a:xfrm>
            <a:off x="8164015" y="4329684"/>
            <a:ext cx="3204720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690"/>
          <p:cNvSpPr/>
          <p:nvPr/>
        </p:nvSpPr>
        <p:spPr>
          <a:xfrm>
            <a:off x="8301175" y="4329684"/>
            <a:ext cx="29304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🔁 الاتجاه</a:t>
            </a:r>
            <a:endParaRPr lang="ar-SA" sz="2100" dirty="0"/>
          </a:p>
        </p:txBody>
      </p:sp>
      <p:sp>
        <p:nvSpPr>
          <p:cNvPr id="25" name="anim-g3-691"/>
          <p:cNvSpPr/>
          <p:nvPr/>
        </p:nvSpPr>
        <p:spPr>
          <a:xfrm>
            <a:off x="4493488" y="4329684"/>
            <a:ext cx="3560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692"/>
          <p:cNvSpPr/>
          <p:nvPr/>
        </p:nvSpPr>
        <p:spPr>
          <a:xfrm>
            <a:off x="4630648" y="4329684"/>
            <a:ext cx="328648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اتجاه واحد</a:t>
            </a:r>
            <a:endParaRPr lang="ar-SA" sz="2100" dirty="0"/>
          </a:p>
        </p:txBody>
      </p:sp>
      <p:sp>
        <p:nvSpPr>
          <p:cNvPr id="27" name="anim-g3-693"/>
          <p:cNvSpPr/>
          <p:nvPr/>
        </p:nvSpPr>
        <p:spPr>
          <a:xfrm>
            <a:off x="822960" y="4329684"/>
            <a:ext cx="3560800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694"/>
          <p:cNvSpPr/>
          <p:nvPr/>
        </p:nvSpPr>
        <p:spPr>
          <a:xfrm>
            <a:off x="960120" y="4329684"/>
            <a:ext cx="328648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يحتاج عكس القطبية</a:t>
            </a:r>
            <a:endParaRPr lang="ar-SA" sz="2100" dirty="0"/>
          </a:p>
        </p:txBody>
      </p:sp>
      <p:sp>
        <p:nvSpPr>
          <p:cNvPr id="29" name="anim-g4-695"/>
          <p:cNvSpPr/>
          <p:nvPr/>
        </p:nvSpPr>
        <p:spPr>
          <a:xfrm>
            <a:off x="8164015" y="5237226"/>
            <a:ext cx="3204720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696"/>
          <p:cNvSpPr/>
          <p:nvPr/>
        </p:nvSpPr>
        <p:spPr>
          <a:xfrm>
            <a:off x="8301175" y="5237226"/>
            <a:ext cx="29304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⚠️ الخطر</a:t>
            </a:r>
            <a:endParaRPr lang="ar-SA" sz="2100" dirty="0"/>
          </a:p>
        </p:txBody>
      </p:sp>
      <p:sp>
        <p:nvSpPr>
          <p:cNvPr id="31" name="anim-g4-697"/>
          <p:cNvSpPr/>
          <p:nvPr/>
        </p:nvSpPr>
        <p:spPr>
          <a:xfrm>
            <a:off x="4493488" y="5237226"/>
            <a:ext cx="3560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698"/>
          <p:cNvSpPr/>
          <p:nvPr/>
        </p:nvSpPr>
        <p:spPr>
          <a:xfrm>
            <a:off x="4630648" y="5237226"/>
            <a:ext cx="328648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</a:t>
            </a:r>
            <a:endParaRPr lang="ar-SA" sz="2100" dirty="0"/>
          </a:p>
        </p:txBody>
      </p:sp>
      <p:sp>
        <p:nvSpPr>
          <p:cNvPr id="33" name="anim-g4-699"/>
          <p:cNvSpPr/>
          <p:nvPr/>
        </p:nvSpPr>
        <p:spPr>
          <a:xfrm>
            <a:off x="822960" y="5237226"/>
            <a:ext cx="3560800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700"/>
          <p:cNvSpPr/>
          <p:nvPr/>
        </p:nvSpPr>
        <p:spPr>
          <a:xfrm>
            <a:off x="960120" y="5237226"/>
            <a:ext cx="328648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يولّد جهدًا عكسيًا عند التوقف</a:t>
            </a:r>
            <a:endParaRPr lang="ar-SA" sz="21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 DC وجسر H  ·  ٩٥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9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الدرايفر L298N: ستة أطراف تتحكم بمحركين</a:t>
            </a:r>
            <a:endParaRPr lang="ar-SA" sz="3200" dirty="0"/>
          </a:p>
        </p:txBody>
      </p:sp>
      <p:sp>
        <p:nvSpPr>
          <p:cNvPr id="3" name="anim-g1-701"/>
          <p:cNvSpPr/>
          <p:nvPr/>
        </p:nvSpPr>
        <p:spPr>
          <a:xfrm>
            <a:off x="8036357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4" name="anim-g1-702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5" name="anim-g1-703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🏎️</a:t>
            </a:r>
            <a:endParaRPr lang="ar-SA" sz="2200" dirty="0"/>
          </a:p>
        </p:txBody>
      </p:sp>
      <p:sp>
        <p:nvSpPr>
          <p:cNvPr id="6" name="anim-g1-704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ENA / ENB</a:t>
            </a:r>
            <a:endParaRPr lang="ar-SA" sz="2200" dirty="0"/>
          </a:p>
        </p:txBody>
      </p:sp>
      <p:sp>
        <p:nvSpPr>
          <p:cNvPr id="7" name="anim-g1-705"/>
          <p:cNvSpPr/>
          <p:nvPr/>
        </p:nvSpPr>
        <p:spPr>
          <a:xfrm>
            <a:off x="8310677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السرعة: نرسل لها PWM (انزع الجسر الصغير عليها)</a:t>
            </a:r>
            <a:endParaRPr lang="ar-SA" sz="1900" dirty="0"/>
          </a:p>
        </p:txBody>
      </p:sp>
      <p:sp>
        <p:nvSpPr>
          <p:cNvPr id="8" name="anim-g2-706"/>
          <p:cNvSpPr/>
          <p:nvPr/>
        </p:nvSpPr>
        <p:spPr>
          <a:xfrm>
            <a:off x="4429658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9" name="anim-g2-707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0" name="anim-g2-708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🔁</a:t>
            </a:r>
            <a:endParaRPr lang="ar-SA" sz="2200" dirty="0"/>
          </a:p>
        </p:txBody>
      </p:sp>
      <p:sp>
        <p:nvSpPr>
          <p:cNvPr id="11" name="anim-g2-709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IN1 / IN2</a:t>
            </a:r>
            <a:endParaRPr lang="ar-SA" sz="2200" dirty="0"/>
          </a:p>
        </p:txBody>
      </p:sp>
      <p:sp>
        <p:nvSpPr>
          <p:cNvPr id="12" name="anim-g2-710"/>
          <p:cNvSpPr/>
          <p:nvPr/>
        </p:nvSpPr>
        <p:spPr>
          <a:xfrm>
            <a:off x="4703978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اتجاه المحرك A: (HIGH, LOW) أمام · (LOW, HIGH) خلف</a:t>
            </a:r>
            <a:endParaRPr lang="ar-SA" sz="1900" dirty="0"/>
          </a:p>
        </p:txBody>
      </p:sp>
      <p:sp>
        <p:nvSpPr>
          <p:cNvPr id="13" name="anim-g3-711"/>
          <p:cNvSpPr/>
          <p:nvPr/>
        </p:nvSpPr>
        <p:spPr>
          <a:xfrm>
            <a:off x="822960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4" name="anim-g3-712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5" name="anim-g3-713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🔁</a:t>
            </a:r>
            <a:endParaRPr lang="ar-SA" sz="2200" dirty="0"/>
          </a:p>
        </p:txBody>
      </p:sp>
      <p:sp>
        <p:nvSpPr>
          <p:cNvPr id="16" name="anim-g3-714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IN3 / IN4</a:t>
            </a:r>
            <a:endParaRPr lang="ar-SA" sz="2200" dirty="0"/>
          </a:p>
        </p:txBody>
      </p:sp>
      <p:sp>
        <p:nvSpPr>
          <p:cNvPr id="17" name="anim-g3-715"/>
          <p:cNvSpPr/>
          <p:nvPr/>
        </p:nvSpPr>
        <p:spPr>
          <a:xfrm>
            <a:off x="1097280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اتجاه المحرك B بالطريقة نفسها</a:t>
            </a:r>
            <a:endParaRPr lang="ar-SA" sz="1900" dirty="0"/>
          </a:p>
        </p:txBody>
      </p:sp>
      <p:sp>
        <p:nvSpPr>
          <p:cNvPr id="18" name="anim-g4-716"/>
          <p:cNvSpPr/>
          <p:nvPr/>
        </p:nvSpPr>
        <p:spPr>
          <a:xfrm>
            <a:off x="8036357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9" name="anim-g4-717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0" name="anim-g4-718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🔋</a:t>
            </a:r>
            <a:endParaRPr lang="ar-SA" sz="2200" dirty="0"/>
          </a:p>
        </p:txBody>
      </p:sp>
      <p:sp>
        <p:nvSpPr>
          <p:cNvPr id="21" name="anim-g4-719"/>
          <p:cNvSpPr/>
          <p:nvPr/>
        </p:nvSpPr>
        <p:spPr>
          <a:xfrm>
            <a:off x="8310677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12V</a:t>
            </a:r>
            <a:endParaRPr lang="ar-SA" sz="2200" dirty="0"/>
          </a:p>
        </p:txBody>
      </p:sp>
      <p:sp>
        <p:nvSpPr>
          <p:cNvPr id="22" name="anim-g4-720"/>
          <p:cNvSpPr/>
          <p:nvPr/>
        </p:nvSpPr>
        <p:spPr>
          <a:xfrm>
            <a:off x="8310677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طاقة المحركات من بطارية منفصلة</a:t>
            </a:r>
            <a:endParaRPr lang="ar-SA" sz="1900" dirty="0"/>
          </a:p>
        </p:txBody>
      </p:sp>
      <p:sp>
        <p:nvSpPr>
          <p:cNvPr id="23" name="anim-g5-721"/>
          <p:cNvSpPr/>
          <p:nvPr/>
        </p:nvSpPr>
        <p:spPr>
          <a:xfrm>
            <a:off x="4429658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4" name="anim-g5-722"/>
          <p:cNvSpPr/>
          <p:nvPr/>
        </p:nvSpPr>
        <p:spPr>
          <a:xfrm>
            <a:off x="6920789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5" name="anim-g5-723"/>
          <p:cNvSpPr/>
          <p:nvPr/>
        </p:nvSpPr>
        <p:spPr>
          <a:xfrm>
            <a:off x="6920789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⏚</a:t>
            </a:r>
            <a:endParaRPr lang="ar-SA" sz="2200" dirty="0"/>
          </a:p>
        </p:txBody>
      </p:sp>
      <p:sp>
        <p:nvSpPr>
          <p:cNvPr id="26" name="anim-g5-724"/>
          <p:cNvSpPr/>
          <p:nvPr/>
        </p:nvSpPr>
        <p:spPr>
          <a:xfrm>
            <a:off x="4703978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GND</a:t>
            </a:r>
            <a:endParaRPr lang="ar-SA" sz="2200" dirty="0"/>
          </a:p>
        </p:txBody>
      </p:sp>
      <p:sp>
        <p:nvSpPr>
          <p:cNvPr id="27" name="anim-g5-725"/>
          <p:cNvSpPr/>
          <p:nvPr/>
        </p:nvSpPr>
        <p:spPr>
          <a:xfrm>
            <a:off x="4703978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مشترك بين البطارية وESP32: إلزامي</a:t>
            </a:r>
            <a:endParaRPr lang="ar-SA" sz="1900" dirty="0"/>
          </a:p>
        </p:txBody>
      </p:sp>
      <p:sp>
        <p:nvSpPr>
          <p:cNvPr id="28" name="anim-g6-726"/>
          <p:cNvSpPr/>
          <p:nvPr/>
        </p:nvSpPr>
        <p:spPr>
          <a:xfrm>
            <a:off x="822960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9" name="anim-g6-727"/>
          <p:cNvSpPr/>
          <p:nvPr/>
        </p:nvSpPr>
        <p:spPr>
          <a:xfrm>
            <a:off x="331409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30" name="anim-g6-728"/>
          <p:cNvSpPr/>
          <p:nvPr/>
        </p:nvSpPr>
        <p:spPr>
          <a:xfrm>
            <a:off x="331409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🌡️</a:t>
            </a:r>
            <a:endParaRPr lang="ar-SA" sz="2200" dirty="0"/>
          </a:p>
        </p:txBody>
      </p:sp>
      <p:sp>
        <p:nvSpPr>
          <p:cNvPr id="31" name="anim-g6-729"/>
          <p:cNvSpPr/>
          <p:nvPr/>
        </p:nvSpPr>
        <p:spPr>
          <a:xfrm>
            <a:off x="1097280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المشتت</a:t>
            </a:r>
            <a:endParaRPr lang="ar-SA" sz="2200" dirty="0"/>
          </a:p>
        </p:txBody>
      </p:sp>
      <p:sp>
        <p:nvSpPr>
          <p:cNvPr id="32" name="anim-g6-730"/>
          <p:cNvSpPr/>
          <p:nvPr/>
        </p:nvSpPr>
        <p:spPr>
          <a:xfrm>
            <a:off x="1097280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L298N يستهلك نحو ٢ فولت حرارة. البديل الأحدث TB6612</a:t>
            </a:r>
            <a:endParaRPr lang="ar-SA" sz="1900" dirty="0"/>
          </a:p>
        </p:txBody>
      </p:sp>
      <p:sp>
        <p:nvSpPr>
          <p:cNvPr id="33" name="Text 31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 DC وجسر H  ·  ٩٧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98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731" descr="C:\Users\user\projects\younes-training\esp32-2\.pptx-cache\s98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732" descr="C:\Users\user\projects\younes-training\esp32-2\.pptx-cache\s98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733" descr="C:\Users\user\projects\younes-training\esp32-2\.pptx-cache\s98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734" descr="C:\Users\user\projects\younes-training\esp32-2\.pptx-cache\s98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735" descr="C:\Users\user\projects\younes-training\esp32-2\.pptx-cache\s98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736" descr="C:\Users\user\projects\younes-training\esp32-2\.pptx-cache\s98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99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737" descr="C:\Users\user\projects\younes-training\esp32-2\.pptx-cache\s99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738" descr="C:\Users\user\projects\younes-training\esp32-2\.pptx-cache\s99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739" descr="C:\Users\user\projects\younes-training\esp32-2\.pptx-cache\s99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740" descr="C:\Users\user\projects\younes-training\esp32-2\.pptx-cache\s99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741" descr="C:\Users\user\projects\younes-training\esp32-2\.pptx-cache\s99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742" descr="C:\Users\user\projects\younes-training\esp32-2\.pptx-cache\s99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لماذا لا يدور تحت سرعة معيّنة؟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منطقة الموت (Dead zone)</a:t>
            </a:r>
            <a:endParaRPr lang="ar-SA" sz="3800" dirty="0"/>
          </a:p>
        </p:txBody>
      </p:sp>
      <p:sp>
        <p:nvSpPr>
          <p:cNvPr id="5" name="anim-g1-743"/>
          <p:cNvSpPr/>
          <p:nvPr/>
        </p:nvSpPr>
        <p:spPr>
          <a:xfrm>
            <a:off x="6233008" y="2011680"/>
            <a:ext cx="5135728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744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745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😴</a:t>
            </a:r>
            <a:endParaRPr lang="ar-SA" sz="2200" dirty="0"/>
          </a:p>
        </p:txBody>
      </p:sp>
      <p:sp>
        <p:nvSpPr>
          <p:cNvPr id="8" name="anim-g1-746"/>
          <p:cNvSpPr/>
          <p:nvPr/>
        </p:nvSpPr>
        <p:spPr>
          <a:xfrm>
            <a:off x="6507328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الملاحظة</a:t>
            </a:r>
            <a:endParaRPr lang="ar-SA" sz="2200" dirty="0"/>
          </a:p>
        </p:txBody>
      </p:sp>
      <p:sp>
        <p:nvSpPr>
          <p:cNvPr id="9" name="anim-g1-747"/>
          <p:cNvSpPr/>
          <p:nvPr/>
        </p:nvSpPr>
        <p:spPr>
          <a:xfrm>
            <a:off x="6507328" y="3493008"/>
            <a:ext cx="458708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drive(60) لا يدور، بل يطنّ فقط</a:t>
            </a:r>
            <a:endParaRPr lang="ar-SA" sz="1900" dirty="0"/>
          </a:p>
        </p:txBody>
      </p:sp>
      <p:sp>
        <p:nvSpPr>
          <p:cNvPr id="10" name="anim-g2-748"/>
          <p:cNvSpPr/>
          <p:nvPr/>
        </p:nvSpPr>
        <p:spPr>
          <a:xfrm>
            <a:off x="822960" y="2011680"/>
            <a:ext cx="5135728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749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750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💡</a:t>
            </a:r>
            <a:endParaRPr lang="ar-SA" sz="2200" dirty="0"/>
          </a:p>
        </p:txBody>
      </p:sp>
      <p:sp>
        <p:nvSpPr>
          <p:cNvPr id="13" name="anim-g2-751"/>
          <p:cNvSpPr/>
          <p:nvPr/>
        </p:nvSpPr>
        <p:spPr>
          <a:xfrm>
            <a:off x="1097280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السبب والحل</a:t>
            </a:r>
            <a:endParaRPr lang="ar-SA" sz="2200" dirty="0"/>
          </a:p>
        </p:txBody>
      </p:sp>
      <p:sp>
        <p:nvSpPr>
          <p:cNvPr id="14" name="anim-g2-752"/>
          <p:cNvSpPr/>
          <p:nvPr/>
        </p:nvSpPr>
        <p:spPr>
          <a:xfrm>
            <a:off x="1097280" y="3493008"/>
            <a:ext cx="458708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الاحتكاك يحتاج حدًا أدنى من الجهد (غالبًا فوق ٩٠–١٢٠). اجعل أقل سرعة في مشروعك فوقه</a:t>
            </a:r>
            <a:endParaRPr lang="ar-SA" sz="1900" dirty="0"/>
          </a:p>
        </p:txBody>
      </p:sp>
      <p:sp>
        <p:nvSpPr>
          <p:cNvPr id="15" name="Text 1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 DC وجسر H  ·  ١٠٠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01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753" descr="C:\Users\user\projects\younes-training\esp32-2\.pptx-cache\s101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754" descr="C:\Users\user\projects\younes-training\esp32-2\.pptx-cache\s101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755" descr="C:\Users\user\projects\younes-training\esp32-2\.pptx-cache\s101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756" descr="C:\Users\user\projects\younes-training\esp32-2\.pptx-cache\s101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المحرك يدور عكس المطلوب… ما أسهل حل؟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اعكس سلكي المحرك على OUT1 وOUT2</a:t>
            </a:r>
            <a:endParaRPr lang="ar-SA" sz="2200" dirty="0"/>
          </a:p>
        </p:txBody>
      </p:sp>
      <p:sp>
        <p:nvSpPr>
          <p:cNvPr id="9" name="anim-g1-757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0" name="anim-g1-758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11" name="anim-g1-759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12" name="anim-g1-760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اعكس سلكي المحرك على OUT1 وOUT2</a:t>
            </a:r>
            <a:endParaRPr lang="ar-SA" sz="2200" dirty="0"/>
          </a:p>
        </p:txBody>
      </p:sp>
      <p:sp>
        <p:nvSpPr>
          <p:cNvPr id="13" name="anim-g1-761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أو بدّل in1 وin2 في الكود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غيّر البطارية</a:t>
            </a:r>
            <a:endParaRPr lang="ar-SA" sz="2200" dirty="0"/>
          </a:p>
        </p:txBody>
      </p:sp>
      <p:sp>
        <p:nvSpPr>
          <p:cNvPr id="18" name="anim-g1-76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76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76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765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غيّر البطارية</a:t>
            </a:r>
            <a:endParaRPr lang="ar-SA" sz="2200" dirty="0"/>
          </a:p>
        </p:txBody>
      </p:sp>
      <p:sp>
        <p:nvSpPr>
          <p:cNvPr id="22" name="anim-g1-766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البطارية لا تحدد الاتجاه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اشترِ درايفر جديدًا</a:t>
            </a:r>
            <a:endParaRPr lang="ar-SA" sz="2200" dirty="0"/>
          </a:p>
        </p:txBody>
      </p:sp>
      <p:sp>
        <p:nvSpPr>
          <p:cNvPr id="27" name="anim-g1-767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768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769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770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اشترِ درايفر جديدًا</a:t>
            </a:r>
            <a:endParaRPr lang="ar-SA" sz="2200" dirty="0"/>
          </a:p>
        </p:txBody>
      </p:sp>
      <p:sp>
        <p:nvSpPr>
          <p:cNvPr id="31" name="anim-g1-771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الدرايفر سليم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استعمل طرفًا آخر لـ ENA</a:t>
            </a:r>
            <a:endParaRPr lang="ar-SA" sz="2200" dirty="0"/>
          </a:p>
        </p:txBody>
      </p:sp>
      <p:sp>
        <p:nvSpPr>
          <p:cNvPr id="36" name="anim-g1-772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773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774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775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استعمل طرفًا آخر لـ ENA</a:t>
            </a:r>
            <a:endParaRPr lang="ar-SA" sz="2200" dirty="0"/>
          </a:p>
        </p:txBody>
      </p:sp>
      <p:sp>
        <p:nvSpPr>
          <p:cNvPr id="40" name="anim-g1-776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ENA للسرعة لا للاتجاه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 DC وجسر H  ·  ١٠٢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الإشارة للاتجاه…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والحجم للسرعة… والدرايفر درع ESP32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 DC وجسر H  ·  ١٠٥</a:t>
            </a:r>
            <a:endParaRPr lang="ar-SA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٨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٨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الواي فاي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ESP32 يدخل الشبكة… مثل أي جوال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الواي فاي  ·  ١٠٦</a:t>
            </a:r>
            <a:endParaRPr lang="ar-SA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777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778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779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780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تشرح الشبكة والراوتر وعنوان IP بلغة يفهمها طالب الابتدائي</a:t>
            </a:r>
            <a:endParaRPr lang="ar-SA" sz="2400" dirty="0"/>
          </a:p>
        </p:txBody>
      </p:sp>
      <p:sp>
        <p:nvSpPr>
          <p:cNvPr id="9" name="anim-g2-781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782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783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784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تبحث عن الشبكات وتقرأ قوة الإشارة</a:t>
            </a:r>
            <a:endParaRPr lang="ar-SA" sz="2400" dirty="0"/>
          </a:p>
        </p:txBody>
      </p:sp>
      <p:sp>
        <p:nvSpPr>
          <p:cNvPr id="13" name="anim-g3-785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786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787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788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توصل ESP32 بشبكة المدرسة وتعرف عنوانه</a:t>
            </a:r>
            <a:endParaRPr lang="ar-SA" sz="2400" dirty="0"/>
          </a:p>
        </p:txBody>
      </p:sp>
      <p:sp>
        <p:nvSpPr>
          <p:cNvPr id="17" name="anim-g4-789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790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791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792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تشخّص أشهر أربعة أسباب لفشل الاتصال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الواي فاي  ·  ١٠٧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13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793" descr="C:\Users\user\projects\younes-training\esp32-2\.pptx-cache\s113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794" descr="C:\Users\user\projects\younes-training\esp32-2\.pptx-cache\s113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795" descr="C:\Users\user\projects\younes-training\esp32-2\.pptx-cache\s113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796" descr="C:\Users\user\projects\younes-training\esp32-2\.pptx-cache\s113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14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797" descr="C:\Users\user\projects\younes-training\esp32-2\.pptx-cache\s114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798" descr="C:\Users\user\projects\younes-training\esp32-2\.pptx-cache\s114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799" descr="C:\Users\user\projects\younes-training\esp32-2\.pptx-cache\s114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800" descr="C:\Users\user\projects\younes-training\esp32-2\.pptx-cache\s114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801" descr="C:\Users\user\projects\younes-training\esp32-2\.pptx-cache\s114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دليل التشخيص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لا يتصل؟ أربعة أسباب تغطي ٩٠٪ من الحالات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39548" y="1874520"/>
            <a:ext cx="3129188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239548" y="1874520"/>
            <a:ext cx="3129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العَرَض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5000632" y="1874520"/>
            <a:ext cx="3129188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5000632" y="1874520"/>
            <a:ext cx="3129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السبب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067944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406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الحل</a:t>
            </a:r>
            <a:endParaRPr lang="ar-SA" sz="1900" dirty="0"/>
          </a:p>
        </p:txBody>
      </p:sp>
      <p:sp>
        <p:nvSpPr>
          <p:cNvPr id="11" name="anim-g1-802"/>
          <p:cNvSpPr/>
          <p:nvPr/>
        </p:nvSpPr>
        <p:spPr>
          <a:xfrm>
            <a:off x="8239548" y="2514600"/>
            <a:ext cx="3129188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803"/>
          <p:cNvSpPr/>
          <p:nvPr/>
        </p:nvSpPr>
        <p:spPr>
          <a:xfrm>
            <a:off x="8376708" y="2514600"/>
            <a:ext cx="2854868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نقاط إلى الأبد</a:t>
            </a:r>
            <a:endParaRPr lang="ar-SA" sz="2100" dirty="0"/>
          </a:p>
        </p:txBody>
      </p:sp>
      <p:sp>
        <p:nvSpPr>
          <p:cNvPr id="13" name="anim-g1-804"/>
          <p:cNvSpPr/>
          <p:nvPr/>
        </p:nvSpPr>
        <p:spPr>
          <a:xfrm>
            <a:off x="5000632" y="2514600"/>
            <a:ext cx="3129188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805"/>
          <p:cNvSpPr/>
          <p:nvPr/>
        </p:nvSpPr>
        <p:spPr>
          <a:xfrm>
            <a:off x="5137792" y="2514600"/>
            <a:ext cx="2854868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الشبكة 5GHz</a:t>
            </a:r>
            <a:endParaRPr lang="ar-SA" sz="2100" dirty="0"/>
          </a:p>
        </p:txBody>
      </p:sp>
      <p:sp>
        <p:nvSpPr>
          <p:cNvPr id="15" name="anim-g1-806"/>
          <p:cNvSpPr/>
          <p:nvPr/>
        </p:nvSpPr>
        <p:spPr>
          <a:xfrm>
            <a:off x="822960" y="2514600"/>
            <a:ext cx="406794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807"/>
          <p:cNvSpPr/>
          <p:nvPr/>
        </p:nvSpPr>
        <p:spPr>
          <a:xfrm>
            <a:off x="960120" y="2514600"/>
            <a:ext cx="379362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شبكة 2.4GHz أو نقطة اتصال الجوال</a:t>
            </a:r>
            <a:endParaRPr lang="ar-SA" sz="2100" dirty="0"/>
          </a:p>
        </p:txBody>
      </p:sp>
      <p:sp>
        <p:nvSpPr>
          <p:cNvPr id="17" name="anim-g2-808"/>
          <p:cNvSpPr/>
          <p:nvPr/>
        </p:nvSpPr>
        <p:spPr>
          <a:xfrm>
            <a:off x="8239548" y="3422142"/>
            <a:ext cx="3129188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809"/>
          <p:cNvSpPr/>
          <p:nvPr/>
        </p:nvSpPr>
        <p:spPr>
          <a:xfrm>
            <a:off x="8376708" y="3422142"/>
            <a:ext cx="2854868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WL_CONNECT_FAILED</a:t>
            </a:r>
            <a:endParaRPr lang="ar-SA" sz="2100" dirty="0"/>
          </a:p>
        </p:txBody>
      </p:sp>
      <p:sp>
        <p:nvSpPr>
          <p:cNvPr id="19" name="anim-g2-810"/>
          <p:cNvSpPr/>
          <p:nvPr/>
        </p:nvSpPr>
        <p:spPr>
          <a:xfrm>
            <a:off x="5000632" y="3422142"/>
            <a:ext cx="3129188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811"/>
          <p:cNvSpPr/>
          <p:nvPr/>
        </p:nvSpPr>
        <p:spPr>
          <a:xfrm>
            <a:off x="5137792" y="3422142"/>
            <a:ext cx="2854868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كلمة مرور خاطئة</a:t>
            </a:r>
            <a:endParaRPr lang="ar-SA" sz="2100" dirty="0"/>
          </a:p>
        </p:txBody>
      </p:sp>
      <p:sp>
        <p:nvSpPr>
          <p:cNvPr id="21" name="anim-g2-812"/>
          <p:cNvSpPr/>
          <p:nvPr/>
        </p:nvSpPr>
        <p:spPr>
          <a:xfrm>
            <a:off x="822960" y="3422142"/>
            <a:ext cx="406794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813"/>
          <p:cNvSpPr/>
          <p:nvPr/>
        </p:nvSpPr>
        <p:spPr>
          <a:xfrm>
            <a:off x="960120" y="3422142"/>
            <a:ext cx="379362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انسخها حرفًا حرفًا (المسافات والحروف الكبيرة)</a:t>
            </a:r>
            <a:endParaRPr lang="ar-SA" sz="2100" dirty="0"/>
          </a:p>
        </p:txBody>
      </p:sp>
      <p:sp>
        <p:nvSpPr>
          <p:cNvPr id="23" name="anim-g3-814"/>
          <p:cNvSpPr/>
          <p:nvPr/>
        </p:nvSpPr>
        <p:spPr>
          <a:xfrm>
            <a:off x="8239548" y="4329684"/>
            <a:ext cx="3129188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815"/>
          <p:cNvSpPr/>
          <p:nvPr/>
        </p:nvSpPr>
        <p:spPr>
          <a:xfrm>
            <a:off x="8376708" y="4329684"/>
            <a:ext cx="2854868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يتصل وينقطع</a:t>
            </a:r>
            <a:endParaRPr lang="ar-SA" sz="2100" dirty="0"/>
          </a:p>
        </p:txBody>
      </p:sp>
      <p:sp>
        <p:nvSpPr>
          <p:cNvPr id="25" name="anim-g3-816"/>
          <p:cNvSpPr/>
          <p:nvPr/>
        </p:nvSpPr>
        <p:spPr>
          <a:xfrm>
            <a:off x="5000632" y="4329684"/>
            <a:ext cx="3129188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817"/>
          <p:cNvSpPr/>
          <p:nvPr/>
        </p:nvSpPr>
        <p:spPr>
          <a:xfrm>
            <a:off x="5137792" y="4329684"/>
            <a:ext cx="2854868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ضعيفة (أقل من −٨٠)</a:t>
            </a:r>
            <a:endParaRPr lang="ar-SA" sz="2100" dirty="0"/>
          </a:p>
        </p:txBody>
      </p:sp>
      <p:sp>
        <p:nvSpPr>
          <p:cNvPr id="27" name="anim-g3-818"/>
          <p:cNvSpPr/>
          <p:nvPr/>
        </p:nvSpPr>
        <p:spPr>
          <a:xfrm>
            <a:off x="822960" y="4329684"/>
            <a:ext cx="406794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819"/>
          <p:cNvSpPr/>
          <p:nvPr/>
        </p:nvSpPr>
        <p:spPr>
          <a:xfrm>
            <a:off x="960120" y="4329684"/>
            <a:ext cx="379362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قرّب اللوحة أو مقوٍّ للإشارة</a:t>
            </a:r>
            <a:endParaRPr lang="ar-SA" sz="2100" dirty="0"/>
          </a:p>
        </p:txBody>
      </p:sp>
      <p:sp>
        <p:nvSpPr>
          <p:cNvPr id="29" name="anim-g4-820"/>
          <p:cNvSpPr/>
          <p:nvPr/>
        </p:nvSpPr>
        <p:spPr>
          <a:xfrm>
            <a:off x="8239548" y="5237226"/>
            <a:ext cx="3129188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821"/>
          <p:cNvSpPr/>
          <p:nvPr/>
        </p:nvSpPr>
        <p:spPr>
          <a:xfrm>
            <a:off x="8376708" y="5237226"/>
            <a:ext cx="2854868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متصل والجوال لا يصل</a:t>
            </a:r>
            <a:endParaRPr lang="ar-SA" sz="2100" dirty="0"/>
          </a:p>
        </p:txBody>
      </p:sp>
      <p:sp>
        <p:nvSpPr>
          <p:cNvPr id="31" name="anim-g4-822"/>
          <p:cNvSpPr/>
          <p:nvPr/>
        </p:nvSpPr>
        <p:spPr>
          <a:xfrm>
            <a:off x="5000632" y="5237226"/>
            <a:ext cx="3129188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823"/>
          <p:cNvSpPr/>
          <p:nvPr/>
        </p:nvSpPr>
        <p:spPr>
          <a:xfrm>
            <a:off x="5137792" y="5237226"/>
            <a:ext cx="2854868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شبكة ضيوف معزولة</a:t>
            </a:r>
            <a:endParaRPr lang="ar-SA" sz="2100" dirty="0"/>
          </a:p>
        </p:txBody>
      </p:sp>
      <p:sp>
        <p:nvSpPr>
          <p:cNvPr id="33" name="anim-g4-824"/>
          <p:cNvSpPr/>
          <p:nvPr/>
        </p:nvSpPr>
        <p:spPr>
          <a:xfrm>
            <a:off x="822960" y="5237226"/>
            <a:ext cx="406794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825"/>
          <p:cNvSpPr/>
          <p:nvPr/>
        </p:nvSpPr>
        <p:spPr>
          <a:xfrm>
            <a:off x="960120" y="5237226"/>
            <a:ext cx="379362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راوتر خاص بالمعمل أو وضع AP</a:t>
            </a:r>
            <a:endParaRPr lang="ar-SA" sz="21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الواي فاي  ·  ١١٥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16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826" descr="C:\Users\user\projects\younes-training\esp32-2\.pptx-cache\s116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827" descr="C:\Users\user\projects\younes-training\esp32-2\.pptx-cache\s116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828" descr="C:\Users\user\projects\younes-training\esp32-2\.pptx-cache\s116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829" descr="C:\Users\user\projects\younes-training\esp32-2\.pptx-cache\s116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الجوال على بيانات الشركة 4G… هل يفتح 192.168.1.50؟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نعم، العنوان صحيح</a:t>
            </a:r>
            <a:endParaRPr lang="ar-SA" sz="2200" dirty="0"/>
          </a:p>
        </p:txBody>
      </p:sp>
      <p:sp>
        <p:nvSpPr>
          <p:cNvPr id="9" name="anim-g1-830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831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832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833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نعم، العنوان صحيح</a:t>
            </a:r>
            <a:endParaRPr lang="ar-SA" sz="2200" dirty="0"/>
          </a:p>
        </p:txBody>
      </p:sp>
      <p:sp>
        <p:nvSpPr>
          <p:cNvPr id="13" name="anim-g1-834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العنوان محلي داخل الشبكة فقط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لا، يجب أن يكون على الشبكة نفسها</a:t>
            </a:r>
            <a:endParaRPr lang="ar-SA" sz="2200" dirty="0"/>
          </a:p>
        </p:txBody>
      </p:sp>
      <p:sp>
        <p:nvSpPr>
          <p:cNvPr id="18" name="anim-g1-835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836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0" name="anim-g1-837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21" name="anim-g1-838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لا، يجب أن يكون على الشبكة نفسها</a:t>
            </a:r>
            <a:endParaRPr lang="ar-SA" sz="2200" dirty="0"/>
          </a:p>
        </p:txBody>
      </p:sp>
      <p:sp>
        <p:nvSpPr>
          <p:cNvPr id="22" name="anim-g1-839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192.168 عناوين «داخل الحي» لا تُرى من الإنترنت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نعم إن كانت الإشارة قوية</a:t>
            </a:r>
            <a:endParaRPr lang="ar-SA" sz="2200" dirty="0"/>
          </a:p>
        </p:txBody>
      </p:sp>
      <p:sp>
        <p:nvSpPr>
          <p:cNvPr id="27" name="anim-g1-840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841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842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843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نعم إن كانت الإشارة قوية</a:t>
            </a:r>
            <a:endParaRPr lang="ar-SA" sz="2200" dirty="0"/>
          </a:p>
        </p:txBody>
      </p:sp>
      <p:sp>
        <p:nvSpPr>
          <p:cNvPr id="31" name="anim-g1-844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الإشارة لا تغير مكان الجوال الشبكي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فقط في iPhone</a:t>
            </a:r>
            <a:endParaRPr lang="ar-SA" sz="2200" dirty="0"/>
          </a:p>
        </p:txBody>
      </p:sp>
      <p:sp>
        <p:nvSpPr>
          <p:cNvPr id="36" name="anim-g1-845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846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847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848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فقط في iPhone</a:t>
            </a:r>
            <a:endParaRPr lang="ar-SA" sz="2200" dirty="0"/>
          </a:p>
        </p:txBody>
      </p:sp>
      <p:sp>
        <p:nvSpPr>
          <p:cNvPr id="40" name="anim-g1-849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الجوالات سواء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الواي فاي  ·  ١١٧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اسم شبكة، وكلمة مرور، وعنوان: ESP32 الآن جار للجوال في الحي نفسه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الواي فاي  ·  ١٢٠</a:t>
            </a:r>
            <a:endParaRPr lang="ar-SA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٩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٩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خادم الويب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ESP32 يصنع موقعًا صغيرًا… والجوال يتصفحه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خادم الويب  ·  ١٢١</a:t>
            </a:r>
            <a:endParaRPr lang="ar-SA" sz="1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850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851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852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853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تشرح العميل والخادم والطلب والرد</a:t>
            </a:r>
            <a:endParaRPr lang="ar-SA" sz="2400" dirty="0"/>
          </a:p>
        </p:txBody>
      </p:sp>
      <p:sp>
        <p:nvSpPr>
          <p:cNvPr id="9" name="anim-g2-854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855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856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857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تقرأ رابطًا (URL) وتعرف معنى كل جزء</a:t>
            </a:r>
            <a:endParaRPr lang="ar-SA" sz="2400" dirty="0"/>
          </a:p>
        </p:txBody>
      </p:sp>
      <p:sp>
        <p:nvSpPr>
          <p:cNvPr id="13" name="anim-g3-858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859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860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861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تربط كل مسار بدالة بـ server.on</a:t>
            </a:r>
            <a:endParaRPr lang="ar-SA" sz="2400" dirty="0"/>
          </a:p>
        </p:txBody>
      </p:sp>
      <p:sp>
        <p:nvSpPr>
          <p:cNvPr id="17" name="anim-g4-862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863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864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865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تكتب صفحة HTML عربية بأزرار تتحكم في ليد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خادم الويب  ·  ١٢٢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26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866" descr="C:\Users\user\projects\younes-training\esp32-2\.pptx-cache\s126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867" descr="C:\Users\user\projects\younes-training\esp32-2\.pptx-cache\s126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868" descr="C:\Users\user\projects\younes-training\esp32-2\.pptx-cache\s126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869" descr="C:\Users\user\projects\younes-training\esp32-2\.pptx-cache\s126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870" descr="C:\Users\user\projects\younes-training\esp32-2\.pptx-cache\s126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871" descr="C:\Users\user\projects\younes-training\esp32-2\.pptx-cache\s126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anim-g7-872" descr="C:\Users\user\projects\younes-training\esp32-2\.pptx-cache\s126-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0" name="anim-g8-873" descr="C:\Users\user\projects\younes-training\esp32-2\.pptx-cache\s126-8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27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874" descr="C:\Users\user\projects\younes-training\esp32-2\.pptx-cache\s127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875" descr="C:\Users\user\projects\younes-training\esp32-2\.pptx-cache\s127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876" descr="C:\Users\user\projects\younes-training\esp32-2\.pptx-cache\s127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877" descr="C:\Users\user\projects\younes-training\esp32-2\.pptx-cache\s127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878" descr="C:\Users\user\projects\younes-training\esp32-2\.pptx-cache\s127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879" descr="C:\Users\user\projects\younes-training\esp32-2\.pptx-cache\s127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5263" y="457200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735263" y="4572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🚀 جرّبه الآن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خمس خطوات من الرفع إلى الجوال</a:t>
            </a:r>
            <a:endParaRPr lang="ar-SA" sz="3800" dirty="0"/>
          </a:p>
        </p:txBody>
      </p:sp>
      <p:sp>
        <p:nvSpPr>
          <p:cNvPr id="5" name="anim-g1-880"/>
          <p:cNvSpPr/>
          <p:nvPr/>
        </p:nvSpPr>
        <p:spPr>
          <a:xfrm>
            <a:off x="822960" y="1920240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881"/>
          <p:cNvSpPr/>
          <p:nvPr/>
        </p:nvSpPr>
        <p:spPr>
          <a:xfrm>
            <a:off x="10587838" y="2011680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882"/>
          <p:cNvSpPr/>
          <p:nvPr/>
        </p:nvSpPr>
        <p:spPr>
          <a:xfrm>
            <a:off x="10587838" y="2011680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883"/>
          <p:cNvSpPr/>
          <p:nvPr/>
        </p:nvSpPr>
        <p:spPr>
          <a:xfrm>
            <a:off x="1097280" y="1920240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غيّر ssid وpass إلى شبكتك (2.4GHz)</a:t>
            </a:r>
            <a:endParaRPr lang="ar-SA" sz="2200" dirty="0"/>
          </a:p>
        </p:txBody>
      </p:sp>
      <p:sp>
        <p:nvSpPr>
          <p:cNvPr id="9" name="anim-g2-884"/>
          <p:cNvSpPr/>
          <p:nvPr/>
        </p:nvSpPr>
        <p:spPr>
          <a:xfrm>
            <a:off x="822960" y="2765146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885"/>
          <p:cNvSpPr/>
          <p:nvPr/>
        </p:nvSpPr>
        <p:spPr>
          <a:xfrm>
            <a:off x="10587838" y="2856586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886"/>
          <p:cNvSpPr/>
          <p:nvPr/>
        </p:nvSpPr>
        <p:spPr>
          <a:xfrm>
            <a:off x="10587838" y="2856586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887"/>
          <p:cNvSpPr/>
          <p:nvPr/>
        </p:nvSpPr>
        <p:spPr>
          <a:xfrm>
            <a:off x="1097280" y="2765146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ارفع وافتح الشاشة التسلسلية على 115200</a:t>
            </a:r>
            <a:endParaRPr lang="ar-SA" sz="2200" dirty="0"/>
          </a:p>
        </p:txBody>
      </p:sp>
      <p:sp>
        <p:nvSpPr>
          <p:cNvPr id="13" name="anim-g3-888"/>
          <p:cNvSpPr/>
          <p:nvPr/>
        </p:nvSpPr>
        <p:spPr>
          <a:xfrm>
            <a:off x="822960" y="3610051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889"/>
          <p:cNvSpPr/>
          <p:nvPr/>
        </p:nvSpPr>
        <p:spPr>
          <a:xfrm>
            <a:off x="10587838" y="3701491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890"/>
          <p:cNvSpPr/>
          <p:nvPr/>
        </p:nvSpPr>
        <p:spPr>
          <a:xfrm>
            <a:off x="10587838" y="3701491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891"/>
          <p:cNvSpPr/>
          <p:nvPr/>
        </p:nvSpPr>
        <p:spPr>
          <a:xfrm>
            <a:off x="1097280" y="3610051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انسخ العنوان الذي يظهر: مثل 192.168.1.50</a:t>
            </a:r>
            <a:endParaRPr lang="ar-SA" sz="2200" dirty="0"/>
          </a:p>
        </p:txBody>
      </p:sp>
      <p:sp>
        <p:nvSpPr>
          <p:cNvPr id="17" name="anim-g4-892"/>
          <p:cNvSpPr/>
          <p:nvPr/>
        </p:nvSpPr>
        <p:spPr>
          <a:xfrm>
            <a:off x="822960" y="4454957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893"/>
          <p:cNvSpPr/>
          <p:nvPr/>
        </p:nvSpPr>
        <p:spPr>
          <a:xfrm>
            <a:off x="10587838" y="4546397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894"/>
          <p:cNvSpPr/>
          <p:nvPr/>
        </p:nvSpPr>
        <p:spPr>
          <a:xfrm>
            <a:off x="10587838" y="4546397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895"/>
          <p:cNvSpPr/>
          <p:nvPr/>
        </p:nvSpPr>
        <p:spPr>
          <a:xfrm>
            <a:off x="1097280" y="4454957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الجوال على الشبكة نفسها ← المتصفح ← اكتب العنوان</a:t>
            </a:r>
            <a:endParaRPr lang="ar-SA" sz="2200" dirty="0"/>
          </a:p>
        </p:txBody>
      </p:sp>
      <p:sp>
        <p:nvSpPr>
          <p:cNvPr id="21" name="anim-g5-896"/>
          <p:cNvSpPr/>
          <p:nvPr/>
        </p:nvSpPr>
        <p:spPr>
          <a:xfrm>
            <a:off x="822960" y="5299862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2" name="anim-g5-897"/>
          <p:cNvSpPr/>
          <p:nvPr/>
        </p:nvSpPr>
        <p:spPr>
          <a:xfrm>
            <a:off x="10587838" y="5391302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23" name="anim-g5-898"/>
          <p:cNvSpPr/>
          <p:nvPr/>
        </p:nvSpPr>
        <p:spPr>
          <a:xfrm>
            <a:off x="10587838" y="5391302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</a:t>
            </a:r>
            <a:endParaRPr lang="ar-SA" sz="2000" dirty="0"/>
          </a:p>
        </p:txBody>
      </p:sp>
      <p:sp>
        <p:nvSpPr>
          <p:cNvPr id="24" name="anim-g5-899"/>
          <p:cNvSpPr/>
          <p:nvPr/>
        </p:nvSpPr>
        <p:spPr>
          <a:xfrm>
            <a:off x="1097280" y="5299862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اضغط «أشعل»… 🎉 وصوّر وجوه الطلاب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لا يعمل؟ راجع جدول التشخيص في المحور الثامن</a:t>
            </a:r>
            <a:endParaRPr lang="ar-SA" sz="22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خادم الويب  ·  ١٢٨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29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900" descr="C:\Users\user\projects\younes-training\esp32-2\.pptx-cache\s129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901" descr="C:\Users\user\projects\younes-training\esp32-2\.pptx-cache\s129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902" descr="C:\Users\user\projects\younes-training\esp32-2\.pptx-cache\s129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903" descr="C:\Users\user\projects\younes-training\esp32-2\.pptx-cache\s129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39135" y="45720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3139135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 · كتبت 192.168.1.50/ON فظهر «Not found»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لماذا لم يجد الصفحة؟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العنوان خطأ</a:t>
            </a:r>
            <a:endParaRPr lang="ar-SA" sz="2200" dirty="0"/>
          </a:p>
        </p:txBody>
      </p:sp>
      <p:sp>
        <p:nvSpPr>
          <p:cNvPr id="9" name="anim-g1-904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905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906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907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العنوان خطأ</a:t>
            </a:r>
            <a:endParaRPr lang="ar-SA" sz="2200" dirty="0"/>
          </a:p>
        </p:txBody>
      </p:sp>
      <p:sp>
        <p:nvSpPr>
          <p:cNvPr id="13" name="anim-g1-908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العنوان صحيح، فقد رد الخادم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الواي فاي ضعيف</a:t>
            </a:r>
            <a:endParaRPr lang="ar-SA" sz="2200" dirty="0"/>
          </a:p>
        </p:txBody>
      </p:sp>
      <p:sp>
        <p:nvSpPr>
          <p:cNvPr id="18" name="anim-g1-909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910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911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912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الواي فاي ضعيف</a:t>
            </a:r>
            <a:endParaRPr lang="ar-SA" sz="2200" dirty="0"/>
          </a:p>
        </p:txBody>
      </p:sp>
      <p:sp>
        <p:nvSpPr>
          <p:cNvPr id="22" name="anim-g1-913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رد الخادم يعني أن الاتصال يعمل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المسار المسجل /on بحروف صغيرة</a:t>
            </a:r>
            <a:endParaRPr lang="ar-SA" sz="2200" dirty="0"/>
          </a:p>
        </p:txBody>
      </p:sp>
      <p:sp>
        <p:nvSpPr>
          <p:cNvPr id="27" name="anim-g1-914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28" name="anim-g1-915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9" name="anim-g1-916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30" name="anim-g1-917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المسار المسجل /on بحروف صغيرة</a:t>
            </a:r>
            <a:endParaRPr lang="ar-SA" sz="2200" dirty="0"/>
          </a:p>
        </p:txBody>
      </p:sp>
      <p:sp>
        <p:nvSpPr>
          <p:cNvPr id="31" name="anim-g1-918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/ON و/on مساران مختلفان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يجب كتابة المنفذ 80</a:t>
            </a:r>
            <a:endParaRPr lang="ar-SA" sz="2200" dirty="0"/>
          </a:p>
        </p:txBody>
      </p:sp>
      <p:sp>
        <p:nvSpPr>
          <p:cNvPr id="36" name="anim-g1-919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920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921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922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يجب كتابة المنفذ 80</a:t>
            </a:r>
            <a:endParaRPr lang="ar-SA" sz="2200" dirty="0"/>
          </a:p>
        </p:txBody>
      </p:sp>
      <p:sp>
        <p:nvSpPr>
          <p:cNvPr id="40" name="anim-g1-923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المنفذ ٨٠ افتراضي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خادم الويب  ·  ١٣٠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طلب ← دالة ← رد: ثلاث كلمات تشرح كل مواقع الإنترنت…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وليد فصلك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خادم الويب  ·  ١٣٣</a:t>
            </a:r>
            <a:endParaRPr lang="ar-SA" sz="12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١٠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١٠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لوحة تحكم إنترنت الأشياء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حساسات تظهر حيّة على الجوال… ومنزلق يحرك سيرفو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التحكم IoT  ·  ١٣٤</a:t>
            </a:r>
            <a:endParaRPr lang="ar-SA" sz="1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924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925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926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927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تشرح لماذا نفصل الصفحة عن البيانات</a:t>
            </a:r>
            <a:endParaRPr lang="ar-SA" sz="2400" dirty="0"/>
          </a:p>
        </p:txBody>
      </p:sp>
      <p:sp>
        <p:nvSpPr>
          <p:cNvPr id="9" name="anim-g2-928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929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930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931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ترسل القراءات بصيغة JSON</a:t>
            </a:r>
            <a:endParaRPr lang="ar-SA" sz="2400" dirty="0"/>
          </a:p>
        </p:txBody>
      </p:sp>
      <p:sp>
        <p:nvSpPr>
          <p:cNvPr id="13" name="anim-g3-932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933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934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935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تجعل الصفحة تسأل كل ثانيتين بـ fetch</a:t>
            </a:r>
            <a:endParaRPr lang="ar-SA" sz="2400" dirty="0"/>
          </a:p>
        </p:txBody>
      </p:sp>
      <p:sp>
        <p:nvSpPr>
          <p:cNvPr id="17" name="anim-g4-936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937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938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939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تقرأ قيمة من الرابط بـ server.arg لتحريك سيرفو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التحكم IoT  ·  ١٣٥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13087" y="457200"/>
            <a:ext cx="175564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613087" y="4572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المشكلة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لماذا لا تتحدث الأرقام وحدها؟</a:t>
            </a:r>
            <a:endParaRPr lang="ar-SA" sz="3800" dirty="0"/>
          </a:p>
        </p:txBody>
      </p:sp>
      <p:sp>
        <p:nvSpPr>
          <p:cNvPr id="5" name="anim-g1-940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941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942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🙋</a:t>
            </a:r>
            <a:endParaRPr lang="ar-SA" sz="2200" dirty="0"/>
          </a:p>
        </p:txBody>
      </p:sp>
      <p:sp>
        <p:nvSpPr>
          <p:cNvPr id="8" name="anim-g1-943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الخادم لا يبادر</a:t>
            </a:r>
            <a:endParaRPr lang="ar-SA" sz="2200" dirty="0"/>
          </a:p>
        </p:txBody>
      </p:sp>
      <p:sp>
        <p:nvSpPr>
          <p:cNvPr id="9" name="anim-g1-944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تذكّر: العميل هو من يسأل دائمًا</a:t>
            </a:r>
            <a:endParaRPr lang="ar-SA" sz="1900" dirty="0"/>
          </a:p>
        </p:txBody>
      </p:sp>
      <p:sp>
        <p:nvSpPr>
          <p:cNvPr id="10" name="anim-g2-945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946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947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🔄</a:t>
            </a:r>
            <a:endParaRPr lang="ar-SA" sz="2200" dirty="0"/>
          </a:p>
        </p:txBody>
      </p:sp>
      <p:sp>
        <p:nvSpPr>
          <p:cNvPr id="13" name="anim-g2-948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إعادة التحميل؟</a:t>
            </a:r>
            <a:endParaRPr lang="ar-SA" sz="2200" dirty="0"/>
          </a:p>
        </p:txBody>
      </p:sp>
      <p:sp>
        <p:nvSpPr>
          <p:cNvPr id="14" name="anim-g2-949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تعيد الصفحة كلها كل مرة: بطيء ويومض</a:t>
            </a:r>
            <a:endParaRPr lang="ar-SA" sz="1900" dirty="0"/>
          </a:p>
        </p:txBody>
      </p:sp>
      <p:sp>
        <p:nvSpPr>
          <p:cNvPr id="15" name="anim-g3-950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951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952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💡</a:t>
            </a:r>
            <a:endParaRPr lang="ar-SA" sz="2200" dirty="0"/>
          </a:p>
        </p:txBody>
      </p:sp>
      <p:sp>
        <p:nvSpPr>
          <p:cNvPr id="18" name="anim-g3-953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الحل</a:t>
            </a:r>
            <a:endParaRPr lang="ar-SA" sz="2200" dirty="0"/>
          </a:p>
        </p:txBody>
      </p:sp>
      <p:sp>
        <p:nvSpPr>
          <p:cNvPr id="19" name="anim-g3-954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الصفحة مرة واحدة… ثم «سؤال صغير» كل ثانيتين عن الأرقام فقط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التحكم IoT  ·  ١٣٦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39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955" descr="C:\Users\user\projects\younes-training\esp32-2\.pptx-cache\s139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956" descr="C:\Users\user\projects\younes-training\esp32-2\.pptx-cache\s139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957" descr="C:\Users\user\projects\younes-training\esp32-2\.pptx-cache\s139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958" descr="C:\Users\user\projects\younes-training\esp32-2\.pptx-cache\s139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959" descr="C:\Users\user\projects\younes-training\esp32-2\.pptx-cache\s139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960" descr="C:\Users\user\projects\younes-training\esp32-2\.pptx-cache\s139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40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961" descr="C:\Users\user\projects\younes-training\esp32-2\.pptx-cache\s140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962" descr="C:\Users\user\projects\younes-training\esp32-2\.pptx-cache\s140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963" descr="C:\Users\user\projects\younes-training\esp32-2\.pptx-cache\s140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964" descr="C:\Users\user\projects\younes-training\esp32-2\.pptx-cache\s140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965" descr="C:\Users\user\projects\younes-training\esp32-2\.pptx-cache\s140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59391" y="457200"/>
            <a:ext cx="160934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759391" y="4572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الأمان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أي أحد على الشبكة يستطيع التحكم! فماذا نفعل؟</a:t>
            </a:r>
            <a:endParaRPr lang="ar-SA" sz="3200" dirty="0"/>
          </a:p>
        </p:txBody>
      </p:sp>
      <p:sp>
        <p:nvSpPr>
          <p:cNvPr id="5" name="anim-g1-966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967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968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🛡️</a:t>
            </a:r>
            <a:endParaRPr lang="ar-SA" sz="2200" dirty="0"/>
          </a:p>
        </p:txBody>
      </p:sp>
      <p:sp>
        <p:nvSpPr>
          <p:cNvPr id="8" name="anim-g1-969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constrain</a:t>
            </a:r>
            <a:endParaRPr lang="ar-SA" sz="2200" dirty="0"/>
          </a:p>
        </p:txBody>
      </p:sp>
      <p:sp>
        <p:nvSpPr>
          <p:cNvPr id="9" name="anim-g1-970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تثق بالأرقام القادمة: قصّها إلى الحدود الآمنة</a:t>
            </a:r>
            <a:endParaRPr lang="ar-SA" sz="1900" dirty="0"/>
          </a:p>
        </p:txBody>
      </p:sp>
      <p:sp>
        <p:nvSpPr>
          <p:cNvPr id="10" name="anim-g2-971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972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973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🔐</a:t>
            </a:r>
            <a:endParaRPr lang="ar-SA" sz="2200" dirty="0"/>
          </a:p>
        </p:txBody>
      </p:sp>
      <p:sp>
        <p:nvSpPr>
          <p:cNvPr id="13" name="anim-g2-974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شبكة خاصة</a:t>
            </a:r>
            <a:endParaRPr lang="ar-SA" sz="2200" dirty="0"/>
          </a:p>
        </p:txBody>
      </p:sp>
      <p:sp>
        <p:nvSpPr>
          <p:cNvPr id="14" name="anim-g2-975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راوتر المعمل بكلمة مرور، أو وضع AP بكلمة مرور</a:t>
            </a:r>
            <a:endParaRPr lang="ar-SA" sz="1900" dirty="0"/>
          </a:p>
        </p:txBody>
      </p:sp>
      <p:sp>
        <p:nvSpPr>
          <p:cNvPr id="15" name="anim-g3-976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977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978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🧑‍🏫</a:t>
            </a:r>
            <a:endParaRPr lang="ar-SA" sz="2200" dirty="0"/>
          </a:p>
        </p:txBody>
      </p:sp>
      <p:sp>
        <p:nvSpPr>
          <p:cNvPr id="18" name="anim-g3-979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نقاش أخلاقي</a:t>
            </a:r>
            <a:endParaRPr lang="ar-SA" sz="2200" dirty="0"/>
          </a:p>
        </p:txBody>
      </p:sp>
      <p:sp>
        <p:nvSpPr>
          <p:cNvPr id="19" name="anim-g3-980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 تحكّم زميل بمشروعك دون إذن: هل هذا مقبول؟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التحكم IoT  ·  ١٤١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42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981" descr="C:\Users\user\projects\younes-training\esp32-2\.pptx-cache\s142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982" descr="C:\Users\user\projects\younes-training\esp32-2\.pptx-cache\s142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983" descr="C:\Users\user\projects\younes-training\esp32-2\.pptx-cache\s142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984" descr="C:\Users\user\projects\younes-training\esp32-2\.pptx-cache\s142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لماذا نرسل JSON كل ثانيتين بدل إعادة تحميل الصفحة؟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 ESP32 لا يستطيع إرسال HTML</a:t>
            </a:r>
            <a:endParaRPr lang="ar-SA" sz="2200" dirty="0"/>
          </a:p>
        </p:txBody>
      </p:sp>
      <p:sp>
        <p:nvSpPr>
          <p:cNvPr id="9" name="anim-g1-985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986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987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988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 ESP32 لا يستطيع إرسال HTML</a:t>
            </a:r>
            <a:endParaRPr lang="ar-SA" sz="2200" dirty="0"/>
          </a:p>
        </p:txBody>
      </p:sp>
      <p:sp>
        <p:nvSpPr>
          <p:cNvPr id="13" name="anim-g1-989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أرسل HTML في المحور السابق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 JSON أجمل</a:t>
            </a:r>
            <a:endParaRPr lang="ar-SA" sz="2200" dirty="0"/>
          </a:p>
        </p:txBody>
      </p:sp>
      <p:sp>
        <p:nvSpPr>
          <p:cNvPr id="18" name="anim-g1-990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991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992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993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 JSON أجمل</a:t>
            </a:r>
            <a:endParaRPr lang="ar-SA" sz="2200" dirty="0"/>
          </a:p>
        </p:txBody>
      </p:sp>
      <p:sp>
        <p:nvSpPr>
          <p:cNvPr id="22" name="anim-g1-994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الجمال ليس السبب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 الجوال يمنع إعادة التحميل</a:t>
            </a:r>
            <a:endParaRPr lang="ar-SA" sz="2200" dirty="0"/>
          </a:p>
        </p:txBody>
      </p:sp>
      <p:sp>
        <p:nvSpPr>
          <p:cNvPr id="27" name="anim-g1-995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996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997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998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 الجوال يمنع إعادة التحميل</a:t>
            </a:r>
            <a:endParaRPr lang="ar-SA" sz="2200" dirty="0"/>
          </a:p>
        </p:txBody>
      </p:sp>
      <p:sp>
        <p:nvSpPr>
          <p:cNvPr id="31" name="anim-g1-999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يمنع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لأنه أصغر بكثير ولا تومض الصفحة</a:t>
            </a:r>
            <a:endParaRPr lang="ar-SA" sz="2200" dirty="0"/>
          </a:p>
        </p:txBody>
      </p:sp>
      <p:sp>
        <p:nvSpPr>
          <p:cNvPr id="36" name="anim-g1-100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37" name="anim-g1-100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38" name="anim-g1-100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39" name="anim-g1-1003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لأنه أصغر بكثير ولا تومض الصفحة</a:t>
            </a:r>
            <a:endParaRPr lang="ar-SA" sz="2200" dirty="0"/>
          </a:p>
        </p:txBody>
      </p:sp>
      <p:sp>
        <p:nvSpPr>
          <p:cNvPr id="40" name="anim-g1-1004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٢٧ حرفًا بدل ١٥٠٠، والصفحة ثابتة والأرقام فقط تتغير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التحكم IoT  ·  ١٤٣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الصفحة مرة…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والبيانات كل ثانيتين… والأوامر في الرابط: هذا هو إنترنت الأشياء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التحكم IoT  ·  ١٤٦</a:t>
            </a:r>
            <a:endParaRPr lang="ar-SA" sz="12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١١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١١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ESP-NOW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تكلّم لوحة… بلا راوتر ولا إنترنت ولا كلمة مرور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ESP-NOW  ·  ١٤٧</a:t>
            </a:r>
            <a:endParaRPr lang="ar-SA" sz="12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1005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006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007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008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تقارن ESP-NOW بالواي فاي وتختار المناسب</a:t>
            </a:r>
            <a:endParaRPr lang="ar-SA" sz="2400" dirty="0"/>
          </a:p>
        </p:txBody>
      </p:sp>
      <p:sp>
        <p:nvSpPr>
          <p:cNvPr id="9" name="anim-g2-1009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010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011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012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تعرف عنوان MAC لكل لوحة</a:t>
            </a:r>
            <a:endParaRPr lang="ar-SA" sz="2400" dirty="0"/>
          </a:p>
        </p:txBody>
      </p:sp>
      <p:sp>
        <p:nvSpPr>
          <p:cNvPr id="13" name="anim-g3-1013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014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015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016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ترسل رسالة منظمة (struct) بالبث أو إلى لوحة محددة</a:t>
            </a:r>
            <a:endParaRPr lang="ar-SA" sz="2400" dirty="0"/>
          </a:p>
        </p:txBody>
      </p:sp>
      <p:sp>
        <p:nvSpPr>
          <p:cNvPr id="17" name="anim-g4-1017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018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019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020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تستقبل بدالة استدعاء وتبني جرسًا لاسلكيًا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ESP-NOW  ·  ١٤٨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53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021" descr="C:\Users\user\projects\younes-training\esp32-2\.pptx-cache\s153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022" descr="C:\Users\user\projects\younes-training\esp32-2\.pptx-cache\s153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023" descr="C:\Users\user\projects\younes-training\esp32-2\.pptx-cache\s153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024" descr="C:\Users\user\projects\younes-training\esp32-2\.pptx-cache\s153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025" descr="C:\Users\user\projects\younes-training\esp32-2\.pptx-cache\s153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1026" descr="C:\Users\user\projects\younes-training\esp32-2\.pptx-cache\s153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anim-g7-1027" descr="C:\Users\user\projects\younes-training\esp32-2\.pptx-cache\s153-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54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028" descr="C:\Users\user\projects\younes-training\esp32-2\.pptx-cache\s154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029" descr="C:\Users\user\projects\younes-training\esp32-2\.pptx-cache\s154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030" descr="C:\Users\user\projects\younes-training\esp32-2\.pptx-cache\s154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031" descr="C:\Users\user\projects\younes-training\esp32-2\.pptx-cache\s154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032" descr="C:\Users\user\projects\younes-training\esp32-2\.pptx-cache\s154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1033" descr="C:\Users\user\projects\younes-training\esp32-2\.pptx-cache\s154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anim-g7-1034" descr="C:\Users\user\projects\younes-training\esp32-2\.pptx-cache\s154-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11135" y="45720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711135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اختر الأداة المناسبة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الواي فاي أم ESP-NOW أم البلوتوث؟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9217874" y="1874520"/>
            <a:ext cx="2150861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9217874" y="1874520"/>
            <a:ext cx="21508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6419569" y="1874520"/>
            <a:ext cx="2688577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6419569" y="1874520"/>
            <a:ext cx="26885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الواي فاي + ويب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3621265" y="1874520"/>
            <a:ext cx="2688577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3621265" y="1874520"/>
            <a:ext cx="26885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ESP-NOW</a:t>
            </a:r>
            <a:endParaRPr lang="ar-SA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1874520"/>
            <a:ext cx="2688577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74520"/>
            <a:ext cx="26885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البلوتوث</a:t>
            </a:r>
            <a:endParaRPr lang="ar-SA" sz="1900" dirty="0"/>
          </a:p>
        </p:txBody>
      </p:sp>
      <p:sp>
        <p:nvSpPr>
          <p:cNvPr id="13" name="anim-g1-1035"/>
          <p:cNvSpPr/>
          <p:nvPr/>
        </p:nvSpPr>
        <p:spPr>
          <a:xfrm>
            <a:off x="9217874" y="2514600"/>
            <a:ext cx="2150861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4" name="anim-g1-1036"/>
          <p:cNvSpPr/>
          <p:nvPr/>
        </p:nvSpPr>
        <p:spPr>
          <a:xfrm>
            <a:off x="9355034" y="2514600"/>
            <a:ext cx="187654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📱 الجوال</a:t>
            </a:r>
            <a:endParaRPr lang="ar-SA" sz="2100" dirty="0"/>
          </a:p>
        </p:txBody>
      </p:sp>
      <p:sp>
        <p:nvSpPr>
          <p:cNvPr id="15" name="anim-g1-1037"/>
          <p:cNvSpPr/>
          <p:nvPr/>
        </p:nvSpPr>
        <p:spPr>
          <a:xfrm>
            <a:off x="6419569" y="2514600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6" name="anim-g1-1038"/>
          <p:cNvSpPr/>
          <p:nvPr/>
        </p:nvSpPr>
        <p:spPr>
          <a:xfrm>
            <a:off x="6556729" y="2514600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أي متصفح</a:t>
            </a:r>
            <a:endParaRPr lang="ar-SA" sz="2100" dirty="0"/>
          </a:p>
        </p:txBody>
      </p:sp>
      <p:sp>
        <p:nvSpPr>
          <p:cNvPr id="17" name="anim-g1-1039"/>
          <p:cNvSpPr/>
          <p:nvPr/>
        </p:nvSpPr>
        <p:spPr>
          <a:xfrm>
            <a:off x="3621265" y="2514600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1-1040"/>
          <p:cNvSpPr/>
          <p:nvPr/>
        </p:nvSpPr>
        <p:spPr>
          <a:xfrm>
            <a:off x="3758425" y="2514600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ar-SA" sz="2100" dirty="0"/>
          </a:p>
        </p:txBody>
      </p:sp>
      <p:sp>
        <p:nvSpPr>
          <p:cNvPr id="19" name="anim-g1-1041"/>
          <p:cNvSpPr/>
          <p:nvPr/>
        </p:nvSpPr>
        <p:spPr>
          <a:xfrm>
            <a:off x="822960" y="2514600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0" name="anim-g1-1042"/>
          <p:cNvSpPr/>
          <p:nvPr/>
        </p:nvSpPr>
        <p:spPr>
          <a:xfrm>
            <a:off x="960120" y="2514600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بتطبيق</a:t>
            </a:r>
            <a:endParaRPr lang="ar-SA" sz="2100" dirty="0"/>
          </a:p>
        </p:txBody>
      </p:sp>
      <p:sp>
        <p:nvSpPr>
          <p:cNvPr id="21" name="anim-g2-1043"/>
          <p:cNvSpPr/>
          <p:nvPr/>
        </p:nvSpPr>
        <p:spPr>
          <a:xfrm>
            <a:off x="9217874" y="3240634"/>
            <a:ext cx="2150861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2" name="anim-g2-1044"/>
          <p:cNvSpPr/>
          <p:nvPr/>
        </p:nvSpPr>
        <p:spPr>
          <a:xfrm>
            <a:off x="9355034" y="3240634"/>
            <a:ext cx="187654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🛜 يحتاج راوتر</a:t>
            </a:r>
            <a:endParaRPr lang="ar-SA" sz="2100" dirty="0"/>
          </a:p>
        </p:txBody>
      </p:sp>
      <p:sp>
        <p:nvSpPr>
          <p:cNvPr id="23" name="anim-g2-1045"/>
          <p:cNvSpPr/>
          <p:nvPr/>
        </p:nvSpPr>
        <p:spPr>
          <a:xfrm>
            <a:off x="6419569" y="3240634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4" name="anim-g2-1046"/>
          <p:cNvSpPr/>
          <p:nvPr/>
        </p:nvSpPr>
        <p:spPr>
          <a:xfrm>
            <a:off x="6556729" y="3240634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نعم (أو AP)</a:t>
            </a:r>
            <a:endParaRPr lang="ar-SA" sz="2100" dirty="0"/>
          </a:p>
        </p:txBody>
      </p:sp>
      <p:sp>
        <p:nvSpPr>
          <p:cNvPr id="25" name="anim-g2-1047"/>
          <p:cNvSpPr/>
          <p:nvPr/>
        </p:nvSpPr>
        <p:spPr>
          <a:xfrm>
            <a:off x="3621265" y="3240634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2-1048"/>
          <p:cNvSpPr/>
          <p:nvPr/>
        </p:nvSpPr>
        <p:spPr>
          <a:xfrm>
            <a:off x="3758425" y="3240634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</a:t>
            </a:r>
            <a:endParaRPr lang="ar-SA" sz="2100" dirty="0"/>
          </a:p>
        </p:txBody>
      </p:sp>
      <p:sp>
        <p:nvSpPr>
          <p:cNvPr id="27" name="anim-g2-1049"/>
          <p:cNvSpPr/>
          <p:nvPr/>
        </p:nvSpPr>
        <p:spPr>
          <a:xfrm>
            <a:off x="822960" y="3240634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2-1050"/>
          <p:cNvSpPr/>
          <p:nvPr/>
        </p:nvSpPr>
        <p:spPr>
          <a:xfrm>
            <a:off x="960120" y="3240634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</a:t>
            </a:r>
            <a:endParaRPr lang="ar-SA" sz="2100" dirty="0"/>
          </a:p>
        </p:txBody>
      </p:sp>
      <p:sp>
        <p:nvSpPr>
          <p:cNvPr id="29" name="anim-g3-1051"/>
          <p:cNvSpPr/>
          <p:nvPr/>
        </p:nvSpPr>
        <p:spPr>
          <a:xfrm>
            <a:off x="9217874" y="3966667"/>
            <a:ext cx="2150861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3-1052"/>
          <p:cNvSpPr/>
          <p:nvPr/>
        </p:nvSpPr>
        <p:spPr>
          <a:xfrm>
            <a:off x="9355034" y="3966667"/>
            <a:ext cx="187654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⚡ السرعة</a:t>
            </a:r>
            <a:endParaRPr lang="ar-SA" sz="2100" dirty="0"/>
          </a:p>
        </p:txBody>
      </p:sp>
      <p:sp>
        <p:nvSpPr>
          <p:cNvPr id="31" name="anim-g3-1053"/>
          <p:cNvSpPr/>
          <p:nvPr/>
        </p:nvSpPr>
        <p:spPr>
          <a:xfrm>
            <a:off x="6419569" y="3966667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3-1054"/>
          <p:cNvSpPr/>
          <p:nvPr/>
        </p:nvSpPr>
        <p:spPr>
          <a:xfrm>
            <a:off x="6556729" y="3966667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٥٠–٣٠٠ مللي ثانية</a:t>
            </a:r>
            <a:endParaRPr lang="ar-SA" sz="2100" dirty="0"/>
          </a:p>
        </p:txBody>
      </p:sp>
      <p:sp>
        <p:nvSpPr>
          <p:cNvPr id="33" name="anim-g3-1055"/>
          <p:cNvSpPr/>
          <p:nvPr/>
        </p:nvSpPr>
        <p:spPr>
          <a:xfrm>
            <a:off x="3621265" y="3966667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4" name="anim-g3-1056"/>
          <p:cNvSpPr/>
          <p:nvPr/>
        </p:nvSpPr>
        <p:spPr>
          <a:xfrm>
            <a:off x="3758425" y="3966667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نحو ٢ مللي ثانية</a:t>
            </a:r>
            <a:endParaRPr lang="ar-SA" sz="2100" dirty="0"/>
          </a:p>
        </p:txBody>
      </p:sp>
      <p:sp>
        <p:nvSpPr>
          <p:cNvPr id="35" name="anim-g3-1057"/>
          <p:cNvSpPr/>
          <p:nvPr/>
        </p:nvSpPr>
        <p:spPr>
          <a:xfrm>
            <a:off x="822960" y="3966667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6" name="anim-g3-1058"/>
          <p:cNvSpPr/>
          <p:nvPr/>
        </p:nvSpPr>
        <p:spPr>
          <a:xfrm>
            <a:off x="960120" y="3966667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١٠–٥٠ مللي ثانية</a:t>
            </a:r>
            <a:endParaRPr lang="ar-SA" sz="2100" dirty="0"/>
          </a:p>
        </p:txBody>
      </p:sp>
      <p:sp>
        <p:nvSpPr>
          <p:cNvPr id="37" name="anim-g4-1059"/>
          <p:cNvSpPr/>
          <p:nvPr/>
        </p:nvSpPr>
        <p:spPr>
          <a:xfrm>
            <a:off x="9217874" y="4692701"/>
            <a:ext cx="2150861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8" name="anim-g4-1060"/>
          <p:cNvSpPr/>
          <p:nvPr/>
        </p:nvSpPr>
        <p:spPr>
          <a:xfrm>
            <a:off x="9355034" y="4692701"/>
            <a:ext cx="187654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📏 المدى</a:t>
            </a:r>
            <a:endParaRPr lang="ar-SA" sz="2100" dirty="0"/>
          </a:p>
        </p:txBody>
      </p:sp>
      <p:sp>
        <p:nvSpPr>
          <p:cNvPr id="39" name="anim-g4-1061"/>
          <p:cNvSpPr/>
          <p:nvPr/>
        </p:nvSpPr>
        <p:spPr>
          <a:xfrm>
            <a:off x="6419569" y="4692701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0" name="anim-g4-1062"/>
          <p:cNvSpPr/>
          <p:nvPr/>
        </p:nvSpPr>
        <p:spPr>
          <a:xfrm>
            <a:off x="6556729" y="4692701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مدى الراوتر</a:t>
            </a:r>
            <a:endParaRPr lang="ar-SA" sz="2100" dirty="0"/>
          </a:p>
        </p:txBody>
      </p:sp>
      <p:sp>
        <p:nvSpPr>
          <p:cNvPr id="41" name="anim-g4-1063"/>
          <p:cNvSpPr/>
          <p:nvPr/>
        </p:nvSpPr>
        <p:spPr>
          <a:xfrm>
            <a:off x="3621265" y="4692701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2" name="anim-g4-1064"/>
          <p:cNvSpPr/>
          <p:nvPr/>
        </p:nvSpPr>
        <p:spPr>
          <a:xfrm>
            <a:off x="3758425" y="4692701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حتى ٢٠٠ متر</a:t>
            </a:r>
            <a:endParaRPr lang="ar-SA" sz="2100" dirty="0"/>
          </a:p>
        </p:txBody>
      </p:sp>
      <p:sp>
        <p:nvSpPr>
          <p:cNvPr id="43" name="anim-g4-1065"/>
          <p:cNvSpPr/>
          <p:nvPr/>
        </p:nvSpPr>
        <p:spPr>
          <a:xfrm>
            <a:off x="822960" y="4692701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4" name="anim-g4-1066"/>
          <p:cNvSpPr/>
          <p:nvPr/>
        </p:nvSpPr>
        <p:spPr>
          <a:xfrm>
            <a:off x="960120" y="4692701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١٠–٣٠ مترًا</a:t>
            </a:r>
            <a:endParaRPr lang="ar-SA" sz="2100" dirty="0"/>
          </a:p>
        </p:txBody>
      </p:sp>
      <p:sp>
        <p:nvSpPr>
          <p:cNvPr id="45" name="anim-g5-1067"/>
          <p:cNvSpPr/>
          <p:nvPr/>
        </p:nvSpPr>
        <p:spPr>
          <a:xfrm>
            <a:off x="9217874" y="5418734"/>
            <a:ext cx="2150861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46" name="anim-g5-1068"/>
          <p:cNvSpPr/>
          <p:nvPr/>
        </p:nvSpPr>
        <p:spPr>
          <a:xfrm>
            <a:off x="9355034" y="5418734"/>
            <a:ext cx="187654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🎯 مثالي لـ</a:t>
            </a:r>
            <a:endParaRPr lang="ar-SA" sz="2100" dirty="0"/>
          </a:p>
        </p:txBody>
      </p:sp>
      <p:sp>
        <p:nvSpPr>
          <p:cNvPr id="47" name="anim-g5-1069"/>
          <p:cNvSpPr/>
          <p:nvPr/>
        </p:nvSpPr>
        <p:spPr>
          <a:xfrm>
            <a:off x="6419569" y="5418734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8" name="anim-g5-1070"/>
          <p:cNvSpPr/>
          <p:nvPr/>
        </p:nvSpPr>
        <p:spPr>
          <a:xfrm>
            <a:off x="6556729" y="5418734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لوحات التحكم</a:t>
            </a:r>
            <a:endParaRPr lang="ar-SA" sz="2100" dirty="0"/>
          </a:p>
        </p:txBody>
      </p:sp>
      <p:sp>
        <p:nvSpPr>
          <p:cNvPr id="49" name="anim-g5-1071"/>
          <p:cNvSpPr/>
          <p:nvPr/>
        </p:nvSpPr>
        <p:spPr>
          <a:xfrm>
            <a:off x="3621265" y="5418734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0" name="anim-g5-1072"/>
          <p:cNvSpPr/>
          <p:nvPr/>
        </p:nvSpPr>
        <p:spPr>
          <a:xfrm>
            <a:off x="3758425" y="5418734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روبوتات تتعاون</a:t>
            </a:r>
            <a:endParaRPr lang="ar-SA" sz="2100" dirty="0"/>
          </a:p>
        </p:txBody>
      </p:sp>
      <p:sp>
        <p:nvSpPr>
          <p:cNvPr id="51" name="anim-g5-1073"/>
          <p:cNvSpPr/>
          <p:nvPr/>
        </p:nvSpPr>
        <p:spPr>
          <a:xfrm>
            <a:off x="822960" y="5418734"/>
            <a:ext cx="2688577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52" name="anim-g5-1074"/>
          <p:cNvSpPr/>
          <p:nvPr/>
        </p:nvSpPr>
        <p:spPr>
          <a:xfrm>
            <a:off x="960120" y="5418734"/>
            <a:ext cx="241425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تحكم قريب بالجوال</a:t>
            </a:r>
            <a:endParaRPr lang="ar-SA" sz="2100" dirty="0"/>
          </a:p>
        </p:txBody>
      </p:sp>
      <p:sp>
        <p:nvSpPr>
          <p:cNvPr id="53" name="Text 51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54" name="Text 52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ESP-NOW  ·  ١٥٥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56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075" descr="C:\Users\user\projects\younes-training\esp32-2\.pptx-cache\s156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076" descr="C:\Users\user\projects\younes-training\esp32-2\.pptx-cache\s156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077" descr="C:\Users\user\projects\younes-training\esp32-2\.pptx-cache\s156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078" descr="C:\Users\user\projects\younes-training\esp32-2\.pptx-cache\s156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2879" y="457200"/>
            <a:ext cx="570585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5662879" y="457200"/>
            <a:ext cx="570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 · مسابقة تمنع أي شبكة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كيف يتكلم الروبوتان؟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خادم ويب</a:t>
            </a:r>
            <a:endParaRPr lang="ar-SA" sz="2200" dirty="0"/>
          </a:p>
        </p:txBody>
      </p:sp>
      <p:sp>
        <p:nvSpPr>
          <p:cNvPr id="9" name="anim-g1-1079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1080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1081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1082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خادم ويب</a:t>
            </a:r>
            <a:endParaRPr lang="ar-SA" sz="2200" dirty="0"/>
          </a:p>
        </p:txBody>
      </p:sp>
      <p:sp>
        <p:nvSpPr>
          <p:cNvPr id="13" name="anim-g1-1083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يحتاج شبكة أو AP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عبر الإنترنت</a:t>
            </a:r>
            <a:endParaRPr lang="ar-SA" sz="2200" dirty="0"/>
          </a:p>
        </p:txBody>
      </p:sp>
      <p:sp>
        <p:nvSpPr>
          <p:cNvPr id="18" name="anim-g1-1084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1085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1086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1087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عبر الإنترنت</a:t>
            </a:r>
            <a:endParaRPr lang="ar-SA" sz="2200" dirty="0"/>
          </a:p>
        </p:txBody>
      </p:sp>
      <p:sp>
        <p:nvSpPr>
          <p:cNvPr id="22" name="anim-g1-1088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ممنوع وغير متاح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ESP-NOW</a:t>
            </a:r>
            <a:endParaRPr lang="ar-SA" sz="2200" dirty="0"/>
          </a:p>
        </p:txBody>
      </p:sp>
      <p:sp>
        <p:nvSpPr>
          <p:cNvPr id="27" name="anim-g1-1089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28" name="anim-g1-1090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9" name="anim-g1-1091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30" name="anim-g1-1092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ESP-NOW</a:t>
            </a:r>
            <a:endParaRPr lang="ar-SA" sz="2200" dirty="0"/>
          </a:p>
        </p:txBody>
      </p:sp>
      <p:sp>
        <p:nvSpPr>
          <p:cNvPr id="31" name="anim-g1-1093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مباشر بعناوين MAC بلا أي شبكة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يمكن</a:t>
            </a:r>
            <a:endParaRPr lang="ar-SA" sz="2200" dirty="0"/>
          </a:p>
        </p:txBody>
      </p:sp>
      <p:sp>
        <p:nvSpPr>
          <p:cNvPr id="36" name="anim-g1-1094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1095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1096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1097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يمكن</a:t>
            </a:r>
            <a:endParaRPr lang="ar-SA" sz="2200" dirty="0"/>
          </a:p>
        </p:txBody>
      </p:sp>
      <p:sp>
        <p:nvSpPr>
          <p:cNvPr id="40" name="anim-g1-1098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ممكن تمامًا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ESP-NOW  ·  ١٥٧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عنوان ثابت، واستمارة مشتركة، ودالة تنادى وحدها: لوحتان تتكلمان في جزء من الثانية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ESP-NOW  ·  ١٦٠</a:t>
            </a:r>
            <a:endParaRPr lang="ar-SA" sz="1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١٢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١٢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السيارة المتصلة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محركان + حساس + خادم ويب = سيارة تقودها من جوالك… ولا تصطدم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السيارة المتصلة  ·  ١٦١</a:t>
            </a:r>
            <a:endParaRPr lang="ar-SA" sz="12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1099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100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101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102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تجعل ESP32 يصنع شبكته الخاصة (AP)</a:t>
            </a:r>
            <a:endParaRPr lang="ar-SA" sz="2400" dirty="0"/>
          </a:p>
        </p:txBody>
      </p:sp>
      <p:sp>
        <p:nvSpPr>
          <p:cNvPr id="9" name="anim-g2-1103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104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105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106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تقود محركين من أزرار على الجوال بالضغط المطوّل</a:t>
            </a:r>
            <a:endParaRPr lang="ar-SA" sz="2400" dirty="0"/>
          </a:p>
        </p:txBody>
      </p:sp>
      <p:sp>
        <p:nvSpPr>
          <p:cNvPr id="13" name="anim-g3-1107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108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109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110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تفحص المسافة دوريًا بـ millis دون إيقاف الخادم</a:t>
            </a:r>
            <a:endParaRPr lang="ar-SA" sz="2400" dirty="0"/>
          </a:p>
        </p:txBody>
      </p:sp>
      <p:sp>
        <p:nvSpPr>
          <p:cNvPr id="17" name="anim-g4-1111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112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113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114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تضع «الأمان قبل الأوامر» في منطق السيارة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السيارة المتصلة  ·  ١٦٢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5263" y="457200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735263" y="4572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خريطة التوصيل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أطراف السيارة الكاملة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027867" y="1874520"/>
            <a:ext cx="3340868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027867" y="1874520"/>
            <a:ext cx="3340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القطعة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5184702" y="1874520"/>
            <a:ext cx="2733437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5184702" y="1874520"/>
            <a:ext cx="27334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الطرف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252014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42520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ملاحظة</a:t>
            </a:r>
            <a:endParaRPr lang="ar-SA" sz="1900" dirty="0"/>
          </a:p>
        </p:txBody>
      </p:sp>
      <p:sp>
        <p:nvSpPr>
          <p:cNvPr id="11" name="anim-g1-1115"/>
          <p:cNvSpPr/>
          <p:nvPr/>
        </p:nvSpPr>
        <p:spPr>
          <a:xfrm>
            <a:off x="8027867" y="2514600"/>
            <a:ext cx="3340868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1116"/>
          <p:cNvSpPr/>
          <p:nvPr/>
        </p:nvSpPr>
        <p:spPr>
          <a:xfrm>
            <a:off x="8165027" y="2514600"/>
            <a:ext cx="3066548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⚙️ المحرك الأيسر</a:t>
            </a:r>
            <a:endParaRPr lang="ar-SA" sz="2100" dirty="0"/>
          </a:p>
        </p:txBody>
      </p:sp>
      <p:sp>
        <p:nvSpPr>
          <p:cNvPr id="13" name="anim-g1-1117"/>
          <p:cNvSpPr/>
          <p:nvPr/>
        </p:nvSpPr>
        <p:spPr>
          <a:xfrm>
            <a:off x="5184702" y="2514600"/>
            <a:ext cx="273343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1118"/>
          <p:cNvSpPr/>
          <p:nvPr/>
        </p:nvSpPr>
        <p:spPr>
          <a:xfrm>
            <a:off x="5321862" y="2514600"/>
            <a:ext cx="245911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ENA 14 · IN1 16 · IN2 17</a:t>
            </a:r>
            <a:endParaRPr lang="ar-SA" sz="2100" dirty="0"/>
          </a:p>
        </p:txBody>
      </p:sp>
      <p:sp>
        <p:nvSpPr>
          <p:cNvPr id="15" name="anim-g1-1119"/>
          <p:cNvSpPr/>
          <p:nvPr/>
        </p:nvSpPr>
        <p:spPr>
          <a:xfrm>
            <a:off x="822960" y="2514600"/>
            <a:ext cx="4252014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1120"/>
          <p:cNvSpPr/>
          <p:nvPr/>
        </p:nvSpPr>
        <p:spPr>
          <a:xfrm>
            <a:off x="960120" y="2514600"/>
            <a:ext cx="397769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كما في المحور السابع</a:t>
            </a:r>
            <a:endParaRPr lang="ar-SA" sz="2100" dirty="0"/>
          </a:p>
        </p:txBody>
      </p:sp>
      <p:sp>
        <p:nvSpPr>
          <p:cNvPr id="17" name="anim-g2-1121"/>
          <p:cNvSpPr/>
          <p:nvPr/>
        </p:nvSpPr>
        <p:spPr>
          <a:xfrm>
            <a:off x="8027867" y="3240634"/>
            <a:ext cx="3340868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1122"/>
          <p:cNvSpPr/>
          <p:nvPr/>
        </p:nvSpPr>
        <p:spPr>
          <a:xfrm>
            <a:off x="8165027" y="3240634"/>
            <a:ext cx="3066548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⚙️ المحرك الأيمن</a:t>
            </a:r>
            <a:endParaRPr lang="ar-SA" sz="2100" dirty="0"/>
          </a:p>
        </p:txBody>
      </p:sp>
      <p:sp>
        <p:nvSpPr>
          <p:cNvPr id="19" name="anim-g2-1123"/>
          <p:cNvSpPr/>
          <p:nvPr/>
        </p:nvSpPr>
        <p:spPr>
          <a:xfrm>
            <a:off x="5184702" y="3240634"/>
            <a:ext cx="273343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1124"/>
          <p:cNvSpPr/>
          <p:nvPr/>
        </p:nvSpPr>
        <p:spPr>
          <a:xfrm>
            <a:off x="5321862" y="3240634"/>
            <a:ext cx="245911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ENB 32 · IN3 21 · IN4 22</a:t>
            </a:r>
            <a:endParaRPr lang="ar-SA" sz="2100" dirty="0"/>
          </a:p>
        </p:txBody>
      </p:sp>
      <p:sp>
        <p:nvSpPr>
          <p:cNvPr id="21" name="anim-g2-1125"/>
          <p:cNvSpPr/>
          <p:nvPr/>
        </p:nvSpPr>
        <p:spPr>
          <a:xfrm>
            <a:off x="822960" y="3240634"/>
            <a:ext cx="4252014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1126"/>
          <p:cNvSpPr/>
          <p:nvPr/>
        </p:nvSpPr>
        <p:spPr>
          <a:xfrm>
            <a:off x="960120" y="3240634"/>
            <a:ext cx="397769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32 من ADC1 لكنه مخرج PWM ممتاز</a:t>
            </a:r>
            <a:endParaRPr lang="ar-SA" sz="2100" dirty="0"/>
          </a:p>
        </p:txBody>
      </p:sp>
      <p:sp>
        <p:nvSpPr>
          <p:cNvPr id="23" name="anim-g3-1127"/>
          <p:cNvSpPr/>
          <p:nvPr/>
        </p:nvSpPr>
        <p:spPr>
          <a:xfrm>
            <a:off x="8027867" y="3966667"/>
            <a:ext cx="3340868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1128"/>
          <p:cNvSpPr/>
          <p:nvPr/>
        </p:nvSpPr>
        <p:spPr>
          <a:xfrm>
            <a:off x="8165027" y="3966667"/>
            <a:ext cx="3066548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📏 HC-SR04</a:t>
            </a:r>
            <a:endParaRPr lang="ar-SA" sz="2100" dirty="0"/>
          </a:p>
        </p:txBody>
      </p:sp>
      <p:sp>
        <p:nvSpPr>
          <p:cNvPr id="25" name="anim-g3-1129"/>
          <p:cNvSpPr/>
          <p:nvPr/>
        </p:nvSpPr>
        <p:spPr>
          <a:xfrm>
            <a:off x="5184702" y="3966667"/>
            <a:ext cx="273343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1130"/>
          <p:cNvSpPr/>
          <p:nvPr/>
        </p:nvSpPr>
        <p:spPr>
          <a:xfrm>
            <a:off x="5321862" y="3966667"/>
            <a:ext cx="245911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Trig 26 · Echo 27</a:t>
            </a:r>
            <a:endParaRPr lang="ar-SA" sz="2100" dirty="0"/>
          </a:p>
        </p:txBody>
      </p:sp>
      <p:sp>
        <p:nvSpPr>
          <p:cNvPr id="27" name="anim-g3-1131"/>
          <p:cNvSpPr/>
          <p:nvPr/>
        </p:nvSpPr>
        <p:spPr>
          <a:xfrm>
            <a:off x="822960" y="3966667"/>
            <a:ext cx="4252014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1132"/>
          <p:cNvSpPr/>
          <p:nvPr/>
        </p:nvSpPr>
        <p:spPr>
          <a:xfrm>
            <a:off x="960120" y="3966667"/>
            <a:ext cx="397769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Echo عبر مقسم 1k/2k</a:t>
            </a:r>
            <a:endParaRPr lang="ar-SA" sz="2100" dirty="0"/>
          </a:p>
        </p:txBody>
      </p:sp>
      <p:sp>
        <p:nvSpPr>
          <p:cNvPr id="29" name="anim-g4-1133"/>
          <p:cNvSpPr/>
          <p:nvPr/>
        </p:nvSpPr>
        <p:spPr>
          <a:xfrm>
            <a:off x="8027867" y="4692701"/>
            <a:ext cx="3340868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1134"/>
          <p:cNvSpPr/>
          <p:nvPr/>
        </p:nvSpPr>
        <p:spPr>
          <a:xfrm>
            <a:off x="8165027" y="4692701"/>
            <a:ext cx="3066548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🔋 الطاقة</a:t>
            </a:r>
            <a:endParaRPr lang="ar-SA" sz="2100" dirty="0"/>
          </a:p>
        </p:txBody>
      </p:sp>
      <p:sp>
        <p:nvSpPr>
          <p:cNvPr id="31" name="anim-g4-1135"/>
          <p:cNvSpPr/>
          <p:nvPr/>
        </p:nvSpPr>
        <p:spPr>
          <a:xfrm>
            <a:off x="5184702" y="4692701"/>
            <a:ext cx="273343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1136"/>
          <p:cNvSpPr/>
          <p:nvPr/>
        </p:nvSpPr>
        <p:spPr>
          <a:xfrm>
            <a:off x="5321862" y="4692701"/>
            <a:ext cx="245911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بطارية ٧٫٤–١٢ فولت ← L298N</a:t>
            </a:r>
            <a:endParaRPr lang="ar-SA" sz="2100" dirty="0"/>
          </a:p>
        </p:txBody>
      </p:sp>
      <p:sp>
        <p:nvSpPr>
          <p:cNvPr id="33" name="anim-g4-1137"/>
          <p:cNvSpPr/>
          <p:nvPr/>
        </p:nvSpPr>
        <p:spPr>
          <a:xfrm>
            <a:off x="822960" y="4692701"/>
            <a:ext cx="4252014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1138"/>
          <p:cNvSpPr/>
          <p:nvPr/>
        </p:nvSpPr>
        <p:spPr>
          <a:xfrm>
            <a:off x="960120" y="4692701"/>
            <a:ext cx="397769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منظّم L298N يعطي ٥ فولت ← VIN</a:t>
            </a:r>
            <a:endParaRPr lang="ar-SA" sz="2100" dirty="0"/>
          </a:p>
        </p:txBody>
      </p:sp>
      <p:sp>
        <p:nvSpPr>
          <p:cNvPr id="35" name="anim-g5-1139"/>
          <p:cNvSpPr/>
          <p:nvPr/>
        </p:nvSpPr>
        <p:spPr>
          <a:xfrm>
            <a:off x="8027867" y="5418734"/>
            <a:ext cx="3340868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6" name="anim-g5-1140"/>
          <p:cNvSpPr/>
          <p:nvPr/>
        </p:nvSpPr>
        <p:spPr>
          <a:xfrm>
            <a:off x="8165027" y="5418734"/>
            <a:ext cx="3066548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⏚ الأرضي</a:t>
            </a:r>
            <a:endParaRPr lang="ar-SA" sz="2100" dirty="0"/>
          </a:p>
        </p:txBody>
      </p:sp>
      <p:sp>
        <p:nvSpPr>
          <p:cNvPr id="37" name="anim-g5-1141"/>
          <p:cNvSpPr/>
          <p:nvPr/>
        </p:nvSpPr>
        <p:spPr>
          <a:xfrm>
            <a:off x="5184702" y="5418734"/>
            <a:ext cx="2733437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8" name="anim-g5-1142"/>
          <p:cNvSpPr/>
          <p:nvPr/>
        </p:nvSpPr>
        <p:spPr>
          <a:xfrm>
            <a:off x="5321862" y="5418734"/>
            <a:ext cx="245911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GND مشترك</a:t>
            </a:r>
            <a:endParaRPr lang="ar-SA" sz="2100" dirty="0"/>
          </a:p>
        </p:txBody>
      </p:sp>
      <p:sp>
        <p:nvSpPr>
          <p:cNvPr id="39" name="anim-g5-1143"/>
          <p:cNvSpPr/>
          <p:nvPr/>
        </p:nvSpPr>
        <p:spPr>
          <a:xfrm>
            <a:off x="822960" y="5418734"/>
            <a:ext cx="4252014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0" name="anim-g5-1144"/>
          <p:cNvSpPr/>
          <p:nvPr/>
        </p:nvSpPr>
        <p:spPr>
          <a:xfrm>
            <a:off x="960120" y="5418734"/>
            <a:ext cx="397769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البطارية والدرايفر وESP32 والحساس</a:t>
            </a:r>
            <a:endParaRPr lang="ar-SA" sz="21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السيارة المتصلة  ·  ١٦٦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67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145" descr="C:\Users\user\projects\younes-training\esp32-2\.pptx-cache\s167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146" descr="C:\Users\user\projects\younes-training\esp32-2\.pptx-cache\s167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147" descr="C:\Users\user\projects\younes-training\esp32-2\.pptx-cache\s167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148" descr="C:\Users\user\projects\younes-training\esp32-2\.pptx-cache\s167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149" descr="C:\Users\user\projects\younes-training\esp32-2\.pptx-cache\s167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1150" descr="C:\Users\user\projects\younes-training\esp32-2\.pptx-cache\s167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68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151" descr="C:\Users\user\projects\younes-training\esp32-2\.pptx-cache\s168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152" descr="C:\Users\user\projects\younes-training\esp32-2\.pptx-cache\s168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153" descr="C:\Users\user\projects\younes-training\esp32-2\.pptx-cache\s168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154" descr="C:\Users\user\projects\younes-training\esp32-2\.pptx-cache\s168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155" descr="C:\Users\user\projects\younes-training\esp32-2\.pptx-cache\s168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1156" descr="C:\Users\user\projects\younes-training\esp32-2\.pptx-cache\s168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96351" y="457200"/>
            <a:ext cx="307238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296351" y="4572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تحديات للمتقدمين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طوّر سيارتك</a:t>
            </a:r>
            <a:endParaRPr lang="ar-SA" sz="3800" dirty="0"/>
          </a:p>
        </p:txBody>
      </p:sp>
      <p:sp>
        <p:nvSpPr>
          <p:cNvPr id="5" name="anim-g1-1157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158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159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🏎️</a:t>
            </a:r>
            <a:endParaRPr lang="ar-SA" sz="2200" dirty="0"/>
          </a:p>
        </p:txBody>
      </p:sp>
      <p:sp>
        <p:nvSpPr>
          <p:cNvPr id="8" name="anim-g1-1160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منزلق السرعة</a:t>
            </a:r>
            <a:endParaRPr lang="ar-SA" sz="2200" dirty="0"/>
          </a:p>
        </p:txBody>
      </p:sp>
      <p:sp>
        <p:nvSpPr>
          <p:cNvPr id="9" name="anim-g1-1161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أضف input range ومسار /speed?v=… كما في لوحة التحكم</a:t>
            </a:r>
            <a:endParaRPr lang="ar-SA" sz="1900" dirty="0"/>
          </a:p>
        </p:txBody>
      </p:sp>
      <p:sp>
        <p:nvSpPr>
          <p:cNvPr id="10" name="anim-g2-1162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163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164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💡</a:t>
            </a:r>
            <a:endParaRPr lang="ar-SA" sz="2200" dirty="0"/>
          </a:p>
        </p:txBody>
      </p:sp>
      <p:sp>
        <p:nvSpPr>
          <p:cNvPr id="13" name="anim-g2-1165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أضواء ذكية</a:t>
            </a:r>
            <a:endParaRPr lang="ar-SA" sz="2200" dirty="0"/>
          </a:p>
        </p:txBody>
      </p:sp>
      <p:sp>
        <p:nvSpPr>
          <p:cNvPr id="14" name="anim-g2-1166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LDR يشغّل المصابيح الأمامية في الظلام</a:t>
            </a:r>
            <a:endParaRPr lang="ar-SA" sz="1900" dirty="0"/>
          </a:p>
        </p:txBody>
      </p:sp>
      <p:sp>
        <p:nvSpPr>
          <p:cNvPr id="15" name="anim-g3-1167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168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169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</a:t>
            </a:r>
            <a:endParaRPr lang="ar-SA" sz="2200" dirty="0"/>
          </a:p>
        </p:txBody>
      </p:sp>
      <p:sp>
        <p:nvSpPr>
          <p:cNvPr id="18" name="anim-g3-1170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الوضع الآلي</a:t>
            </a:r>
            <a:endParaRPr lang="ar-SA" sz="2200" dirty="0"/>
          </a:p>
        </p:txBody>
      </p:sp>
      <p:sp>
        <p:nvSpPr>
          <p:cNvPr id="19" name="anim-g3-1171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زر «آلي»: تتجنب العوائق وحدها كسيارة الأردوينو ٢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السيارة المتصلة  ·  ١٦٩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70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172" descr="C:\Users\user\projects\younes-training\esp32-2\.pptx-cache\s170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173" descr="C:\Users\user\projects\younes-training\esp32-2\.pptx-cache\s170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174" descr="C:\Users\user\projects\younes-training\esp32-2\.pptx-cache\s170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175" descr="C:\Users\user\projects\younes-training\esp32-2\.pptx-cache\s170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انقطع اتصال الجوال والسيارة تتقدم… ماذا يحدث؟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تقف فورًا</a:t>
            </a:r>
            <a:endParaRPr lang="ar-SA" sz="2200" dirty="0"/>
          </a:p>
        </p:txBody>
      </p:sp>
      <p:sp>
        <p:nvSpPr>
          <p:cNvPr id="9" name="anim-g1-1176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1177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1178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1179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تقف فورًا</a:t>
            </a:r>
            <a:endParaRPr lang="ar-SA" sz="2200" dirty="0"/>
          </a:p>
        </p:txBody>
      </p:sp>
      <p:sp>
        <p:nvSpPr>
          <p:cNvPr id="13" name="anim-g1-1180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يصل /go?d=s فتبقى dir = f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تستمر حتى يوقفها الحساس أمام عائق</a:t>
            </a:r>
            <a:endParaRPr lang="ar-SA" sz="2200" dirty="0"/>
          </a:p>
        </p:txBody>
      </p:sp>
      <p:sp>
        <p:nvSpPr>
          <p:cNvPr id="18" name="anim-g1-1181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1182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0" name="anim-g1-1183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21" name="anim-g1-1184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تستمر حتى يوقفها الحساس أمام عائق</a:t>
            </a:r>
            <a:endParaRPr lang="ar-SA" sz="2200" dirty="0"/>
          </a:p>
        </p:txBody>
      </p:sp>
      <p:sp>
        <p:nvSpPr>
          <p:cNvPr id="22" name="anim-g1-1185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لهذا حماية الحساس ضرورية. تحدٍّ: أضف «إن لم يصل أمر خلال ثانية فقف»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تعود للخلف</a:t>
            </a:r>
            <a:endParaRPr lang="ar-SA" sz="2200" dirty="0"/>
          </a:p>
        </p:txBody>
      </p:sp>
      <p:sp>
        <p:nvSpPr>
          <p:cNvPr id="27" name="anim-g1-1186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1187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1188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1189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تعود للخلف</a:t>
            </a:r>
            <a:endParaRPr lang="ar-SA" sz="2200" dirty="0"/>
          </a:p>
        </p:txBody>
      </p:sp>
      <p:sp>
        <p:nvSpPr>
          <p:cNvPr id="31" name="anim-g1-1190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يوجد كود لذلك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تنطفئ اللوحة</a:t>
            </a:r>
            <a:endParaRPr lang="ar-SA" sz="2200" dirty="0"/>
          </a:p>
        </p:txBody>
      </p:sp>
      <p:sp>
        <p:nvSpPr>
          <p:cNvPr id="36" name="anim-g1-1191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1192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1193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1194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تنطفئ اللوحة</a:t>
            </a:r>
            <a:endParaRPr lang="ar-SA" sz="2200" dirty="0"/>
          </a:p>
        </p:txBody>
      </p:sp>
      <p:sp>
        <p:nvSpPr>
          <p:cNvPr id="40" name="anim-g1-1195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اللوحة تعمل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السيارة المتصلة  ·  ١٧١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شبكة تصنعها السيارة…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وساعة لا تنام… وحساس له الكلمة الأخيرة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السيارة المتصلة  ·  ١٧٤</a:t>
            </a:r>
            <a:endParaRPr lang="ar-SA" sz="12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١٣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١٣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مشروع التخرج: الفصل الذكي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يحسّ بالحرارة والضوء والحركة… يقرر وحده… ويتصل بجوال المعلم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الفصل الذكي  ·  ١٧٥</a:t>
            </a:r>
            <a:endParaRPr lang="ar-SA" sz="12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0479" y="45720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320479" y="45720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المواصفات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يفعل الفصل الذكي؟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9242728" y="1874520"/>
            <a:ext cx="2126007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9242728" y="1874520"/>
            <a:ext cx="21260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الطبقة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5792132" y="1874520"/>
            <a:ext cx="3340868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5792132" y="1874520"/>
            <a:ext cx="3340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القطع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859444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4859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السلوك</a:t>
            </a:r>
            <a:endParaRPr lang="ar-SA" sz="1900" dirty="0"/>
          </a:p>
        </p:txBody>
      </p:sp>
      <p:sp>
        <p:nvSpPr>
          <p:cNvPr id="11" name="anim-g1-1196"/>
          <p:cNvSpPr/>
          <p:nvPr/>
        </p:nvSpPr>
        <p:spPr>
          <a:xfrm>
            <a:off x="9242728" y="2514600"/>
            <a:ext cx="2126007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1197"/>
          <p:cNvSpPr/>
          <p:nvPr/>
        </p:nvSpPr>
        <p:spPr>
          <a:xfrm>
            <a:off x="9379888" y="2514600"/>
            <a:ext cx="1851687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👁️ يحسّ</a:t>
            </a:r>
            <a:endParaRPr lang="ar-SA" sz="2100" dirty="0"/>
          </a:p>
        </p:txBody>
      </p:sp>
      <p:sp>
        <p:nvSpPr>
          <p:cNvPr id="13" name="anim-g1-1198"/>
          <p:cNvSpPr/>
          <p:nvPr/>
        </p:nvSpPr>
        <p:spPr>
          <a:xfrm>
            <a:off x="5792132" y="2514600"/>
            <a:ext cx="3340868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1199"/>
          <p:cNvSpPr/>
          <p:nvPr/>
        </p:nvSpPr>
        <p:spPr>
          <a:xfrm>
            <a:off x="5929292" y="2514600"/>
            <a:ext cx="3066548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DHT22 (4) · LDR (35) · PIR (33)</a:t>
            </a:r>
            <a:endParaRPr lang="ar-SA" sz="2100" dirty="0"/>
          </a:p>
        </p:txBody>
      </p:sp>
      <p:sp>
        <p:nvSpPr>
          <p:cNvPr id="15" name="anim-g1-1200"/>
          <p:cNvSpPr/>
          <p:nvPr/>
        </p:nvSpPr>
        <p:spPr>
          <a:xfrm>
            <a:off x="822960" y="2514600"/>
            <a:ext cx="485944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1201"/>
          <p:cNvSpPr/>
          <p:nvPr/>
        </p:nvSpPr>
        <p:spPr>
          <a:xfrm>
            <a:off x="960120" y="2514600"/>
            <a:ext cx="458512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حرارة ورطوبة وضوء وعدد مرات الحركة</a:t>
            </a:r>
            <a:endParaRPr lang="ar-SA" sz="2100" dirty="0"/>
          </a:p>
        </p:txBody>
      </p:sp>
      <p:sp>
        <p:nvSpPr>
          <p:cNvPr id="17" name="anim-g2-1202"/>
          <p:cNvSpPr/>
          <p:nvPr/>
        </p:nvSpPr>
        <p:spPr>
          <a:xfrm>
            <a:off x="9242728" y="3422142"/>
            <a:ext cx="2126007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1203"/>
          <p:cNvSpPr/>
          <p:nvPr/>
        </p:nvSpPr>
        <p:spPr>
          <a:xfrm>
            <a:off x="9379888" y="3422142"/>
            <a:ext cx="1851687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🧠 يقرر</a:t>
            </a:r>
            <a:endParaRPr lang="ar-SA" sz="2100" dirty="0"/>
          </a:p>
        </p:txBody>
      </p:sp>
      <p:sp>
        <p:nvSpPr>
          <p:cNvPr id="19" name="anim-g2-1204"/>
          <p:cNvSpPr/>
          <p:nvPr/>
        </p:nvSpPr>
        <p:spPr>
          <a:xfrm>
            <a:off x="5792132" y="3422142"/>
            <a:ext cx="3340868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1205"/>
          <p:cNvSpPr/>
          <p:nvPr/>
        </p:nvSpPr>
        <p:spPr>
          <a:xfrm>
            <a:off x="5929292" y="3422142"/>
            <a:ext cx="3066548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if كل ثانيتين</a:t>
            </a:r>
            <a:endParaRPr lang="ar-SA" sz="2100" dirty="0"/>
          </a:p>
        </p:txBody>
      </p:sp>
      <p:sp>
        <p:nvSpPr>
          <p:cNvPr id="21" name="anim-g2-1206"/>
          <p:cNvSpPr/>
          <p:nvPr/>
        </p:nvSpPr>
        <p:spPr>
          <a:xfrm>
            <a:off x="822960" y="3422142"/>
            <a:ext cx="485944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1207"/>
          <p:cNvSpPr/>
          <p:nvPr/>
        </p:nvSpPr>
        <p:spPr>
          <a:xfrm>
            <a:off x="960120" y="3422142"/>
            <a:ext cx="458512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حرارة فوق ٣٠ ← مروحة · حركة في الظلام ← إنارة</a:t>
            </a:r>
            <a:endParaRPr lang="ar-SA" sz="2100" dirty="0"/>
          </a:p>
        </p:txBody>
      </p:sp>
      <p:sp>
        <p:nvSpPr>
          <p:cNvPr id="23" name="anim-g3-1208"/>
          <p:cNvSpPr/>
          <p:nvPr/>
        </p:nvSpPr>
        <p:spPr>
          <a:xfrm>
            <a:off x="9242728" y="4329684"/>
            <a:ext cx="2126007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1209"/>
          <p:cNvSpPr/>
          <p:nvPr/>
        </p:nvSpPr>
        <p:spPr>
          <a:xfrm>
            <a:off x="9379888" y="4329684"/>
            <a:ext cx="1851687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⚙️ يتحرك</a:t>
            </a:r>
            <a:endParaRPr lang="ar-SA" sz="2100" dirty="0"/>
          </a:p>
        </p:txBody>
      </p:sp>
      <p:sp>
        <p:nvSpPr>
          <p:cNvPr id="25" name="anim-g3-1210"/>
          <p:cNvSpPr/>
          <p:nvPr/>
        </p:nvSpPr>
        <p:spPr>
          <a:xfrm>
            <a:off x="5792132" y="4329684"/>
            <a:ext cx="3340868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1211"/>
          <p:cNvSpPr/>
          <p:nvPr/>
        </p:nvSpPr>
        <p:spPr>
          <a:xfrm>
            <a:off x="5929292" y="4329684"/>
            <a:ext cx="3066548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مُرحِّل (19) · ليد (23) · بازر (13)</a:t>
            </a:r>
            <a:endParaRPr lang="ar-SA" sz="2100" dirty="0"/>
          </a:p>
        </p:txBody>
      </p:sp>
      <p:sp>
        <p:nvSpPr>
          <p:cNvPr id="27" name="anim-g3-1212"/>
          <p:cNvSpPr/>
          <p:nvPr/>
        </p:nvSpPr>
        <p:spPr>
          <a:xfrm>
            <a:off x="822960" y="4329684"/>
            <a:ext cx="485944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1213"/>
          <p:cNvSpPr/>
          <p:nvPr/>
        </p:nvSpPr>
        <p:spPr>
          <a:xfrm>
            <a:off x="960120" y="4329684"/>
            <a:ext cx="458512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المروحة والإنارة والإنذار</a:t>
            </a:r>
            <a:endParaRPr lang="ar-SA" sz="2100" dirty="0"/>
          </a:p>
        </p:txBody>
      </p:sp>
      <p:sp>
        <p:nvSpPr>
          <p:cNvPr id="29" name="anim-g4-1214"/>
          <p:cNvSpPr/>
          <p:nvPr/>
        </p:nvSpPr>
        <p:spPr>
          <a:xfrm>
            <a:off x="9242728" y="5237226"/>
            <a:ext cx="2126007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1215"/>
          <p:cNvSpPr/>
          <p:nvPr/>
        </p:nvSpPr>
        <p:spPr>
          <a:xfrm>
            <a:off x="9379888" y="5237226"/>
            <a:ext cx="1851687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📡 يتصل</a:t>
            </a:r>
            <a:endParaRPr lang="ar-SA" sz="2100" dirty="0"/>
          </a:p>
        </p:txBody>
      </p:sp>
      <p:sp>
        <p:nvSpPr>
          <p:cNvPr id="31" name="anim-g4-1216"/>
          <p:cNvSpPr/>
          <p:nvPr/>
        </p:nvSpPr>
        <p:spPr>
          <a:xfrm>
            <a:off x="5792132" y="5237226"/>
            <a:ext cx="3340868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1217"/>
          <p:cNvSpPr/>
          <p:nvPr/>
        </p:nvSpPr>
        <p:spPr>
          <a:xfrm>
            <a:off x="5929292" y="5237226"/>
            <a:ext cx="3066548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خادم ويب + JSON</a:t>
            </a:r>
            <a:endParaRPr lang="ar-SA" sz="2100" dirty="0"/>
          </a:p>
        </p:txBody>
      </p:sp>
      <p:sp>
        <p:nvSpPr>
          <p:cNvPr id="33" name="anim-g4-1218"/>
          <p:cNvSpPr/>
          <p:nvPr/>
        </p:nvSpPr>
        <p:spPr>
          <a:xfrm>
            <a:off x="822960" y="5237226"/>
            <a:ext cx="485944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1219"/>
          <p:cNvSpPr/>
          <p:nvPr/>
        </p:nvSpPr>
        <p:spPr>
          <a:xfrm>
            <a:off x="960120" y="5237226"/>
            <a:ext cx="458512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على الجوال + «وضع الحراسة» بعد الدوام</a:t>
            </a:r>
            <a:endParaRPr lang="ar-SA" sz="21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الفصل الذكي  ·  ١٧٦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77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220" descr="C:\Users\user\projects\younes-training\esp32-2\.pptx-cache\s177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221" descr="C:\Users\user\projects\younes-training\esp32-2\.pptx-cache\s177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222" descr="C:\Users\user\projects\younes-training\esp32-2\.pptx-cache\s177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223" descr="C:\Users\user\projects\younes-training\esp32-2\.pptx-cache\s177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224" descr="C:\Users\user\projects\younes-training\esp32-2\.pptx-cache\s177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1225" descr="C:\Users\user\projects\younes-training\esp32-2\.pptx-cache\s177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anim-g7-1226" descr="C:\Users\user\projects\younes-training\esp32-2\.pptx-cache\s177-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0" name="anim-g8-1227" descr="C:\Users\user\projects\younes-training\esp32-2\.pptx-cache\s177-8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مشروع التخرج للطلاب: من الفكرة إلى المعرض</a:t>
            </a:r>
            <a:endParaRPr lang="ar-SA" sz="3200" dirty="0"/>
          </a:p>
        </p:txBody>
      </p:sp>
      <p:sp>
        <p:nvSpPr>
          <p:cNvPr id="3" name="anim-g1-1228"/>
          <p:cNvSpPr/>
          <p:nvPr/>
        </p:nvSpPr>
        <p:spPr>
          <a:xfrm>
            <a:off x="8036357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4" name="anim-g1-1229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5" name="anim-g1-1230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🔍</a:t>
            </a:r>
            <a:endParaRPr lang="ar-SA" sz="2200" dirty="0"/>
          </a:p>
        </p:txBody>
      </p:sp>
      <p:sp>
        <p:nvSpPr>
          <p:cNvPr id="6" name="anim-g1-1231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١. المشكلة</a:t>
            </a:r>
            <a:endParaRPr lang="ar-SA" sz="2200" dirty="0"/>
          </a:p>
        </p:txBody>
      </p:sp>
      <p:sp>
        <p:nvSpPr>
          <p:cNvPr id="7" name="anim-g1-1232"/>
          <p:cNvSpPr/>
          <p:nvPr/>
        </p:nvSpPr>
        <p:spPr>
          <a:xfrm>
            <a:off x="8310677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الذي يزعجنا في فصلنا؟ الحر؟ الأنوار المنسية؟</a:t>
            </a:r>
            <a:endParaRPr lang="ar-SA" sz="1900" dirty="0"/>
          </a:p>
        </p:txBody>
      </p:sp>
      <p:sp>
        <p:nvSpPr>
          <p:cNvPr id="8" name="anim-g2-1233"/>
          <p:cNvSpPr/>
          <p:nvPr/>
        </p:nvSpPr>
        <p:spPr>
          <a:xfrm>
            <a:off x="4429658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9" name="anim-g2-1234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0" name="anim-g2-1235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🧩</a:t>
            </a:r>
            <a:endParaRPr lang="ar-SA" sz="2200" dirty="0"/>
          </a:p>
        </p:txBody>
      </p:sp>
      <p:sp>
        <p:nvSpPr>
          <p:cNvPr id="11" name="anim-g2-1236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٢. الطبقات</a:t>
            </a:r>
            <a:endParaRPr lang="ar-SA" sz="2200" dirty="0"/>
          </a:p>
        </p:txBody>
      </p:sp>
      <p:sp>
        <p:nvSpPr>
          <p:cNvPr id="12" name="anim-g2-1237"/>
          <p:cNvSpPr/>
          <p:nvPr/>
        </p:nvSpPr>
        <p:spPr>
          <a:xfrm>
            <a:off x="4703978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ماذا يحس؟ ماذا يقرر؟ ماذا يحرّك؟ بمن يتصل؟</a:t>
            </a:r>
            <a:endParaRPr lang="ar-SA" sz="1900" dirty="0"/>
          </a:p>
        </p:txBody>
      </p:sp>
      <p:sp>
        <p:nvSpPr>
          <p:cNvPr id="13" name="anim-g3-1238"/>
          <p:cNvSpPr/>
          <p:nvPr/>
        </p:nvSpPr>
        <p:spPr>
          <a:xfrm>
            <a:off x="822960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4" name="anim-g3-1239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5" name="anim-g3-1240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🧪</a:t>
            </a:r>
            <a:endParaRPr lang="ar-SA" sz="2200" dirty="0"/>
          </a:p>
        </p:txBody>
      </p:sp>
      <p:sp>
        <p:nvSpPr>
          <p:cNvPr id="16" name="anim-g3-1241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٣. قطعة قطعة</a:t>
            </a:r>
            <a:endParaRPr lang="ar-SA" sz="2200" dirty="0"/>
          </a:p>
        </p:txBody>
      </p:sp>
      <p:sp>
        <p:nvSpPr>
          <p:cNvPr id="17" name="anim-g3-1242"/>
          <p:cNvSpPr/>
          <p:nvPr/>
        </p:nvSpPr>
        <p:spPr>
          <a:xfrm>
            <a:off x="1097280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جرّب كل حساس وحده قبل الدمج</a:t>
            </a:r>
            <a:endParaRPr lang="ar-SA" sz="1900" dirty="0"/>
          </a:p>
        </p:txBody>
      </p:sp>
      <p:sp>
        <p:nvSpPr>
          <p:cNvPr id="18" name="anim-g4-1243"/>
          <p:cNvSpPr/>
          <p:nvPr/>
        </p:nvSpPr>
        <p:spPr>
          <a:xfrm>
            <a:off x="8036357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9" name="anim-g4-1244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0" name="anim-g4-1245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🔗</a:t>
            </a:r>
            <a:endParaRPr lang="ar-SA" sz="2200" dirty="0"/>
          </a:p>
        </p:txBody>
      </p:sp>
      <p:sp>
        <p:nvSpPr>
          <p:cNvPr id="21" name="anim-g4-1246"/>
          <p:cNvSpPr/>
          <p:nvPr/>
        </p:nvSpPr>
        <p:spPr>
          <a:xfrm>
            <a:off x="8310677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٤. الدمج</a:t>
            </a:r>
            <a:endParaRPr lang="ar-SA" sz="2200" dirty="0"/>
          </a:p>
        </p:txBody>
      </p:sp>
      <p:sp>
        <p:nvSpPr>
          <p:cNvPr id="22" name="anim-g4-1247"/>
          <p:cNvSpPr/>
          <p:nvPr/>
        </p:nvSpPr>
        <p:spPr>
          <a:xfrm>
            <a:off x="8310677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ابدأ بالخادم ثم أضف قطعة بعد قطعة</a:t>
            </a:r>
            <a:endParaRPr lang="ar-SA" sz="1900" dirty="0"/>
          </a:p>
        </p:txBody>
      </p:sp>
      <p:sp>
        <p:nvSpPr>
          <p:cNvPr id="23" name="anim-g5-1248"/>
          <p:cNvSpPr/>
          <p:nvPr/>
        </p:nvSpPr>
        <p:spPr>
          <a:xfrm>
            <a:off x="4429658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4" name="anim-g5-1249"/>
          <p:cNvSpPr/>
          <p:nvPr/>
        </p:nvSpPr>
        <p:spPr>
          <a:xfrm>
            <a:off x="6920789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5" name="anim-g5-1250"/>
          <p:cNvSpPr/>
          <p:nvPr/>
        </p:nvSpPr>
        <p:spPr>
          <a:xfrm>
            <a:off x="6920789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📱</a:t>
            </a:r>
            <a:endParaRPr lang="ar-SA" sz="2200" dirty="0"/>
          </a:p>
        </p:txBody>
      </p:sp>
      <p:sp>
        <p:nvSpPr>
          <p:cNvPr id="26" name="anim-g5-1251"/>
          <p:cNvSpPr/>
          <p:nvPr/>
        </p:nvSpPr>
        <p:spPr>
          <a:xfrm>
            <a:off x="4703978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٥. الواجهة</a:t>
            </a:r>
            <a:endParaRPr lang="ar-SA" sz="2200" dirty="0"/>
          </a:p>
        </p:txBody>
      </p:sp>
      <p:sp>
        <p:nvSpPr>
          <p:cNvPr id="27" name="anim-g5-1252"/>
          <p:cNvSpPr/>
          <p:nvPr/>
        </p:nvSpPr>
        <p:spPr>
          <a:xfrm>
            <a:off x="4703978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صفحة عربية جميلة بأسماء الفريق</a:t>
            </a:r>
            <a:endParaRPr lang="ar-SA" sz="1900" dirty="0"/>
          </a:p>
        </p:txBody>
      </p:sp>
      <p:sp>
        <p:nvSpPr>
          <p:cNvPr id="28" name="anim-g6-1253"/>
          <p:cNvSpPr/>
          <p:nvPr/>
        </p:nvSpPr>
        <p:spPr>
          <a:xfrm>
            <a:off x="822960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9" name="anim-g6-1254"/>
          <p:cNvSpPr/>
          <p:nvPr/>
        </p:nvSpPr>
        <p:spPr>
          <a:xfrm>
            <a:off x="331409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30" name="anim-g6-1255"/>
          <p:cNvSpPr/>
          <p:nvPr/>
        </p:nvSpPr>
        <p:spPr>
          <a:xfrm>
            <a:off x="331409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🎤</a:t>
            </a:r>
            <a:endParaRPr lang="ar-SA" sz="2200" dirty="0"/>
          </a:p>
        </p:txBody>
      </p:sp>
      <p:sp>
        <p:nvSpPr>
          <p:cNvPr id="31" name="anim-g6-1256"/>
          <p:cNvSpPr/>
          <p:nvPr/>
        </p:nvSpPr>
        <p:spPr>
          <a:xfrm>
            <a:off x="1097280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٦. العرض</a:t>
            </a:r>
            <a:endParaRPr lang="ar-SA" sz="2200" dirty="0"/>
          </a:p>
        </p:txBody>
      </p:sp>
      <p:sp>
        <p:nvSpPr>
          <p:cNvPr id="32" name="anim-g6-1257"/>
          <p:cNvSpPr/>
          <p:nvPr/>
        </p:nvSpPr>
        <p:spPr>
          <a:xfrm>
            <a:off x="1097280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دقيقتان: المشكلة، الحل، العرض الحي</a:t>
            </a:r>
            <a:endParaRPr lang="ar-SA" sz="1900" dirty="0"/>
          </a:p>
        </p:txBody>
      </p:sp>
      <p:sp>
        <p:nvSpPr>
          <p:cNvPr id="33" name="Text 31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الفصل الذكي  ·  ١٧٨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13087" y="457200"/>
            <a:ext cx="175564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613087" y="4572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التقييم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كيف تقيّم مشروع طالبك؟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713396" y="1874520"/>
            <a:ext cx="2655339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713396" y="1874520"/>
            <a:ext cx="26553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المعيار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4768178" y="1874520"/>
            <a:ext cx="383549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4768178" y="1874520"/>
            <a:ext cx="38354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ممتاز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383549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38354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يحتاج تحسينًا</a:t>
            </a:r>
            <a:endParaRPr lang="ar-SA" sz="1900" dirty="0"/>
          </a:p>
        </p:txBody>
      </p:sp>
      <p:sp>
        <p:nvSpPr>
          <p:cNvPr id="11" name="anim-g1-1258"/>
          <p:cNvSpPr/>
          <p:nvPr/>
        </p:nvSpPr>
        <p:spPr>
          <a:xfrm>
            <a:off x="8713396" y="2514600"/>
            <a:ext cx="2655339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1259"/>
          <p:cNvSpPr/>
          <p:nvPr/>
        </p:nvSpPr>
        <p:spPr>
          <a:xfrm>
            <a:off x="8850556" y="2514600"/>
            <a:ext cx="2381019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👁️ الحساسات</a:t>
            </a:r>
            <a:endParaRPr lang="ar-SA" sz="2100" dirty="0"/>
          </a:p>
        </p:txBody>
      </p:sp>
      <p:sp>
        <p:nvSpPr>
          <p:cNvPr id="13" name="anim-g1-1260"/>
          <p:cNvSpPr/>
          <p:nvPr/>
        </p:nvSpPr>
        <p:spPr>
          <a:xfrm>
            <a:off x="4768178" y="2514600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1261"/>
          <p:cNvSpPr/>
          <p:nvPr/>
        </p:nvSpPr>
        <p:spPr>
          <a:xfrm>
            <a:off x="4905338" y="2514600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قراءات صحيحة مع حماية nan والمقسم</a:t>
            </a:r>
            <a:endParaRPr lang="ar-SA" sz="2100" dirty="0"/>
          </a:p>
        </p:txBody>
      </p:sp>
      <p:sp>
        <p:nvSpPr>
          <p:cNvPr id="15" name="anim-g1-1262"/>
          <p:cNvSpPr/>
          <p:nvPr/>
        </p:nvSpPr>
        <p:spPr>
          <a:xfrm>
            <a:off x="822960" y="2514600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1263"/>
          <p:cNvSpPr/>
          <p:nvPr/>
        </p:nvSpPr>
        <p:spPr>
          <a:xfrm>
            <a:off x="960120" y="2514600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أرقام غريبة أو خطر على الأطراف</a:t>
            </a:r>
            <a:endParaRPr lang="ar-SA" sz="2100" dirty="0"/>
          </a:p>
        </p:txBody>
      </p:sp>
      <p:sp>
        <p:nvSpPr>
          <p:cNvPr id="17" name="anim-g2-1264"/>
          <p:cNvSpPr/>
          <p:nvPr/>
        </p:nvSpPr>
        <p:spPr>
          <a:xfrm>
            <a:off x="8713396" y="3422142"/>
            <a:ext cx="2655339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1265"/>
          <p:cNvSpPr/>
          <p:nvPr/>
        </p:nvSpPr>
        <p:spPr>
          <a:xfrm>
            <a:off x="8850556" y="3422142"/>
            <a:ext cx="2381019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🧠 المنطق</a:t>
            </a:r>
            <a:endParaRPr lang="ar-SA" sz="2100" dirty="0"/>
          </a:p>
        </p:txBody>
      </p:sp>
      <p:sp>
        <p:nvSpPr>
          <p:cNvPr id="19" name="anim-g2-1266"/>
          <p:cNvSpPr/>
          <p:nvPr/>
        </p:nvSpPr>
        <p:spPr>
          <a:xfrm>
            <a:off x="4768178" y="3422142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1267"/>
          <p:cNvSpPr/>
          <p:nvPr/>
        </p:nvSpPr>
        <p:spPr>
          <a:xfrm>
            <a:off x="4905338" y="3422142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عتبات مقاسة + millis</a:t>
            </a:r>
            <a:endParaRPr lang="ar-SA" sz="2100" dirty="0"/>
          </a:p>
        </p:txBody>
      </p:sp>
      <p:sp>
        <p:nvSpPr>
          <p:cNvPr id="21" name="anim-g2-1268"/>
          <p:cNvSpPr/>
          <p:nvPr/>
        </p:nvSpPr>
        <p:spPr>
          <a:xfrm>
            <a:off x="822960" y="3422142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1269"/>
          <p:cNvSpPr/>
          <p:nvPr/>
        </p:nvSpPr>
        <p:spPr>
          <a:xfrm>
            <a:off x="960120" y="3422142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أرقام من الكتاب + delay طويل</a:t>
            </a:r>
            <a:endParaRPr lang="ar-SA" sz="2100" dirty="0"/>
          </a:p>
        </p:txBody>
      </p:sp>
      <p:sp>
        <p:nvSpPr>
          <p:cNvPr id="23" name="anim-g3-1270"/>
          <p:cNvSpPr/>
          <p:nvPr/>
        </p:nvSpPr>
        <p:spPr>
          <a:xfrm>
            <a:off x="8713396" y="4329684"/>
            <a:ext cx="2655339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1271"/>
          <p:cNvSpPr/>
          <p:nvPr/>
        </p:nvSpPr>
        <p:spPr>
          <a:xfrm>
            <a:off x="8850556" y="4329684"/>
            <a:ext cx="2381019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📡 الاتصال</a:t>
            </a:r>
            <a:endParaRPr lang="ar-SA" sz="2100" dirty="0"/>
          </a:p>
        </p:txBody>
      </p:sp>
      <p:sp>
        <p:nvSpPr>
          <p:cNvPr id="25" name="anim-g3-1272"/>
          <p:cNvSpPr/>
          <p:nvPr/>
        </p:nvSpPr>
        <p:spPr>
          <a:xfrm>
            <a:off x="4768178" y="4329684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1273"/>
          <p:cNvSpPr/>
          <p:nvPr/>
        </p:nvSpPr>
        <p:spPr>
          <a:xfrm>
            <a:off x="4905338" y="4329684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JSON وتحديث تلقائي وconstrain</a:t>
            </a:r>
            <a:endParaRPr lang="ar-SA" sz="2100" dirty="0"/>
          </a:p>
        </p:txBody>
      </p:sp>
      <p:sp>
        <p:nvSpPr>
          <p:cNvPr id="27" name="anim-g3-1274"/>
          <p:cNvSpPr/>
          <p:nvPr/>
        </p:nvSpPr>
        <p:spPr>
          <a:xfrm>
            <a:off x="822960" y="4329684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1275"/>
          <p:cNvSpPr/>
          <p:nvPr/>
        </p:nvSpPr>
        <p:spPr>
          <a:xfrm>
            <a:off x="960120" y="4329684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إعادة تحميل يدوية</a:t>
            </a:r>
            <a:endParaRPr lang="ar-SA" sz="2100" dirty="0"/>
          </a:p>
        </p:txBody>
      </p:sp>
      <p:sp>
        <p:nvSpPr>
          <p:cNvPr id="29" name="anim-g4-1276"/>
          <p:cNvSpPr/>
          <p:nvPr/>
        </p:nvSpPr>
        <p:spPr>
          <a:xfrm>
            <a:off x="8713396" y="5237226"/>
            <a:ext cx="2655339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1277"/>
          <p:cNvSpPr/>
          <p:nvPr/>
        </p:nvSpPr>
        <p:spPr>
          <a:xfrm>
            <a:off x="8850556" y="5237226"/>
            <a:ext cx="2381019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🎤 العرض</a:t>
            </a:r>
            <a:endParaRPr lang="ar-SA" sz="2100" dirty="0"/>
          </a:p>
        </p:txBody>
      </p:sp>
      <p:sp>
        <p:nvSpPr>
          <p:cNvPr id="31" name="anim-g4-1278"/>
          <p:cNvSpPr/>
          <p:nvPr/>
        </p:nvSpPr>
        <p:spPr>
          <a:xfrm>
            <a:off x="4768178" y="5237226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1279"/>
          <p:cNvSpPr/>
          <p:nvPr/>
        </p:nvSpPr>
        <p:spPr>
          <a:xfrm>
            <a:off x="4905338" y="5237226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يشرح كل طبقة ويجيب عن «لماذا»</a:t>
            </a:r>
            <a:endParaRPr lang="ar-SA" sz="2100" dirty="0"/>
          </a:p>
        </p:txBody>
      </p:sp>
      <p:sp>
        <p:nvSpPr>
          <p:cNvPr id="33" name="anim-g4-1280"/>
          <p:cNvSpPr/>
          <p:nvPr/>
        </p:nvSpPr>
        <p:spPr>
          <a:xfrm>
            <a:off x="822960" y="5237226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1281"/>
          <p:cNvSpPr/>
          <p:nvPr/>
        </p:nvSpPr>
        <p:spPr>
          <a:xfrm>
            <a:off x="960120" y="5237226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يقرأ من الورقة</a:t>
            </a:r>
            <a:endParaRPr lang="ar-SA" sz="21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الفصل الذكي  ·  ١٧٩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2\.pptx-cache\s1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3743" y="457200"/>
            <a:ext cx="3364992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003743" y="45720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خطة جاهزة (١ من ٢)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الأسابيع ١–٤: العالم المادي</a:t>
            </a:r>
            <a:endParaRPr lang="ar-SA" sz="3800" dirty="0"/>
          </a:p>
        </p:txBody>
      </p:sp>
      <p:sp>
        <p:nvSpPr>
          <p:cNvPr id="5" name="anim-g1-1282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283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284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285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١: القراءة التماثلية والضوء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المقبض، map، LDR والعتبة</a:t>
            </a:r>
            <a:endParaRPr lang="ar-SA" sz="2400" dirty="0"/>
          </a:p>
        </p:txBody>
      </p:sp>
      <p:sp>
        <p:nvSpPr>
          <p:cNvPr id="9" name="anim-g2-1286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287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288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289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٢: الحرارة والمسافة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المكتبات والمرحّل، الموجات ومقسم Echo</a:t>
            </a:r>
            <a:endParaRPr lang="ar-SA" sz="2400" dirty="0"/>
          </a:p>
        </p:txBody>
      </p:sp>
      <p:sp>
        <p:nvSpPr>
          <p:cNvPr id="13" name="anim-g3-1290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291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292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293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٣: الحركة والصوت والسيرفو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إنذار، لحن، بوابة</a:t>
            </a:r>
            <a:endParaRPr lang="ar-SA" sz="2400" dirty="0"/>
          </a:p>
        </p:txBody>
      </p:sp>
      <p:sp>
        <p:nvSpPr>
          <p:cNvPr id="17" name="anim-g4-1294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295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296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297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٤: المحركات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جسر H وL298N ودالة drive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الفصل الذكي  ·  ١٨١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3743" y="457200"/>
            <a:ext cx="3364992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003743" y="45720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خطة جاهزة (٢ من ٢)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الأسابيع ٥–٨: العالم المتصل</a:t>
            </a:r>
            <a:endParaRPr lang="ar-SA" sz="3800" dirty="0"/>
          </a:p>
        </p:txBody>
      </p:sp>
      <p:sp>
        <p:nvSpPr>
          <p:cNvPr id="5" name="anim-g1-1298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299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300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301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٥: الواي فاي وخادم الويب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IP، أول ليد من الجوال</a:t>
            </a:r>
            <a:endParaRPr lang="ar-SA" sz="2400" dirty="0"/>
          </a:p>
        </p:txBody>
      </p:sp>
      <p:sp>
        <p:nvSpPr>
          <p:cNvPr id="9" name="anim-g2-1302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303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304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305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٦: لوحة التحكم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JSON وfetch والسيرفو من الجوال</a:t>
            </a:r>
            <a:endParaRPr lang="ar-SA" sz="2400" dirty="0"/>
          </a:p>
        </p:txBody>
      </p:sp>
      <p:sp>
        <p:nvSpPr>
          <p:cNvPr id="13" name="anim-g3-1306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307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308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309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٧: ESP-NOW والسيارة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جرس لاسلكي، سيارة AP</a:t>
            </a:r>
            <a:endParaRPr lang="ar-SA" sz="2400" dirty="0"/>
          </a:p>
        </p:txBody>
      </p:sp>
      <p:sp>
        <p:nvSpPr>
          <p:cNvPr id="17" name="anim-g4-1310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311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312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313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٨: مشروع التخرج والمعرض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الفصل الذكي أو فكرة الطلاب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الفصل الذكي  ·  ١٨٢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59391" y="457200"/>
            <a:ext cx="160934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759391" y="4572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القادم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الجزء الثالث: ESP32 والسحابة</a:t>
            </a:r>
            <a:endParaRPr lang="ar-SA" sz="3800" dirty="0"/>
          </a:p>
        </p:txBody>
      </p:sp>
      <p:sp>
        <p:nvSpPr>
          <p:cNvPr id="5" name="anim-g1-1314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315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316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☁️</a:t>
            </a:r>
            <a:endParaRPr lang="ar-SA" sz="2200" dirty="0"/>
          </a:p>
        </p:txBody>
      </p:sp>
      <p:sp>
        <p:nvSpPr>
          <p:cNvPr id="8" name="anim-g1-1317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الإنترنت السحابي</a:t>
            </a:r>
            <a:endParaRPr lang="ar-SA" sz="2200" dirty="0"/>
          </a:p>
        </p:txBody>
      </p:sp>
      <p:sp>
        <p:nvSpPr>
          <p:cNvPr id="9" name="anim-g1-1318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تحكم من أي مكان في العالم: MQTT ومنصات IoT</a:t>
            </a:r>
            <a:endParaRPr lang="ar-SA" sz="1900" dirty="0"/>
          </a:p>
        </p:txBody>
      </p:sp>
      <p:sp>
        <p:nvSpPr>
          <p:cNvPr id="10" name="anim-g2-1319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320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321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🔵</a:t>
            </a:r>
            <a:endParaRPr lang="ar-SA" sz="2200" dirty="0"/>
          </a:p>
        </p:txBody>
      </p:sp>
      <p:sp>
        <p:nvSpPr>
          <p:cNvPr id="13" name="anim-g2-1322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البلوتوث</a:t>
            </a:r>
            <a:endParaRPr lang="ar-SA" sz="2200" dirty="0"/>
          </a:p>
        </p:txBody>
      </p:sp>
      <p:sp>
        <p:nvSpPr>
          <p:cNvPr id="14" name="anim-g2-1323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تطبيقات الجوال وأجهزة BLE</a:t>
            </a:r>
            <a:endParaRPr lang="ar-SA" sz="1900" dirty="0"/>
          </a:p>
        </p:txBody>
      </p:sp>
      <p:sp>
        <p:nvSpPr>
          <p:cNvPr id="15" name="anim-g3-1324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325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326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📷</a:t>
            </a:r>
            <a:endParaRPr lang="ar-SA" sz="2200" dirty="0"/>
          </a:p>
        </p:txBody>
      </p:sp>
      <p:sp>
        <p:nvSpPr>
          <p:cNvPr id="18" name="anim-g3-1327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ESP32-CAM</a:t>
            </a:r>
            <a:endParaRPr lang="ar-SA" sz="2200" dirty="0"/>
          </a:p>
        </p:txBody>
      </p:sp>
      <p:sp>
        <p:nvSpPr>
          <p:cNvPr id="19" name="anim-g3-1328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كاميرا وبث مباشر وتعرف على الصور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الفصل الذكي  ·  ١٨٣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18527" y="457200"/>
            <a:ext cx="395020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18527" y="45720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نشاط ختامي — عشر دقائق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خطتي مع طلابي</a:t>
            </a:r>
            <a:endParaRPr lang="ar-SA" sz="3800" dirty="0"/>
          </a:p>
        </p:txBody>
      </p:sp>
      <p:sp>
        <p:nvSpPr>
          <p:cNvPr id="5" name="anim-g1-1329"/>
          <p:cNvSpPr/>
          <p:nvPr/>
        </p:nvSpPr>
        <p:spPr>
          <a:xfrm>
            <a:off x="10637215" y="2286000"/>
            <a:ext cx="731520" cy="73152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6" name="anim-g1-1330"/>
          <p:cNvSpPr/>
          <p:nvPr/>
        </p:nvSpPr>
        <p:spPr>
          <a:xfrm>
            <a:off x="10637215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400" dirty="0"/>
          </a:p>
        </p:txBody>
      </p:sp>
      <p:sp>
        <p:nvSpPr>
          <p:cNvPr id="7" name="anim-g1-1331"/>
          <p:cNvSpPr/>
          <p:nvPr/>
        </p:nvSpPr>
        <p:spPr>
          <a:xfrm>
            <a:off x="4023360" y="219456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اختر مشكلة حقيقية في مدرستك يحلها مشروع متصل</a:t>
            </a:r>
            <a:endParaRPr lang="ar-SA" sz="2200" dirty="0"/>
          </a:p>
        </p:txBody>
      </p:sp>
      <p:sp>
        <p:nvSpPr>
          <p:cNvPr id="8" name="anim-g2-1332"/>
          <p:cNvSpPr/>
          <p:nvPr/>
        </p:nvSpPr>
        <p:spPr>
          <a:xfrm>
            <a:off x="10637215" y="3383280"/>
            <a:ext cx="731520" cy="73152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9" name="anim-g2-1333"/>
          <p:cNvSpPr/>
          <p:nvPr/>
        </p:nvSpPr>
        <p:spPr>
          <a:xfrm>
            <a:off x="10637215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400" dirty="0"/>
          </a:p>
        </p:txBody>
      </p:sp>
      <p:sp>
        <p:nvSpPr>
          <p:cNvPr id="10" name="anim-g2-1334"/>
          <p:cNvSpPr/>
          <p:nvPr/>
        </p:nvSpPr>
        <p:spPr>
          <a:xfrm>
            <a:off x="4023360" y="329184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اكتب طبقاته الأربع: يحسّ، يقرر، يتحرك، يتصل</a:t>
            </a:r>
            <a:endParaRPr lang="ar-SA" sz="2200" dirty="0"/>
          </a:p>
        </p:txBody>
      </p:sp>
      <p:sp>
        <p:nvSpPr>
          <p:cNvPr id="11" name="anim-g3-1335"/>
          <p:cNvSpPr/>
          <p:nvPr/>
        </p:nvSpPr>
        <p:spPr>
          <a:xfrm>
            <a:off x="10637215" y="4480560"/>
            <a:ext cx="731520" cy="73152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2" name="anim-g3-1336"/>
          <p:cNvSpPr/>
          <p:nvPr/>
        </p:nvSpPr>
        <p:spPr>
          <a:xfrm>
            <a:off x="10637215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400" dirty="0"/>
          </a:p>
        </p:txBody>
      </p:sp>
      <p:sp>
        <p:nvSpPr>
          <p:cNvPr id="13" name="anim-g3-1337"/>
          <p:cNvSpPr/>
          <p:nvPr/>
        </p:nvSpPr>
        <p:spPr>
          <a:xfrm>
            <a:off x="4023360" y="438912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حدد القطع والأطراف من خريطة الأطراف الموحدة</a:t>
            </a:r>
            <a:endParaRPr lang="ar-SA" sz="2200" dirty="0"/>
          </a:p>
        </p:txBody>
      </p:sp>
      <p:sp>
        <p:nvSpPr>
          <p:cNvPr id="14" name="anim-g4-1338"/>
          <p:cNvSpPr/>
          <p:nvPr/>
        </p:nvSpPr>
        <p:spPr>
          <a:xfrm>
            <a:off x="10637215" y="5577840"/>
            <a:ext cx="731520" cy="73152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4-1339"/>
          <p:cNvSpPr/>
          <p:nvPr/>
        </p:nvSpPr>
        <p:spPr>
          <a:xfrm>
            <a:off x="10637215" y="5577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400" dirty="0"/>
          </a:p>
        </p:txBody>
      </p:sp>
      <p:sp>
        <p:nvSpPr>
          <p:cNvPr id="16" name="anim-g4-1340"/>
          <p:cNvSpPr/>
          <p:nvPr/>
        </p:nvSpPr>
        <p:spPr>
          <a:xfrm>
            <a:off x="4023360" y="548640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شارك فكرتك مع زميلك واسمع رأيه</a:t>
            </a:r>
            <a:endParaRPr lang="ar-SA" sz="2200" dirty="0"/>
          </a:p>
        </p:txBody>
      </p:sp>
      <p:sp>
        <p:nvSpPr>
          <p:cNvPr id="17" name="Shape 15"/>
          <p:cNvSpPr/>
          <p:nvPr/>
        </p:nvSpPr>
        <p:spPr>
          <a:xfrm>
            <a:off x="822960" y="2194560"/>
            <a:ext cx="2834640" cy="2834640"/>
          </a:xfrm>
          <a:prstGeom prst="ellipse">
            <a:avLst/>
          </a:prstGeom>
          <a:solidFill>
            <a:srgbClr val="FFFFFF">
              <a:alpha val="5000"/>
            </a:srgbClr>
          </a:solidFill>
          <a:ln w="88900">
            <a:solidFill>
              <a:srgbClr val="D9AE4B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8346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10:00</a:t>
            </a:r>
            <a:endParaRPr lang="ar-SA" sz="6000" dirty="0"/>
          </a:p>
        </p:txBody>
      </p:sp>
      <p:sp>
        <p:nvSpPr>
          <p:cNvPr id="19" name="Text 17"/>
          <p:cNvSpPr/>
          <p:nvPr/>
        </p:nvSpPr>
        <p:spPr>
          <a:xfrm>
            <a:off x="82296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١٠ دقائق</a:t>
            </a:r>
            <a:endParaRPr lang="ar-SA" sz="16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٢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الفصل الذكي  ·  ١٨٤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15788" y="914400"/>
            <a:ext cx="960120" cy="960120"/>
          </a:xfrm>
          <a:prstGeom prst="roundRect">
            <a:avLst>
              <a:gd name="adj" fmla="val 26667"/>
            </a:avLst>
          </a:prstGeom>
          <a:solidFill>
            <a:srgbClr val="D9AE4B"/>
          </a:solidFill>
          <a:ln/>
        </p:spPr>
      </p:sp>
      <p:sp>
        <p:nvSpPr>
          <p:cNvPr id="3" name="Text 1"/>
          <p:cNvSpPr/>
          <p:nvPr/>
        </p:nvSpPr>
        <p:spPr>
          <a:xfrm>
            <a:off x="5615788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</a:t>
            </a:r>
            <a:endParaRPr lang="ar-SA" sz="4400" dirty="0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FFF3D6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شكرًا لكم</a:t>
            </a:r>
            <a:endParaRPr lang="ar-SA" sz="80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ESP32 أحسّ… وقرر… وتحرك… واتصل. والآن دور طلابكم</a:t>
            </a:r>
            <a:endParaRPr lang="ar-SA" sz="2800" dirty="0"/>
          </a:p>
        </p:txBody>
      </p:sp>
      <p:sp>
        <p:nvSpPr>
          <p:cNvPr id="6" name="Shape 4"/>
          <p:cNvSpPr/>
          <p:nvPr/>
        </p:nvSpPr>
        <p:spPr>
          <a:xfrm>
            <a:off x="5364328" y="4434840"/>
            <a:ext cx="1463040" cy="36576"/>
          </a:xfrm>
          <a:prstGeom prst="rect">
            <a:avLst/>
          </a:prstGeom>
          <a:solidFill>
            <a:srgbClr val="D9AE4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ESP32 للمعلمين ٢ · إعداد وتقديم: أ. محمد زيتون</a:t>
            </a:r>
            <a:endParaRPr lang="ar-SA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185</Slides>
  <Notes>185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185</vt:i4>
      </vt:variant>
    </vt:vector>
  </HeadingPairs>
  <TitlesOfParts>
    <vt:vector size="1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للمعلمين ٢</dc:title>
  <dc:subject>PptxGenJS Presentation</dc:subject>
  <dc:creator>أ. محمد زيتون</dc:creator>
  <cp:lastModifiedBy>أ. محمد زيتون</cp:lastModifiedBy>
  <cp:revision>1</cp:revision>
  <dcterms:created xsi:type="dcterms:W3CDTF">2026-10-03T04:34:31Z</dcterms:created>
  <dcterms:modified xsi:type="dcterms:W3CDTF">2026-10-03T04:34:31Z</dcterms:modified>
</cp:coreProperties>
</file>