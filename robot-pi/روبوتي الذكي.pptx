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notesMasterIdLst>
    <p:notesMasterId r:id="rId19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529"/>
    <p:restoredTop sz="94610"/>
  </p:normalViewPr>
  <p:slideViewPr>
    <p:cSldViewPr snapToGrid="0" snapToObjects="1">
      <p:cViewPr varScale="1">
        <p:scale>
          <a:sx n="94" d="100"/>
          <a:sy n="94" d="100"/>
        </p:scale>
        <p:origin x="53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viewProps" Target="view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theme" Target="theme/theme1.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slide" Target="slides/slide182.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0" Type="http://schemas.openxmlformats.org/officeDocument/2006/relationships/notesMaster" Target="notesMasters/notesMaster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6826931"/>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رحّب بالطلاب بحماس. قل: «في هذه الدورة لن نتفرج على روبوت… سنبنيه بأيدينا، ونعلّمه بأنفسنا».</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«التالي» لتظهر كل جملة. اقرأها بصوت روبوت مضحك، أو اطلب من طالب أن يقرأها. بعد الجملة الأخيرة انتظر حتى يقول الطلاب «مستعدين!».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«أي قوة تتمنى أن نبدأ بها؟». سجّل الأكثر طلبًا على السبورة، وذكّرهم بها حين نصل إليها.</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«التالي» لجولة على الأجزاء الثمانية، أو اطلب من طالب أن يأتي ويضغط على جزء يختاره. قبل أن تكشف كل جزء اسأل: «ماذا يقابل هذا الجزء في جسمك؟». انتبه: حساس الألتراسونك يشبه العينين، لكن العين الحقيقية لنبيه هي الكاميرا الصغيرة فوقه. هذه مفاجأة جميلة للطلاب.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وضّح: كل ما سيفعله نبيه هو أوامر سنكتبها نحن. لو أخطأ نبيه، فنحن من سيصلح الخطأ. هذا اسمه «البرمجة».</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مرّ على الخريطة بسرعة. قل: «كل وحدة تعطي نبيه قوة جديدة، وفي آخر وحدة نعرض نبيه أمام المدرسة كلها».</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قسّم الطلاب من الآن إلى فرق، من ٣ إلى ٤ طلاب في كل فريق. لكل فريق اسم، وسيبقى الفريق نفسه حتى آخر الدورة.</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فريق أن يقرأ قاعدة بصوت عالٍ. يمكنك طباعة هذه القواعد وتعليقها في المعمل.</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على أي خيار ليظهر الجواب. اسأل بعدها: «من يعرف حيوانًا آخر يستخدم الصدى؟» (الدلفين).</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السؤال جسر للوحدة الأولى. بعد الجواب قل: «إذن… ما هذا الراسبيري باي؟ هذا ما سنكتشفه الآن».</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ارفع لوحة Raspberry Pi الحقيقية أمام الطلاب، واسأل: «هل تصدقون أن هذا كمبيوتر كامل؟».</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المهمات بسرعة، وارجع إليها في آخر الوحدة: «هل عرفنا كل هذا؟».</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قارن حجمه ببطاقة أو بجوال. وضّح: فيه كل ما في كمبيوتر المدرسة: معالج وذاكرة وإنترنت وشاشة.</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ركّز على البطاقة الرابعة: هذه ميزته الكبرى، ولهذا اخترناه عقلًا لنبيه.</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المغزى: الراسبيري باي صُنع من أجل الطلاب أنفسهم، ليتعلموا البرمجة وهم يجرّبون. اسأل: «لو صنعت جهازًا للطلاب، ماذا ستضع فيه؟».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الطلاب يحبون قصص الأسماء. اسأل: «لو صنعتم روبوتًا، أي فاكهة تختارون اسمًا له؟».</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«التالي» لجولة على ١٤ جزءًا، والجولة تنتهي بأهم جزء لنبيه: منافذ GPIO. الأفضل أن يمسك كل فريق لوحة حقيقية، ويجد الجزء نفسه عليها كلما ظهر في الرسمة. كرت الذاكرة تحت اللوحة، فاقلبها ليروه.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تجعل الطلاب يظنون أن الأردوينو سيئ. قل: «الأردوينو ممتاز للأعمال البسيطة السريعة، مثل الإشارة الضوئية. أما نبيه فيحتاج عقلًا كبيرًا يفكر». من درس الأردوينو قبل ذلك سيفهم المقارنة بسرعة.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افتح الصندوق الحقيقي أمام الطلاب قطعة قطعة. ملاحظة للمعلم: منفذ الشاشة في Pi 4 صغير (micro-HDMI)، فتأكد أن الكابل الذي في الصندوق من هذا النوع، أو استخدم محوّلًا.</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لو أخطأ أغلب الطلاب، ارجع لشريحة اللوحة واضغط على الجزأين: الذاكرة المؤقتة، وكرت الذاكرة.</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أهم سؤال في الوحدة، لأن منافذ GPIO هي أساس كل الوحدات القادمة.</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فريق أن يختار كلمة ويشرحها بأسلوبه للفريق الآخر.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على المؤقت ليبدأ العد. علّق الرسومات في المعمل، وسنرجع إليها عندما يكتمل نبيه الحقيقي.</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نشاط «أنا الروبوت» يرسّخ فكرة أن العقل يستقبل ويقرر ويأمر، وهي فكرة الدورة كلها.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قبل الوحدة القادمة: جهّز الشاشة والكيبورد والماوس، وكرت الذاكرة.</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جهّز قبل الحصة: كرت الذاكرة جاهز بالنظام (الشريحة الرابعة)، والشاشة والكيبورد والماوس، وصندوق الـ Pi لكل فريق إن وُجد.</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اربط بالوحدة الماضية: «عرفنا أجزاء العقل… اليوم نوقظه لأول مرة!».</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وضّح: نظام التشغيل مثل مدير المدرسة: ينظّم كل شيء، ويقرر أي برنامج يعمل، ويكلّم الشاشة والكيبورد. بدونه يكون الجهاز قطعة صامتة. اسأل: «أي نظام موجود في جوالك؟».</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الخطوة يعملها المعلم قبل الحصة على أي لابتوب، ببرنامج Raspberry Pi Imager المجاني من موقع raspberrypi.com/software. اعرضها على الطلاب ليعرفوا ماذا حدث للكرت، لكن لا يحتاجون تطبيقها. مهم جدًّا: اكتب كلمة المرور وشبكة الواي فاي في دفترك، وسنحتاج اسم الجهاز nabeeh في الوحدات القادمة. ⚠️ لا تكتب على كرت مشروع المصمك، بل استخدم كرتًا جديدًا.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دع الفرق تتنافس: فريق يأتي ويضغط البطاقات. لو أخطأ تهتز البطاقة. زر «التالي» يكشف الترتيب واحدة واحدة إذا أردت. ملاحظة: كرت الذاكرة قد يُدخل بعد الجراب في بعض الأنواع، المهم أن الكهرباء دائمًا آخر شيء. بعدها طبّقوا الترتيب على القطع الحقيقية.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كرّرها مع الطلاب بصوت واحد. وعند الإطفاء العكس: نطفئ من القائمة أولًا، ثم ننزع الكهرباء.</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إذا لم يظهر شيء على الشاشة: تأكد أن الكابل في منفذ HDMI الأقرب لمدخل الكهرباء (HDMI 0)، وأن الشاشة على المدخل الصحيح. إذا بقي الضوء الأحمر وحده ولم يرمش الأخضر: الكرت غير مجهّز أو غير مُدخل جيدًا.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«التالي» للجولة. ثم أعطِ كل فريق دقيقتين يستكشف فيها بنفسه: يفتح مدير الملفات، ويغيّر الصوت. أهم شيء: زر التوتة 🍓، فمنه نفتح البرامج ونطفئ الجهاز.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نفتح Thonny من: زر التوتة ← Programming ← Thonny. اضغط «التالي» للجولة، وعند زر التشغيل تظهر النتيجة في الأسفل. ملاحظة للمعلم: برنامج Thonny على الـ Pi قد يعرض الحروف العربية مقطّعة أو معكوسة، لذلك نكتب الرسائل على الشاشة بالإنجليزي. أما كلام نبيه بصوته فسيكون بالعربي في الوحدة التاسعة.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دع كل فريق يكتب البرنامج بنفسه حرفًا حرفًا. أشهر الأخطاء: نسيان علامة التنصيص أو القوس، أو كتابة Print بحرف كبير. لا تصلح لهم مباشرة: اطلب منهم قراءة رسالة الخطأ الحمراء أولًا.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تجوّل بين الفرق. الفريق الذي ينتهي يساعد فريقًا آخر بدل أن ينتظر.</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لو نزعنا الكهرباء والـ Pi يكتب على الكرت، قد يخرب النظام كله ونعيد تجهيز الكرت من البداية. اجعل الإطفاء الصحيح عادة في آخر كل حصة.</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بعدها: «وعند الإطفاء؟» (نطفئ من القائمة أولًا).</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سؤال مهم ليفهموا الفرق بين الأمر والنتيجة.</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فريق أن يمثّل كلمة بحركة، والفرق الأخرى تخمّن.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تجهيز الكرت يأخذ وقتًا، فاحتفظ بنسخة احتياطية جاهزة لو خرب كرت أحد الفرق.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ذكّر الحارس بالإطفاء الآمن قبل الخروج.</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الوحدة يمكن تقسيمها على حصتين: الأولى حتى نهاية «برمج نبيه»، والثانية للمتغيرات والتكرار والشرط.</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تقلق إن لم يحفظ الطلاب كل شيء. الهدف أن يفهموا الفكرة، وسنكررها كثيرًا مع نبيه الحقيقي.</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مثال من الحياة: الوضوء خطوات بالترتيب. لو غيّرنا الترتيب يتغير كل شيء. الروبوت مثلنا: ينفّذ ما نقول بالضبط، بالترتيب الذي نقوله.</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أهم نشاط في الوحدة. الطلاب سيكتشفون بأنفسهم أن الأمر غير الدقيق يسبب مشكلة. شجّع «الروبوت» أن يكون حرفيًّا ومضحكًا.</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اسم Python معناه «ثعبان الأصلة»، لكن مخترعها سمّاها على اسم برنامج تلفزيوني كوميدي كان يحبه!</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طالب أن يأتي للسبورة. كل بطاقة يضغطها تضيف أمرًا لبرنامجه، وتظهر في الأسفل بلغة Python فورًا. للحذف: اضغط على الأمر في القائمة. زر «💡 الحل» للمعلم فقط.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أشهر خطأ هنا: الخلط بين يمين نبيه ويمين الطالب. نبيه يلف حول نفسه، فاليمين يمين نبيه هو. اطلب من الطالب أن يقف ويتجه مثل نبيه ثم يلف.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أصعب. دع الفرق تخطط على الورق أولًا: ترسم الطريق، ثم تكتب الأوامر، ثم تجرّب. لو اصطدم نبيه، اسألهم: «في أي أمر بالضبط حصلت المشكلة؟». هذا اسمه «تصحيح الأخطاء» وهو أهم مهارة للمبرمج.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مكتبة nabeeh سنكتبها نحن (المعلم) ونضعها على الـ Pi في الوحدة الخامسة. الطلاب يستعملونها فقط، كما يستعمل السائق السيارة دون أن يصنع محركها.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علّم الطلاب حيلة: left تبدأ بحرف L، وإذا رفعت يدك اليسرى وفتحت الإبهام والسبابة يتكوّن حرف L!</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أحضر صندوقًا حقيقيًّا واكتب عليه اسمًا، وضع فيه ورقة عليها رقم. «الاسم لا يتغير، لكن ما بداخله يمكن أن يتغير… لذلك نسميه متغيرًا».</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طالب أن يكتب اسمه في الصندوق الأول، فيتغير الكود فورًا. ثم يغيّر عدد الخطوات ويضغط «شغّل». لاحظوا: الأمر &lt;code&gt;nabeeh.forward(steps)&lt;/code&gt; لم يتغير، لكن نبيه مشى مسافة مختلفة، لأن ما بداخل الصندوق تغيّر. النص يوضع بين تنصيص، أما الرقم فبدون تنصيص.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مثال: لو أردت أن تقول لزميلك «صفّق» عشر مرات، هل تقولها عشر مرات؟ لا… تقول: «صفّق عشر مرات». هذا هو التكرار.</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الدرج يتكون من نفس الحركة ثلاث مرات: امشِ، لف يسار، امشِ، لف يمين. لاحظوا الكود: كتبنا ٤ أوامر فقط بدل ١٢! والمسافة في أول السطر تحت for معناها: هذه الأوامر داخل التكرار.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المسافة في Python ليست للزينة، بل هي التي تحدد ما داخل التكرار. في Thonny نضغط زر Tab لنعمل المسافة.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نحن نستعمل الشرط كل يوم: إذا كانت الإشارة حمراء نقف، وإلا نمشي. إذا جعت آكل. والروبوت الذكي يقرر بنفس الطريقة.</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حرّك المؤشر ببطء، ودع الطلاب يلاحظون أي الأسطر تضيء. عند ١٩ سم يتوقف نبيه، وعند ٢٠ يمشي. اسأل: «لماذا ٢٠ بالضبط؟ لأننا نحن كتبنا ٢٠!». جرّبوا أن يقترحوا رقمًا آخر. هذا البرنامج نفسه سيعمل على نبيه الحقيقي في الوحدة السادسة مع حساس الألتراسونك.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Python نكتب الأمر الداخلي في سطر جديد بمسافة، لكننا جمعناه هنا في سطر واحد ليتسع في السؤال.</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لو أخطأ كثيرون، ارجع لشريحة «نبيه يقرر» وضع المؤشر على ٥٠.</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كلمة Bug معناها حشرة! يُحكى أن حشرة حقيقية علقت داخل كمبيوتر قديم فعطّلته، فبقي الاسم لكل خطأ برمجي.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منهم كتابة الحل بأوامر Python الحقيقية (nabeeh.forward()…)، وليس بالأسهم. الفريق الذي يستعمل for بذكاء يأخذ نقطة إضافية.</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رسّخ ثقافة أن الخطأ طبيعي. المبرمجون المحترفون يقضون نصف وقتهم في تصحيح الأخطاء.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الطلاب أن يشرحوا لأهلهم في البيت: ما البرنامج؟ وما المتغير؟</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جهّز لكل فريق: لوح توصيل صغير (بريدبورد)، وليد أحمر، ومقاومة ٢٢٠ أوم، وزر ضغاط، و٤ أسلاك (ذكر-أنثى). والـ Pi مطفأ قبل التوصيل دائمًا.</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الليد والزر هما «مرحبًا بالعالم» في الإلكترونيات. كل روبوت في العالم بدأ صانعه بهما.</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ارجع لشريحة لوحة Pi 4 في الوحدة الأولى، وأشر إلى الدبابيس الأربعين في الأعلى.</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«التالي» للجولة: 5V، ثم 3.3V، ثم GND، ثم GPIO، ثم الفرق المهم بين رقم الدبوس واسمه، وأخيرًا كل دبابيس نبيه. بعدها اطلب من كل فريق أن يجد الدبوس رقم ١١ على اللوحة الحقيقية. نصيحة: اطبع خريطة الدبابيس وألصقها بجانب كل فريق.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«الليد مخرج أم مدخل؟ والزر؟ وحساس المسافة؟». المحرك مخرج، والحساس مدخل.</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أهم شريحة في الوحدة. اطلب من الطلاب أن يكرروا القاعدة: «GPIO = ثلاثة فاصلة ثلاثة».</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لو وضعنا الليد بالعكس لن يحترق، لكنه لن يضيء. اقلبه فقط.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نقرة تضيف قطعة جديدة، والقطعة الجديدة تلمع. نفّذ الخطوة على القطع الحقيقية مع الطلاب قبل أن تنتقل للتالية. لوح التوصيل: كل عمود من ٥ ثقوب متصل من الداخل.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«شغّل» وشاهد الأسطر تضيء مع الليد. ثم حرّك المؤشر ليرى الطلاب أن تغيير رقم واحد يغيّر سرعة الوميض. بعدها افتحوا الملف 04_blink.py في Thonny وشغّلوه على الليد الحقيقي.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قارن بين while True و for: for تكرر عددًا محددًا، وwhile True تكرر بلا نهاية. الروبوتات تعمل غالبًا بـ while True.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الزر بلا مقاومة لأن gpiozero تفعّل مقاومة داخلية في الـ Pi تلقائيًّا. ضع الزر فوق القناة الوسطى للوح التوصيل.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دع طالبًا يضغط الزر في الشاشة ويستمر، ثم يتركه. لاحظوا السطر الذي يضيء: when_pressed عند الضغط، وwhen_released عند الترك. الفكرة الجديدة هنا: البرنامج لا يكرر شيئًا، بل «ينتظر حدثًا»، وهذا اسمه البرمجة بالأحداث.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أكثر خطأ يقع فيه المبتدئون في العالم كله. خريطة الدبابيس المطبوعة تحل المشكلة.</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علّمهم قائمة الفحص: الليد مقلوب؟ السلك في الدبوس الصحيح؟ القطع في أعمدة صحيحة؟ البرنامج يعمل؟</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gpiozero اسم المكتبة التي نستعملها: «جي بي آي أو زيرو»، وكلمة zero تعني أنها سهلة جدًّا للمبتدئين.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تلميح للفرق: ومضة سريعة = sleep(0.2)، وبطيئة = sleep(0.6). حل التحدي الإضافي: button.wait_for_press() قبل الإشارة.</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نشاط المفتش يحمي القطع، ويعلّم الطلاب ثقافة المراجعة التي يعمل بها المهندسون الحقيقيون.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الفرق فك الدائرة وإرجاع القطع، وإطفاء الـ Pi بأمان.</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أكثر وحدة ينتظرها الطلاب. جهّز: هيكل السيارة مركّبًا بمحركيه، ولوحة L298N، وحامل البطاريتين (والبطاريتين مشحونتين)، و٥ أسلاك. ويعمل الـ Pi في هذه الوحدة من الباور بانك.</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اربط بلعبة «برمج نبيه» في الوحدة الثالثة: «الأوامر التي جرّبتموها على الشاشة… ستعمل اليوم على نبيه الحقيقي».</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تشبيه: المدير (الـ Pi) لا يحمل الصناديق الثقيلة بنفسه، بل يأمر العامل القوي (L298N) فيحملها بطاقته هو (البطارية).</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«التالي» للجولة. ثم أمسك اللوحة الحقيقية ودع كل فريق يجد الأجزاء نفسها. تنبيه: المشتت الحراري يسخن مع الاستعمال الطويل.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المحرك العادي (DC) يدور حسب اتجاه الكهرباء. لوحة L298N تقلب الاتجاه بأمر من الـ Pi، دون أن نفك الأسلاك. و١ معناها «كهرباء»، و٠ معناها «لا كهرباء».</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اتجاه، ودع الطلاب يلاحظون الأرقام الأربعة. السؤال الذهبي: «كيف يلف نبيه وليس له مقود؟» الجواب: عجلة للأمام وعجلة للخلف، فيدور حول نفسه مثل الدبابة.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أهم خطوة: الأرضي المشترك (الخطوة الرابعة). بدونه تتصرف المحركات بشكل غريب أو لا تتحرك. ⚠️ البطارية يركّبها المعلم بنفسه.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أول برنامج نشغّله هو 05_motor_test.py: يدير كل عجلة وحدها ثانيتين للأمام. لو دارت عجلة للخلف، نعكس سلكي محركها في لوحة L298N، ولا نغيّر الكود.</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نسخة مختصرة؛ الملف الكامل nabeeh.py فيه كل أوامر نبيه وتعليقاته بالعربي. هذه الشريحة للفضوليين: الطلاب لا يحتاجون كتابة المكتبة، لكن رؤيتها تكسر «الغموض». الفكرة الجديدة هي def: نحن نصنع أوامرنا الخاصة. المكتبة كاملة على المنصة، ويثبّتها المعلم بأمر واحد (انظر ملاحظة الشريحة التالية).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أمر التثبيت يأخذ ١٠ إلى ١٥ دقيقة، ويحتاج إنترنت. يضع كل برامج الدورة في المجلد nabeeh. افتحوا منه الملفات في Thonny، واحفظوا برامجكم الجديدة فيه أيضًا (حتى يجد import nabeeh المكتبة).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أرض تختلف: السجاد يبطئ اللف، والبلاط يسرّعه. اجعلها تجربة علمية: الفريق يجرّب TURN_TIME = 0.3 ثم 0.4 ثم 0.5، ويقيس أيها يعطي ربع دائرة. الأرقام في أعلى ملف nabeeh.py.</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ارجع لمختبر القيادة إن احتاج الطلاب.</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المفهوم (فصل التحكم عن القدرة) أساس كل الروبوتات والسيارات الكهربائية.</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تحدٍّ إضافي للمتميزين: يرسم نبيه مربعًا كاملًا ويرجع لنفس المكان بالضبط (يحتاج معايرة دقيقة).</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إن أعاد الـ Pi تشغيل نفسه عند تحرك المحركات، فالسبب ضعف الباور بانك أو مشاركة الكهرباء. افصل كهرباء العقل عن العضلات دائمًا.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أطفئ مفتاح البطارية أولًا، ثم أطفئ الـ Pi بأمان.</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جهّز لكل فريق: حساس HC-SR04، ومقاومة ١ كيلو أوم (بني أسود أحمر)، ومقاومة ٢ كيلو أوم (أحمر أسود أحمر)، و٤ أسلاك. وصناديق كرتون صغيرة لصنع متاهة.</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الوحدة هي اللحظة التي يتحول فيها نبيه من «سيارة نتحكم بها» إلى «روبوت يقرر بنفسه».</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الدلفين يفعل الشيء نفسه تحت الماء، والغواصات والسفن أيضًا (السونار). اسأل: «لو صرخت في وادٍ كبير، متى يرجع صوتك؟».</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حرّك الجدار بعيدًا ثم اضغط «أطلق الصوت» ولاحظ الزمن، ثم قرّبه وأعد. الصوت سريع جدًّا: ٣٤٣ مترًا في الثانية! لذلك الزمن صغير جدًّا، بالأجزاء من ألف من الثانية. ولماذا نقسم على ٢؟ لأن الصوت ذهب ورجع، فقطع المسافة مرتين.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الدائرتان الفضيتان ليستا عينين: الأولى سماعة صغيرة (تصرخ)، والثانية ميكروفون صغير (يسمع). تذكّروا مفاجأة الوحدة الأولى!</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الحساس يعمل بخمسة فولت، فيرسل إشارة ECHO بخمسة فولت. لكن دبابيس GPIO تتحمل ٣٫٣ فقط (تذكّروا قاعدة الوحدة الرابعة). المقاومتان تقسمان الجهد: نصيب الـ Pi ثلثا الخمسة تقريبًا = ٣٫٣ فولت. ⚠️ لو نسينا المقاومتين قد يتلف الدبوس مع الوقت.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الخطوة الخامسة هي الأهم: تأكد من ألوان المقاومتين. المقاومة ١ كيلو (بني أسود أحمر) تأتي من ECHO، و٢ كيلو (أحمر أسود أحمر) تذهب إلى GND. والسلك الأزرق يخرج من نقطة التقائهما.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تجربة علمية: ضعوا مسطرة أمام الحساس، وقارنوا قراءة نبيه بالمسطرة. الحساس يقيس من ٢ سم إلى ٢٠٠ سم. ملاحظة: Thonny قد يعرض كلمة «المسافة» مقطعة، والأرقام تبقى صحيحة.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هو الشرط if الذي جرّبناه في «نبيه يقرر». الآن سنضعه داخل while True فيقرر نبيه كل لحظة.</a:t>
            </a:r>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«انطلق» واترك نبيه يتجول. ثم جرّبوا: ماذا يحدث لو جعلنا LIMIT = ٣ سم؟ (يصطدم كثيرًا، لأنه لا يملك وقتًا ليتوقف). ولو ٦٠ سم؟ (لا يصطدم، لكنه يخاف من كل شيء ولا يقترب). ما أفضل رقم؟ هذا هو التفكير الهندسي: نجرّب ونوازن.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الفرق بين forward() وgo(): forward تمشي خطوة ثم تتوقف، وgo تمشي باستمرار. في التجول نحتاج go، لأن نبيه يفحص المسافة عشرين مرة في الثانية.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اجعلها تجربة: ضعوا أمام الحساس كتابًا، ثم وسادة، ثم كوبًا. أيها يقيسه الحساس بدقة؟</a:t>
            </a:r>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تحدٍّ إضافي: اجعلوا نبيه يقول «انتبه!» بصوته كلما اقترب من جدار، أو يلف مرة يمينًا ومرة يسارًا.</a:t>
            </a:r>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جهّز للوحدة القادمة: كاميرا USB، وكرة حمراء (أو كرات بألوان مختلفة)، وإضاءة جيدة في الفصل.</a:t>
            </a:r>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جهّز: كاميرا USB موصولة بمنفذ USB الأزرق، وكرة حمراء بحجم كرة التنس أو أكبر، وإضاءة جيدة. تجنّب خلفية فيها أشياء حمراء.</a:t>
            </a:r>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أول وحدة في «الرؤية الحاسوبية»: الفرع الذي يجعل السيارات الذاتية القيادة ترى الطريق.</a:t>
            </a:r>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الصورة مكونة من مربعات صغيرة جدًّا اسمها «بكسل». صورة كاميرا نبيه فيها أكثر من ٣٠٠ ألف بكسل، ولكل بكسل ٣ أرقام.</a:t>
            </a:r>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حرّك الماوس فوق الصورة، أو اضغط «التالي» لنزور الكرة، ثم السماء، ثم العشب، ثم الشمس. كل لون يتكون من ٣ أرقام من ٠ إلى ٢٥٥: أحمر وأخضر وأزرق. اسأل قبل كل نقرة: «أي رقم سيكون الأكبر هنا؟».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يختلف عن خلط الألوان المائية في حصة الفنية! الضوء يُجمع، والألوان المائية تُطرح. شاشة الجوال تعمل بهذه الأضواء الثلاثة: انظروا إليها بعدسة مكبّرة.</a:t>
            </a:r>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إن ظهرت رسالة «الكاميرا لا تعمل»: تأكد أن الكاميرا موصولة قبل تشغيل البرنامج، وجرّب منفذ USB آخر. اختبار سريع في الطرفية: ls /dev/video* يجب أن يظهر video0.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لون، وقارن الصورتين: الأبيض في الصورة الثانية هو كل مكان وجد فيه نبيه اللون. لاحظوا مع الأزرق: نبيه وجد الصندوق… والسماء أيضًا! لذلك نحتاج خلفية بلا لون الكرة. ثم أنقصوا الإضاءة: كلما قلّت صغرت الكرة التي يراها نبيه، وعند ٢٠٪ يفقدها تمامًا. الإضاءة الجيدة سر نجاح الرؤية الحاسوبية.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وإذا لم يجد الكرة يرجع None، ومعناها «لا شيء». نسأل عنها بـ is None.</a:t>
            </a:r>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دعوا طالبًا يحرك الكرة أمام الكاميرا، وباقي الفصل يقرأ ما يطبعه البرنامج. كلمة elif جديدة: هي اختصار else if.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اسحب الكرة في الصورة يمينًا ويسارًا، وكبّرها بالمؤشر (كأن نبيه اقترب منها)، أو أخفها. لاحظوا الخطين المتقطعين: إذا كانت الكرة بينهما يمشي نبيه للأمام. اسأل: «لماذا نسأل عن الحجم أولًا قبل اليمين واليسار؟» (لأننا إذا وصلنا نريد أن نتوقف مهما كان مكانها).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جرّبوا تغيير الأرقام: ٤٥ (متى يتوقف)، و٢٥ (عرض منطقة الوسط). ماذا يحدث لو جعلنا ٢٥ = ٥؟ (يلف يمينًا ويسارًا كثيرًا ويرتجف!).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تذكيرًا بتجربة مؤشر الإضاءة في «نبيه يبحث عن لون».</a:t>
            </a:r>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OpenCV اسم المكتبة التي تعمل داخل nabeeh.find_color، وهي أشهر مكتبة رؤية حاسوبية في العالم.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تحدٍّ للمتميزين: نبيه يبحث عن الكرة الحمراء، فإذا وصلها يبحث عن الزرقاء (متغير COLOR يتغير بعد الوصول).</a:t>
            </a:r>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قبل الوحدة القادمة: أرسل لأولياء الأمور نموذج الموافقة على حفظ صورة الطالب في نبيه (انظر الوحدة الثامنة).</a:t>
            </a:r>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قبل هذه الوحدة: احصل على موافقة مكتوبة من ولي أمر كل طالب سيُحفظ وجهه في نبيه. الطالب الذي لا يوجد له إذن يشارك بكل شيء ما عدا حفظ وجهه، ويمكنه أن يكون «الزائر الغريب» في التجارب.</a:t>
            </a:r>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التقنية في جوالات كثيرة (فتح القفل بالوجه)، وفي المطارات. ونحن سنصنعها بأيدينا!</a:t>
            </a:r>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نبيه يعمل بنفس الخطوات الثلاث بالضبط! اسأل: «هل تعرف صديقك لو غيّر قصة شعره؟ ولو لبس نظارة؟». نعم، لأن الملامح الأساسية لا تتغير.</a:t>
            </a:r>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«التالي» ٤ مرات: (١) نبيه يجد الوجه ويرسم حوله مربعًا، (٢) يصنع «بصمة الوجه»: أرقام تصف الملامح، (٣) يقارنها ببصمات الأصدقاء المحفوظين، (٤) إذا تجاوز التشابه خط النجاح عرف الشخص. ثم جرّب «يوسف بلا نظارة»: عرفه نبيه رغم أنه خلع نظارته! وجرّب «الزائر الجديد»: لا يشبه أحدًا فهو غريب.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نبيه لا يحفظ «صورة» صديقه للمقارنة، بل يحفظ ١٢٨ رقمًا تصف ملامحه. وهذا يجعل المقارنة سريعة جدًّا: أقل من ثانية.</a:t>
            </a:r>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شريحة أخلاقيات التقنية، وهي بأهمية الكود. ناقش: «لو صوّر أحد وجهك دون إذنك، كيف ستشعر؟». نماذج التعرف في نبيه تعمل على الجهاز نفسه دون إنترنت، وهذا تصميم مقصود لحماية خصوصية الطلاب.</a:t>
            </a:r>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نصائح لصورة جيدة: إضاءة أمام الوجه لا خلفه، والوجه مستقيم نحو الكاميرا، على بعد نصف متر تقريبًا. يمكن كتابة الاسم بالعربي. وإن احتجت حذف صديق: nabeeh.forget_friend("الاسم").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المتغير last مثال جميل على «ذاكرة» الروبوت: بدونه سيقول نبيه «أهلًا يا عمر» مرتين كل ثانية!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لهذا يطلب منك جوالك أحيانًا خلع النظارة الشمسية لفتح القفل بالوجه.</a:t>
            </a:r>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تمر على هذا السؤال بسرعة. اسأل الطلاب: «من يملك صورة وجهك؟».</a:t>
            </a:r>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التجربة الأخيرة علمية: سجّلوا في جدول متى ينجح نبيه ومتى يفشل. هذا ما يفعله علماء الذكاء الاصطناعي لتحسين أنظمتهم.</a:t>
            </a:r>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بعد انتهاء الدورة أو عند طلب ولي الأمر: احذف كل الوجوه (المجلد faces داخل nabeeh).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تأكد قبل الوحدة القادمة: سماعة موصولة (USB أو منفذ الصوت)، وميكروفون USB، وإنترنت، ومفتاح العقل السحابي.</a:t>
            </a:r>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جهّز: سماعة صغيرة، وميكروفون USB، وإنترنت. ومفتاح العقل السحابي (للمعلم): من موقع aistudio.google.com، مجاني للاستعمال الخفيف. ضعه على الـ Pi في الملف nabeeh/gemini_key.txt، ولا تشاركه مع أحد.</a:t>
            </a:r>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وحدة «الذكاء الاصطناعي التوليدي»: نفس التقنية في المساعدات الذكية التي يعرفها الطلاب.</a:t>
            </a:r>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«سحابي»؟ لأن عقل الـ Pi صغير لا يكفي لهذا الذكاء الكبير، فنستعين بحواسيب ضخمة على الإنترنت. أما الحركة والمسافة والكاميرا والوجوه فتعمل كلها داخل نبيه نفسه.</a:t>
            </a:r>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الشريحة تتكلم بصوت حقيقي من سماعات جهازك! اكتب أي جملة، أو اضغط إحدى الجمل الجاهزة، ثم «قل يا نبيه». غيّر السرعة لترى الفرق. صوت نبيه الحقيقي على الـ Pi قد يختلف قليلًا عن صوت المتصفح.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إذا انقطع الإنترنت ولم تكن الجملة محفوظة، يتكلم نبيه بصوت آلي احتياطي (أقل جمالًا). كل الجمل في برامج الدورة تُحفظ بعد أول تشغيل.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«التالي» خمس مرات وتابع الرحلة. كل هذا يحدث في ثانيتين أو ثلاث! لاحظوا أننا نرسل مع السؤال «قواعد» تجعل العقل السحابي يجيب بلطف وباختصار وبما يناسب الأطفال.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نصيحة: تكلّموا قريبًا من الميكروفون وبوضوح، وابدؤوا بعد ظهور «تكلّم الآن». الفصل الهادئ يساعد كثيرًا. البرنامج يعمل بالعربي الفصيح واللهجة السعودية.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قواعد للحياة، لا لنبيه فقط. وضعنا في مكتبة نبيه قواعد تجعل الجواب قصيرًا ولطيفًا ومناسبًا للأطفال، لكن لا يوجد نظام كامل، لذلك نبقى منتبهين.</a:t>
            </a:r>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تصميم مقصود في نبيه: أهم قدراته تعمل دون إنترنت، فلا يتعطل إذا انقطع الاتصال.</a:t>
            </a:r>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تحدٍّ إضافي: إذا قال الطالب «ارقص» يرقص نبيه (if "ارقص" in question: ثم أوامر الرقصة)، وإلا يسأل العقل السحابي. هذه بداية «الأوامر الصوتية»!</a:t>
            </a:r>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مفتاح العقل السحابي مثل كلمة المرور: لا يُعرض على الشاشة أمام الطلاب، ولا يُرفع لأي مكان.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وحدة «التجميع»: لا قطع جديدة، بل نجمع كل ما تعلمناه. تأكد أن كل أجزاء نبيه تعمل: المحركات، والحساس، والكاميرا، والسماعة.</a:t>
            </a:r>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«التالي» ثلاث مرات. ارجع لكل البرامج السابقة واسأل: أين «يحس» نبيه في برنامج التجول؟ (distance) وأين «يفكر»؟ (if) وأين «يتحرك»؟ (go وright). كل برامج الدورة تتبع هذه الحلقة.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تذكّروا الوحدة الخامسة: هكذا صنعنا forward داخل مكتبة نبيه! الآن الطلاب أنفسهم يصنعون أوامرهم.</a:t>
            </a:r>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نفس روبوت Felipe الذي ألهم هذه الدورة له ثلاثة أوضاع أيضًا، لكن نبيه أذكى: يحس بالجدار بحساس حقيقي، ويعرف عدة أصدقاء، ويتكلم بالعربي.</a:t>
            </a:r>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اختر وضعًا، ثم اضغط ما يراه نبيه، وشاهد الأسطر التي تعمل. السؤال المهم: «لماذا يتصرف نبيه بشكل مختلف تجاه نفس الشيء؟» لأن كل وضع له قواعده. مثلًا: الكرة الحمراء تهم المستكشف، والحارس لا يهتم بها. هذا الكود مختصر من البرنامج 10_brain.py.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يسمى «آلة الحالات»: الروبوت له حالة، وسلوكه يتغير حسبها. تقنية يستعملها مبرمجو الألعاب والروبوتات الحقيقية.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انتبه للفرق: = تضع قيمة في متغير، و== تسأل سؤالًا.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أمثلة لأوضاع: «الرياضي» يلحق الكرة ويقول «هدف!» حين يصل. «المرشد» يسلّم على الزائر ويخبره عن المدرسة. «الراقص» يرقص إذا رأى صديقه. قيّم الأفكار على: الإبداع، واستعمال حلقة الروبوت، وعمل البرنامج.</a:t>
            </a:r>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النصيحة الهندسية الذهبية: اختبر كل جزء وحده قبل التجميع. إذا تعطّل نبيه بعد التجميع، شغّلوا برامج الوحدات السابقة واحدًا واحدًا لنعرف أي جزء تعطّل.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الجوال (أو الآيباد) يجب أن يكون على نفس شبكة الواي فاي التي عليها نبيه.</a:t>
            </a:r>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nabeeh.local هو الاسم الذي أعطيناه للجهاز في الوحدة الثانية (برنامج Imager)! والرقم 5000 «باب» خاص بصفحة نبيه. إن لم يفتح الاسم في بعض الجوالات، استعمل عنوان IP الذي يظهر عند تشغيل الأمر hostname -I في الطرفية.</a:t>
            </a:r>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باستمرار على الأسهم في الجوال، فيتحرك نبيه في الساحة، وفي الأسفل الرسالة التي تُرسل إليه. اكتب جملة واضغط 🔊 ليقولها نبيه. على الحقيقة: الكاميرا تظهر بثًّا مباشرًا لما يراه نبيه.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الحارس الأمني فكرة هندسية مهمة: الآلة يجب أن تتوقف بأمان إذا حدث خطأ، لا أن تكمل حركتها. اختبرناها في كود البرنامج: نرسل «امشِ» ثم نقطع الاتصال، فيتوقف نبيه بعد ثانية.</a:t>
            </a:r>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نسخة مختصرة جدًّا للفهم. البرنامج الكامل فيه الاتجاهات الأربعة، والكلام، والبث المباشر من الكاميرا، والحارس الأمني. هكذا تعمل الأجهزة الذكية في البيوت: كلها «مواقع صغيرة» يكلّمها الجوال.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مرّ على الرحلة ببطء، واسأل عن كل محطة: «ما أصعب شيء فيها؟ وما أجمل لحظة؟».</a:t>
            </a:r>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المشروع يُقيَّم على: المشكلة الحقيقية التي يحلها، واستعمال حلقة الروبوت، والعمل الجماعي، وجودة العرض. هذه المعايير قريبة من مسابقات الروبوت مثل WRO.</a:t>
            </a:r>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تدرّبوا على العرض مرتين قبل اليوم. وجهّزوا خطة بديلة: لو تعطّل شيء، فيديو قصير لنبيه وهو يعمل.</a:t>
            </a:r>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لحظة عاطفية جميلة لختام الدورة. صوّرها!</a:t>
            </a:r>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ذكّرهم بالشريحة الأولى: «أنا روبوت… لكني لا أعرف أي شيء!». والآن نبيه يمشي ويرى ويسمع ويتكلم… بفضلهم.</a:t>
            </a:r>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اقرأها بصوت نبيه، أو شغّلها بصوته الحقيقي على الـ Pi.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شريحة الختام. وزّع الشهادات، والتقط صورة جماعية مع نبيه.</a:t>
            </a:r>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5.jpg"/><Relationship Id="rId7" Type="http://schemas.openxmlformats.org/officeDocument/2006/relationships/image" Target="../media/image19.jp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8.jpg"/><Relationship Id="rId5" Type="http://schemas.openxmlformats.org/officeDocument/2006/relationships/image" Target="../media/image17.jpg"/><Relationship Id="rId4" Type="http://schemas.openxmlformats.org/officeDocument/2006/relationships/image" Target="../media/image16.jpg"/></Relationships>
</file>

<file path=ppt/slides/_rels/slide3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25.jpg"/><Relationship Id="rId7" Type="http://schemas.openxmlformats.org/officeDocument/2006/relationships/image" Target="../media/image29.jp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28.jpg"/><Relationship Id="rId5" Type="http://schemas.openxmlformats.org/officeDocument/2006/relationships/image" Target="../media/image27.jpg"/><Relationship Id="rId4" Type="http://schemas.openxmlformats.org/officeDocument/2006/relationships/image" Target="../media/image26.jpg"/></Relationships>
</file>

<file path=ppt/slides/_rels/slide5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32.jpg"/><Relationship Id="rId7" Type="http://schemas.openxmlformats.org/officeDocument/2006/relationships/image" Target="../media/image36.jp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35.jpg"/><Relationship Id="rId5" Type="http://schemas.openxmlformats.org/officeDocument/2006/relationships/image" Target="../media/image34.jpg"/><Relationship Id="rId4" Type="http://schemas.openxmlformats.org/officeDocument/2006/relationships/image" Target="../media/image33.jpg"/></Relationships>
</file>

<file path=ppt/slides/_rels/slide5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37.jpg"/><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40.jpg"/><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41.jpg"/><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8" Type="http://schemas.openxmlformats.org/officeDocument/2006/relationships/image" Target="../media/image47.jpg"/><Relationship Id="rId3" Type="http://schemas.openxmlformats.org/officeDocument/2006/relationships/image" Target="../media/image42.jpg"/><Relationship Id="rId7" Type="http://schemas.openxmlformats.org/officeDocument/2006/relationships/image" Target="../media/image46.jpg"/><Relationship Id="rId2" Type="http://schemas.openxmlformats.org/officeDocument/2006/relationships/notesSlide" Target="../notesSlides/notesSlide73.xml"/><Relationship Id="rId1" Type="http://schemas.openxmlformats.org/officeDocument/2006/relationships/slideLayout" Target="../slideLayouts/slideLayout1.xml"/><Relationship Id="rId6" Type="http://schemas.openxmlformats.org/officeDocument/2006/relationships/image" Target="../media/image45.jpg"/><Relationship Id="rId5" Type="http://schemas.openxmlformats.org/officeDocument/2006/relationships/image" Target="../media/image44.jpg"/><Relationship Id="rId4" Type="http://schemas.openxmlformats.org/officeDocument/2006/relationships/image" Target="../media/image43.jpg"/></Relationships>
</file>

<file path=ppt/slides/_rels/slide74.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8" Type="http://schemas.openxmlformats.org/officeDocument/2006/relationships/image" Target="../media/image54.jpg"/><Relationship Id="rId3" Type="http://schemas.openxmlformats.org/officeDocument/2006/relationships/image" Target="../media/image49.jpg"/><Relationship Id="rId7" Type="http://schemas.openxmlformats.org/officeDocument/2006/relationships/image" Target="../media/image53.jpg"/><Relationship Id="rId2" Type="http://schemas.openxmlformats.org/officeDocument/2006/relationships/notesSlide" Target="../notesSlides/notesSlide75.xml"/><Relationship Id="rId1" Type="http://schemas.openxmlformats.org/officeDocument/2006/relationships/slideLayout" Target="../slideLayouts/slideLayout1.xml"/><Relationship Id="rId6" Type="http://schemas.openxmlformats.org/officeDocument/2006/relationships/image" Target="../media/image52.jpg"/><Relationship Id="rId5" Type="http://schemas.openxmlformats.org/officeDocument/2006/relationships/image" Target="../media/image51.jpg"/><Relationship Id="rId4" Type="http://schemas.openxmlformats.org/officeDocument/2006/relationships/image" Target="../media/image50.jpg"/></Relationships>
</file>

<file path=ppt/slides/_rels/slide76.xml.rels><?xml version="1.0" encoding="UTF-8" standalone="yes"?>
<Relationships xmlns="http://schemas.openxmlformats.org/package/2006/relationships"><Relationship Id="rId8" Type="http://schemas.openxmlformats.org/officeDocument/2006/relationships/image" Target="../media/image60.jpg"/><Relationship Id="rId3" Type="http://schemas.openxmlformats.org/officeDocument/2006/relationships/image" Target="../media/image55.jpg"/><Relationship Id="rId7" Type="http://schemas.openxmlformats.org/officeDocument/2006/relationships/image" Target="../media/image59.jpg"/><Relationship Id="rId2" Type="http://schemas.openxmlformats.org/officeDocument/2006/relationships/notesSlide" Target="../notesSlides/notesSlide76.xml"/><Relationship Id="rId1" Type="http://schemas.openxmlformats.org/officeDocument/2006/relationships/slideLayout" Target="../slideLayouts/slideLayout1.xml"/><Relationship Id="rId6" Type="http://schemas.openxmlformats.org/officeDocument/2006/relationships/image" Target="../media/image58.jpg"/><Relationship Id="rId5" Type="http://schemas.openxmlformats.org/officeDocument/2006/relationships/image" Target="../media/image57.jpg"/><Relationship Id="rId4" Type="http://schemas.openxmlformats.org/officeDocument/2006/relationships/image" Target="../media/image56.jpg"/></Relationships>
</file>

<file path=ppt/slides/_rels/slide77.xml.rels><?xml version="1.0" encoding="UTF-8" standalone="yes"?>
<Relationships xmlns="http://schemas.openxmlformats.org/package/2006/relationships"><Relationship Id="rId3" Type="http://schemas.openxmlformats.org/officeDocument/2006/relationships/image" Target="../media/image61.jpg"/><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3" Type="http://schemas.openxmlformats.org/officeDocument/2006/relationships/image" Target="../media/image62.jpg"/><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3" Type="http://schemas.openxmlformats.org/officeDocument/2006/relationships/image" Target="../media/image63.jpg"/><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3" Type="http://schemas.openxmlformats.org/officeDocument/2006/relationships/image" Target="../media/image64.jpg"/><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3" Type="http://schemas.openxmlformats.org/officeDocument/2006/relationships/image" Target="../media/image65.jpg"/><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8" Type="http://schemas.openxmlformats.org/officeDocument/2006/relationships/image" Target="../media/image71.jpg"/><Relationship Id="rId3" Type="http://schemas.openxmlformats.org/officeDocument/2006/relationships/image" Target="../media/image66.jpg"/><Relationship Id="rId7" Type="http://schemas.openxmlformats.org/officeDocument/2006/relationships/image" Target="../media/image70.jpg"/><Relationship Id="rId2" Type="http://schemas.openxmlformats.org/officeDocument/2006/relationships/notesSlide" Target="../notesSlides/notesSlide90.xml"/><Relationship Id="rId1" Type="http://schemas.openxmlformats.org/officeDocument/2006/relationships/slideLayout" Target="../slideLayouts/slideLayout1.xml"/><Relationship Id="rId6" Type="http://schemas.openxmlformats.org/officeDocument/2006/relationships/image" Target="../media/image69.jpg"/><Relationship Id="rId5" Type="http://schemas.openxmlformats.org/officeDocument/2006/relationships/image" Target="../media/image68.jpg"/><Relationship Id="rId4" Type="http://schemas.openxmlformats.org/officeDocument/2006/relationships/image" Target="../media/image67.jpg"/><Relationship Id="rId9" Type="http://schemas.openxmlformats.org/officeDocument/2006/relationships/image" Target="../media/image72.jpg"/></Relationships>
</file>

<file path=ppt/slides/_rels/slide9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3" Type="http://schemas.openxmlformats.org/officeDocument/2006/relationships/image" Target="../media/image73.jpg"/><Relationship Id="rId7" Type="http://schemas.openxmlformats.org/officeDocument/2006/relationships/image" Target="../media/image77.jpg"/><Relationship Id="rId2" Type="http://schemas.openxmlformats.org/officeDocument/2006/relationships/notesSlide" Target="../notesSlides/notesSlide92.xml"/><Relationship Id="rId1" Type="http://schemas.openxmlformats.org/officeDocument/2006/relationships/slideLayout" Target="../slideLayouts/slideLayout1.xml"/><Relationship Id="rId6" Type="http://schemas.openxmlformats.org/officeDocument/2006/relationships/image" Target="../media/image76.jpg"/><Relationship Id="rId5" Type="http://schemas.openxmlformats.org/officeDocument/2006/relationships/image" Target="../media/image75.jpg"/><Relationship Id="rId4" Type="http://schemas.openxmlformats.org/officeDocument/2006/relationships/image" Target="../media/image74.jpg"/></Relationships>
</file>

<file path=ppt/slides/_rels/slide93.xml.rels><?xml version="1.0" encoding="UTF-8" standalone="yes"?>
<Relationships xmlns="http://schemas.openxmlformats.org/package/2006/relationships"><Relationship Id="rId3" Type="http://schemas.openxmlformats.org/officeDocument/2006/relationships/image" Target="../media/image78.jpg"/><Relationship Id="rId7" Type="http://schemas.openxmlformats.org/officeDocument/2006/relationships/image" Target="../media/image82.jpg"/><Relationship Id="rId2" Type="http://schemas.openxmlformats.org/officeDocument/2006/relationships/notesSlide" Target="../notesSlides/notesSlide93.xml"/><Relationship Id="rId1" Type="http://schemas.openxmlformats.org/officeDocument/2006/relationships/slideLayout" Target="../slideLayouts/slideLayout1.xml"/><Relationship Id="rId6" Type="http://schemas.openxmlformats.org/officeDocument/2006/relationships/image" Target="../media/image81.jpg"/><Relationship Id="rId5" Type="http://schemas.openxmlformats.org/officeDocument/2006/relationships/image" Target="../media/image80.jpg"/><Relationship Id="rId4" Type="http://schemas.openxmlformats.org/officeDocument/2006/relationships/image" Target="../media/image79.jpg"/></Relationships>
</file>

<file path=ppt/slides/_rels/slide9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3" Type="http://schemas.openxmlformats.org/officeDocument/2006/relationships/image" Target="../media/image83.jpg"/><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3" Type="http://schemas.openxmlformats.org/officeDocument/2006/relationships/image" Target="../media/image84.jpg"/><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02.xm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03.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3" Type="http://schemas.openxmlformats.org/officeDocument/2006/relationships/image" Target="../media/image85.jpg"/><Relationship Id="rId2" Type="http://schemas.openxmlformats.org/officeDocument/2006/relationships/notesSlide" Target="../notesSlides/notesSlide104.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05.xm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3" Type="http://schemas.openxmlformats.org/officeDocument/2006/relationships/image" Target="../media/image86.jpg"/><Relationship Id="rId2" Type="http://schemas.openxmlformats.org/officeDocument/2006/relationships/notesSlide" Target="../notesSlides/notesSlide106.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8" Type="http://schemas.openxmlformats.org/officeDocument/2006/relationships/image" Target="../media/image92.jpg"/><Relationship Id="rId3" Type="http://schemas.openxmlformats.org/officeDocument/2006/relationships/image" Target="../media/image87.jpg"/><Relationship Id="rId7" Type="http://schemas.openxmlformats.org/officeDocument/2006/relationships/image" Target="../media/image91.jpg"/><Relationship Id="rId2" Type="http://schemas.openxmlformats.org/officeDocument/2006/relationships/notesSlide" Target="../notesSlides/notesSlide107.xml"/><Relationship Id="rId1" Type="http://schemas.openxmlformats.org/officeDocument/2006/relationships/slideLayout" Target="../slideLayouts/slideLayout1.xml"/><Relationship Id="rId6" Type="http://schemas.openxmlformats.org/officeDocument/2006/relationships/image" Target="../media/image90.jpg"/><Relationship Id="rId5" Type="http://schemas.openxmlformats.org/officeDocument/2006/relationships/image" Target="../media/image89.jpg"/><Relationship Id="rId10" Type="http://schemas.openxmlformats.org/officeDocument/2006/relationships/image" Target="../media/image94.jpg"/><Relationship Id="rId4" Type="http://schemas.openxmlformats.org/officeDocument/2006/relationships/image" Target="../media/image88.jpg"/><Relationship Id="rId9" Type="http://schemas.openxmlformats.org/officeDocument/2006/relationships/image" Target="../media/image93.jpg"/></Relationships>
</file>

<file path=ppt/slides/_rels/slide108.xml.rels><?xml version="1.0" encoding="UTF-8" standalone="yes"?>
<Relationships xmlns="http://schemas.openxmlformats.org/package/2006/relationships"><Relationship Id="rId3" Type="http://schemas.openxmlformats.org/officeDocument/2006/relationships/image" Target="../media/image95.jpg"/><Relationship Id="rId7" Type="http://schemas.openxmlformats.org/officeDocument/2006/relationships/image" Target="../media/image99.jpg"/><Relationship Id="rId2" Type="http://schemas.openxmlformats.org/officeDocument/2006/relationships/notesSlide" Target="../notesSlides/notesSlide108.xml"/><Relationship Id="rId1" Type="http://schemas.openxmlformats.org/officeDocument/2006/relationships/slideLayout" Target="../slideLayouts/slideLayout1.xml"/><Relationship Id="rId6" Type="http://schemas.openxmlformats.org/officeDocument/2006/relationships/image" Target="../media/image98.jpg"/><Relationship Id="rId5" Type="http://schemas.openxmlformats.org/officeDocument/2006/relationships/image" Target="../media/image97.jpg"/><Relationship Id="rId4" Type="http://schemas.openxmlformats.org/officeDocument/2006/relationships/image" Target="../media/image96.jpg"/></Relationships>
</file>

<file path=ppt/slides/_rels/slide10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09.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0.xml"/><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3" Type="http://schemas.openxmlformats.org/officeDocument/2006/relationships/image" Target="../media/image100.jpg"/><Relationship Id="rId2" Type="http://schemas.openxmlformats.org/officeDocument/2006/relationships/notesSlide" Target="../notesSlides/notesSlide111.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3" Type="http://schemas.openxmlformats.org/officeDocument/2006/relationships/image" Target="../media/image101.jpg"/><Relationship Id="rId2" Type="http://schemas.openxmlformats.org/officeDocument/2006/relationships/notesSlide" Target="../notesSlides/notesSlide112.xml"/><Relationship Id="rId1" Type="http://schemas.openxmlformats.org/officeDocument/2006/relationships/slideLayout" Target="../slideLayouts/slideLayout1.xml"/><Relationship Id="rId6" Type="http://schemas.openxmlformats.org/officeDocument/2006/relationships/image" Target="../media/image104.jpg"/><Relationship Id="rId5" Type="http://schemas.openxmlformats.org/officeDocument/2006/relationships/image" Target="../media/image103.jpg"/><Relationship Id="rId4" Type="http://schemas.openxmlformats.org/officeDocument/2006/relationships/image" Target="../media/image102.jpg"/></Relationships>
</file>

<file path=ppt/slides/_rels/slide1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13.xml"/><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3" Type="http://schemas.openxmlformats.org/officeDocument/2006/relationships/image" Target="../media/image105.jpg"/><Relationship Id="rId2" Type="http://schemas.openxmlformats.org/officeDocument/2006/relationships/notesSlide" Target="../notesSlides/notesSlide114.xml"/><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5.xm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3" Type="http://schemas.openxmlformats.org/officeDocument/2006/relationships/image" Target="../media/image106.jpg"/><Relationship Id="rId2" Type="http://schemas.openxmlformats.org/officeDocument/2006/relationships/notesSlide" Target="../notesSlides/notesSlide116.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7.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8.xml"/><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19.xml"/><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0.xml"/><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3" Type="http://schemas.openxmlformats.org/officeDocument/2006/relationships/image" Target="../media/image107.jpg"/><Relationship Id="rId2" Type="http://schemas.openxmlformats.org/officeDocument/2006/relationships/notesSlide" Target="../notesSlides/notesSlide121.xml"/><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22.xml"/><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3" Type="http://schemas.openxmlformats.org/officeDocument/2006/relationships/image" Target="../media/image108.jpg"/><Relationship Id="rId2" Type="http://schemas.openxmlformats.org/officeDocument/2006/relationships/notesSlide" Target="../notesSlides/notesSlide123.xml"/><Relationship Id="rId1" Type="http://schemas.openxmlformats.org/officeDocument/2006/relationships/slideLayout" Target="../slideLayouts/slideLayout1.xml"/><Relationship Id="rId6" Type="http://schemas.openxmlformats.org/officeDocument/2006/relationships/image" Target="../media/image111.jpg"/><Relationship Id="rId5" Type="http://schemas.openxmlformats.org/officeDocument/2006/relationships/image" Target="../media/image110.jpg"/><Relationship Id="rId4" Type="http://schemas.openxmlformats.org/officeDocument/2006/relationships/image" Target="../media/image109.jpg"/></Relationships>
</file>

<file path=ppt/slides/_rels/slide124.xml.rels><?xml version="1.0" encoding="UTF-8" standalone="yes"?>
<Relationships xmlns="http://schemas.openxmlformats.org/package/2006/relationships"><Relationship Id="rId3" Type="http://schemas.openxmlformats.org/officeDocument/2006/relationships/image" Target="../media/image112.jpg"/><Relationship Id="rId2" Type="http://schemas.openxmlformats.org/officeDocument/2006/relationships/notesSlide" Target="../notesSlides/notesSlide124.xml"/><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25.xml"/><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3" Type="http://schemas.openxmlformats.org/officeDocument/2006/relationships/image" Target="../media/image113.jpg"/><Relationship Id="rId7" Type="http://schemas.openxmlformats.org/officeDocument/2006/relationships/image" Target="../media/image117.jpg"/><Relationship Id="rId2" Type="http://schemas.openxmlformats.org/officeDocument/2006/relationships/notesSlide" Target="../notesSlides/notesSlide126.xml"/><Relationship Id="rId1" Type="http://schemas.openxmlformats.org/officeDocument/2006/relationships/slideLayout" Target="../slideLayouts/slideLayout1.xml"/><Relationship Id="rId6" Type="http://schemas.openxmlformats.org/officeDocument/2006/relationships/image" Target="../media/image116.jpg"/><Relationship Id="rId5" Type="http://schemas.openxmlformats.org/officeDocument/2006/relationships/image" Target="../media/image115.jpg"/><Relationship Id="rId4" Type="http://schemas.openxmlformats.org/officeDocument/2006/relationships/image" Target="../media/image114.jpg"/></Relationships>
</file>

<file path=ppt/slides/_rels/slide127.xml.rels><?xml version="1.0" encoding="UTF-8" standalone="yes"?>
<Relationships xmlns="http://schemas.openxmlformats.org/package/2006/relationships"><Relationship Id="rId3" Type="http://schemas.openxmlformats.org/officeDocument/2006/relationships/image" Target="../media/image118.jpg"/><Relationship Id="rId2" Type="http://schemas.openxmlformats.org/officeDocument/2006/relationships/notesSlide" Target="../notesSlides/notesSlide127.xml"/><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3" Type="http://schemas.openxmlformats.org/officeDocument/2006/relationships/image" Target="../media/image119.jpg"/><Relationship Id="rId7" Type="http://schemas.openxmlformats.org/officeDocument/2006/relationships/image" Target="../media/image123.jpg"/><Relationship Id="rId2" Type="http://schemas.openxmlformats.org/officeDocument/2006/relationships/notesSlide" Target="../notesSlides/notesSlide128.xml"/><Relationship Id="rId1" Type="http://schemas.openxmlformats.org/officeDocument/2006/relationships/slideLayout" Target="../slideLayouts/slideLayout1.xml"/><Relationship Id="rId6" Type="http://schemas.openxmlformats.org/officeDocument/2006/relationships/image" Target="../media/image122.jpg"/><Relationship Id="rId5" Type="http://schemas.openxmlformats.org/officeDocument/2006/relationships/image" Target="../media/image121.jpg"/><Relationship Id="rId4" Type="http://schemas.openxmlformats.org/officeDocument/2006/relationships/image" Target="../media/image120.jpg"/></Relationships>
</file>

<file path=ppt/slides/_rels/slide12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29.xml"/><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30.xml"/><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3" Type="http://schemas.openxmlformats.org/officeDocument/2006/relationships/image" Target="../media/image124.jpg"/><Relationship Id="rId2" Type="http://schemas.openxmlformats.org/officeDocument/2006/relationships/notesSlide" Target="../notesSlides/notesSlide131.xml"/><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2.xml"/><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3" Type="http://schemas.openxmlformats.org/officeDocument/2006/relationships/image" Target="../media/image125.jpg"/><Relationship Id="rId2" Type="http://schemas.openxmlformats.org/officeDocument/2006/relationships/notesSlide" Target="../notesSlides/notesSlide133.xml"/><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4.xml"/><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5.xml"/><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36.xml"/><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37.xml"/><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3" Type="http://schemas.openxmlformats.org/officeDocument/2006/relationships/image" Target="../media/image126.jpg"/><Relationship Id="rId2" Type="http://schemas.openxmlformats.org/officeDocument/2006/relationships/notesSlide" Target="../notesSlides/notesSlide138.xml"/><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9.xml"/><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40.xml"/><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3" Type="http://schemas.openxmlformats.org/officeDocument/2006/relationships/image" Target="../media/image127.jpg"/><Relationship Id="rId2" Type="http://schemas.openxmlformats.org/officeDocument/2006/relationships/notesSlide" Target="../notesSlides/notesSlide141.xml"/><Relationship Id="rId1" Type="http://schemas.openxmlformats.org/officeDocument/2006/relationships/slideLayout" Target="../slideLayouts/slideLayout1.xml"/><Relationship Id="rId6" Type="http://schemas.openxmlformats.org/officeDocument/2006/relationships/image" Target="../media/image130.jpg"/><Relationship Id="rId5" Type="http://schemas.openxmlformats.org/officeDocument/2006/relationships/image" Target="../media/image129.jpg"/><Relationship Id="rId4" Type="http://schemas.openxmlformats.org/officeDocument/2006/relationships/image" Target="../media/image128.jpg"/></Relationships>
</file>

<file path=ppt/slides/_rels/slide142.xml.rels><?xml version="1.0" encoding="UTF-8" standalone="yes"?>
<Relationships xmlns="http://schemas.openxmlformats.org/package/2006/relationships"><Relationship Id="rId3" Type="http://schemas.openxmlformats.org/officeDocument/2006/relationships/image" Target="../media/image131.jpg"/><Relationship Id="rId7" Type="http://schemas.openxmlformats.org/officeDocument/2006/relationships/image" Target="../media/image135.jpg"/><Relationship Id="rId2" Type="http://schemas.openxmlformats.org/officeDocument/2006/relationships/notesSlide" Target="../notesSlides/notesSlide142.xml"/><Relationship Id="rId1" Type="http://schemas.openxmlformats.org/officeDocument/2006/relationships/slideLayout" Target="../slideLayouts/slideLayout1.xml"/><Relationship Id="rId6" Type="http://schemas.openxmlformats.org/officeDocument/2006/relationships/image" Target="../media/image134.jpg"/><Relationship Id="rId5" Type="http://schemas.openxmlformats.org/officeDocument/2006/relationships/image" Target="../media/image133.jpg"/><Relationship Id="rId4" Type="http://schemas.openxmlformats.org/officeDocument/2006/relationships/image" Target="../media/image132.jpg"/></Relationships>
</file>

<file path=ppt/slides/_rels/slide14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43.xml"/><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44.xml"/><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3" Type="http://schemas.openxmlformats.org/officeDocument/2006/relationships/image" Target="../media/image136.jpg"/><Relationship Id="rId2" Type="http://schemas.openxmlformats.org/officeDocument/2006/relationships/notesSlide" Target="../notesSlides/notesSlide145.xml"/><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46.xml"/><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3" Type="http://schemas.openxmlformats.org/officeDocument/2006/relationships/image" Target="../media/image137.jpg"/><Relationship Id="rId2" Type="http://schemas.openxmlformats.org/officeDocument/2006/relationships/notesSlide" Target="../notesSlides/notesSlide147.xml"/><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48.xml"/><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49.xml"/><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50.xml"/><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51.xml"/><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3" Type="http://schemas.openxmlformats.org/officeDocument/2006/relationships/image" Target="../media/image138.jpg"/><Relationship Id="rId2" Type="http://schemas.openxmlformats.org/officeDocument/2006/relationships/notesSlide" Target="../notesSlides/notesSlide152.xml"/><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3" Type="http://schemas.openxmlformats.org/officeDocument/2006/relationships/image" Target="../media/image139.jpg"/><Relationship Id="rId2" Type="http://schemas.openxmlformats.org/officeDocument/2006/relationships/notesSlide" Target="../notesSlides/notesSlide153.xml"/><Relationship Id="rId1" Type="http://schemas.openxmlformats.org/officeDocument/2006/relationships/slideLayout" Target="../slideLayouts/slideLayout1.xml"/><Relationship Id="rId5" Type="http://schemas.openxmlformats.org/officeDocument/2006/relationships/image" Target="../media/image141.jpg"/><Relationship Id="rId4" Type="http://schemas.openxmlformats.org/officeDocument/2006/relationships/image" Target="../media/image140.jpg"/></Relationships>
</file>

<file path=ppt/slides/_rels/slide154.xml.rels><?xml version="1.0" encoding="UTF-8" standalone="yes"?>
<Relationships xmlns="http://schemas.openxmlformats.org/package/2006/relationships"><Relationship Id="rId3" Type="http://schemas.openxmlformats.org/officeDocument/2006/relationships/image" Target="../media/image142.jpg"/><Relationship Id="rId2" Type="http://schemas.openxmlformats.org/officeDocument/2006/relationships/notesSlide" Target="../notesSlides/notesSlide154.xml"/><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3" Type="http://schemas.openxmlformats.org/officeDocument/2006/relationships/image" Target="../media/image143.jpg"/><Relationship Id="rId7" Type="http://schemas.openxmlformats.org/officeDocument/2006/relationships/image" Target="../media/image147.jpg"/><Relationship Id="rId2" Type="http://schemas.openxmlformats.org/officeDocument/2006/relationships/notesSlide" Target="../notesSlides/notesSlide155.xml"/><Relationship Id="rId1" Type="http://schemas.openxmlformats.org/officeDocument/2006/relationships/slideLayout" Target="../slideLayouts/slideLayout1.xml"/><Relationship Id="rId6" Type="http://schemas.openxmlformats.org/officeDocument/2006/relationships/image" Target="../media/image146.jpg"/><Relationship Id="rId5" Type="http://schemas.openxmlformats.org/officeDocument/2006/relationships/image" Target="../media/image145.jpg"/><Relationship Id="rId4" Type="http://schemas.openxmlformats.org/officeDocument/2006/relationships/image" Target="../media/image144.jpg"/></Relationships>
</file>

<file path=ppt/slides/_rels/slide15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56.xml"/><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57.xml"/><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58.xml"/><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3" Type="http://schemas.openxmlformats.org/officeDocument/2006/relationships/image" Target="../media/image148.jpg"/><Relationship Id="rId2" Type="http://schemas.openxmlformats.org/officeDocument/2006/relationships/notesSlide" Target="../notesSlides/notesSlide159.xml"/><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60.xml"/><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3" Type="http://schemas.openxmlformats.org/officeDocument/2006/relationships/image" Target="../media/image149.jpg"/><Relationship Id="rId2" Type="http://schemas.openxmlformats.org/officeDocument/2006/relationships/notesSlide" Target="../notesSlides/notesSlide161.xml"/><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62.xml"/><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63.xml"/><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64.xml"/><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3" Type="http://schemas.openxmlformats.org/officeDocument/2006/relationships/image" Target="../media/image150.jpg"/><Relationship Id="rId2" Type="http://schemas.openxmlformats.org/officeDocument/2006/relationships/notesSlide" Target="../notesSlides/notesSlide165.xml"/><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66.xml"/><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67.xml"/><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3" Type="http://schemas.openxmlformats.org/officeDocument/2006/relationships/image" Target="../media/image151.jpg"/><Relationship Id="rId2" Type="http://schemas.openxmlformats.org/officeDocument/2006/relationships/notesSlide" Target="../notesSlides/notesSlide168.xml"/><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3" Type="http://schemas.openxmlformats.org/officeDocument/2006/relationships/image" Target="../media/image152.jpg"/><Relationship Id="rId2" Type="http://schemas.openxmlformats.org/officeDocument/2006/relationships/notesSlide" Target="../notesSlides/notesSlide169.xml"/><Relationship Id="rId1" Type="http://schemas.openxmlformats.org/officeDocument/2006/relationships/slideLayout" Target="../slideLayouts/slideLayout1.xml"/><Relationship Id="rId6" Type="http://schemas.openxmlformats.org/officeDocument/2006/relationships/image" Target="../media/image155.jpg"/><Relationship Id="rId5" Type="http://schemas.openxmlformats.org/officeDocument/2006/relationships/image" Target="../media/image154.jpg"/><Relationship Id="rId4" Type="http://schemas.openxmlformats.org/officeDocument/2006/relationships/image" Target="../media/image153.jpg"/></Relationships>
</file>

<file path=ppt/slides/_rels/slide17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70.xml"/><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71.xml"/><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3" Type="http://schemas.openxmlformats.org/officeDocument/2006/relationships/image" Target="../media/image156.jpg"/><Relationship Id="rId2" Type="http://schemas.openxmlformats.org/officeDocument/2006/relationships/notesSlide" Target="../notesSlides/notesSlide172.xml"/><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73.xml"/><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3" Type="http://schemas.openxmlformats.org/officeDocument/2006/relationships/image" Target="../media/image157.jpg"/><Relationship Id="rId2" Type="http://schemas.openxmlformats.org/officeDocument/2006/relationships/notesSlide" Target="../notesSlides/notesSlide174.xml"/><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75.xml"/><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76.xml"/><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77.xml"/><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78.xml"/><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3" Type="http://schemas.openxmlformats.org/officeDocument/2006/relationships/image" Target="../media/image158.jpg"/><Relationship Id="rId2" Type="http://schemas.openxmlformats.org/officeDocument/2006/relationships/notesSlide" Target="../notesSlides/notesSlide179.xml"/><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80.xml"/><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3" Type="http://schemas.openxmlformats.org/officeDocument/2006/relationships/image" Target="../media/image159.jpg"/><Relationship Id="rId7" Type="http://schemas.openxmlformats.org/officeDocument/2006/relationships/image" Target="../media/image163.jpg"/><Relationship Id="rId2" Type="http://schemas.openxmlformats.org/officeDocument/2006/relationships/notesSlide" Target="../notesSlides/notesSlide181.xml"/><Relationship Id="rId1" Type="http://schemas.openxmlformats.org/officeDocument/2006/relationships/slideLayout" Target="../slideLayouts/slideLayout1.xml"/><Relationship Id="rId6" Type="http://schemas.openxmlformats.org/officeDocument/2006/relationships/image" Target="../media/image162.jpg"/><Relationship Id="rId5" Type="http://schemas.openxmlformats.org/officeDocument/2006/relationships/image" Target="../media/image161.jpg"/><Relationship Id="rId4" Type="http://schemas.openxmlformats.org/officeDocument/2006/relationships/image" Target="../media/image160.jpg"/></Relationships>
</file>

<file path=ppt/slides/_rels/slide18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82.xml"/><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83.xml"/><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84.xml"/><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85.xml"/><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86.xml"/><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3" Type="http://schemas.openxmlformats.org/officeDocument/2006/relationships/image" Target="../media/image164.jpg"/><Relationship Id="rId2" Type="http://schemas.openxmlformats.org/officeDocument/2006/relationships/notesSlide" Target="../notesSlides/notesSlide187.xml"/><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8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731520"/>
            <a:ext cx="960120" cy="960120"/>
          </a:xfrm>
          <a:prstGeom prst="roundRect">
            <a:avLst>
              <a:gd name="adj" fmla="val 26667"/>
            </a:avLst>
          </a:prstGeom>
          <a:solidFill>
            <a:srgbClr val="D9AE4B"/>
          </a:solidFill>
          <a:ln/>
          <a:effectLst>
            <a:outerShdw blurRad="254000" dist="50800" dir="16200000" algn="bl" rotWithShape="0">
              <a:srgbClr val="D9AE4B">
                <a:alpha val="45000"/>
              </a:srgbClr>
            </a:outerShdw>
          </a:effectLst>
        </p:spPr>
      </p:sp>
      <p:sp>
        <p:nvSpPr>
          <p:cNvPr id="3" name="Text 1"/>
          <p:cNvSpPr/>
          <p:nvPr/>
        </p:nvSpPr>
        <p:spPr>
          <a:xfrm>
            <a:off x="5615788" y="73152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1920240"/>
            <a:ext cx="12191695" cy="457200"/>
          </a:xfrm>
          <a:prstGeom prst="rect">
            <a:avLst/>
          </a:prstGeom>
          <a:noFill/>
          <a:ln/>
        </p:spPr>
        <p:txBody>
          <a:bodyPr wrap="square" lIns="0" tIns="0" rIns="0" bIns="0" rtlCol="0" anchor="ctr">
            <a:normAutofit/>
          </a:bodyPr>
          <a:lstStyle/>
          <a:p>
            <a:pPr marL="0" indent="0" algn="ctr" rtl="1">
              <a:buNone/>
            </a:pPr>
            <a:r>
              <a:rPr lang="ar-SA" altLang="en-US" sz="2000" b="1" dirty="0">
                <a:solidFill>
                  <a:srgbClr val="F0CC7A"/>
                </a:solidFill>
                <a:latin typeface="Cairo" pitchFamily="34" charset="0"/>
                <a:ea typeface="Cairo" pitchFamily="34" charset="-122"/>
                <a:cs typeface="Cairo" pitchFamily="34" charset="-120"/>
              </a:rPr>
              <a:t>مغامرات نبيه</a:t>
            </a:r>
            <a:endParaRPr lang="ar-SA" sz="2000" dirty="0"/>
          </a:p>
        </p:txBody>
      </p:sp>
      <p:sp>
        <p:nvSpPr>
          <p:cNvPr id="5" name="Text 3"/>
          <p:cNvSpPr/>
          <p:nvPr/>
        </p:nvSpPr>
        <p:spPr>
          <a:xfrm>
            <a:off x="0" y="2331720"/>
            <a:ext cx="12191695" cy="1463040"/>
          </a:xfrm>
          <a:prstGeom prst="rect">
            <a:avLst/>
          </a:prstGeom>
          <a:noFill/>
          <a:ln/>
        </p:spPr>
        <p:txBody>
          <a:bodyPr wrap="square" lIns="0" tIns="0" rIns="0" bIns="0" rtlCol="0" anchor="ctr">
            <a:normAutofit/>
          </a:bodyPr>
          <a:lstStyle/>
          <a:p>
            <a:pPr marL="0" indent="0" algn="ctr" rtl="1">
              <a:buNone/>
            </a:pPr>
            <a:r>
              <a:rPr lang="ar-SA" altLang="en-US" sz="9600" dirty="0">
                <a:solidFill>
                  <a:srgbClr val="FFF3D6"/>
                </a:solidFill>
                <a:latin typeface="Cairo Black" pitchFamily="34" charset="0"/>
                <a:ea typeface="Cairo Black" pitchFamily="34" charset="-122"/>
                <a:cs typeface="Cairo Black" pitchFamily="34" charset="-120"/>
              </a:rPr>
              <a:t>روبوتي الذكي</a:t>
            </a:r>
            <a:endParaRPr lang="ar-SA" sz="9600" dirty="0"/>
          </a:p>
        </p:txBody>
      </p:sp>
      <p:sp>
        <p:nvSpPr>
          <p:cNvPr id="6" name="Text 4"/>
          <p:cNvSpPr/>
          <p:nvPr/>
        </p:nvSpPr>
        <p:spPr>
          <a:xfrm>
            <a:off x="0" y="37947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نبني معًا «نبيه»… الروبوت الذي يمشي ويرى ويتكلم</a:t>
            </a:r>
            <a:endParaRPr lang="ar-SA" sz="2800" dirty="0"/>
          </a:p>
        </p:txBody>
      </p:sp>
      <p:sp>
        <p:nvSpPr>
          <p:cNvPr id="7" name="Shape 5"/>
          <p:cNvSpPr/>
          <p:nvPr/>
        </p:nvSpPr>
        <p:spPr>
          <a:xfrm>
            <a:off x="5364328" y="4617720"/>
            <a:ext cx="1463040" cy="36576"/>
          </a:xfrm>
          <a:prstGeom prst="rect">
            <a:avLst/>
          </a:prstGeom>
          <a:solidFill>
            <a:srgbClr val="D9AE4B"/>
          </a:solidFill>
          <a:ln/>
        </p:spPr>
      </p:sp>
      <p:sp>
        <p:nvSpPr>
          <p:cNvPr id="8" name="Text 6"/>
          <p:cNvSpPr/>
          <p:nvPr/>
        </p:nvSpPr>
        <p:spPr>
          <a:xfrm>
            <a:off x="0" y="5029200"/>
            <a:ext cx="12191695" cy="457200"/>
          </a:xfrm>
          <a:prstGeom prst="rect">
            <a:avLst/>
          </a:prstGeom>
          <a:noFill/>
          <a:ln/>
        </p:spPr>
        <p:txBody>
          <a:bodyPr wrap="square" lIns="0" tIns="0" rIns="0" bIns="0" rtlCol="0" anchor="ctr">
            <a:normAutofit/>
          </a:bodyPr>
          <a:lstStyle/>
          <a:p>
            <a:pPr marL="0" indent="0" algn="ctr">
              <a:buNone/>
            </a:pPr>
            <a:r>
              <a:rPr lang="ar-SA" altLang="en-US" sz="2000" b="1" dirty="0">
                <a:solidFill>
                  <a:srgbClr val="C9CFE6"/>
                </a:solidFill>
                <a:latin typeface="Cairo" pitchFamily="34" charset="0"/>
                <a:ea typeface="Cairo" pitchFamily="34" charset="-122"/>
                <a:cs typeface="Cairo" pitchFamily="34" charset="-120"/>
              </a:rPr>
              <a:t>إعداد وتقديم: </a:t>
            </a:r>
            <a:r>
              <a:rPr lang="ar-SA" altLang="en-US" sz="2000" b="1" dirty="0">
                <a:solidFill>
                  <a:srgbClr val="D9AE4B"/>
                </a:solidFill>
                <a:latin typeface="Cairo" pitchFamily="34" charset="0"/>
                <a:ea typeface="Cairo" pitchFamily="34" charset="-122"/>
                <a:cs typeface="Cairo" pitchFamily="34" charset="-120"/>
              </a:rPr>
              <a:t>أ. محمد زيتون</a:t>
            </a:r>
            <a:endParaRPr lang="ar-SA"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Users/mac/dev/younes-training/robot-pi/.pptx-cache/s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قوى نبيه الخارقة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بنهاية الدورة… نبيه سيستطيع أن</a:t>
            </a:r>
            <a:endParaRPr lang="ar-SA" sz="3800" dirty="0"/>
          </a:p>
        </p:txBody>
      </p:sp>
      <p:sp>
        <p:nvSpPr>
          <p:cNvPr id="5" name="anim-g1-1"/>
          <p:cNvSpPr/>
          <p:nvPr/>
        </p:nvSpPr>
        <p:spPr>
          <a:xfrm>
            <a:off x="8036357" y="2011680"/>
            <a:ext cx="333237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2"/>
          <p:cNvSpPr/>
          <p:nvPr/>
        </p:nvSpPr>
        <p:spPr>
          <a:xfrm>
            <a:off x="10527487" y="2267712"/>
            <a:ext cx="566928" cy="566928"/>
          </a:xfrm>
          <a:prstGeom prst="roundRect">
            <a:avLst>
              <a:gd name="adj" fmla="val 32258"/>
            </a:avLst>
          </a:prstGeom>
          <a:solidFill>
            <a:srgbClr val="F7E6BC"/>
          </a:solidFill>
          <a:ln/>
        </p:spPr>
      </p:sp>
      <p:sp>
        <p:nvSpPr>
          <p:cNvPr id="7" name="anim-g1-3"/>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4"/>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يمشي ويلفّ</a:t>
            </a:r>
            <a:endParaRPr lang="ar-SA" sz="2200" dirty="0"/>
          </a:p>
        </p:txBody>
      </p:sp>
      <p:sp>
        <p:nvSpPr>
          <p:cNvPr id="9" name="anim-g1-5"/>
          <p:cNvSpPr/>
          <p:nvPr/>
        </p:nvSpPr>
        <p:spPr>
          <a:xfrm>
            <a:off x="8310677" y="3493008"/>
            <a:ext cx="278373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للأمام والخلف، ويمين ويسار</a:t>
            </a:r>
            <a:endParaRPr lang="ar-SA" sz="1900" dirty="0"/>
          </a:p>
        </p:txBody>
      </p:sp>
      <p:sp>
        <p:nvSpPr>
          <p:cNvPr id="10" name="anim-g2-6"/>
          <p:cNvSpPr/>
          <p:nvPr/>
        </p:nvSpPr>
        <p:spPr>
          <a:xfrm>
            <a:off x="4429658" y="2011680"/>
            <a:ext cx="333237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7"/>
          <p:cNvSpPr/>
          <p:nvPr/>
        </p:nvSpPr>
        <p:spPr>
          <a:xfrm>
            <a:off x="6920789" y="2267712"/>
            <a:ext cx="566928" cy="566928"/>
          </a:xfrm>
          <a:prstGeom prst="roundRect">
            <a:avLst>
              <a:gd name="adj" fmla="val 32258"/>
            </a:avLst>
          </a:prstGeom>
          <a:solidFill>
            <a:srgbClr val="F7E6BC"/>
          </a:solidFill>
          <a:ln/>
        </p:spPr>
      </p:sp>
      <p:sp>
        <p:nvSpPr>
          <p:cNvPr id="12" name="anim-g2-8"/>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9"/>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يحس بالجدار</a:t>
            </a:r>
            <a:endParaRPr lang="ar-SA" sz="2200" dirty="0"/>
          </a:p>
        </p:txBody>
      </p:sp>
      <p:sp>
        <p:nvSpPr>
          <p:cNvPr id="14" name="anim-g2-10"/>
          <p:cNvSpPr/>
          <p:nvPr/>
        </p:nvSpPr>
        <p:spPr>
          <a:xfrm>
            <a:off x="4703978" y="3493008"/>
            <a:ext cx="278373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فيتوقف قبل أن يصطدم</a:t>
            </a:r>
            <a:endParaRPr lang="ar-SA" sz="1900" dirty="0"/>
          </a:p>
        </p:txBody>
      </p:sp>
      <p:sp>
        <p:nvSpPr>
          <p:cNvPr id="15" name="anim-g3-11"/>
          <p:cNvSpPr/>
          <p:nvPr/>
        </p:nvSpPr>
        <p:spPr>
          <a:xfrm>
            <a:off x="822960" y="2011680"/>
            <a:ext cx="333237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2"/>
          <p:cNvSpPr/>
          <p:nvPr/>
        </p:nvSpPr>
        <p:spPr>
          <a:xfrm>
            <a:off x="3314090" y="2267712"/>
            <a:ext cx="566928" cy="566928"/>
          </a:xfrm>
          <a:prstGeom prst="roundRect">
            <a:avLst>
              <a:gd name="adj" fmla="val 32258"/>
            </a:avLst>
          </a:prstGeom>
          <a:solidFill>
            <a:srgbClr val="F7E6BC"/>
          </a:solidFill>
          <a:ln/>
        </p:spPr>
      </p:sp>
      <p:sp>
        <p:nvSpPr>
          <p:cNvPr id="17" name="anim-g3-13"/>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4"/>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يلحق الكرة</a:t>
            </a:r>
            <a:endParaRPr lang="ar-SA" sz="2200" dirty="0"/>
          </a:p>
        </p:txBody>
      </p:sp>
      <p:sp>
        <p:nvSpPr>
          <p:cNvPr id="19" name="anim-g3-15"/>
          <p:cNvSpPr/>
          <p:nvPr/>
        </p:nvSpPr>
        <p:spPr>
          <a:xfrm>
            <a:off x="1097280" y="3493008"/>
            <a:ext cx="278373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يرى لونها ويمشي خلفها</a:t>
            </a:r>
            <a:endParaRPr lang="ar-SA" sz="1900" dirty="0"/>
          </a:p>
        </p:txBody>
      </p:sp>
      <p:sp>
        <p:nvSpPr>
          <p:cNvPr id="20" name="anim-g4-16"/>
          <p:cNvSpPr/>
          <p:nvPr/>
        </p:nvSpPr>
        <p:spPr>
          <a:xfrm>
            <a:off x="8036357" y="4137660"/>
            <a:ext cx="333237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17"/>
          <p:cNvSpPr/>
          <p:nvPr/>
        </p:nvSpPr>
        <p:spPr>
          <a:xfrm>
            <a:off x="10527487" y="4393692"/>
            <a:ext cx="566928" cy="566928"/>
          </a:xfrm>
          <a:prstGeom prst="roundRect">
            <a:avLst>
              <a:gd name="adj" fmla="val 32258"/>
            </a:avLst>
          </a:prstGeom>
          <a:solidFill>
            <a:srgbClr val="F7E6BC"/>
          </a:solidFill>
          <a:ln/>
        </p:spPr>
      </p:sp>
      <p:sp>
        <p:nvSpPr>
          <p:cNvPr id="22" name="anim-g4-18"/>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9"/>
          <p:cNvSpPr/>
          <p:nvPr/>
        </p:nvSpPr>
        <p:spPr>
          <a:xfrm>
            <a:off x="8310677" y="507034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يعرف أصحابه</a:t>
            </a:r>
            <a:endParaRPr lang="ar-SA" sz="2200" dirty="0"/>
          </a:p>
        </p:txBody>
      </p:sp>
      <p:sp>
        <p:nvSpPr>
          <p:cNvPr id="24" name="anim-g4-20"/>
          <p:cNvSpPr/>
          <p:nvPr/>
        </p:nvSpPr>
        <p:spPr>
          <a:xfrm>
            <a:off x="8310677" y="5618988"/>
            <a:ext cx="278373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ويسلّم على كل واحد باسمه</a:t>
            </a:r>
            <a:endParaRPr lang="ar-SA" sz="1900" dirty="0"/>
          </a:p>
        </p:txBody>
      </p:sp>
      <p:sp>
        <p:nvSpPr>
          <p:cNvPr id="25" name="anim-g5-21"/>
          <p:cNvSpPr/>
          <p:nvPr/>
        </p:nvSpPr>
        <p:spPr>
          <a:xfrm>
            <a:off x="4429658" y="4137660"/>
            <a:ext cx="333237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6" name="anim-g5-22"/>
          <p:cNvSpPr/>
          <p:nvPr/>
        </p:nvSpPr>
        <p:spPr>
          <a:xfrm>
            <a:off x="6920789" y="4393692"/>
            <a:ext cx="566928" cy="566928"/>
          </a:xfrm>
          <a:prstGeom prst="roundRect">
            <a:avLst>
              <a:gd name="adj" fmla="val 32258"/>
            </a:avLst>
          </a:prstGeom>
          <a:solidFill>
            <a:srgbClr val="F7E6BC"/>
          </a:solidFill>
          <a:ln/>
        </p:spPr>
      </p:sp>
      <p:sp>
        <p:nvSpPr>
          <p:cNvPr id="27" name="anim-g5-23"/>
          <p:cNvSpPr/>
          <p:nvPr/>
        </p:nvSpPr>
        <p:spPr>
          <a:xfrm>
            <a:off x="6920789"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8" name="anim-g5-24"/>
          <p:cNvSpPr/>
          <p:nvPr/>
        </p:nvSpPr>
        <p:spPr>
          <a:xfrm>
            <a:off x="4703978" y="507034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يتكلم ويسمع</a:t>
            </a:r>
            <a:endParaRPr lang="ar-SA" sz="2200" dirty="0"/>
          </a:p>
        </p:txBody>
      </p:sp>
      <p:sp>
        <p:nvSpPr>
          <p:cNvPr id="29" name="anim-g5-25"/>
          <p:cNvSpPr/>
          <p:nvPr/>
        </p:nvSpPr>
        <p:spPr>
          <a:xfrm>
            <a:off x="4703978" y="5618988"/>
            <a:ext cx="278373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تسأله بالعربي فيرد عليك</a:t>
            </a:r>
            <a:endParaRPr lang="ar-SA" sz="1900" dirty="0"/>
          </a:p>
        </p:txBody>
      </p:sp>
      <p:sp>
        <p:nvSpPr>
          <p:cNvPr id="30" name="anim-g6-26"/>
          <p:cNvSpPr/>
          <p:nvPr/>
        </p:nvSpPr>
        <p:spPr>
          <a:xfrm>
            <a:off x="822960" y="4137660"/>
            <a:ext cx="333237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31" name="anim-g6-27"/>
          <p:cNvSpPr/>
          <p:nvPr/>
        </p:nvSpPr>
        <p:spPr>
          <a:xfrm>
            <a:off x="3314090" y="4393692"/>
            <a:ext cx="566928" cy="566928"/>
          </a:xfrm>
          <a:prstGeom prst="roundRect">
            <a:avLst>
              <a:gd name="adj" fmla="val 32258"/>
            </a:avLst>
          </a:prstGeom>
          <a:solidFill>
            <a:srgbClr val="F7E6BC"/>
          </a:solidFill>
          <a:ln/>
        </p:spPr>
      </p:sp>
      <p:sp>
        <p:nvSpPr>
          <p:cNvPr id="32" name="anim-g6-28"/>
          <p:cNvSpPr/>
          <p:nvPr/>
        </p:nvSpPr>
        <p:spPr>
          <a:xfrm>
            <a:off x="331409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33" name="anim-g6-29"/>
          <p:cNvSpPr/>
          <p:nvPr/>
        </p:nvSpPr>
        <p:spPr>
          <a:xfrm>
            <a:off x="1097280" y="507034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يطيعك من الجوال</a:t>
            </a:r>
            <a:endParaRPr lang="ar-SA" sz="2200" dirty="0"/>
          </a:p>
        </p:txBody>
      </p:sp>
      <p:sp>
        <p:nvSpPr>
          <p:cNvPr id="34" name="anim-g6-30"/>
          <p:cNvSpPr/>
          <p:nvPr/>
        </p:nvSpPr>
        <p:spPr>
          <a:xfrm>
            <a:off x="1097280" y="5618988"/>
            <a:ext cx="278373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وترى ما يراه بعينه</a:t>
            </a:r>
            <a:endParaRPr lang="ar-SA" sz="1900" dirty="0"/>
          </a:p>
        </p:txBody>
      </p:sp>
      <p:sp>
        <p:nvSpPr>
          <p:cNvPr id="35" name="Text 3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36" name="Text 3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تعرّف على نبيه  ·  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0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00"/>
                                        <p:tgtEl>
                                          <p:spTgt spid="28"/>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400"/>
                                        <p:tgtEl>
                                          <p:spTgt spid="29"/>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30"/>
                                        </p:tgtEl>
                                        <p:attrNameLst>
                                          <p:attrName>style.visibility</p:attrName>
                                        </p:attrNameLst>
                                      </p:cBhvr>
                                      <p:to>
                                        <p:strVal val="visible"/>
                                      </p:to>
                                    </p:set>
                                    <p:animEffect transition="in" filter="fade">
                                      <p:cBhvr>
                                        <p:cTn id="92" dur="400"/>
                                        <p:tgtEl>
                                          <p:spTgt spid="30"/>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1"/>
                                        </p:tgtEl>
                                        <p:attrNameLst>
                                          <p:attrName>style.visibility</p:attrName>
                                        </p:attrNameLst>
                                      </p:cBhvr>
                                      <p:to>
                                        <p:strVal val="visible"/>
                                      </p:to>
                                    </p:set>
                                    <p:animEffect transition="in" filter="fade">
                                      <p:cBhvr>
                                        <p:cTn id="95" dur="400"/>
                                        <p:tgtEl>
                                          <p:spTgt spid="31"/>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2"/>
                                        </p:tgtEl>
                                        <p:attrNameLst>
                                          <p:attrName>style.visibility</p:attrName>
                                        </p:attrNameLst>
                                      </p:cBhvr>
                                      <p:to>
                                        <p:strVal val="visible"/>
                                      </p:to>
                                    </p:set>
                                    <p:animEffect transition="in" filter="fade">
                                      <p:cBhvr>
                                        <p:cTn id="98" dur="400"/>
                                        <p:tgtEl>
                                          <p:spTgt spid="32"/>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400"/>
                                        <p:tgtEl>
                                          <p:spTgt spid="33"/>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Users/mac/dev/younes-training/robot-pi/.pptx-cache/s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218024" y="1188720"/>
            <a:ext cx="175564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5218024" y="1188720"/>
            <a:ext cx="175564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سرّ مهم</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الروبوت لا يفكر وحده…</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نحن الذين نعلّمه كيف يفكر</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تعرّف على نبيه  ·  ٥</a:t>
            </a:r>
            <a:endParaRPr lang="ar-SA"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003743" y="457200"/>
            <a:ext cx="3364992" cy="457200"/>
          </a:xfrm>
          <a:prstGeom prst="roundRect">
            <a:avLst>
              <a:gd name="adj" fmla="val 50000"/>
            </a:avLst>
          </a:prstGeom>
          <a:solidFill>
            <a:srgbClr val="F6EBCF"/>
          </a:solidFill>
          <a:ln/>
        </p:spPr>
      </p:sp>
      <p:sp>
        <p:nvSpPr>
          <p:cNvPr id="3" name="Text 1"/>
          <p:cNvSpPr/>
          <p:nvPr/>
        </p:nvSpPr>
        <p:spPr>
          <a:xfrm>
            <a:off x="8003743" y="457200"/>
            <a:ext cx="3364992"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خريطة المغامرة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اثنتا عشرة وحدة… حتى يصبح نبيه ذكيًّا</a:t>
            </a:r>
            <a:endParaRPr lang="ar-SA" sz="3200" dirty="0"/>
          </a:p>
        </p:txBody>
      </p:sp>
      <p:sp>
        <p:nvSpPr>
          <p:cNvPr id="5" name="Shape 3"/>
          <p:cNvSpPr/>
          <p:nvPr/>
        </p:nvSpPr>
        <p:spPr>
          <a:xfrm>
            <a:off x="8903741" y="1965960"/>
            <a:ext cx="2464994" cy="960120"/>
          </a:xfrm>
          <a:prstGeom prst="roundRect">
            <a:avLst>
              <a:gd name="adj" fmla="val 17143"/>
            </a:avLst>
          </a:prstGeom>
          <a:solidFill>
            <a:srgbClr val="FFFFFF"/>
          </a:solidFill>
          <a:ln w="12700">
            <a:solidFill>
              <a:srgbClr val="E4DCC8"/>
            </a:solidFill>
            <a:prstDash val="solid"/>
          </a:ln>
        </p:spPr>
      </p:sp>
      <p:sp>
        <p:nvSpPr>
          <p:cNvPr id="6" name="Shape 4"/>
          <p:cNvSpPr/>
          <p:nvPr/>
        </p:nvSpPr>
        <p:spPr>
          <a:xfrm>
            <a:off x="10564063" y="2125980"/>
            <a:ext cx="640080" cy="640080"/>
          </a:xfrm>
          <a:prstGeom prst="roundRect">
            <a:avLst>
              <a:gd name="adj" fmla="val 22857"/>
            </a:avLst>
          </a:prstGeom>
          <a:solidFill>
            <a:srgbClr val="101B45"/>
          </a:solidFill>
          <a:ln/>
        </p:spPr>
      </p:sp>
      <p:sp>
        <p:nvSpPr>
          <p:cNvPr id="7" name="Text 5"/>
          <p:cNvSpPr/>
          <p:nvPr/>
        </p:nvSpPr>
        <p:spPr>
          <a:xfrm>
            <a:off x="10564063" y="2125980"/>
            <a:ext cx="640080" cy="640080"/>
          </a:xfrm>
          <a:prstGeom prst="rect">
            <a:avLst/>
          </a:prstGeom>
          <a:noFill/>
          <a:ln/>
        </p:spPr>
        <p:txBody>
          <a:bodyPr wrap="square" lIns="0" tIns="0" rIns="0" bIns="0" rtlCol="0" anchor="ctr">
            <a:normAutofit/>
          </a:bodyPr>
          <a:lstStyle/>
          <a:p>
            <a:pPr marL="0" indent="0" algn="ctr" rtl="1">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8" name="Text 6"/>
          <p:cNvSpPr/>
          <p:nvPr/>
        </p:nvSpPr>
        <p:spPr>
          <a:xfrm>
            <a:off x="9040901" y="2057400"/>
            <a:ext cx="1413434" cy="292608"/>
          </a:xfrm>
          <a:prstGeom prst="rect">
            <a:avLst/>
          </a:prstGeom>
          <a:noFill/>
          <a:ln/>
        </p:spPr>
        <p:txBody>
          <a:bodyPr wrap="square" lIns="0" tIns="0" rIns="0" bIns="0" rtlCol="0" anchor="ctr">
            <a:normAutofit/>
          </a:bodyPr>
          <a:lstStyle/>
          <a:p>
            <a:pPr marL="0" indent="0" algn="r" rtl="1">
              <a:buNone/>
            </a:pPr>
            <a:r>
              <a:rPr lang="ar-SA" altLang="en-US" sz="1400" b="1" dirty="0">
                <a:solidFill>
                  <a:srgbClr val="B08A2E"/>
                </a:solidFill>
                <a:latin typeface="Cairo" pitchFamily="34" charset="0"/>
                <a:ea typeface="Cairo" pitchFamily="34" charset="-122"/>
                <a:cs typeface="Cairo" pitchFamily="34" charset="-120"/>
              </a:rPr>
              <a:t>الوحدة ٠</a:t>
            </a:r>
            <a:endParaRPr lang="ar-SA" sz="1400" dirty="0"/>
          </a:p>
        </p:txBody>
      </p:sp>
      <p:sp>
        <p:nvSpPr>
          <p:cNvPr id="9" name="Text 7"/>
          <p:cNvSpPr/>
          <p:nvPr/>
        </p:nvSpPr>
        <p:spPr>
          <a:xfrm>
            <a:off x="9040901" y="2331720"/>
            <a:ext cx="1413434" cy="521208"/>
          </a:xfrm>
          <a:prstGeom prst="rect">
            <a:avLst/>
          </a:prstGeom>
          <a:noFill/>
          <a:ln/>
        </p:spPr>
        <p:txBody>
          <a:bodyPr wrap="square" lIns="0" tIns="0" rIns="0" bIns="0" rtlCol="0" anchor="ctr">
            <a:normAutofit/>
          </a:bodyPr>
          <a:lstStyle/>
          <a:p>
            <a:pPr marL="0" indent="0" algn="r" rtl="1">
              <a:buNone/>
            </a:pPr>
            <a:r>
              <a:rPr lang="ar-SA" altLang="en-US" sz="1800" dirty="0">
                <a:solidFill>
                  <a:srgbClr val="101B45"/>
                </a:solidFill>
                <a:latin typeface="Cairo Black" pitchFamily="34" charset="0"/>
                <a:ea typeface="Cairo Black" pitchFamily="34" charset="-122"/>
                <a:cs typeface="Cairo Black" pitchFamily="34" charset="-120"/>
              </a:rPr>
              <a:t>تعرّف على نبيه</a:t>
            </a:r>
            <a:endParaRPr lang="ar-SA" sz="1800" dirty="0"/>
          </a:p>
        </p:txBody>
      </p:sp>
      <p:sp>
        <p:nvSpPr>
          <p:cNvPr id="10" name="Shape 8"/>
          <p:cNvSpPr/>
          <p:nvPr/>
        </p:nvSpPr>
        <p:spPr>
          <a:xfrm>
            <a:off x="6210148" y="1965960"/>
            <a:ext cx="2464994" cy="960120"/>
          </a:xfrm>
          <a:prstGeom prst="roundRect">
            <a:avLst>
              <a:gd name="adj" fmla="val 17143"/>
            </a:avLst>
          </a:prstGeom>
          <a:solidFill>
            <a:srgbClr val="FFFFFF"/>
          </a:solidFill>
          <a:ln w="12700">
            <a:solidFill>
              <a:srgbClr val="E4DCC8"/>
            </a:solidFill>
            <a:prstDash val="solid"/>
          </a:ln>
        </p:spPr>
      </p:sp>
      <p:sp>
        <p:nvSpPr>
          <p:cNvPr id="11" name="Shape 9"/>
          <p:cNvSpPr/>
          <p:nvPr/>
        </p:nvSpPr>
        <p:spPr>
          <a:xfrm>
            <a:off x="7870469" y="2125980"/>
            <a:ext cx="640080" cy="640080"/>
          </a:xfrm>
          <a:prstGeom prst="roundRect">
            <a:avLst>
              <a:gd name="adj" fmla="val 22857"/>
            </a:avLst>
          </a:prstGeom>
          <a:solidFill>
            <a:srgbClr val="101B45"/>
          </a:solidFill>
          <a:ln/>
        </p:spPr>
      </p:sp>
      <p:sp>
        <p:nvSpPr>
          <p:cNvPr id="12" name="Text 10"/>
          <p:cNvSpPr/>
          <p:nvPr/>
        </p:nvSpPr>
        <p:spPr>
          <a:xfrm>
            <a:off x="7870469" y="2125980"/>
            <a:ext cx="640080" cy="640080"/>
          </a:xfrm>
          <a:prstGeom prst="rect">
            <a:avLst/>
          </a:prstGeom>
          <a:noFill/>
          <a:ln/>
        </p:spPr>
        <p:txBody>
          <a:bodyPr wrap="square" lIns="0" tIns="0" rIns="0" bIns="0" rtlCol="0" anchor="ctr">
            <a:normAutofit/>
          </a:bodyPr>
          <a:lstStyle/>
          <a:p>
            <a:pPr marL="0" indent="0" algn="ctr" rtl="1">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13" name="Text 11"/>
          <p:cNvSpPr/>
          <p:nvPr/>
        </p:nvSpPr>
        <p:spPr>
          <a:xfrm>
            <a:off x="6347308" y="2057400"/>
            <a:ext cx="1413434" cy="292608"/>
          </a:xfrm>
          <a:prstGeom prst="rect">
            <a:avLst/>
          </a:prstGeom>
          <a:noFill/>
          <a:ln/>
        </p:spPr>
        <p:txBody>
          <a:bodyPr wrap="square" lIns="0" tIns="0" rIns="0" bIns="0" rtlCol="0" anchor="ctr">
            <a:normAutofit/>
          </a:bodyPr>
          <a:lstStyle/>
          <a:p>
            <a:pPr marL="0" indent="0" algn="r" rtl="1">
              <a:buNone/>
            </a:pPr>
            <a:r>
              <a:rPr lang="ar-SA" altLang="en-US" sz="1400" b="1" dirty="0">
                <a:solidFill>
                  <a:srgbClr val="B08A2E"/>
                </a:solidFill>
                <a:latin typeface="Cairo" pitchFamily="34" charset="0"/>
                <a:ea typeface="Cairo" pitchFamily="34" charset="-122"/>
                <a:cs typeface="Cairo" pitchFamily="34" charset="-120"/>
              </a:rPr>
              <a:t>الوحدة ١</a:t>
            </a:r>
            <a:endParaRPr lang="ar-SA" sz="1400" dirty="0"/>
          </a:p>
        </p:txBody>
      </p:sp>
      <p:sp>
        <p:nvSpPr>
          <p:cNvPr id="14" name="Text 12"/>
          <p:cNvSpPr/>
          <p:nvPr/>
        </p:nvSpPr>
        <p:spPr>
          <a:xfrm>
            <a:off x="6347308" y="2331720"/>
            <a:ext cx="1413434" cy="521208"/>
          </a:xfrm>
          <a:prstGeom prst="rect">
            <a:avLst/>
          </a:prstGeom>
          <a:noFill/>
          <a:ln/>
        </p:spPr>
        <p:txBody>
          <a:bodyPr wrap="square" lIns="0" tIns="0" rIns="0" bIns="0" rtlCol="0" anchor="ctr">
            <a:normAutofit/>
          </a:bodyPr>
          <a:lstStyle/>
          <a:p>
            <a:pPr marL="0" indent="0" algn="r" rtl="1">
              <a:buNone/>
            </a:pPr>
            <a:r>
              <a:rPr lang="ar-SA" altLang="en-US" sz="1800" dirty="0">
                <a:solidFill>
                  <a:srgbClr val="101B45"/>
                </a:solidFill>
                <a:latin typeface="Cairo Black" pitchFamily="34" charset="0"/>
                <a:ea typeface="Cairo Black" pitchFamily="34" charset="-122"/>
                <a:cs typeface="Cairo Black" pitchFamily="34" charset="-120"/>
              </a:rPr>
              <a:t>ما الراسبيري باي؟</a:t>
            </a:r>
            <a:endParaRPr lang="ar-SA" sz="1800" dirty="0"/>
          </a:p>
        </p:txBody>
      </p:sp>
      <p:sp>
        <p:nvSpPr>
          <p:cNvPr id="15" name="Shape 13"/>
          <p:cNvSpPr/>
          <p:nvPr/>
        </p:nvSpPr>
        <p:spPr>
          <a:xfrm>
            <a:off x="3516554" y="1965960"/>
            <a:ext cx="2464994" cy="960120"/>
          </a:xfrm>
          <a:prstGeom prst="roundRect">
            <a:avLst>
              <a:gd name="adj" fmla="val 17143"/>
            </a:avLst>
          </a:prstGeom>
          <a:solidFill>
            <a:srgbClr val="FFFFFF"/>
          </a:solidFill>
          <a:ln w="12700">
            <a:solidFill>
              <a:srgbClr val="E4DCC8"/>
            </a:solidFill>
            <a:prstDash val="solid"/>
          </a:ln>
        </p:spPr>
      </p:sp>
      <p:sp>
        <p:nvSpPr>
          <p:cNvPr id="16" name="Shape 14"/>
          <p:cNvSpPr/>
          <p:nvPr/>
        </p:nvSpPr>
        <p:spPr>
          <a:xfrm>
            <a:off x="5176876" y="2125980"/>
            <a:ext cx="640080" cy="640080"/>
          </a:xfrm>
          <a:prstGeom prst="roundRect">
            <a:avLst>
              <a:gd name="adj" fmla="val 22857"/>
            </a:avLst>
          </a:prstGeom>
          <a:solidFill>
            <a:srgbClr val="101B45"/>
          </a:solidFill>
          <a:ln/>
        </p:spPr>
      </p:sp>
      <p:sp>
        <p:nvSpPr>
          <p:cNvPr id="17" name="Text 15"/>
          <p:cNvSpPr/>
          <p:nvPr/>
        </p:nvSpPr>
        <p:spPr>
          <a:xfrm>
            <a:off x="5176876" y="2125980"/>
            <a:ext cx="640080" cy="640080"/>
          </a:xfrm>
          <a:prstGeom prst="rect">
            <a:avLst/>
          </a:prstGeom>
          <a:noFill/>
          <a:ln/>
        </p:spPr>
        <p:txBody>
          <a:bodyPr wrap="square" lIns="0" tIns="0" rIns="0" bIns="0" rtlCol="0" anchor="ctr">
            <a:normAutofit/>
          </a:bodyPr>
          <a:lstStyle/>
          <a:p>
            <a:pPr marL="0" indent="0" algn="ctr" rtl="1">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18" name="Text 16"/>
          <p:cNvSpPr/>
          <p:nvPr/>
        </p:nvSpPr>
        <p:spPr>
          <a:xfrm>
            <a:off x="3653714" y="2057400"/>
            <a:ext cx="1413434" cy="292608"/>
          </a:xfrm>
          <a:prstGeom prst="rect">
            <a:avLst/>
          </a:prstGeom>
          <a:noFill/>
          <a:ln/>
        </p:spPr>
        <p:txBody>
          <a:bodyPr wrap="square" lIns="0" tIns="0" rIns="0" bIns="0" rtlCol="0" anchor="ctr">
            <a:normAutofit/>
          </a:bodyPr>
          <a:lstStyle/>
          <a:p>
            <a:pPr marL="0" indent="0" algn="r" rtl="1">
              <a:buNone/>
            </a:pPr>
            <a:r>
              <a:rPr lang="ar-SA" altLang="en-US" sz="1400" b="1" dirty="0">
                <a:solidFill>
                  <a:srgbClr val="B08A2E"/>
                </a:solidFill>
                <a:latin typeface="Cairo" pitchFamily="34" charset="0"/>
                <a:ea typeface="Cairo" pitchFamily="34" charset="-122"/>
                <a:cs typeface="Cairo" pitchFamily="34" charset="-120"/>
              </a:rPr>
              <a:t>الوحدة ٢</a:t>
            </a:r>
            <a:endParaRPr lang="ar-SA" sz="1400" dirty="0"/>
          </a:p>
        </p:txBody>
      </p:sp>
      <p:sp>
        <p:nvSpPr>
          <p:cNvPr id="19" name="Text 17"/>
          <p:cNvSpPr/>
          <p:nvPr/>
        </p:nvSpPr>
        <p:spPr>
          <a:xfrm>
            <a:off x="3653714" y="2331720"/>
            <a:ext cx="1413434" cy="521208"/>
          </a:xfrm>
          <a:prstGeom prst="rect">
            <a:avLst/>
          </a:prstGeom>
          <a:noFill/>
          <a:ln/>
        </p:spPr>
        <p:txBody>
          <a:bodyPr wrap="square" lIns="0" tIns="0" rIns="0" bIns="0" rtlCol="0" anchor="ctr">
            <a:normAutofit/>
          </a:bodyPr>
          <a:lstStyle/>
          <a:p>
            <a:pPr marL="0" indent="0" algn="r" rtl="1">
              <a:buNone/>
            </a:pPr>
            <a:r>
              <a:rPr lang="ar-SA" altLang="en-US" sz="1800" dirty="0">
                <a:solidFill>
                  <a:srgbClr val="101B45"/>
                </a:solidFill>
                <a:latin typeface="Cairo Black" pitchFamily="34" charset="0"/>
                <a:ea typeface="Cairo Black" pitchFamily="34" charset="-122"/>
                <a:cs typeface="Cairo Black" pitchFamily="34" charset="-120"/>
              </a:rPr>
              <a:t>نجهّز العقل</a:t>
            </a:r>
            <a:endParaRPr lang="ar-SA" sz="1800" dirty="0"/>
          </a:p>
        </p:txBody>
      </p:sp>
      <p:sp>
        <p:nvSpPr>
          <p:cNvPr id="20" name="Shape 18"/>
          <p:cNvSpPr/>
          <p:nvPr/>
        </p:nvSpPr>
        <p:spPr>
          <a:xfrm>
            <a:off x="822960" y="1965960"/>
            <a:ext cx="2464994" cy="960120"/>
          </a:xfrm>
          <a:prstGeom prst="roundRect">
            <a:avLst>
              <a:gd name="adj" fmla="val 17143"/>
            </a:avLst>
          </a:prstGeom>
          <a:solidFill>
            <a:srgbClr val="FFFFFF"/>
          </a:solidFill>
          <a:ln w="12700">
            <a:solidFill>
              <a:srgbClr val="E4DCC8"/>
            </a:solidFill>
            <a:prstDash val="solid"/>
          </a:ln>
        </p:spPr>
      </p:sp>
      <p:sp>
        <p:nvSpPr>
          <p:cNvPr id="21" name="Shape 19"/>
          <p:cNvSpPr/>
          <p:nvPr/>
        </p:nvSpPr>
        <p:spPr>
          <a:xfrm>
            <a:off x="2483282" y="2125980"/>
            <a:ext cx="640080" cy="640080"/>
          </a:xfrm>
          <a:prstGeom prst="roundRect">
            <a:avLst>
              <a:gd name="adj" fmla="val 22857"/>
            </a:avLst>
          </a:prstGeom>
          <a:solidFill>
            <a:srgbClr val="101B45"/>
          </a:solidFill>
          <a:ln/>
        </p:spPr>
      </p:sp>
      <p:sp>
        <p:nvSpPr>
          <p:cNvPr id="22" name="Text 20"/>
          <p:cNvSpPr/>
          <p:nvPr/>
        </p:nvSpPr>
        <p:spPr>
          <a:xfrm>
            <a:off x="2483282" y="2125980"/>
            <a:ext cx="640080" cy="640080"/>
          </a:xfrm>
          <a:prstGeom prst="rect">
            <a:avLst/>
          </a:prstGeom>
          <a:noFill/>
          <a:ln/>
        </p:spPr>
        <p:txBody>
          <a:bodyPr wrap="square" lIns="0" tIns="0" rIns="0" bIns="0" rtlCol="0" anchor="ctr">
            <a:normAutofit/>
          </a:bodyPr>
          <a:lstStyle/>
          <a:p>
            <a:pPr marL="0" indent="0" algn="ctr" rtl="1">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23" name="Text 21"/>
          <p:cNvSpPr/>
          <p:nvPr/>
        </p:nvSpPr>
        <p:spPr>
          <a:xfrm>
            <a:off x="960120" y="2057400"/>
            <a:ext cx="1413434" cy="292608"/>
          </a:xfrm>
          <a:prstGeom prst="rect">
            <a:avLst/>
          </a:prstGeom>
          <a:noFill/>
          <a:ln/>
        </p:spPr>
        <p:txBody>
          <a:bodyPr wrap="square" lIns="0" tIns="0" rIns="0" bIns="0" rtlCol="0" anchor="ctr">
            <a:normAutofit/>
          </a:bodyPr>
          <a:lstStyle/>
          <a:p>
            <a:pPr marL="0" indent="0" algn="r" rtl="1">
              <a:buNone/>
            </a:pPr>
            <a:r>
              <a:rPr lang="ar-SA" altLang="en-US" sz="1400" b="1" dirty="0">
                <a:solidFill>
                  <a:srgbClr val="B08A2E"/>
                </a:solidFill>
                <a:latin typeface="Cairo" pitchFamily="34" charset="0"/>
                <a:ea typeface="Cairo" pitchFamily="34" charset="-122"/>
                <a:cs typeface="Cairo" pitchFamily="34" charset="-120"/>
              </a:rPr>
              <a:t>الوحدة ٣</a:t>
            </a:r>
            <a:endParaRPr lang="ar-SA" sz="1400" dirty="0"/>
          </a:p>
        </p:txBody>
      </p:sp>
      <p:sp>
        <p:nvSpPr>
          <p:cNvPr id="24" name="Text 22"/>
          <p:cNvSpPr/>
          <p:nvPr/>
        </p:nvSpPr>
        <p:spPr>
          <a:xfrm>
            <a:off x="960120" y="2331720"/>
            <a:ext cx="1413434" cy="521208"/>
          </a:xfrm>
          <a:prstGeom prst="rect">
            <a:avLst/>
          </a:prstGeom>
          <a:noFill/>
          <a:ln/>
        </p:spPr>
        <p:txBody>
          <a:bodyPr wrap="square" lIns="0" tIns="0" rIns="0" bIns="0" rtlCol="0" anchor="ctr">
            <a:normAutofit/>
          </a:bodyPr>
          <a:lstStyle/>
          <a:p>
            <a:pPr marL="0" indent="0" algn="r" rtl="1">
              <a:buNone/>
            </a:pPr>
            <a:r>
              <a:rPr lang="ar-SA" altLang="en-US" sz="1800" dirty="0">
                <a:solidFill>
                  <a:srgbClr val="101B45"/>
                </a:solidFill>
                <a:latin typeface="Cairo Black" pitchFamily="34" charset="0"/>
                <a:ea typeface="Cairo Black" pitchFamily="34" charset="-122"/>
                <a:cs typeface="Cairo Black" pitchFamily="34" charset="-120"/>
              </a:rPr>
              <a:t>نتعلم لغة بايثون</a:t>
            </a:r>
            <a:endParaRPr lang="ar-SA" sz="1800" dirty="0"/>
          </a:p>
        </p:txBody>
      </p:sp>
      <p:sp>
        <p:nvSpPr>
          <p:cNvPr id="25" name="Shape 23"/>
          <p:cNvSpPr/>
          <p:nvPr/>
        </p:nvSpPr>
        <p:spPr>
          <a:xfrm>
            <a:off x="8903741" y="3090672"/>
            <a:ext cx="2464994" cy="960120"/>
          </a:xfrm>
          <a:prstGeom prst="roundRect">
            <a:avLst>
              <a:gd name="adj" fmla="val 17143"/>
            </a:avLst>
          </a:prstGeom>
          <a:solidFill>
            <a:srgbClr val="FFFFFF"/>
          </a:solidFill>
          <a:ln w="12700">
            <a:solidFill>
              <a:srgbClr val="E4DCC8"/>
            </a:solidFill>
            <a:prstDash val="solid"/>
          </a:ln>
        </p:spPr>
      </p:sp>
      <p:sp>
        <p:nvSpPr>
          <p:cNvPr id="26" name="Shape 24"/>
          <p:cNvSpPr/>
          <p:nvPr/>
        </p:nvSpPr>
        <p:spPr>
          <a:xfrm>
            <a:off x="10564063" y="3250692"/>
            <a:ext cx="640080" cy="640080"/>
          </a:xfrm>
          <a:prstGeom prst="roundRect">
            <a:avLst>
              <a:gd name="adj" fmla="val 22857"/>
            </a:avLst>
          </a:prstGeom>
          <a:solidFill>
            <a:srgbClr val="101B45"/>
          </a:solidFill>
          <a:ln/>
        </p:spPr>
      </p:sp>
      <p:sp>
        <p:nvSpPr>
          <p:cNvPr id="27" name="Text 25"/>
          <p:cNvSpPr/>
          <p:nvPr/>
        </p:nvSpPr>
        <p:spPr>
          <a:xfrm>
            <a:off x="10564063" y="3250692"/>
            <a:ext cx="640080" cy="640080"/>
          </a:xfrm>
          <a:prstGeom prst="rect">
            <a:avLst/>
          </a:prstGeom>
          <a:noFill/>
          <a:ln/>
        </p:spPr>
        <p:txBody>
          <a:bodyPr wrap="square" lIns="0" tIns="0" rIns="0" bIns="0" rtlCol="0" anchor="ctr">
            <a:normAutofit/>
          </a:bodyPr>
          <a:lstStyle/>
          <a:p>
            <a:pPr marL="0" indent="0" algn="ctr" rtl="1">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28" name="Text 26"/>
          <p:cNvSpPr/>
          <p:nvPr/>
        </p:nvSpPr>
        <p:spPr>
          <a:xfrm>
            <a:off x="9040901" y="3182112"/>
            <a:ext cx="1413434" cy="292608"/>
          </a:xfrm>
          <a:prstGeom prst="rect">
            <a:avLst/>
          </a:prstGeom>
          <a:noFill/>
          <a:ln/>
        </p:spPr>
        <p:txBody>
          <a:bodyPr wrap="square" lIns="0" tIns="0" rIns="0" bIns="0" rtlCol="0" anchor="ctr">
            <a:normAutofit/>
          </a:bodyPr>
          <a:lstStyle/>
          <a:p>
            <a:pPr marL="0" indent="0" algn="r" rtl="1">
              <a:buNone/>
            </a:pPr>
            <a:r>
              <a:rPr lang="ar-SA" altLang="en-US" sz="1400" b="1" dirty="0">
                <a:solidFill>
                  <a:srgbClr val="B08A2E"/>
                </a:solidFill>
                <a:latin typeface="Cairo" pitchFamily="34" charset="0"/>
                <a:ea typeface="Cairo" pitchFamily="34" charset="-122"/>
                <a:cs typeface="Cairo" pitchFamily="34" charset="-120"/>
              </a:rPr>
              <a:t>الوحدة ٤</a:t>
            </a:r>
            <a:endParaRPr lang="ar-SA" sz="1400" dirty="0"/>
          </a:p>
        </p:txBody>
      </p:sp>
      <p:sp>
        <p:nvSpPr>
          <p:cNvPr id="29" name="Text 27"/>
          <p:cNvSpPr/>
          <p:nvPr/>
        </p:nvSpPr>
        <p:spPr>
          <a:xfrm>
            <a:off x="9040901" y="3456432"/>
            <a:ext cx="1413434" cy="521208"/>
          </a:xfrm>
          <a:prstGeom prst="rect">
            <a:avLst/>
          </a:prstGeom>
          <a:noFill/>
          <a:ln/>
        </p:spPr>
        <p:txBody>
          <a:bodyPr wrap="square" lIns="0" tIns="0" rIns="0" bIns="0" rtlCol="0" anchor="ctr">
            <a:normAutofit/>
          </a:bodyPr>
          <a:lstStyle/>
          <a:p>
            <a:pPr marL="0" indent="0" algn="r" rtl="1">
              <a:buNone/>
            </a:pPr>
            <a:r>
              <a:rPr lang="ar-SA" altLang="en-US" sz="1800" dirty="0">
                <a:solidFill>
                  <a:srgbClr val="101B45"/>
                </a:solidFill>
                <a:latin typeface="Cairo Black" pitchFamily="34" charset="0"/>
                <a:ea typeface="Cairo Black" pitchFamily="34" charset="-122"/>
                <a:cs typeface="Cairo Black" pitchFamily="34" charset="-120"/>
              </a:rPr>
              <a:t>ليد وزر</a:t>
            </a:r>
            <a:endParaRPr lang="ar-SA" sz="1800" dirty="0"/>
          </a:p>
        </p:txBody>
      </p:sp>
      <p:sp>
        <p:nvSpPr>
          <p:cNvPr id="30" name="Shape 28"/>
          <p:cNvSpPr/>
          <p:nvPr/>
        </p:nvSpPr>
        <p:spPr>
          <a:xfrm>
            <a:off x="6210148" y="3090672"/>
            <a:ext cx="2464994" cy="960120"/>
          </a:xfrm>
          <a:prstGeom prst="roundRect">
            <a:avLst>
              <a:gd name="adj" fmla="val 17143"/>
            </a:avLst>
          </a:prstGeom>
          <a:solidFill>
            <a:srgbClr val="FFFFFF"/>
          </a:solidFill>
          <a:ln w="12700">
            <a:solidFill>
              <a:srgbClr val="E4DCC8"/>
            </a:solidFill>
            <a:prstDash val="solid"/>
          </a:ln>
        </p:spPr>
      </p:sp>
      <p:sp>
        <p:nvSpPr>
          <p:cNvPr id="31" name="Shape 29"/>
          <p:cNvSpPr/>
          <p:nvPr/>
        </p:nvSpPr>
        <p:spPr>
          <a:xfrm>
            <a:off x="7870469" y="3250692"/>
            <a:ext cx="640080" cy="640080"/>
          </a:xfrm>
          <a:prstGeom prst="roundRect">
            <a:avLst>
              <a:gd name="adj" fmla="val 22857"/>
            </a:avLst>
          </a:prstGeom>
          <a:solidFill>
            <a:srgbClr val="101B45"/>
          </a:solidFill>
          <a:ln/>
        </p:spPr>
      </p:sp>
      <p:sp>
        <p:nvSpPr>
          <p:cNvPr id="32" name="Text 30"/>
          <p:cNvSpPr/>
          <p:nvPr/>
        </p:nvSpPr>
        <p:spPr>
          <a:xfrm>
            <a:off x="7870469" y="3250692"/>
            <a:ext cx="640080" cy="640080"/>
          </a:xfrm>
          <a:prstGeom prst="rect">
            <a:avLst/>
          </a:prstGeom>
          <a:noFill/>
          <a:ln/>
        </p:spPr>
        <p:txBody>
          <a:bodyPr wrap="square" lIns="0" tIns="0" rIns="0" bIns="0" rtlCol="0" anchor="ctr">
            <a:normAutofit/>
          </a:bodyPr>
          <a:lstStyle/>
          <a:p>
            <a:pPr marL="0" indent="0" algn="ctr" rtl="1">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33" name="Text 31"/>
          <p:cNvSpPr/>
          <p:nvPr/>
        </p:nvSpPr>
        <p:spPr>
          <a:xfrm>
            <a:off x="6347308" y="3182112"/>
            <a:ext cx="1413434" cy="292608"/>
          </a:xfrm>
          <a:prstGeom prst="rect">
            <a:avLst/>
          </a:prstGeom>
          <a:noFill/>
          <a:ln/>
        </p:spPr>
        <p:txBody>
          <a:bodyPr wrap="square" lIns="0" tIns="0" rIns="0" bIns="0" rtlCol="0" anchor="ctr">
            <a:normAutofit/>
          </a:bodyPr>
          <a:lstStyle/>
          <a:p>
            <a:pPr marL="0" indent="0" algn="r" rtl="1">
              <a:buNone/>
            </a:pPr>
            <a:r>
              <a:rPr lang="ar-SA" altLang="en-US" sz="1400" b="1" dirty="0">
                <a:solidFill>
                  <a:srgbClr val="B08A2E"/>
                </a:solidFill>
                <a:latin typeface="Cairo" pitchFamily="34" charset="0"/>
                <a:ea typeface="Cairo" pitchFamily="34" charset="-122"/>
                <a:cs typeface="Cairo" pitchFamily="34" charset="-120"/>
              </a:rPr>
              <a:t>الوحدة ٥</a:t>
            </a:r>
            <a:endParaRPr lang="ar-SA" sz="1400" dirty="0"/>
          </a:p>
        </p:txBody>
      </p:sp>
      <p:sp>
        <p:nvSpPr>
          <p:cNvPr id="34" name="Text 32"/>
          <p:cNvSpPr/>
          <p:nvPr/>
        </p:nvSpPr>
        <p:spPr>
          <a:xfrm>
            <a:off x="6347308" y="3456432"/>
            <a:ext cx="1413434" cy="521208"/>
          </a:xfrm>
          <a:prstGeom prst="rect">
            <a:avLst/>
          </a:prstGeom>
          <a:noFill/>
          <a:ln/>
        </p:spPr>
        <p:txBody>
          <a:bodyPr wrap="square" lIns="0" tIns="0" rIns="0" bIns="0" rtlCol="0" anchor="ctr">
            <a:normAutofit/>
          </a:bodyPr>
          <a:lstStyle/>
          <a:p>
            <a:pPr marL="0" indent="0" algn="r" rtl="1">
              <a:buNone/>
            </a:pPr>
            <a:r>
              <a:rPr lang="ar-SA" altLang="en-US" sz="1800" dirty="0">
                <a:solidFill>
                  <a:srgbClr val="101B45"/>
                </a:solidFill>
                <a:latin typeface="Cairo Black" pitchFamily="34" charset="0"/>
                <a:ea typeface="Cairo Black" pitchFamily="34" charset="-122"/>
                <a:cs typeface="Cairo Black" pitchFamily="34" charset="-120"/>
              </a:rPr>
              <a:t>نبيه يمشي</a:t>
            </a:r>
            <a:endParaRPr lang="ar-SA" sz="1800" dirty="0"/>
          </a:p>
        </p:txBody>
      </p:sp>
      <p:sp>
        <p:nvSpPr>
          <p:cNvPr id="35" name="Shape 33"/>
          <p:cNvSpPr/>
          <p:nvPr/>
        </p:nvSpPr>
        <p:spPr>
          <a:xfrm>
            <a:off x="3516554" y="3090672"/>
            <a:ext cx="2464994" cy="960120"/>
          </a:xfrm>
          <a:prstGeom prst="roundRect">
            <a:avLst>
              <a:gd name="adj" fmla="val 17143"/>
            </a:avLst>
          </a:prstGeom>
          <a:solidFill>
            <a:srgbClr val="FFFFFF"/>
          </a:solidFill>
          <a:ln w="12700">
            <a:solidFill>
              <a:srgbClr val="E4DCC8"/>
            </a:solidFill>
            <a:prstDash val="solid"/>
          </a:ln>
        </p:spPr>
      </p:sp>
      <p:sp>
        <p:nvSpPr>
          <p:cNvPr id="36" name="Shape 34"/>
          <p:cNvSpPr/>
          <p:nvPr/>
        </p:nvSpPr>
        <p:spPr>
          <a:xfrm>
            <a:off x="5176876" y="3250692"/>
            <a:ext cx="640080" cy="640080"/>
          </a:xfrm>
          <a:prstGeom prst="roundRect">
            <a:avLst>
              <a:gd name="adj" fmla="val 22857"/>
            </a:avLst>
          </a:prstGeom>
          <a:solidFill>
            <a:srgbClr val="101B45"/>
          </a:solidFill>
          <a:ln/>
        </p:spPr>
      </p:sp>
      <p:sp>
        <p:nvSpPr>
          <p:cNvPr id="37" name="Text 35"/>
          <p:cNvSpPr/>
          <p:nvPr/>
        </p:nvSpPr>
        <p:spPr>
          <a:xfrm>
            <a:off x="5176876" y="3250692"/>
            <a:ext cx="640080" cy="640080"/>
          </a:xfrm>
          <a:prstGeom prst="rect">
            <a:avLst/>
          </a:prstGeom>
          <a:noFill/>
          <a:ln/>
        </p:spPr>
        <p:txBody>
          <a:bodyPr wrap="square" lIns="0" tIns="0" rIns="0" bIns="0" rtlCol="0" anchor="ctr">
            <a:normAutofit/>
          </a:bodyPr>
          <a:lstStyle/>
          <a:p>
            <a:pPr marL="0" indent="0" algn="ctr" rtl="1">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38" name="Text 36"/>
          <p:cNvSpPr/>
          <p:nvPr/>
        </p:nvSpPr>
        <p:spPr>
          <a:xfrm>
            <a:off x="3653714" y="3182112"/>
            <a:ext cx="1413434" cy="292608"/>
          </a:xfrm>
          <a:prstGeom prst="rect">
            <a:avLst/>
          </a:prstGeom>
          <a:noFill/>
          <a:ln/>
        </p:spPr>
        <p:txBody>
          <a:bodyPr wrap="square" lIns="0" tIns="0" rIns="0" bIns="0" rtlCol="0" anchor="ctr">
            <a:normAutofit/>
          </a:bodyPr>
          <a:lstStyle/>
          <a:p>
            <a:pPr marL="0" indent="0" algn="r" rtl="1">
              <a:buNone/>
            </a:pPr>
            <a:r>
              <a:rPr lang="ar-SA" altLang="en-US" sz="1400" b="1" dirty="0">
                <a:solidFill>
                  <a:srgbClr val="B08A2E"/>
                </a:solidFill>
                <a:latin typeface="Cairo" pitchFamily="34" charset="0"/>
                <a:ea typeface="Cairo" pitchFamily="34" charset="-122"/>
                <a:cs typeface="Cairo" pitchFamily="34" charset="-120"/>
              </a:rPr>
              <a:t>الوحدة ٦</a:t>
            </a:r>
            <a:endParaRPr lang="ar-SA" sz="1400" dirty="0"/>
          </a:p>
        </p:txBody>
      </p:sp>
      <p:sp>
        <p:nvSpPr>
          <p:cNvPr id="39" name="Text 37"/>
          <p:cNvSpPr/>
          <p:nvPr/>
        </p:nvSpPr>
        <p:spPr>
          <a:xfrm>
            <a:off x="3653714" y="3456432"/>
            <a:ext cx="1413434" cy="521208"/>
          </a:xfrm>
          <a:prstGeom prst="rect">
            <a:avLst/>
          </a:prstGeom>
          <a:noFill/>
          <a:ln/>
        </p:spPr>
        <p:txBody>
          <a:bodyPr wrap="square" lIns="0" tIns="0" rIns="0" bIns="0" rtlCol="0" anchor="ctr">
            <a:normAutofit/>
          </a:bodyPr>
          <a:lstStyle/>
          <a:p>
            <a:pPr marL="0" indent="0" algn="r" rtl="1">
              <a:buNone/>
            </a:pPr>
            <a:r>
              <a:rPr lang="ar-SA" altLang="en-US" sz="1800" dirty="0">
                <a:solidFill>
                  <a:srgbClr val="101B45"/>
                </a:solidFill>
                <a:latin typeface="Cairo Black" pitchFamily="34" charset="0"/>
                <a:ea typeface="Cairo Black" pitchFamily="34" charset="-122"/>
                <a:cs typeface="Cairo Black" pitchFamily="34" charset="-120"/>
              </a:rPr>
              <a:t>نبيه يحس بالجدار</a:t>
            </a:r>
            <a:endParaRPr lang="ar-SA" sz="1800" dirty="0"/>
          </a:p>
        </p:txBody>
      </p:sp>
      <p:sp>
        <p:nvSpPr>
          <p:cNvPr id="40" name="Shape 38"/>
          <p:cNvSpPr/>
          <p:nvPr/>
        </p:nvSpPr>
        <p:spPr>
          <a:xfrm>
            <a:off x="822960" y="3090672"/>
            <a:ext cx="2464994" cy="960120"/>
          </a:xfrm>
          <a:prstGeom prst="roundRect">
            <a:avLst>
              <a:gd name="adj" fmla="val 17143"/>
            </a:avLst>
          </a:prstGeom>
          <a:solidFill>
            <a:srgbClr val="FFFFFF"/>
          </a:solidFill>
          <a:ln w="12700">
            <a:solidFill>
              <a:srgbClr val="E4DCC8"/>
            </a:solidFill>
            <a:prstDash val="solid"/>
          </a:ln>
        </p:spPr>
      </p:sp>
      <p:sp>
        <p:nvSpPr>
          <p:cNvPr id="41" name="Shape 39"/>
          <p:cNvSpPr/>
          <p:nvPr/>
        </p:nvSpPr>
        <p:spPr>
          <a:xfrm>
            <a:off x="2483282" y="3250692"/>
            <a:ext cx="640080" cy="640080"/>
          </a:xfrm>
          <a:prstGeom prst="roundRect">
            <a:avLst>
              <a:gd name="adj" fmla="val 22857"/>
            </a:avLst>
          </a:prstGeom>
          <a:solidFill>
            <a:srgbClr val="101B45"/>
          </a:solidFill>
          <a:ln/>
        </p:spPr>
      </p:sp>
      <p:sp>
        <p:nvSpPr>
          <p:cNvPr id="42" name="Text 40"/>
          <p:cNvSpPr/>
          <p:nvPr/>
        </p:nvSpPr>
        <p:spPr>
          <a:xfrm>
            <a:off x="2483282" y="3250692"/>
            <a:ext cx="640080" cy="640080"/>
          </a:xfrm>
          <a:prstGeom prst="rect">
            <a:avLst/>
          </a:prstGeom>
          <a:noFill/>
          <a:ln/>
        </p:spPr>
        <p:txBody>
          <a:bodyPr wrap="square" lIns="0" tIns="0" rIns="0" bIns="0" rtlCol="0" anchor="ctr">
            <a:normAutofit/>
          </a:bodyPr>
          <a:lstStyle/>
          <a:p>
            <a:pPr marL="0" indent="0" algn="ctr" rtl="1">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43" name="Text 41"/>
          <p:cNvSpPr/>
          <p:nvPr/>
        </p:nvSpPr>
        <p:spPr>
          <a:xfrm>
            <a:off x="960120" y="3182112"/>
            <a:ext cx="1413434" cy="292608"/>
          </a:xfrm>
          <a:prstGeom prst="rect">
            <a:avLst/>
          </a:prstGeom>
          <a:noFill/>
          <a:ln/>
        </p:spPr>
        <p:txBody>
          <a:bodyPr wrap="square" lIns="0" tIns="0" rIns="0" bIns="0" rtlCol="0" anchor="ctr">
            <a:normAutofit/>
          </a:bodyPr>
          <a:lstStyle/>
          <a:p>
            <a:pPr marL="0" indent="0" algn="r" rtl="1">
              <a:buNone/>
            </a:pPr>
            <a:r>
              <a:rPr lang="ar-SA" altLang="en-US" sz="1400" b="1" dirty="0">
                <a:solidFill>
                  <a:srgbClr val="B08A2E"/>
                </a:solidFill>
                <a:latin typeface="Cairo" pitchFamily="34" charset="0"/>
                <a:ea typeface="Cairo" pitchFamily="34" charset="-122"/>
                <a:cs typeface="Cairo" pitchFamily="34" charset="-120"/>
              </a:rPr>
              <a:t>الوحدة ٧</a:t>
            </a:r>
            <a:endParaRPr lang="ar-SA" sz="1400" dirty="0"/>
          </a:p>
        </p:txBody>
      </p:sp>
      <p:sp>
        <p:nvSpPr>
          <p:cNvPr id="44" name="Text 42"/>
          <p:cNvSpPr/>
          <p:nvPr/>
        </p:nvSpPr>
        <p:spPr>
          <a:xfrm>
            <a:off x="960120" y="3456432"/>
            <a:ext cx="1413434" cy="521208"/>
          </a:xfrm>
          <a:prstGeom prst="rect">
            <a:avLst/>
          </a:prstGeom>
          <a:noFill/>
          <a:ln/>
        </p:spPr>
        <p:txBody>
          <a:bodyPr wrap="square" lIns="0" tIns="0" rIns="0" bIns="0" rtlCol="0" anchor="ctr">
            <a:normAutofit/>
          </a:bodyPr>
          <a:lstStyle/>
          <a:p>
            <a:pPr marL="0" indent="0" algn="r" rtl="1">
              <a:buNone/>
            </a:pPr>
            <a:r>
              <a:rPr lang="ar-SA" altLang="en-US" sz="1800" dirty="0">
                <a:solidFill>
                  <a:srgbClr val="101B45"/>
                </a:solidFill>
                <a:latin typeface="Cairo Black" pitchFamily="34" charset="0"/>
                <a:ea typeface="Cairo Black" pitchFamily="34" charset="-122"/>
                <a:cs typeface="Cairo Black" pitchFamily="34" charset="-120"/>
              </a:rPr>
              <a:t>نبيه يلحق الكرة</a:t>
            </a:r>
            <a:endParaRPr lang="ar-SA" sz="1800" dirty="0"/>
          </a:p>
        </p:txBody>
      </p:sp>
      <p:sp>
        <p:nvSpPr>
          <p:cNvPr id="45" name="Shape 43"/>
          <p:cNvSpPr/>
          <p:nvPr/>
        </p:nvSpPr>
        <p:spPr>
          <a:xfrm>
            <a:off x="8903741" y="4215384"/>
            <a:ext cx="2464994" cy="960120"/>
          </a:xfrm>
          <a:prstGeom prst="roundRect">
            <a:avLst>
              <a:gd name="adj" fmla="val 17143"/>
            </a:avLst>
          </a:prstGeom>
          <a:solidFill>
            <a:srgbClr val="FFFFFF"/>
          </a:solidFill>
          <a:ln w="12700">
            <a:solidFill>
              <a:srgbClr val="E4DCC8"/>
            </a:solidFill>
            <a:prstDash val="solid"/>
          </a:ln>
        </p:spPr>
      </p:sp>
      <p:sp>
        <p:nvSpPr>
          <p:cNvPr id="46" name="Shape 44"/>
          <p:cNvSpPr/>
          <p:nvPr/>
        </p:nvSpPr>
        <p:spPr>
          <a:xfrm>
            <a:off x="10564063" y="4375404"/>
            <a:ext cx="640080" cy="640080"/>
          </a:xfrm>
          <a:prstGeom prst="roundRect">
            <a:avLst>
              <a:gd name="adj" fmla="val 22857"/>
            </a:avLst>
          </a:prstGeom>
          <a:solidFill>
            <a:srgbClr val="101B45"/>
          </a:solidFill>
          <a:ln/>
        </p:spPr>
      </p:sp>
      <p:sp>
        <p:nvSpPr>
          <p:cNvPr id="47" name="Text 45"/>
          <p:cNvSpPr/>
          <p:nvPr/>
        </p:nvSpPr>
        <p:spPr>
          <a:xfrm>
            <a:off x="10564063" y="4375404"/>
            <a:ext cx="640080" cy="640080"/>
          </a:xfrm>
          <a:prstGeom prst="rect">
            <a:avLst/>
          </a:prstGeom>
          <a:noFill/>
          <a:ln/>
        </p:spPr>
        <p:txBody>
          <a:bodyPr wrap="square" lIns="0" tIns="0" rIns="0" bIns="0" rtlCol="0" anchor="ctr">
            <a:normAutofit/>
          </a:bodyPr>
          <a:lstStyle/>
          <a:p>
            <a:pPr marL="0" indent="0" algn="ctr" rtl="1">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48" name="Text 46"/>
          <p:cNvSpPr/>
          <p:nvPr/>
        </p:nvSpPr>
        <p:spPr>
          <a:xfrm>
            <a:off x="9040901" y="4306824"/>
            <a:ext cx="1413434" cy="292608"/>
          </a:xfrm>
          <a:prstGeom prst="rect">
            <a:avLst/>
          </a:prstGeom>
          <a:noFill/>
          <a:ln/>
        </p:spPr>
        <p:txBody>
          <a:bodyPr wrap="square" lIns="0" tIns="0" rIns="0" bIns="0" rtlCol="0" anchor="ctr">
            <a:normAutofit/>
          </a:bodyPr>
          <a:lstStyle/>
          <a:p>
            <a:pPr marL="0" indent="0" algn="r" rtl="1">
              <a:buNone/>
            </a:pPr>
            <a:r>
              <a:rPr lang="ar-SA" altLang="en-US" sz="1400" b="1" dirty="0">
                <a:solidFill>
                  <a:srgbClr val="B08A2E"/>
                </a:solidFill>
                <a:latin typeface="Cairo" pitchFamily="34" charset="0"/>
                <a:ea typeface="Cairo" pitchFamily="34" charset="-122"/>
                <a:cs typeface="Cairo" pitchFamily="34" charset="-120"/>
              </a:rPr>
              <a:t>الوحدة ٨</a:t>
            </a:r>
            <a:endParaRPr lang="ar-SA" sz="1400" dirty="0"/>
          </a:p>
        </p:txBody>
      </p:sp>
      <p:sp>
        <p:nvSpPr>
          <p:cNvPr id="49" name="Text 47"/>
          <p:cNvSpPr/>
          <p:nvPr/>
        </p:nvSpPr>
        <p:spPr>
          <a:xfrm>
            <a:off x="9040901" y="4581144"/>
            <a:ext cx="1413434" cy="521208"/>
          </a:xfrm>
          <a:prstGeom prst="rect">
            <a:avLst/>
          </a:prstGeom>
          <a:noFill/>
          <a:ln/>
        </p:spPr>
        <p:txBody>
          <a:bodyPr wrap="square" lIns="0" tIns="0" rIns="0" bIns="0" rtlCol="0" anchor="ctr">
            <a:normAutofit/>
          </a:bodyPr>
          <a:lstStyle/>
          <a:p>
            <a:pPr marL="0" indent="0" algn="r" rtl="1">
              <a:buNone/>
            </a:pPr>
            <a:r>
              <a:rPr lang="ar-SA" altLang="en-US" sz="1800" dirty="0">
                <a:solidFill>
                  <a:srgbClr val="101B45"/>
                </a:solidFill>
                <a:latin typeface="Cairo Black" pitchFamily="34" charset="0"/>
                <a:ea typeface="Cairo Black" pitchFamily="34" charset="-122"/>
                <a:cs typeface="Cairo Black" pitchFamily="34" charset="-120"/>
              </a:rPr>
              <a:t>نبيه يعرف أصحابه</a:t>
            </a:r>
            <a:endParaRPr lang="ar-SA" sz="1800" dirty="0"/>
          </a:p>
        </p:txBody>
      </p:sp>
      <p:sp>
        <p:nvSpPr>
          <p:cNvPr id="50" name="Shape 48"/>
          <p:cNvSpPr/>
          <p:nvPr/>
        </p:nvSpPr>
        <p:spPr>
          <a:xfrm>
            <a:off x="6210148" y="4215384"/>
            <a:ext cx="2464994" cy="960120"/>
          </a:xfrm>
          <a:prstGeom prst="roundRect">
            <a:avLst>
              <a:gd name="adj" fmla="val 17143"/>
            </a:avLst>
          </a:prstGeom>
          <a:solidFill>
            <a:srgbClr val="FFFFFF"/>
          </a:solidFill>
          <a:ln w="12700">
            <a:solidFill>
              <a:srgbClr val="E4DCC8"/>
            </a:solidFill>
            <a:prstDash val="solid"/>
          </a:ln>
        </p:spPr>
      </p:sp>
      <p:sp>
        <p:nvSpPr>
          <p:cNvPr id="51" name="Shape 49"/>
          <p:cNvSpPr/>
          <p:nvPr/>
        </p:nvSpPr>
        <p:spPr>
          <a:xfrm>
            <a:off x="7870469" y="4375404"/>
            <a:ext cx="640080" cy="640080"/>
          </a:xfrm>
          <a:prstGeom prst="roundRect">
            <a:avLst>
              <a:gd name="adj" fmla="val 22857"/>
            </a:avLst>
          </a:prstGeom>
          <a:solidFill>
            <a:srgbClr val="101B45"/>
          </a:solidFill>
          <a:ln/>
        </p:spPr>
      </p:sp>
      <p:sp>
        <p:nvSpPr>
          <p:cNvPr id="52" name="Text 50"/>
          <p:cNvSpPr/>
          <p:nvPr/>
        </p:nvSpPr>
        <p:spPr>
          <a:xfrm>
            <a:off x="7870469" y="4375404"/>
            <a:ext cx="640080" cy="640080"/>
          </a:xfrm>
          <a:prstGeom prst="rect">
            <a:avLst/>
          </a:prstGeom>
          <a:noFill/>
          <a:ln/>
        </p:spPr>
        <p:txBody>
          <a:bodyPr wrap="square" lIns="0" tIns="0" rIns="0" bIns="0" rtlCol="0" anchor="ctr">
            <a:normAutofit/>
          </a:bodyPr>
          <a:lstStyle/>
          <a:p>
            <a:pPr marL="0" indent="0" algn="ctr" rtl="1">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53" name="Text 51"/>
          <p:cNvSpPr/>
          <p:nvPr/>
        </p:nvSpPr>
        <p:spPr>
          <a:xfrm>
            <a:off x="6347308" y="4306824"/>
            <a:ext cx="1413434" cy="292608"/>
          </a:xfrm>
          <a:prstGeom prst="rect">
            <a:avLst/>
          </a:prstGeom>
          <a:noFill/>
          <a:ln/>
        </p:spPr>
        <p:txBody>
          <a:bodyPr wrap="square" lIns="0" tIns="0" rIns="0" bIns="0" rtlCol="0" anchor="ctr">
            <a:normAutofit/>
          </a:bodyPr>
          <a:lstStyle/>
          <a:p>
            <a:pPr marL="0" indent="0" algn="r" rtl="1">
              <a:buNone/>
            </a:pPr>
            <a:r>
              <a:rPr lang="ar-SA" altLang="en-US" sz="1400" b="1" dirty="0">
                <a:solidFill>
                  <a:srgbClr val="B08A2E"/>
                </a:solidFill>
                <a:latin typeface="Cairo" pitchFamily="34" charset="0"/>
                <a:ea typeface="Cairo" pitchFamily="34" charset="-122"/>
                <a:cs typeface="Cairo" pitchFamily="34" charset="-120"/>
              </a:rPr>
              <a:t>الوحدة ٩</a:t>
            </a:r>
            <a:endParaRPr lang="ar-SA" sz="1400" dirty="0"/>
          </a:p>
        </p:txBody>
      </p:sp>
      <p:sp>
        <p:nvSpPr>
          <p:cNvPr id="54" name="Text 52"/>
          <p:cNvSpPr/>
          <p:nvPr/>
        </p:nvSpPr>
        <p:spPr>
          <a:xfrm>
            <a:off x="6347308" y="4581144"/>
            <a:ext cx="1413434" cy="521208"/>
          </a:xfrm>
          <a:prstGeom prst="rect">
            <a:avLst/>
          </a:prstGeom>
          <a:noFill/>
          <a:ln/>
        </p:spPr>
        <p:txBody>
          <a:bodyPr wrap="square" lIns="0" tIns="0" rIns="0" bIns="0" rtlCol="0" anchor="ctr">
            <a:normAutofit/>
          </a:bodyPr>
          <a:lstStyle/>
          <a:p>
            <a:pPr marL="0" indent="0" algn="r" rtl="1">
              <a:buNone/>
            </a:pPr>
            <a:r>
              <a:rPr lang="ar-SA" altLang="en-US" sz="1800" dirty="0">
                <a:solidFill>
                  <a:srgbClr val="101B45"/>
                </a:solidFill>
                <a:latin typeface="Cairo Black" pitchFamily="34" charset="0"/>
                <a:ea typeface="Cairo Black" pitchFamily="34" charset="-122"/>
                <a:cs typeface="Cairo Black" pitchFamily="34" charset="-120"/>
              </a:rPr>
              <a:t>نبيه يتكلم ويسمع</a:t>
            </a:r>
            <a:endParaRPr lang="ar-SA" sz="1800" dirty="0"/>
          </a:p>
        </p:txBody>
      </p:sp>
      <p:sp>
        <p:nvSpPr>
          <p:cNvPr id="55" name="Shape 53"/>
          <p:cNvSpPr/>
          <p:nvPr/>
        </p:nvSpPr>
        <p:spPr>
          <a:xfrm>
            <a:off x="3516554" y="4215384"/>
            <a:ext cx="2464994" cy="960120"/>
          </a:xfrm>
          <a:prstGeom prst="roundRect">
            <a:avLst>
              <a:gd name="adj" fmla="val 17143"/>
            </a:avLst>
          </a:prstGeom>
          <a:solidFill>
            <a:srgbClr val="FFFFFF"/>
          </a:solidFill>
          <a:ln w="12700">
            <a:solidFill>
              <a:srgbClr val="E4DCC8"/>
            </a:solidFill>
            <a:prstDash val="solid"/>
          </a:ln>
        </p:spPr>
      </p:sp>
      <p:sp>
        <p:nvSpPr>
          <p:cNvPr id="56" name="Shape 54"/>
          <p:cNvSpPr/>
          <p:nvPr/>
        </p:nvSpPr>
        <p:spPr>
          <a:xfrm>
            <a:off x="5176876" y="4375404"/>
            <a:ext cx="640080" cy="640080"/>
          </a:xfrm>
          <a:prstGeom prst="roundRect">
            <a:avLst>
              <a:gd name="adj" fmla="val 22857"/>
            </a:avLst>
          </a:prstGeom>
          <a:solidFill>
            <a:srgbClr val="101B45"/>
          </a:solidFill>
          <a:ln/>
        </p:spPr>
      </p:sp>
      <p:sp>
        <p:nvSpPr>
          <p:cNvPr id="57" name="Text 55"/>
          <p:cNvSpPr/>
          <p:nvPr/>
        </p:nvSpPr>
        <p:spPr>
          <a:xfrm>
            <a:off x="5176876" y="4375404"/>
            <a:ext cx="640080" cy="640080"/>
          </a:xfrm>
          <a:prstGeom prst="rect">
            <a:avLst/>
          </a:prstGeom>
          <a:noFill/>
          <a:ln/>
        </p:spPr>
        <p:txBody>
          <a:bodyPr wrap="square" lIns="0" tIns="0" rIns="0" bIns="0" rtlCol="0" anchor="ctr">
            <a:normAutofit/>
          </a:bodyPr>
          <a:lstStyle/>
          <a:p>
            <a:pPr marL="0" indent="0" algn="ctr" rtl="1">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58" name="Text 56"/>
          <p:cNvSpPr/>
          <p:nvPr/>
        </p:nvSpPr>
        <p:spPr>
          <a:xfrm>
            <a:off x="3653714" y="4306824"/>
            <a:ext cx="1413434" cy="292608"/>
          </a:xfrm>
          <a:prstGeom prst="rect">
            <a:avLst/>
          </a:prstGeom>
          <a:noFill/>
          <a:ln/>
        </p:spPr>
        <p:txBody>
          <a:bodyPr wrap="square" lIns="0" tIns="0" rIns="0" bIns="0" rtlCol="0" anchor="ctr">
            <a:normAutofit/>
          </a:bodyPr>
          <a:lstStyle/>
          <a:p>
            <a:pPr marL="0" indent="0" algn="r" rtl="1">
              <a:buNone/>
            </a:pPr>
            <a:r>
              <a:rPr lang="ar-SA" altLang="en-US" sz="1400" b="1" dirty="0">
                <a:solidFill>
                  <a:srgbClr val="B08A2E"/>
                </a:solidFill>
                <a:latin typeface="Cairo" pitchFamily="34" charset="0"/>
                <a:ea typeface="Cairo" pitchFamily="34" charset="-122"/>
                <a:cs typeface="Cairo" pitchFamily="34" charset="-120"/>
              </a:rPr>
              <a:t>الوحدة ١٠</a:t>
            </a:r>
            <a:endParaRPr lang="ar-SA" sz="1400" dirty="0"/>
          </a:p>
        </p:txBody>
      </p:sp>
      <p:sp>
        <p:nvSpPr>
          <p:cNvPr id="59" name="Text 57"/>
          <p:cNvSpPr/>
          <p:nvPr/>
        </p:nvSpPr>
        <p:spPr>
          <a:xfrm>
            <a:off x="3653714" y="4581144"/>
            <a:ext cx="1413434" cy="521208"/>
          </a:xfrm>
          <a:prstGeom prst="rect">
            <a:avLst/>
          </a:prstGeom>
          <a:noFill/>
          <a:ln/>
        </p:spPr>
        <p:txBody>
          <a:bodyPr wrap="square" lIns="0" tIns="0" rIns="0" bIns="0" rtlCol="0" anchor="ctr">
            <a:normAutofit/>
          </a:bodyPr>
          <a:lstStyle/>
          <a:p>
            <a:pPr marL="0" indent="0" algn="r" rtl="1">
              <a:buNone/>
            </a:pPr>
            <a:r>
              <a:rPr lang="ar-SA" altLang="en-US" sz="1800" dirty="0">
                <a:solidFill>
                  <a:srgbClr val="101B45"/>
                </a:solidFill>
                <a:latin typeface="Cairo Black" pitchFamily="34" charset="0"/>
                <a:ea typeface="Cairo Black" pitchFamily="34" charset="-122"/>
                <a:cs typeface="Cairo Black" pitchFamily="34" charset="-120"/>
              </a:rPr>
              <a:t>عقل نبيه</a:t>
            </a:r>
            <a:endParaRPr lang="ar-SA" sz="1800" dirty="0"/>
          </a:p>
        </p:txBody>
      </p:sp>
      <p:sp>
        <p:nvSpPr>
          <p:cNvPr id="60" name="Shape 58"/>
          <p:cNvSpPr/>
          <p:nvPr/>
        </p:nvSpPr>
        <p:spPr>
          <a:xfrm>
            <a:off x="822960" y="4215384"/>
            <a:ext cx="2464994" cy="960120"/>
          </a:xfrm>
          <a:prstGeom prst="roundRect">
            <a:avLst>
              <a:gd name="adj" fmla="val 17143"/>
            </a:avLst>
          </a:prstGeom>
          <a:solidFill>
            <a:srgbClr val="FFFFFF"/>
          </a:solidFill>
          <a:ln w="12700">
            <a:solidFill>
              <a:srgbClr val="E4DCC8"/>
            </a:solidFill>
            <a:prstDash val="solid"/>
          </a:ln>
        </p:spPr>
      </p:sp>
      <p:sp>
        <p:nvSpPr>
          <p:cNvPr id="61" name="Shape 59"/>
          <p:cNvSpPr/>
          <p:nvPr/>
        </p:nvSpPr>
        <p:spPr>
          <a:xfrm>
            <a:off x="2483282" y="4375404"/>
            <a:ext cx="640080" cy="640080"/>
          </a:xfrm>
          <a:prstGeom prst="roundRect">
            <a:avLst>
              <a:gd name="adj" fmla="val 22857"/>
            </a:avLst>
          </a:prstGeom>
          <a:solidFill>
            <a:srgbClr val="101B45"/>
          </a:solidFill>
          <a:ln/>
        </p:spPr>
      </p:sp>
      <p:sp>
        <p:nvSpPr>
          <p:cNvPr id="62" name="Text 60"/>
          <p:cNvSpPr/>
          <p:nvPr/>
        </p:nvSpPr>
        <p:spPr>
          <a:xfrm>
            <a:off x="2483282" y="4375404"/>
            <a:ext cx="640080" cy="640080"/>
          </a:xfrm>
          <a:prstGeom prst="rect">
            <a:avLst/>
          </a:prstGeom>
          <a:noFill/>
          <a:ln/>
        </p:spPr>
        <p:txBody>
          <a:bodyPr wrap="square" lIns="0" tIns="0" rIns="0" bIns="0" rtlCol="0" anchor="ctr">
            <a:normAutofit/>
          </a:bodyPr>
          <a:lstStyle/>
          <a:p>
            <a:pPr marL="0" indent="0" algn="ctr" rtl="1">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63" name="Text 61"/>
          <p:cNvSpPr/>
          <p:nvPr/>
        </p:nvSpPr>
        <p:spPr>
          <a:xfrm>
            <a:off x="960120" y="4306824"/>
            <a:ext cx="1413434" cy="292608"/>
          </a:xfrm>
          <a:prstGeom prst="rect">
            <a:avLst/>
          </a:prstGeom>
          <a:noFill/>
          <a:ln/>
        </p:spPr>
        <p:txBody>
          <a:bodyPr wrap="square" lIns="0" tIns="0" rIns="0" bIns="0" rtlCol="0" anchor="ctr">
            <a:normAutofit/>
          </a:bodyPr>
          <a:lstStyle/>
          <a:p>
            <a:pPr marL="0" indent="0" algn="r" rtl="1">
              <a:buNone/>
            </a:pPr>
            <a:r>
              <a:rPr lang="ar-SA" altLang="en-US" sz="1400" b="1" dirty="0">
                <a:solidFill>
                  <a:srgbClr val="B08A2E"/>
                </a:solidFill>
                <a:latin typeface="Cairo" pitchFamily="34" charset="0"/>
                <a:ea typeface="Cairo" pitchFamily="34" charset="-122"/>
                <a:cs typeface="Cairo" pitchFamily="34" charset="-120"/>
              </a:rPr>
              <a:t>الوحدة ١١</a:t>
            </a:r>
            <a:endParaRPr lang="ar-SA" sz="1400" dirty="0"/>
          </a:p>
        </p:txBody>
      </p:sp>
      <p:sp>
        <p:nvSpPr>
          <p:cNvPr id="64" name="Text 62"/>
          <p:cNvSpPr/>
          <p:nvPr/>
        </p:nvSpPr>
        <p:spPr>
          <a:xfrm>
            <a:off x="960120" y="4581144"/>
            <a:ext cx="1413434" cy="521208"/>
          </a:xfrm>
          <a:prstGeom prst="rect">
            <a:avLst/>
          </a:prstGeom>
          <a:noFill/>
          <a:ln/>
        </p:spPr>
        <p:txBody>
          <a:bodyPr wrap="square" lIns="0" tIns="0" rIns="0" bIns="0" rtlCol="0" anchor="ctr">
            <a:normAutofit/>
          </a:bodyPr>
          <a:lstStyle/>
          <a:p>
            <a:pPr marL="0" indent="0" algn="r" rtl="1">
              <a:buNone/>
            </a:pPr>
            <a:r>
              <a:rPr lang="ar-SA" altLang="en-US" sz="1800" dirty="0">
                <a:solidFill>
                  <a:srgbClr val="101B45"/>
                </a:solidFill>
                <a:latin typeface="Cairo Black" pitchFamily="34" charset="0"/>
                <a:ea typeface="Cairo Black" pitchFamily="34" charset="-122"/>
                <a:cs typeface="Cairo Black" pitchFamily="34" charset="-120"/>
              </a:rPr>
              <a:t>نبيه في الجوال</a:t>
            </a:r>
            <a:endParaRPr lang="ar-SA" sz="1800" dirty="0"/>
          </a:p>
        </p:txBody>
      </p:sp>
      <p:sp>
        <p:nvSpPr>
          <p:cNvPr id="65" name="Text 6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66" name="Text 6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تعرّف على نبيه  ·  ٦</a:t>
            </a:r>
            <a:endParaRPr lang="ar-SA"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272223" y="457200"/>
            <a:ext cx="4096512" cy="457200"/>
          </a:xfrm>
          <a:prstGeom prst="roundRect">
            <a:avLst>
              <a:gd name="adj" fmla="val 50000"/>
            </a:avLst>
          </a:prstGeom>
          <a:solidFill>
            <a:srgbClr val="F6EBCF"/>
          </a:solidFill>
          <a:ln/>
        </p:spPr>
      </p:sp>
      <p:sp>
        <p:nvSpPr>
          <p:cNvPr id="3" name="Text 1"/>
          <p:cNvSpPr/>
          <p:nvPr/>
        </p:nvSpPr>
        <p:spPr>
          <a:xfrm>
            <a:off x="7272223" y="457200"/>
            <a:ext cx="4096512"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هكذا نسير في كل وحدة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كل وحدة… خمس خطوات</a:t>
            </a:r>
            <a:endParaRPr lang="ar-SA" sz="3800" dirty="0"/>
          </a:p>
        </p:txBody>
      </p:sp>
      <p:sp>
        <p:nvSpPr>
          <p:cNvPr id="5" name="anim-g1-31"/>
          <p:cNvSpPr/>
          <p:nvPr/>
        </p:nvSpPr>
        <p:spPr>
          <a:xfrm>
            <a:off x="822960" y="1920240"/>
            <a:ext cx="10545775" cy="735178"/>
          </a:xfrm>
          <a:prstGeom prst="roundRect">
            <a:avLst>
              <a:gd name="adj" fmla="val 19900"/>
            </a:avLst>
          </a:prstGeom>
          <a:solidFill>
            <a:srgbClr val="FFFFFF"/>
          </a:solidFill>
          <a:ln w="12700">
            <a:solidFill>
              <a:srgbClr val="E4DCC8"/>
            </a:solidFill>
            <a:prstDash val="solid"/>
          </a:ln>
        </p:spPr>
      </p:sp>
      <p:sp>
        <p:nvSpPr>
          <p:cNvPr id="6" name="anim-g1-32"/>
          <p:cNvSpPr/>
          <p:nvPr/>
        </p:nvSpPr>
        <p:spPr>
          <a:xfrm>
            <a:off x="10587838" y="2011680"/>
            <a:ext cx="552298" cy="552298"/>
          </a:xfrm>
          <a:prstGeom prst="ellipse">
            <a:avLst/>
          </a:prstGeom>
          <a:solidFill>
            <a:srgbClr val="D9AE4B"/>
          </a:solidFill>
          <a:ln/>
        </p:spPr>
      </p:sp>
      <p:sp>
        <p:nvSpPr>
          <p:cNvPr id="7" name="anim-g1-33"/>
          <p:cNvSpPr/>
          <p:nvPr/>
        </p:nvSpPr>
        <p:spPr>
          <a:xfrm>
            <a:off x="10587838" y="2011680"/>
            <a:ext cx="552298" cy="55229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34"/>
          <p:cNvSpPr/>
          <p:nvPr/>
        </p:nvSpPr>
        <p:spPr>
          <a:xfrm>
            <a:off x="1097280" y="1920240"/>
            <a:ext cx="9261958" cy="735178"/>
          </a:xfrm>
          <a:prstGeom prst="rect">
            <a:avLst/>
          </a:prstGeom>
          <a:noFill/>
          <a:ln/>
        </p:spPr>
        <p:txBody>
          <a:bodyPr wrap="square" lIns="0" tIns="0" rIns="0" bIns="0" rtlCol="0" anchor="ctr">
            <a:normAutofit/>
          </a:bodyPr>
          <a:lstStyle/>
          <a:p>
            <a:pPr marL="0" indent="0" algn="r">
              <a:buNone/>
            </a:pPr>
            <a:r>
              <a:rPr lang="ar-SA" altLang="en-US" sz="2200" b="1" dirty="0">
                <a:solidFill>
                  <a:srgbClr val="101B45"/>
                </a:solidFill>
                <a:latin typeface="Cairo Black" pitchFamily="34" charset="0"/>
                <a:ea typeface="Cairo Black" pitchFamily="34" charset="-122"/>
                <a:cs typeface="Cairo Black" pitchFamily="34" charset="-120"/>
              </a:rPr>
              <a:t>🎯 مهمتي</a:t>
            </a:r>
            <a:r>
              <a:rPr lang="ar-SA" altLang="en-US" sz="1800" b="1" dirty="0">
                <a:solidFill>
                  <a:srgbClr val="3B4460"/>
                </a:solidFill>
                <a:latin typeface="Cairo" pitchFamily="34" charset="0"/>
                <a:ea typeface="Cairo" pitchFamily="34" charset="-122"/>
                <a:cs typeface="Cairo" pitchFamily="34" charset="-120"/>
              </a:rPr>
              <a:t>   — ماذا سأتعلم اليوم؟</a:t>
            </a:r>
            <a:endParaRPr lang="ar-SA" sz="2200" dirty="0"/>
          </a:p>
        </p:txBody>
      </p:sp>
      <p:sp>
        <p:nvSpPr>
          <p:cNvPr id="9" name="anim-g2-35"/>
          <p:cNvSpPr/>
          <p:nvPr/>
        </p:nvSpPr>
        <p:spPr>
          <a:xfrm>
            <a:off x="822960" y="2765146"/>
            <a:ext cx="10545775" cy="735178"/>
          </a:xfrm>
          <a:prstGeom prst="roundRect">
            <a:avLst>
              <a:gd name="adj" fmla="val 19900"/>
            </a:avLst>
          </a:prstGeom>
          <a:solidFill>
            <a:srgbClr val="FFFFFF"/>
          </a:solidFill>
          <a:ln w="12700">
            <a:solidFill>
              <a:srgbClr val="E4DCC8"/>
            </a:solidFill>
            <a:prstDash val="solid"/>
          </a:ln>
        </p:spPr>
      </p:sp>
      <p:sp>
        <p:nvSpPr>
          <p:cNvPr id="10" name="anim-g2-36"/>
          <p:cNvSpPr/>
          <p:nvPr/>
        </p:nvSpPr>
        <p:spPr>
          <a:xfrm>
            <a:off x="10587838" y="2856586"/>
            <a:ext cx="552298" cy="552298"/>
          </a:xfrm>
          <a:prstGeom prst="ellipse">
            <a:avLst/>
          </a:prstGeom>
          <a:solidFill>
            <a:srgbClr val="D9AE4B"/>
          </a:solidFill>
          <a:ln/>
        </p:spPr>
      </p:sp>
      <p:sp>
        <p:nvSpPr>
          <p:cNvPr id="11" name="anim-g2-37"/>
          <p:cNvSpPr/>
          <p:nvPr/>
        </p:nvSpPr>
        <p:spPr>
          <a:xfrm>
            <a:off x="10587838" y="2856586"/>
            <a:ext cx="552298" cy="55229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38"/>
          <p:cNvSpPr/>
          <p:nvPr/>
        </p:nvSpPr>
        <p:spPr>
          <a:xfrm>
            <a:off x="1097280" y="2765146"/>
            <a:ext cx="9261958" cy="735178"/>
          </a:xfrm>
          <a:prstGeom prst="rect">
            <a:avLst/>
          </a:prstGeom>
          <a:noFill/>
          <a:ln/>
        </p:spPr>
        <p:txBody>
          <a:bodyPr wrap="square" lIns="0" tIns="0" rIns="0" bIns="0" rtlCol="0" anchor="ctr">
            <a:normAutofit/>
          </a:bodyPr>
          <a:lstStyle/>
          <a:p>
            <a:pPr marL="0" indent="0" algn="r">
              <a:buNone/>
            </a:pPr>
            <a:r>
              <a:rPr lang="ar-SA" altLang="en-US" sz="2200" b="1" dirty="0">
                <a:solidFill>
                  <a:srgbClr val="101B45"/>
                </a:solidFill>
                <a:latin typeface="Cairo Black" pitchFamily="34" charset="0"/>
                <a:ea typeface="Cairo Black" pitchFamily="34" charset="-122"/>
                <a:cs typeface="Cairo Black" pitchFamily="34" charset="-120"/>
              </a:rPr>
              <a:t>📘 أفهم</a:t>
            </a:r>
            <a:r>
              <a:rPr lang="ar-SA" altLang="en-US" sz="1800" b="1" dirty="0">
                <a:solidFill>
                  <a:srgbClr val="3B4460"/>
                </a:solidFill>
                <a:latin typeface="Cairo" pitchFamily="34" charset="0"/>
                <a:ea typeface="Cairo" pitchFamily="34" charset="-122"/>
                <a:cs typeface="Cairo" pitchFamily="34" charset="-120"/>
              </a:rPr>
              <a:t>   — بالصور والرسومات التي نضغط عليها</a:t>
            </a:r>
            <a:endParaRPr lang="ar-SA" sz="2200" dirty="0"/>
          </a:p>
        </p:txBody>
      </p:sp>
      <p:sp>
        <p:nvSpPr>
          <p:cNvPr id="13" name="anim-g3-39"/>
          <p:cNvSpPr/>
          <p:nvPr/>
        </p:nvSpPr>
        <p:spPr>
          <a:xfrm>
            <a:off x="822960" y="3610051"/>
            <a:ext cx="10545775" cy="735178"/>
          </a:xfrm>
          <a:prstGeom prst="roundRect">
            <a:avLst>
              <a:gd name="adj" fmla="val 19900"/>
            </a:avLst>
          </a:prstGeom>
          <a:solidFill>
            <a:srgbClr val="FFFFFF"/>
          </a:solidFill>
          <a:ln w="12700">
            <a:solidFill>
              <a:srgbClr val="E4DCC8"/>
            </a:solidFill>
            <a:prstDash val="solid"/>
          </a:ln>
        </p:spPr>
      </p:sp>
      <p:sp>
        <p:nvSpPr>
          <p:cNvPr id="14" name="anim-g3-40"/>
          <p:cNvSpPr/>
          <p:nvPr/>
        </p:nvSpPr>
        <p:spPr>
          <a:xfrm>
            <a:off x="10587838" y="3701491"/>
            <a:ext cx="552298" cy="552298"/>
          </a:xfrm>
          <a:prstGeom prst="ellipse">
            <a:avLst/>
          </a:prstGeom>
          <a:solidFill>
            <a:srgbClr val="D9AE4B"/>
          </a:solidFill>
          <a:ln/>
        </p:spPr>
      </p:sp>
      <p:sp>
        <p:nvSpPr>
          <p:cNvPr id="15" name="anim-g3-41"/>
          <p:cNvSpPr/>
          <p:nvPr/>
        </p:nvSpPr>
        <p:spPr>
          <a:xfrm>
            <a:off x="10587838" y="3701491"/>
            <a:ext cx="552298" cy="55229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42"/>
          <p:cNvSpPr/>
          <p:nvPr/>
        </p:nvSpPr>
        <p:spPr>
          <a:xfrm>
            <a:off x="1097280" y="3610051"/>
            <a:ext cx="9261958" cy="735178"/>
          </a:xfrm>
          <a:prstGeom prst="rect">
            <a:avLst/>
          </a:prstGeom>
          <a:noFill/>
          <a:ln/>
        </p:spPr>
        <p:txBody>
          <a:bodyPr wrap="square" lIns="0" tIns="0" rIns="0" bIns="0" rtlCol="0" anchor="ctr">
            <a:normAutofit/>
          </a:bodyPr>
          <a:lstStyle/>
          <a:p>
            <a:pPr marL="0" indent="0" algn="r">
              <a:buNone/>
            </a:pPr>
            <a:r>
              <a:rPr lang="ar-SA" altLang="en-US" sz="2200" b="1" dirty="0">
                <a:solidFill>
                  <a:srgbClr val="101B45"/>
                </a:solidFill>
                <a:latin typeface="Cairo Black" pitchFamily="34" charset="0"/>
                <a:ea typeface="Cairo Black" pitchFamily="34" charset="-122"/>
                <a:cs typeface="Cairo Black" pitchFamily="34" charset="-120"/>
              </a:rPr>
              <a:t>🛠️ أجرّب</a:t>
            </a:r>
            <a:r>
              <a:rPr lang="ar-SA" altLang="en-US" sz="1800" b="1" dirty="0">
                <a:solidFill>
                  <a:srgbClr val="3B4460"/>
                </a:solidFill>
                <a:latin typeface="Cairo" pitchFamily="34" charset="0"/>
                <a:ea typeface="Cairo" pitchFamily="34" charset="-122"/>
                <a:cs typeface="Cairo" pitchFamily="34" charset="-120"/>
              </a:rPr>
              <a:t>   — بيدي على نبيه الحقيقي</a:t>
            </a:r>
            <a:endParaRPr lang="ar-SA" sz="2200" dirty="0"/>
          </a:p>
        </p:txBody>
      </p:sp>
      <p:sp>
        <p:nvSpPr>
          <p:cNvPr id="17" name="anim-g4-43"/>
          <p:cNvSpPr/>
          <p:nvPr/>
        </p:nvSpPr>
        <p:spPr>
          <a:xfrm>
            <a:off x="822960" y="4454957"/>
            <a:ext cx="10545775" cy="735178"/>
          </a:xfrm>
          <a:prstGeom prst="roundRect">
            <a:avLst>
              <a:gd name="adj" fmla="val 19900"/>
            </a:avLst>
          </a:prstGeom>
          <a:solidFill>
            <a:srgbClr val="FFFFFF"/>
          </a:solidFill>
          <a:ln w="12700">
            <a:solidFill>
              <a:srgbClr val="E4DCC8"/>
            </a:solidFill>
            <a:prstDash val="solid"/>
          </a:ln>
        </p:spPr>
      </p:sp>
      <p:sp>
        <p:nvSpPr>
          <p:cNvPr id="18" name="anim-g4-44"/>
          <p:cNvSpPr/>
          <p:nvPr/>
        </p:nvSpPr>
        <p:spPr>
          <a:xfrm>
            <a:off x="10587838" y="4546397"/>
            <a:ext cx="552298" cy="552298"/>
          </a:xfrm>
          <a:prstGeom prst="ellipse">
            <a:avLst/>
          </a:prstGeom>
          <a:solidFill>
            <a:srgbClr val="D9AE4B"/>
          </a:solidFill>
          <a:ln/>
        </p:spPr>
      </p:sp>
      <p:sp>
        <p:nvSpPr>
          <p:cNvPr id="19" name="anim-g4-45"/>
          <p:cNvSpPr/>
          <p:nvPr/>
        </p:nvSpPr>
        <p:spPr>
          <a:xfrm>
            <a:off x="10587838" y="4546397"/>
            <a:ext cx="552298" cy="55229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46"/>
          <p:cNvSpPr/>
          <p:nvPr/>
        </p:nvSpPr>
        <p:spPr>
          <a:xfrm>
            <a:off x="1097280" y="4454957"/>
            <a:ext cx="9261958" cy="735178"/>
          </a:xfrm>
          <a:prstGeom prst="rect">
            <a:avLst/>
          </a:prstGeom>
          <a:noFill/>
          <a:ln/>
        </p:spPr>
        <p:txBody>
          <a:bodyPr wrap="square" lIns="0" tIns="0" rIns="0" bIns="0" rtlCol="0" anchor="ctr">
            <a:normAutofit/>
          </a:bodyPr>
          <a:lstStyle/>
          <a:p>
            <a:pPr marL="0" indent="0" algn="r">
              <a:buNone/>
            </a:pPr>
            <a:r>
              <a:rPr lang="ar-SA" altLang="en-US" sz="2200" b="1" dirty="0">
                <a:solidFill>
                  <a:srgbClr val="101B45"/>
                </a:solidFill>
                <a:latin typeface="Cairo Black" pitchFamily="34" charset="0"/>
                <a:ea typeface="Cairo Black" pitchFamily="34" charset="-122"/>
                <a:cs typeface="Cairo Black" pitchFamily="34" charset="-120"/>
              </a:rPr>
              <a:t>🏆 أتحدّى</a:t>
            </a:r>
            <a:r>
              <a:rPr lang="ar-SA" altLang="en-US" sz="1800" b="1" dirty="0">
                <a:solidFill>
                  <a:srgbClr val="3B4460"/>
                </a:solidFill>
                <a:latin typeface="Cairo" pitchFamily="34" charset="0"/>
                <a:ea typeface="Cairo" pitchFamily="34" charset="-122"/>
                <a:cs typeface="Cairo" pitchFamily="34" charset="-120"/>
              </a:rPr>
              <a:t>   — مهمة صغيرة أحلّها مع فريقي</a:t>
            </a:r>
            <a:endParaRPr lang="ar-SA" sz="2200" dirty="0"/>
          </a:p>
        </p:txBody>
      </p:sp>
      <p:sp>
        <p:nvSpPr>
          <p:cNvPr id="21" name="anim-g5-47"/>
          <p:cNvSpPr/>
          <p:nvPr/>
        </p:nvSpPr>
        <p:spPr>
          <a:xfrm>
            <a:off x="822960" y="5299862"/>
            <a:ext cx="10545775" cy="735178"/>
          </a:xfrm>
          <a:prstGeom prst="roundRect">
            <a:avLst>
              <a:gd name="adj" fmla="val 19900"/>
            </a:avLst>
          </a:prstGeom>
          <a:solidFill>
            <a:srgbClr val="FFFFFF"/>
          </a:solidFill>
          <a:ln w="12700">
            <a:solidFill>
              <a:srgbClr val="E4DCC8"/>
            </a:solidFill>
            <a:prstDash val="solid"/>
          </a:ln>
        </p:spPr>
      </p:sp>
      <p:sp>
        <p:nvSpPr>
          <p:cNvPr id="22" name="anim-g5-48"/>
          <p:cNvSpPr/>
          <p:nvPr/>
        </p:nvSpPr>
        <p:spPr>
          <a:xfrm>
            <a:off x="10587838" y="5391302"/>
            <a:ext cx="552298" cy="552298"/>
          </a:xfrm>
          <a:prstGeom prst="ellipse">
            <a:avLst/>
          </a:prstGeom>
          <a:solidFill>
            <a:srgbClr val="D9AE4B"/>
          </a:solidFill>
          <a:ln/>
        </p:spPr>
      </p:sp>
      <p:sp>
        <p:nvSpPr>
          <p:cNvPr id="23" name="anim-g5-49"/>
          <p:cNvSpPr/>
          <p:nvPr/>
        </p:nvSpPr>
        <p:spPr>
          <a:xfrm>
            <a:off x="10587838" y="5391302"/>
            <a:ext cx="552298" cy="55229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٥</a:t>
            </a:r>
            <a:endParaRPr lang="ar-SA" sz="2000" dirty="0"/>
          </a:p>
        </p:txBody>
      </p:sp>
      <p:sp>
        <p:nvSpPr>
          <p:cNvPr id="24" name="anim-g5-50"/>
          <p:cNvSpPr/>
          <p:nvPr/>
        </p:nvSpPr>
        <p:spPr>
          <a:xfrm>
            <a:off x="1097280" y="5299862"/>
            <a:ext cx="9261958" cy="735178"/>
          </a:xfrm>
          <a:prstGeom prst="rect">
            <a:avLst/>
          </a:prstGeom>
          <a:noFill/>
          <a:ln/>
        </p:spPr>
        <p:txBody>
          <a:bodyPr wrap="square" lIns="0" tIns="0" rIns="0" bIns="0" rtlCol="0" anchor="ctr">
            <a:normAutofit/>
          </a:bodyPr>
          <a:lstStyle/>
          <a:p>
            <a:pPr marL="0" indent="0" algn="r">
              <a:buNone/>
            </a:pPr>
            <a:r>
              <a:rPr lang="ar-SA" altLang="en-US" sz="2200" b="1" dirty="0">
                <a:solidFill>
                  <a:srgbClr val="101B45"/>
                </a:solidFill>
                <a:latin typeface="Cairo Black" pitchFamily="34" charset="0"/>
                <a:ea typeface="Cairo Black" pitchFamily="34" charset="-122"/>
                <a:cs typeface="Cairo Black" pitchFamily="34" charset="-120"/>
              </a:rPr>
              <a:t>✅ أختبر نفسي</a:t>
            </a:r>
            <a:r>
              <a:rPr lang="ar-SA" altLang="en-US" sz="1800" b="1" dirty="0">
                <a:solidFill>
                  <a:srgbClr val="3B4460"/>
                </a:solidFill>
                <a:latin typeface="Cairo" pitchFamily="34" charset="0"/>
                <a:ea typeface="Cairo" pitchFamily="34" charset="-122"/>
                <a:cs typeface="Cairo" pitchFamily="34" charset="-120"/>
              </a:rPr>
              <a:t>   — أسئلة سريعة ممتعة</a:t>
            </a:r>
            <a:endParaRPr lang="ar-SA" sz="22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تعرّف على نبيه  ·  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272223" y="457200"/>
            <a:ext cx="4096512" cy="457200"/>
          </a:xfrm>
          <a:prstGeom prst="roundRect">
            <a:avLst>
              <a:gd name="adj" fmla="val 50000"/>
            </a:avLst>
          </a:prstGeom>
          <a:solidFill>
            <a:srgbClr val="F6EBCF"/>
          </a:solidFill>
          <a:ln/>
        </p:spPr>
      </p:sp>
      <p:sp>
        <p:nvSpPr>
          <p:cNvPr id="3" name="Text 1"/>
          <p:cNvSpPr/>
          <p:nvPr/>
        </p:nvSpPr>
        <p:spPr>
          <a:xfrm>
            <a:off x="7272223" y="457200"/>
            <a:ext cx="4096512"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قواعد المهندس الصغير</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قبل أن نلمس أي قطعة</a:t>
            </a:r>
            <a:endParaRPr lang="ar-SA" sz="3800" dirty="0"/>
          </a:p>
        </p:txBody>
      </p:sp>
      <p:sp>
        <p:nvSpPr>
          <p:cNvPr id="5" name="anim-g1-51"/>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52"/>
          <p:cNvSpPr/>
          <p:nvPr/>
        </p:nvSpPr>
        <p:spPr>
          <a:xfrm>
            <a:off x="10527487" y="2267712"/>
            <a:ext cx="566928" cy="566928"/>
          </a:xfrm>
          <a:prstGeom prst="roundRect">
            <a:avLst>
              <a:gd name="adj" fmla="val 32258"/>
            </a:avLst>
          </a:prstGeom>
          <a:solidFill>
            <a:srgbClr val="F7E6BC"/>
          </a:solidFill>
          <a:ln/>
        </p:spPr>
      </p:sp>
      <p:sp>
        <p:nvSpPr>
          <p:cNvPr id="7" name="anim-g1-53"/>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54"/>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نطفئ أولًا</a:t>
            </a:r>
            <a:endParaRPr lang="ar-SA" sz="2200" dirty="0"/>
          </a:p>
        </p:txBody>
      </p:sp>
      <p:sp>
        <p:nvSpPr>
          <p:cNvPr id="9" name="anim-g1-55"/>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لا نركّب سلكًا ولا ننزعه والكهرباء واصلة</a:t>
            </a:r>
            <a:endParaRPr lang="ar-SA" sz="1900" dirty="0"/>
          </a:p>
        </p:txBody>
      </p:sp>
      <p:sp>
        <p:nvSpPr>
          <p:cNvPr id="10" name="anim-g2-56"/>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57"/>
          <p:cNvSpPr/>
          <p:nvPr/>
        </p:nvSpPr>
        <p:spPr>
          <a:xfrm>
            <a:off x="5117440" y="2267712"/>
            <a:ext cx="566928" cy="566928"/>
          </a:xfrm>
          <a:prstGeom prst="roundRect">
            <a:avLst>
              <a:gd name="adj" fmla="val 32258"/>
            </a:avLst>
          </a:prstGeom>
          <a:solidFill>
            <a:srgbClr val="F7E6BC"/>
          </a:solidFill>
          <a:ln/>
        </p:spPr>
      </p:sp>
      <p:sp>
        <p:nvSpPr>
          <p:cNvPr id="12" name="anim-g2-58"/>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59"/>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المعلم والبطارية</a:t>
            </a:r>
            <a:endParaRPr lang="ar-SA" sz="2200" dirty="0"/>
          </a:p>
        </p:txBody>
      </p:sp>
      <p:sp>
        <p:nvSpPr>
          <p:cNvPr id="14" name="anim-g2-60"/>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لا نشحن البطارية ولا نركّبها إلا مع المعلم</a:t>
            </a:r>
            <a:endParaRPr lang="ar-SA" sz="1900" dirty="0"/>
          </a:p>
        </p:txBody>
      </p:sp>
      <p:sp>
        <p:nvSpPr>
          <p:cNvPr id="15" name="anim-g3-61"/>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62"/>
          <p:cNvSpPr/>
          <p:nvPr/>
        </p:nvSpPr>
        <p:spPr>
          <a:xfrm>
            <a:off x="10527487" y="4393692"/>
            <a:ext cx="566928" cy="566928"/>
          </a:xfrm>
          <a:prstGeom prst="roundRect">
            <a:avLst>
              <a:gd name="adj" fmla="val 32258"/>
            </a:avLst>
          </a:prstGeom>
          <a:solidFill>
            <a:srgbClr val="F7E6BC"/>
          </a:solidFill>
          <a:ln/>
        </p:spPr>
      </p:sp>
      <p:sp>
        <p:nvSpPr>
          <p:cNvPr id="17" name="anim-g3-63"/>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64"/>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من الأطراف</a:t>
            </a:r>
            <a:endParaRPr lang="ar-SA" sz="2200" dirty="0"/>
          </a:p>
        </p:txBody>
      </p:sp>
      <p:sp>
        <p:nvSpPr>
          <p:cNvPr id="19" name="anim-g3-65"/>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نمسك اللوحة من أطرافها، ولا نلمس القطع الصغيرة</a:t>
            </a:r>
            <a:endParaRPr lang="ar-SA" sz="1900" dirty="0"/>
          </a:p>
        </p:txBody>
      </p:sp>
      <p:sp>
        <p:nvSpPr>
          <p:cNvPr id="20" name="anim-g4-66"/>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67"/>
          <p:cNvSpPr/>
          <p:nvPr/>
        </p:nvSpPr>
        <p:spPr>
          <a:xfrm>
            <a:off x="5117440" y="4393692"/>
            <a:ext cx="566928" cy="566928"/>
          </a:xfrm>
          <a:prstGeom prst="roundRect">
            <a:avLst>
              <a:gd name="adj" fmla="val 32258"/>
            </a:avLst>
          </a:prstGeom>
          <a:solidFill>
            <a:srgbClr val="F7E6BC"/>
          </a:solidFill>
          <a:ln/>
        </p:spPr>
      </p:sp>
      <p:sp>
        <p:nvSpPr>
          <p:cNvPr id="22" name="anim-g4-68"/>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69"/>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بعيدًا عن الماء</a:t>
            </a:r>
            <a:endParaRPr lang="ar-SA" sz="2200" dirty="0"/>
          </a:p>
        </p:txBody>
      </p:sp>
      <p:sp>
        <p:nvSpPr>
          <p:cNvPr id="24" name="anim-g4-70"/>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لا أكل ولا شرب بجانب نبيه</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تعرّف على نبيه  ·  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حساس الألتراسونك يشبه العينين… فماذا يفعل حقًّا؟</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يرى الألوان والوجوه</a:t>
            </a:r>
            <a:endParaRPr lang="ar-SA" sz="2500" dirty="0"/>
          </a:p>
        </p:txBody>
      </p:sp>
      <p:sp>
        <p:nvSpPr>
          <p:cNvPr id="9" name="anim-g1-71"/>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72"/>
          <p:cNvSpPr/>
          <p:nvPr/>
        </p:nvSpPr>
        <p:spPr>
          <a:xfrm>
            <a:off x="10231831" y="2194560"/>
            <a:ext cx="954024" cy="954024"/>
          </a:xfrm>
          <a:prstGeom prst="roundRect">
            <a:avLst>
              <a:gd name="adj" fmla="val 11502"/>
            </a:avLst>
          </a:prstGeom>
          <a:solidFill>
            <a:srgbClr val="A3A9BA"/>
          </a:solidFill>
          <a:ln/>
        </p:spPr>
      </p:sp>
      <p:sp>
        <p:nvSpPr>
          <p:cNvPr id="11" name="anim-g1-73"/>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74"/>
          <p:cNvSpPr/>
          <p:nvPr/>
        </p:nvSpPr>
        <p:spPr>
          <a:xfrm>
            <a:off x="1097280" y="2093976"/>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يرى الألوان والوجوه</a:t>
            </a:r>
            <a:endParaRPr lang="ar-SA" sz="2400" dirty="0"/>
          </a:p>
        </p:txBody>
      </p:sp>
      <p:sp>
        <p:nvSpPr>
          <p:cNvPr id="13" name="anim-g1-75"/>
          <p:cNvSpPr/>
          <p:nvPr/>
        </p:nvSpPr>
        <p:spPr>
          <a:xfrm>
            <a:off x="1097280" y="2720706"/>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هذا عمل الكاميرا، العين الحقيقية لنبيه</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يعرف كم يبعد الجدار</a:t>
            </a:r>
            <a:endParaRPr lang="ar-SA" sz="2500" dirty="0"/>
          </a:p>
        </p:txBody>
      </p:sp>
      <p:sp>
        <p:nvSpPr>
          <p:cNvPr id="18" name="anim-g1-76"/>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77"/>
          <p:cNvSpPr/>
          <p:nvPr/>
        </p:nvSpPr>
        <p:spPr>
          <a:xfrm>
            <a:off x="10231831" y="3569208"/>
            <a:ext cx="954024" cy="954024"/>
          </a:xfrm>
          <a:prstGeom prst="roundRect">
            <a:avLst>
              <a:gd name="adj" fmla="val 11502"/>
            </a:avLst>
          </a:prstGeom>
          <a:solidFill>
            <a:srgbClr val="2E9E6B"/>
          </a:solidFill>
          <a:ln/>
        </p:spPr>
      </p:sp>
      <p:sp>
        <p:nvSpPr>
          <p:cNvPr id="20" name="anim-g1-78"/>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79"/>
          <p:cNvSpPr/>
          <p:nvPr/>
        </p:nvSpPr>
        <p:spPr>
          <a:xfrm>
            <a:off x="1097280" y="3468624"/>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131B34"/>
                </a:solidFill>
                <a:latin typeface="Cairo" pitchFamily="34" charset="0"/>
                <a:ea typeface="Cairo" pitchFamily="34" charset="-122"/>
                <a:cs typeface="Cairo" pitchFamily="34" charset="-120"/>
              </a:rPr>
              <a:t>يعرف كم يبعد الجدار</a:t>
            </a:r>
            <a:endParaRPr lang="ar-SA" sz="2400" dirty="0"/>
          </a:p>
        </p:txBody>
      </p:sp>
      <p:sp>
        <p:nvSpPr>
          <p:cNvPr id="22" name="anim-g1-80"/>
          <p:cNvSpPr/>
          <p:nvPr/>
        </p:nvSpPr>
        <p:spPr>
          <a:xfrm>
            <a:off x="1097280" y="4095354"/>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1D5E40"/>
                </a:solidFill>
                <a:latin typeface="Cairo" pitchFamily="34" charset="0"/>
                <a:ea typeface="Cairo" pitchFamily="34" charset="-122"/>
                <a:cs typeface="Cairo" pitchFamily="34" charset="-120"/>
              </a:rPr>
              <a:t>صحيح! يطلق صوتًا لا نسمعه، ويسمع صداه… مثل الخفاش 🦇</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يسمع كلامنا</a:t>
            </a:r>
            <a:endParaRPr lang="ar-SA" sz="2500" dirty="0"/>
          </a:p>
        </p:txBody>
      </p:sp>
      <p:sp>
        <p:nvSpPr>
          <p:cNvPr id="27" name="anim-g1-81"/>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82"/>
          <p:cNvSpPr/>
          <p:nvPr/>
        </p:nvSpPr>
        <p:spPr>
          <a:xfrm>
            <a:off x="10231831" y="4943856"/>
            <a:ext cx="954024" cy="954024"/>
          </a:xfrm>
          <a:prstGeom prst="roundRect">
            <a:avLst>
              <a:gd name="adj" fmla="val 11502"/>
            </a:avLst>
          </a:prstGeom>
          <a:solidFill>
            <a:srgbClr val="A3A9BA"/>
          </a:solidFill>
          <a:ln/>
        </p:spPr>
      </p:sp>
      <p:sp>
        <p:nvSpPr>
          <p:cNvPr id="29" name="anim-g1-8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84"/>
          <p:cNvSpPr/>
          <p:nvPr/>
        </p:nvSpPr>
        <p:spPr>
          <a:xfrm>
            <a:off x="1097280" y="4843272"/>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يسمع كلامنا</a:t>
            </a:r>
            <a:endParaRPr lang="ar-SA" sz="2400" dirty="0"/>
          </a:p>
        </p:txBody>
      </p:sp>
      <p:sp>
        <p:nvSpPr>
          <p:cNvPr id="31" name="anim-g1-85"/>
          <p:cNvSpPr/>
          <p:nvPr/>
        </p:nvSpPr>
        <p:spPr>
          <a:xfrm>
            <a:off x="1097280" y="5470002"/>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هذا عمل الميكروفون، أذن نبيه</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تعرّف على نبيه  ·  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أي جزء هو عقل نبيه الذي يفكر ويقرر؟</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البطارية</a:t>
            </a:r>
            <a:endParaRPr lang="ar-SA" sz="2500" dirty="0"/>
          </a:p>
        </p:txBody>
      </p:sp>
      <p:sp>
        <p:nvSpPr>
          <p:cNvPr id="9" name="anim-g1-86"/>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87"/>
          <p:cNvSpPr/>
          <p:nvPr/>
        </p:nvSpPr>
        <p:spPr>
          <a:xfrm>
            <a:off x="10231831" y="2194560"/>
            <a:ext cx="954024" cy="954024"/>
          </a:xfrm>
          <a:prstGeom prst="roundRect">
            <a:avLst>
              <a:gd name="adj" fmla="val 11502"/>
            </a:avLst>
          </a:prstGeom>
          <a:solidFill>
            <a:srgbClr val="A3A9BA"/>
          </a:solidFill>
          <a:ln/>
        </p:spPr>
      </p:sp>
      <p:sp>
        <p:nvSpPr>
          <p:cNvPr id="11" name="anim-g1-88"/>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89"/>
          <p:cNvSpPr/>
          <p:nvPr/>
        </p:nvSpPr>
        <p:spPr>
          <a:xfrm>
            <a:off x="1097280" y="2093976"/>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البطارية</a:t>
            </a:r>
            <a:endParaRPr lang="ar-SA" sz="2400" dirty="0"/>
          </a:p>
        </p:txBody>
      </p:sp>
      <p:sp>
        <p:nvSpPr>
          <p:cNvPr id="13" name="anim-g1-90"/>
          <p:cNvSpPr/>
          <p:nvPr/>
        </p:nvSpPr>
        <p:spPr>
          <a:xfrm>
            <a:off x="1097280" y="2720706"/>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البطارية تعطي الطاقة، لكنها لا تفكر</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لوحة المحركات L298N</a:t>
            </a:r>
            <a:endParaRPr lang="ar-SA" sz="2500" dirty="0"/>
          </a:p>
        </p:txBody>
      </p:sp>
      <p:sp>
        <p:nvSpPr>
          <p:cNvPr id="18" name="anim-g1-91"/>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92"/>
          <p:cNvSpPr/>
          <p:nvPr/>
        </p:nvSpPr>
        <p:spPr>
          <a:xfrm>
            <a:off x="10231831" y="3569208"/>
            <a:ext cx="954024" cy="954024"/>
          </a:xfrm>
          <a:prstGeom prst="roundRect">
            <a:avLst>
              <a:gd name="adj" fmla="val 11502"/>
            </a:avLst>
          </a:prstGeom>
          <a:solidFill>
            <a:srgbClr val="A3A9BA"/>
          </a:solidFill>
          <a:ln/>
        </p:spPr>
      </p:sp>
      <p:sp>
        <p:nvSpPr>
          <p:cNvPr id="20" name="anim-g1-93"/>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94"/>
          <p:cNvSpPr/>
          <p:nvPr/>
        </p:nvSpPr>
        <p:spPr>
          <a:xfrm>
            <a:off x="1097280" y="3468624"/>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لوحة المحركات L298N</a:t>
            </a:r>
            <a:endParaRPr lang="ar-SA" sz="2400" dirty="0"/>
          </a:p>
        </p:txBody>
      </p:sp>
      <p:sp>
        <p:nvSpPr>
          <p:cNvPr id="22" name="anim-g1-95"/>
          <p:cNvSpPr/>
          <p:nvPr/>
        </p:nvSpPr>
        <p:spPr>
          <a:xfrm>
            <a:off x="1097280" y="4095354"/>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هذه العضلات: تنفّذ الأمر، لكنها لا تقرر</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لوحة Raspberry Pi</a:t>
            </a:r>
            <a:endParaRPr lang="ar-SA" sz="2500" dirty="0"/>
          </a:p>
        </p:txBody>
      </p:sp>
      <p:sp>
        <p:nvSpPr>
          <p:cNvPr id="27" name="anim-g1-96"/>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97"/>
          <p:cNvSpPr/>
          <p:nvPr/>
        </p:nvSpPr>
        <p:spPr>
          <a:xfrm>
            <a:off x="10231831" y="4943856"/>
            <a:ext cx="954024" cy="954024"/>
          </a:xfrm>
          <a:prstGeom prst="roundRect">
            <a:avLst>
              <a:gd name="adj" fmla="val 11502"/>
            </a:avLst>
          </a:prstGeom>
          <a:solidFill>
            <a:srgbClr val="2E9E6B"/>
          </a:solidFill>
          <a:ln/>
        </p:spPr>
      </p:sp>
      <p:sp>
        <p:nvSpPr>
          <p:cNvPr id="29" name="anim-g1-98"/>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99"/>
          <p:cNvSpPr/>
          <p:nvPr/>
        </p:nvSpPr>
        <p:spPr>
          <a:xfrm>
            <a:off x="1097280" y="4843272"/>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131B34"/>
                </a:solidFill>
                <a:latin typeface="Cairo" pitchFamily="34" charset="0"/>
                <a:ea typeface="Cairo" pitchFamily="34" charset="-122"/>
                <a:cs typeface="Cairo" pitchFamily="34" charset="-120"/>
              </a:rPr>
              <a:t>لوحة Raspberry Pi</a:t>
            </a:r>
            <a:endParaRPr lang="ar-SA" sz="2400" dirty="0"/>
          </a:p>
        </p:txBody>
      </p:sp>
      <p:sp>
        <p:nvSpPr>
          <p:cNvPr id="31" name="anim-g1-100"/>
          <p:cNvSpPr/>
          <p:nvPr/>
        </p:nvSpPr>
        <p:spPr>
          <a:xfrm>
            <a:off x="1097280" y="5470002"/>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1D5E40"/>
                </a:solidFill>
                <a:latin typeface="Cairo" pitchFamily="34" charset="0"/>
                <a:ea typeface="Cairo" pitchFamily="34" charset="-122"/>
                <a:cs typeface="Cairo" pitchFamily="34" charset="-120"/>
              </a:rPr>
              <a:t>صحيح! وسنتعرّف عليها في الوحدة القادمة 🍓</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تعرّف على نبيه  ·  ١٠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marL="0" indent="0" algn="ctr" rtl="1">
              <a:buNone/>
            </a:pPr>
            <a:r>
              <a:rPr lang="ar-SA" altLang="en-US" sz="12000" dirty="0">
                <a:solidFill>
                  <a:srgbClr val="F0CC7A"/>
                </a:solidFill>
                <a:latin typeface="Cairo Black" pitchFamily="34" charset="0"/>
                <a:ea typeface="Cairo Black" pitchFamily="34" charset="-122"/>
                <a:cs typeface="Cairo Black" pitchFamily="34" charset="-120"/>
              </a:rPr>
              <a:t>١</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marL="0" indent="0" algn="r" rtl="1">
              <a:buNone/>
            </a:pPr>
            <a:r>
              <a:rPr lang="ar-SA" altLang="en-US" sz="2000" b="1" dirty="0">
                <a:solidFill>
                  <a:srgbClr val="D9AE4B"/>
                </a:solidFill>
                <a:latin typeface="Cairo" pitchFamily="34" charset="0"/>
                <a:ea typeface="Cairo" pitchFamily="34" charset="-122"/>
                <a:cs typeface="Cairo" pitchFamily="34" charset="-120"/>
              </a:rPr>
              <a:t>الوحدة ١</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marL="0" indent="0" algn="r" rtl="1">
              <a:buNone/>
            </a:pPr>
            <a:r>
              <a:rPr lang="ar-SA" altLang="en-US" sz="5600" dirty="0">
                <a:solidFill>
                  <a:srgbClr val="FFFFFF"/>
                </a:solidFill>
                <a:latin typeface="Cairo Black" pitchFamily="34" charset="0"/>
                <a:ea typeface="Cairo Black" pitchFamily="34" charset="-122"/>
                <a:cs typeface="Cairo Black" pitchFamily="34" charset="-120"/>
              </a:rPr>
              <a:t>ما الراسبيري باي؟</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marL="0" indent="0" algn="r" rtl="1">
              <a:buNone/>
            </a:pPr>
            <a:r>
              <a:rPr lang="ar-SA" altLang="en-US" sz="2200" b="1" dirty="0">
                <a:solidFill>
                  <a:srgbClr val="C9CFE6"/>
                </a:solidFill>
                <a:latin typeface="Cairo" pitchFamily="34" charset="0"/>
                <a:ea typeface="Cairo" pitchFamily="34" charset="-122"/>
                <a:cs typeface="Cairo" pitchFamily="34" charset="-120"/>
              </a:rPr>
              <a:t>عقل نبيه: حاسوب كامل… بحجم كفّ يدك</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ما الراسبيري باي؟  ·  ١١</a:t>
            </a:r>
            <a:endParaRPr lang="ar-SA"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مهمتي اليوم</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بنهاية هذه الوحدة سأعرف</a:t>
            </a:r>
            <a:endParaRPr lang="ar-SA" sz="3800" dirty="0"/>
          </a:p>
        </p:txBody>
      </p:sp>
      <p:sp>
        <p:nvSpPr>
          <p:cNvPr id="5" name="anim-g1-101"/>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102"/>
          <p:cNvSpPr/>
          <p:nvPr/>
        </p:nvSpPr>
        <p:spPr>
          <a:xfrm>
            <a:off x="10573207" y="2109978"/>
            <a:ext cx="566928" cy="566928"/>
          </a:xfrm>
          <a:prstGeom prst="ellipse">
            <a:avLst/>
          </a:prstGeom>
          <a:solidFill>
            <a:srgbClr val="D9AE4B"/>
          </a:solidFill>
          <a:ln/>
        </p:spPr>
      </p:sp>
      <p:sp>
        <p:nvSpPr>
          <p:cNvPr id="7" name="anim-g1-103"/>
          <p:cNvSpPr/>
          <p:nvPr/>
        </p:nvSpPr>
        <p:spPr>
          <a:xfrm>
            <a:off x="10573207" y="2109978"/>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104"/>
          <p:cNvSpPr/>
          <p:nvPr/>
        </p:nvSpPr>
        <p:spPr>
          <a:xfrm>
            <a:off x="1097280" y="1920240"/>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ما الراسبيري باي؟ ولماذا هو عقل نبيه</a:t>
            </a:r>
            <a:endParaRPr lang="ar-SA" sz="2400" dirty="0"/>
          </a:p>
        </p:txBody>
      </p:sp>
      <p:sp>
        <p:nvSpPr>
          <p:cNvPr id="9" name="anim-g2-105"/>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106"/>
          <p:cNvSpPr/>
          <p:nvPr/>
        </p:nvSpPr>
        <p:spPr>
          <a:xfrm>
            <a:off x="10573207" y="3166110"/>
            <a:ext cx="566928" cy="566928"/>
          </a:xfrm>
          <a:prstGeom prst="ellipse">
            <a:avLst/>
          </a:prstGeom>
          <a:solidFill>
            <a:srgbClr val="D9AE4B"/>
          </a:solidFill>
          <a:ln/>
        </p:spPr>
      </p:sp>
      <p:sp>
        <p:nvSpPr>
          <p:cNvPr id="11" name="anim-g2-107"/>
          <p:cNvSpPr/>
          <p:nvPr/>
        </p:nvSpPr>
        <p:spPr>
          <a:xfrm>
            <a:off x="10573207" y="3166110"/>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108"/>
          <p:cNvSpPr/>
          <p:nvPr/>
        </p:nvSpPr>
        <p:spPr>
          <a:xfrm>
            <a:off x="1097280" y="2976372"/>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قصة اختراعه واسمه العجيب</a:t>
            </a:r>
            <a:endParaRPr lang="ar-SA" sz="2400" dirty="0"/>
          </a:p>
        </p:txBody>
      </p:sp>
      <p:sp>
        <p:nvSpPr>
          <p:cNvPr id="13" name="anim-g3-109"/>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110"/>
          <p:cNvSpPr/>
          <p:nvPr/>
        </p:nvSpPr>
        <p:spPr>
          <a:xfrm>
            <a:off x="10573207" y="4222242"/>
            <a:ext cx="566928" cy="566928"/>
          </a:xfrm>
          <a:prstGeom prst="ellipse">
            <a:avLst/>
          </a:prstGeom>
          <a:solidFill>
            <a:srgbClr val="D9AE4B"/>
          </a:solidFill>
          <a:ln/>
        </p:spPr>
      </p:sp>
      <p:sp>
        <p:nvSpPr>
          <p:cNvPr id="15" name="anim-g3-111"/>
          <p:cNvSpPr/>
          <p:nvPr/>
        </p:nvSpPr>
        <p:spPr>
          <a:xfrm>
            <a:off x="10573207" y="4222242"/>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112"/>
          <p:cNvSpPr/>
          <p:nvPr/>
        </p:nvSpPr>
        <p:spPr>
          <a:xfrm>
            <a:off x="1097280" y="4032504"/>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أجزاء اللوحة، وأين أوصل كل شيء</a:t>
            </a:r>
            <a:endParaRPr lang="ar-SA" sz="2400" dirty="0"/>
          </a:p>
        </p:txBody>
      </p:sp>
      <p:sp>
        <p:nvSpPr>
          <p:cNvPr id="17" name="anim-g4-113"/>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114"/>
          <p:cNvSpPr/>
          <p:nvPr/>
        </p:nvSpPr>
        <p:spPr>
          <a:xfrm>
            <a:off x="10573207" y="5278374"/>
            <a:ext cx="566928" cy="566928"/>
          </a:xfrm>
          <a:prstGeom prst="ellipse">
            <a:avLst/>
          </a:prstGeom>
          <a:solidFill>
            <a:srgbClr val="D9AE4B"/>
          </a:solidFill>
          <a:ln/>
        </p:spPr>
      </p:sp>
      <p:sp>
        <p:nvSpPr>
          <p:cNvPr id="19" name="anim-g4-115"/>
          <p:cNvSpPr/>
          <p:nvPr/>
        </p:nvSpPr>
        <p:spPr>
          <a:xfrm>
            <a:off x="10573207" y="5278374"/>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116"/>
          <p:cNvSpPr/>
          <p:nvPr/>
        </p:nvSpPr>
        <p:spPr>
          <a:xfrm>
            <a:off x="1097280" y="5088636"/>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الفرق بين الراسبيري باي والأردوينو</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ما الراسبيري باي؟  ·  ١٢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779112" y="1188720"/>
            <a:ext cx="2633472"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779112" y="1188720"/>
            <a:ext cx="2633472"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في جملة واحدة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الراسبيري باي حاسوب كامل…</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بحجم بطاقة البنك</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ما الراسبيري باي؟  ·  ١٣</a:t>
            </a:r>
            <a:endParaRPr lang="ar-SA"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564831" y="457200"/>
            <a:ext cx="3803904" cy="457200"/>
          </a:xfrm>
          <a:prstGeom prst="roundRect">
            <a:avLst>
              <a:gd name="adj" fmla="val 50000"/>
            </a:avLst>
          </a:prstGeom>
          <a:solidFill>
            <a:srgbClr val="F6EBCF"/>
          </a:solidFill>
          <a:ln/>
        </p:spPr>
      </p:sp>
      <p:sp>
        <p:nvSpPr>
          <p:cNvPr id="3" name="Text 1"/>
          <p:cNvSpPr/>
          <p:nvPr/>
        </p:nvSpPr>
        <p:spPr>
          <a:xfrm>
            <a:off x="7564831" y="457200"/>
            <a:ext cx="380390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ماذا يقدر أن يفعل؟</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مثل كمبيوتر المدرسة… وأكثر!</a:t>
            </a:r>
            <a:endParaRPr lang="ar-SA" sz="3800" dirty="0"/>
          </a:p>
        </p:txBody>
      </p:sp>
      <p:sp>
        <p:nvSpPr>
          <p:cNvPr id="5" name="anim-g1-117"/>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118"/>
          <p:cNvSpPr/>
          <p:nvPr/>
        </p:nvSpPr>
        <p:spPr>
          <a:xfrm>
            <a:off x="10527487" y="2267712"/>
            <a:ext cx="566928" cy="566928"/>
          </a:xfrm>
          <a:prstGeom prst="roundRect">
            <a:avLst>
              <a:gd name="adj" fmla="val 32258"/>
            </a:avLst>
          </a:prstGeom>
          <a:solidFill>
            <a:srgbClr val="F7E6BC"/>
          </a:solidFill>
          <a:ln/>
        </p:spPr>
      </p:sp>
      <p:sp>
        <p:nvSpPr>
          <p:cNvPr id="7" name="anim-g1-119"/>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20"/>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شاشة وكيبورد وماوس</a:t>
            </a:r>
            <a:endParaRPr lang="ar-SA" sz="2200" dirty="0"/>
          </a:p>
        </p:txBody>
      </p:sp>
      <p:sp>
        <p:nvSpPr>
          <p:cNvPr id="9" name="anim-g1-121"/>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نوصلها فيصير كمبيوترًا عاديًّا</a:t>
            </a:r>
            <a:endParaRPr lang="ar-SA" sz="1900" dirty="0"/>
          </a:p>
        </p:txBody>
      </p:sp>
      <p:sp>
        <p:nvSpPr>
          <p:cNvPr id="10" name="anim-g2-122"/>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123"/>
          <p:cNvSpPr/>
          <p:nvPr/>
        </p:nvSpPr>
        <p:spPr>
          <a:xfrm>
            <a:off x="5117440" y="2267712"/>
            <a:ext cx="566928" cy="566928"/>
          </a:xfrm>
          <a:prstGeom prst="roundRect">
            <a:avLst>
              <a:gd name="adj" fmla="val 32258"/>
            </a:avLst>
          </a:prstGeom>
          <a:solidFill>
            <a:srgbClr val="F7E6BC"/>
          </a:solidFill>
          <a:ln/>
        </p:spPr>
      </p:sp>
      <p:sp>
        <p:nvSpPr>
          <p:cNvPr id="12" name="anim-g2-124"/>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25"/>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إنترنت</a:t>
            </a:r>
            <a:endParaRPr lang="ar-SA" sz="2200" dirty="0"/>
          </a:p>
        </p:txBody>
      </p:sp>
      <p:sp>
        <p:nvSpPr>
          <p:cNvPr id="14" name="anim-g2-126"/>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يتصل بالواي فاي، ويفتح المواقع</a:t>
            </a:r>
            <a:endParaRPr lang="ar-SA" sz="1900" dirty="0"/>
          </a:p>
        </p:txBody>
      </p:sp>
      <p:sp>
        <p:nvSpPr>
          <p:cNvPr id="15" name="anim-g3-127"/>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28"/>
          <p:cNvSpPr/>
          <p:nvPr/>
        </p:nvSpPr>
        <p:spPr>
          <a:xfrm>
            <a:off x="10527487" y="4393692"/>
            <a:ext cx="566928" cy="566928"/>
          </a:xfrm>
          <a:prstGeom prst="roundRect">
            <a:avLst>
              <a:gd name="adj" fmla="val 32258"/>
            </a:avLst>
          </a:prstGeom>
          <a:solidFill>
            <a:srgbClr val="F7E6BC"/>
          </a:solidFill>
          <a:ln/>
        </p:spPr>
      </p:sp>
      <p:sp>
        <p:nvSpPr>
          <p:cNvPr id="17" name="anim-g3-129"/>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30"/>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برمجة</a:t>
            </a:r>
            <a:endParaRPr lang="ar-SA" sz="2200" dirty="0"/>
          </a:p>
        </p:txBody>
      </p:sp>
      <p:sp>
        <p:nvSpPr>
          <p:cNvPr id="19" name="anim-g3-131"/>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نكتب عليه البرامج بلغة بايثون</a:t>
            </a:r>
            <a:endParaRPr lang="ar-SA" sz="1900" dirty="0"/>
          </a:p>
        </p:txBody>
      </p:sp>
      <p:sp>
        <p:nvSpPr>
          <p:cNvPr id="20" name="anim-g4-132"/>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133"/>
          <p:cNvSpPr/>
          <p:nvPr/>
        </p:nvSpPr>
        <p:spPr>
          <a:xfrm>
            <a:off x="5117440" y="4393692"/>
            <a:ext cx="566928" cy="566928"/>
          </a:xfrm>
          <a:prstGeom prst="roundRect">
            <a:avLst>
              <a:gd name="adj" fmla="val 32258"/>
            </a:avLst>
          </a:prstGeom>
          <a:solidFill>
            <a:srgbClr val="F7E6BC"/>
          </a:solidFill>
          <a:ln/>
        </p:spPr>
      </p:sp>
      <p:sp>
        <p:nvSpPr>
          <p:cNvPr id="22" name="anim-g4-134"/>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35"/>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يحرك الأشياء!</a:t>
            </a:r>
            <a:endParaRPr lang="ar-SA" sz="2200" dirty="0"/>
          </a:p>
        </p:txBody>
      </p:sp>
      <p:sp>
        <p:nvSpPr>
          <p:cNvPr id="24" name="anim-g4-136"/>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له دبابيس يكلّم بها المحركات والحساسات، وهذا ما لا يقدر عليه كمبيوتر المدرسة</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ما الراسبيري باي؟  ·  ١٤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Users/mac/dev/younes-training/robot-pi/.pptx-cache/s15.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سرّ الاسم</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لماذا اسمه Raspberry Pi؟</a:t>
            </a:r>
            <a:endParaRPr lang="ar-SA" sz="3800" dirty="0"/>
          </a:p>
        </p:txBody>
      </p:sp>
      <p:sp>
        <p:nvSpPr>
          <p:cNvPr id="5" name="anim-g1-137"/>
          <p:cNvSpPr/>
          <p:nvPr/>
        </p:nvSpPr>
        <p:spPr>
          <a:xfrm>
            <a:off x="6233008" y="2148840"/>
            <a:ext cx="5135728" cy="3566160"/>
          </a:xfrm>
          <a:prstGeom prst="roundRect">
            <a:avLst>
              <a:gd name="adj" fmla="val 461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138"/>
          <p:cNvSpPr/>
          <p:nvPr/>
        </p:nvSpPr>
        <p:spPr>
          <a:xfrm>
            <a:off x="10362895" y="2404872"/>
            <a:ext cx="731520" cy="731520"/>
          </a:xfrm>
          <a:prstGeom prst="roundRect">
            <a:avLst>
              <a:gd name="adj" fmla="val 25000"/>
            </a:avLst>
          </a:prstGeom>
          <a:solidFill>
            <a:srgbClr val="F7E6BC"/>
          </a:solidFill>
          <a:ln/>
        </p:spPr>
      </p:sp>
      <p:sp>
        <p:nvSpPr>
          <p:cNvPr id="7" name="anim-g1-139"/>
          <p:cNvSpPr/>
          <p:nvPr/>
        </p:nvSpPr>
        <p:spPr>
          <a:xfrm>
            <a:off x="10362895" y="2404872"/>
            <a:ext cx="731520" cy="731520"/>
          </a:xfrm>
          <a:prstGeom prst="rect">
            <a:avLst/>
          </a:prstGeom>
          <a:noFill/>
          <a:ln/>
        </p:spPr>
        <p:txBody>
          <a:bodyPr wrap="square" lIns="0" tIns="0" rIns="0" bIns="0" rtlCol="0" anchor="ctr">
            <a:normAutofit/>
          </a:bodyPr>
          <a:lstStyle/>
          <a:p>
            <a:pPr marL="0" indent="0" algn="ctr" rtl="1">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140"/>
          <p:cNvSpPr/>
          <p:nvPr/>
        </p:nvSpPr>
        <p:spPr>
          <a:xfrm>
            <a:off x="6507328" y="3246120"/>
            <a:ext cx="4587088" cy="548640"/>
          </a:xfrm>
          <a:prstGeom prst="rect">
            <a:avLst/>
          </a:prstGeom>
          <a:noFill/>
          <a:ln/>
        </p:spPr>
        <p:txBody>
          <a:bodyPr wrap="square" lIns="0" tIns="0" rIns="0" bIns="0" rtlCol="0" anchor="ctr">
            <a:normAutofit/>
          </a:bodyPr>
          <a:lstStyle/>
          <a:p>
            <a:pPr marL="0" indent="0" algn="r" rtl="1">
              <a:buNone/>
            </a:pPr>
            <a:r>
              <a:rPr lang="ar-SA" altLang="en-US" sz="2300" dirty="0">
                <a:solidFill>
                  <a:srgbClr val="101B45"/>
                </a:solidFill>
                <a:latin typeface="Cairo Black" pitchFamily="34" charset="0"/>
                <a:ea typeface="Cairo Black" pitchFamily="34" charset="-122"/>
                <a:cs typeface="Cairo Black" pitchFamily="34" charset="-120"/>
              </a:rPr>
              <a:t>Raspberry = توت العليق</a:t>
            </a:r>
            <a:endParaRPr lang="ar-SA" sz="2300" dirty="0"/>
          </a:p>
        </p:txBody>
      </p:sp>
      <p:sp>
        <p:nvSpPr>
          <p:cNvPr id="9" name="anim-g1-141"/>
          <p:cNvSpPr/>
          <p:nvPr/>
        </p:nvSpPr>
        <p:spPr>
          <a:xfrm>
            <a:off x="6507328" y="3794760"/>
            <a:ext cx="4587088" cy="1783080"/>
          </a:xfrm>
          <a:prstGeom prst="rect">
            <a:avLst/>
          </a:prstGeom>
          <a:noFill/>
          <a:ln/>
        </p:spPr>
        <p:txBody>
          <a:bodyPr wrap="square" lIns="0" tIns="0" rIns="0" bIns="0" rtlCol="0" anchor="t">
            <a:normAutofit/>
          </a:bodyPr>
          <a:lstStyle/>
          <a:p>
            <a:pPr marL="0" indent="0" algn="r" rtl="1">
              <a:lnSpc>
                <a:spcPct val="115000"/>
              </a:lnSpc>
              <a:buNone/>
            </a:pPr>
            <a:r>
              <a:rPr lang="ar-SA" altLang="en-US" sz="2100" b="1" dirty="0">
                <a:solidFill>
                  <a:srgbClr val="3B4460"/>
                </a:solidFill>
                <a:latin typeface="Cairo" pitchFamily="34" charset="0"/>
                <a:ea typeface="Cairo" pitchFamily="34" charset="-122"/>
                <a:cs typeface="Cairo" pitchFamily="34" charset="-120"/>
              </a:rPr>
              <a:t>شركات الكمبيوتر القديمة كانت تحب أسماء الفواكه، مثل Apple (تفاحة)، فاختاروا فاكهة أيضًا</a:t>
            </a:r>
            <a:endParaRPr lang="ar-SA" sz="2100" dirty="0"/>
          </a:p>
        </p:txBody>
      </p:sp>
      <p:sp>
        <p:nvSpPr>
          <p:cNvPr id="10" name="anim-g2-142"/>
          <p:cNvSpPr/>
          <p:nvPr/>
        </p:nvSpPr>
        <p:spPr>
          <a:xfrm>
            <a:off x="822960" y="2148840"/>
            <a:ext cx="5135728" cy="3566160"/>
          </a:xfrm>
          <a:prstGeom prst="roundRect">
            <a:avLst>
              <a:gd name="adj" fmla="val 461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143"/>
          <p:cNvSpPr/>
          <p:nvPr/>
        </p:nvSpPr>
        <p:spPr>
          <a:xfrm>
            <a:off x="4952848" y="2404872"/>
            <a:ext cx="731520" cy="731520"/>
          </a:xfrm>
          <a:prstGeom prst="roundRect">
            <a:avLst>
              <a:gd name="adj" fmla="val 25000"/>
            </a:avLst>
          </a:prstGeom>
          <a:solidFill>
            <a:srgbClr val="F7E6BC"/>
          </a:solidFill>
          <a:ln/>
        </p:spPr>
      </p:sp>
      <p:sp>
        <p:nvSpPr>
          <p:cNvPr id="12" name="anim-g2-144"/>
          <p:cNvSpPr/>
          <p:nvPr/>
        </p:nvSpPr>
        <p:spPr>
          <a:xfrm>
            <a:off x="4952848" y="2404872"/>
            <a:ext cx="731520" cy="731520"/>
          </a:xfrm>
          <a:prstGeom prst="rect">
            <a:avLst/>
          </a:prstGeom>
          <a:noFill/>
          <a:ln/>
        </p:spPr>
        <p:txBody>
          <a:bodyPr wrap="square" lIns="0" tIns="0" rIns="0" bIns="0" rtlCol="0" anchor="ctr">
            <a:normAutofit/>
          </a:bodyPr>
          <a:lstStyle/>
          <a:p>
            <a:pPr marL="0" indent="0" algn="ctr" rtl="1">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145"/>
          <p:cNvSpPr/>
          <p:nvPr/>
        </p:nvSpPr>
        <p:spPr>
          <a:xfrm>
            <a:off x="1097280" y="3246120"/>
            <a:ext cx="4587088" cy="548640"/>
          </a:xfrm>
          <a:prstGeom prst="rect">
            <a:avLst/>
          </a:prstGeom>
          <a:noFill/>
          <a:ln/>
        </p:spPr>
        <p:txBody>
          <a:bodyPr wrap="square" lIns="0" tIns="0" rIns="0" bIns="0" rtlCol="0" anchor="ctr">
            <a:normAutofit/>
          </a:bodyPr>
          <a:lstStyle/>
          <a:p>
            <a:pPr marL="0" indent="0" algn="r" rtl="1">
              <a:buNone/>
            </a:pPr>
            <a:r>
              <a:rPr lang="ar-SA" altLang="en-US" sz="2300" dirty="0">
                <a:solidFill>
                  <a:srgbClr val="101B45"/>
                </a:solidFill>
                <a:latin typeface="Cairo Black" pitchFamily="34" charset="0"/>
                <a:ea typeface="Cairo Black" pitchFamily="34" charset="-122"/>
                <a:cs typeface="Cairo Black" pitchFamily="34" charset="-120"/>
              </a:rPr>
              <a:t>Pi = من Python</a:t>
            </a:r>
            <a:endParaRPr lang="ar-SA" sz="2300" dirty="0"/>
          </a:p>
        </p:txBody>
      </p:sp>
      <p:sp>
        <p:nvSpPr>
          <p:cNvPr id="14" name="anim-g2-146"/>
          <p:cNvSpPr/>
          <p:nvPr/>
        </p:nvSpPr>
        <p:spPr>
          <a:xfrm>
            <a:off x="1097280" y="3794760"/>
            <a:ext cx="4587088" cy="1783080"/>
          </a:xfrm>
          <a:prstGeom prst="rect">
            <a:avLst/>
          </a:prstGeom>
          <a:noFill/>
          <a:ln/>
        </p:spPr>
        <p:txBody>
          <a:bodyPr wrap="square" lIns="0" tIns="0" rIns="0" bIns="0" rtlCol="0" anchor="t">
            <a:normAutofit/>
          </a:bodyPr>
          <a:lstStyle/>
          <a:p>
            <a:pPr marL="0" indent="0" algn="r" rtl="1">
              <a:lnSpc>
                <a:spcPct val="115000"/>
              </a:lnSpc>
              <a:buNone/>
            </a:pPr>
            <a:r>
              <a:rPr lang="ar-SA" altLang="en-US" sz="2100" b="1" dirty="0">
                <a:solidFill>
                  <a:srgbClr val="3B4460"/>
                </a:solidFill>
                <a:latin typeface="Cairo" pitchFamily="34" charset="0"/>
                <a:ea typeface="Cairo" pitchFamily="34" charset="-122"/>
                <a:cs typeface="Cairo" pitchFamily="34" charset="-120"/>
              </a:rPr>
              <a:t>لغة البرمجة التي صنعوه من أجلها… وهي نفس اللغة التي سنبرمج بها نبيه!</a:t>
            </a:r>
            <a:endParaRPr lang="ar-SA" sz="2100" dirty="0"/>
          </a:p>
        </p:txBody>
      </p:sp>
      <p:sp>
        <p:nvSpPr>
          <p:cNvPr id="15" name="Text 1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16" name="Text 1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ما الراسبيري باي؟  ·  ١٦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Users/mac/dev/younes-training/robot-pi/.pptx-cache/s1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Users/mac/dev/younes-training/robot-pi/.pptx-cache/s1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نفتح الصندوق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ماذا في صندوق الراسبيري باي؟</a:t>
            </a:r>
            <a:endParaRPr lang="ar-SA" sz="3800" dirty="0"/>
          </a:p>
        </p:txBody>
      </p:sp>
      <p:sp>
        <p:nvSpPr>
          <p:cNvPr id="5" name="anim-g1-147"/>
          <p:cNvSpPr/>
          <p:nvPr/>
        </p:nvSpPr>
        <p:spPr>
          <a:xfrm>
            <a:off x="8036357" y="2011680"/>
            <a:ext cx="333237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148"/>
          <p:cNvSpPr/>
          <p:nvPr/>
        </p:nvSpPr>
        <p:spPr>
          <a:xfrm>
            <a:off x="10527487" y="2267712"/>
            <a:ext cx="566928" cy="566928"/>
          </a:xfrm>
          <a:prstGeom prst="roundRect">
            <a:avLst>
              <a:gd name="adj" fmla="val 32258"/>
            </a:avLst>
          </a:prstGeom>
          <a:solidFill>
            <a:srgbClr val="F7E6BC"/>
          </a:solidFill>
          <a:ln/>
        </p:spPr>
      </p:sp>
      <p:sp>
        <p:nvSpPr>
          <p:cNvPr id="7" name="anim-g1-149"/>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50"/>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لوحة Pi 4</a:t>
            </a:r>
            <a:endParaRPr lang="ar-SA" sz="2200" dirty="0"/>
          </a:p>
        </p:txBody>
      </p:sp>
      <p:sp>
        <p:nvSpPr>
          <p:cNvPr id="9" name="anim-g1-151"/>
          <p:cNvSpPr/>
          <p:nvPr/>
        </p:nvSpPr>
        <p:spPr>
          <a:xfrm>
            <a:off x="8310677" y="3493008"/>
            <a:ext cx="278373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العقل نفسه</a:t>
            </a:r>
            <a:endParaRPr lang="ar-SA" sz="1900" dirty="0"/>
          </a:p>
        </p:txBody>
      </p:sp>
      <p:sp>
        <p:nvSpPr>
          <p:cNvPr id="10" name="anim-g2-152"/>
          <p:cNvSpPr/>
          <p:nvPr/>
        </p:nvSpPr>
        <p:spPr>
          <a:xfrm>
            <a:off x="4429658" y="2011680"/>
            <a:ext cx="333237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153"/>
          <p:cNvSpPr/>
          <p:nvPr/>
        </p:nvSpPr>
        <p:spPr>
          <a:xfrm>
            <a:off x="6920789" y="2267712"/>
            <a:ext cx="566928" cy="566928"/>
          </a:xfrm>
          <a:prstGeom prst="roundRect">
            <a:avLst>
              <a:gd name="adj" fmla="val 32258"/>
            </a:avLst>
          </a:prstGeom>
          <a:solidFill>
            <a:srgbClr val="F7E6BC"/>
          </a:solidFill>
          <a:ln/>
        </p:spPr>
      </p:sp>
      <p:sp>
        <p:nvSpPr>
          <p:cNvPr id="12" name="anim-g2-154"/>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55"/>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كرت الذاكرة</a:t>
            </a:r>
            <a:endParaRPr lang="ar-SA" sz="2200" dirty="0"/>
          </a:p>
        </p:txBody>
      </p:sp>
      <p:sp>
        <p:nvSpPr>
          <p:cNvPr id="14" name="anim-g2-156"/>
          <p:cNvSpPr/>
          <p:nvPr/>
        </p:nvSpPr>
        <p:spPr>
          <a:xfrm>
            <a:off x="4703978" y="3493008"/>
            <a:ext cx="278373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فيه نظام التشغيل</a:t>
            </a:r>
            <a:endParaRPr lang="ar-SA" sz="1900" dirty="0"/>
          </a:p>
        </p:txBody>
      </p:sp>
      <p:sp>
        <p:nvSpPr>
          <p:cNvPr id="15" name="anim-g3-157"/>
          <p:cNvSpPr/>
          <p:nvPr/>
        </p:nvSpPr>
        <p:spPr>
          <a:xfrm>
            <a:off x="822960" y="2011680"/>
            <a:ext cx="333237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58"/>
          <p:cNvSpPr/>
          <p:nvPr/>
        </p:nvSpPr>
        <p:spPr>
          <a:xfrm>
            <a:off x="3314090" y="2267712"/>
            <a:ext cx="566928" cy="566928"/>
          </a:xfrm>
          <a:prstGeom prst="roundRect">
            <a:avLst>
              <a:gd name="adj" fmla="val 32258"/>
            </a:avLst>
          </a:prstGeom>
          <a:solidFill>
            <a:srgbClr val="F7E6BC"/>
          </a:solidFill>
          <a:ln/>
        </p:spPr>
      </p:sp>
      <p:sp>
        <p:nvSpPr>
          <p:cNvPr id="17" name="anim-g3-159"/>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60"/>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الشاحن USB-C</a:t>
            </a:r>
            <a:endParaRPr lang="ar-SA" sz="2200" dirty="0"/>
          </a:p>
        </p:txBody>
      </p:sp>
      <p:sp>
        <p:nvSpPr>
          <p:cNvPr id="19" name="anim-g3-161"/>
          <p:cNvSpPr/>
          <p:nvPr/>
        </p:nvSpPr>
        <p:spPr>
          <a:xfrm>
            <a:off x="1097280" y="3493008"/>
            <a:ext cx="278373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٥ فولت و٣ أمبير</a:t>
            </a:r>
            <a:endParaRPr lang="ar-SA" sz="1900" dirty="0"/>
          </a:p>
        </p:txBody>
      </p:sp>
      <p:sp>
        <p:nvSpPr>
          <p:cNvPr id="20" name="anim-g4-162"/>
          <p:cNvSpPr/>
          <p:nvPr/>
        </p:nvSpPr>
        <p:spPr>
          <a:xfrm>
            <a:off x="8036357" y="4137660"/>
            <a:ext cx="333237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163"/>
          <p:cNvSpPr/>
          <p:nvPr/>
        </p:nvSpPr>
        <p:spPr>
          <a:xfrm>
            <a:off x="10527487" y="4393692"/>
            <a:ext cx="566928" cy="566928"/>
          </a:xfrm>
          <a:prstGeom prst="roundRect">
            <a:avLst>
              <a:gd name="adj" fmla="val 32258"/>
            </a:avLst>
          </a:prstGeom>
          <a:solidFill>
            <a:srgbClr val="F7E6BC"/>
          </a:solidFill>
          <a:ln/>
        </p:spPr>
      </p:sp>
      <p:sp>
        <p:nvSpPr>
          <p:cNvPr id="22" name="anim-g4-164"/>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65"/>
          <p:cNvSpPr/>
          <p:nvPr/>
        </p:nvSpPr>
        <p:spPr>
          <a:xfrm>
            <a:off x="8310677" y="507034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الجراب</a:t>
            </a:r>
            <a:endParaRPr lang="ar-SA" sz="2200" dirty="0"/>
          </a:p>
        </p:txBody>
      </p:sp>
      <p:sp>
        <p:nvSpPr>
          <p:cNvPr id="24" name="anim-g4-166"/>
          <p:cNvSpPr/>
          <p:nvPr/>
        </p:nvSpPr>
        <p:spPr>
          <a:xfrm>
            <a:off x="8310677" y="5618988"/>
            <a:ext cx="278373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بيت يحمي اللوحة</a:t>
            </a:r>
            <a:endParaRPr lang="ar-SA" sz="1900" dirty="0"/>
          </a:p>
        </p:txBody>
      </p:sp>
      <p:sp>
        <p:nvSpPr>
          <p:cNvPr id="25" name="anim-g5-167"/>
          <p:cNvSpPr/>
          <p:nvPr/>
        </p:nvSpPr>
        <p:spPr>
          <a:xfrm>
            <a:off x="4429658" y="4137660"/>
            <a:ext cx="333237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6" name="anim-g5-168"/>
          <p:cNvSpPr/>
          <p:nvPr/>
        </p:nvSpPr>
        <p:spPr>
          <a:xfrm>
            <a:off x="6920789" y="4393692"/>
            <a:ext cx="566928" cy="566928"/>
          </a:xfrm>
          <a:prstGeom prst="roundRect">
            <a:avLst>
              <a:gd name="adj" fmla="val 32258"/>
            </a:avLst>
          </a:prstGeom>
          <a:solidFill>
            <a:srgbClr val="F7E6BC"/>
          </a:solidFill>
          <a:ln/>
        </p:spPr>
      </p:sp>
      <p:sp>
        <p:nvSpPr>
          <p:cNvPr id="27" name="anim-g5-169"/>
          <p:cNvSpPr/>
          <p:nvPr/>
        </p:nvSpPr>
        <p:spPr>
          <a:xfrm>
            <a:off x="6920789"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8" name="anim-g5-170"/>
          <p:cNvSpPr/>
          <p:nvPr/>
        </p:nvSpPr>
        <p:spPr>
          <a:xfrm>
            <a:off x="4703978" y="507034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مروحة التهوية</a:t>
            </a:r>
            <a:endParaRPr lang="ar-SA" sz="2200" dirty="0"/>
          </a:p>
        </p:txBody>
      </p:sp>
      <p:sp>
        <p:nvSpPr>
          <p:cNvPr id="29" name="anim-g5-171"/>
          <p:cNvSpPr/>
          <p:nvPr/>
        </p:nvSpPr>
        <p:spPr>
          <a:xfrm>
            <a:off x="4703978" y="5618988"/>
            <a:ext cx="278373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تبرّد العقل وهو يفكر</a:t>
            </a:r>
            <a:endParaRPr lang="ar-SA" sz="1900" dirty="0"/>
          </a:p>
        </p:txBody>
      </p:sp>
      <p:sp>
        <p:nvSpPr>
          <p:cNvPr id="30" name="anim-g6-172"/>
          <p:cNvSpPr/>
          <p:nvPr/>
        </p:nvSpPr>
        <p:spPr>
          <a:xfrm>
            <a:off x="822960" y="4137660"/>
            <a:ext cx="333237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31" name="anim-g6-173"/>
          <p:cNvSpPr/>
          <p:nvPr/>
        </p:nvSpPr>
        <p:spPr>
          <a:xfrm>
            <a:off x="3314090" y="4393692"/>
            <a:ext cx="566928" cy="566928"/>
          </a:xfrm>
          <a:prstGeom prst="roundRect">
            <a:avLst>
              <a:gd name="adj" fmla="val 32258"/>
            </a:avLst>
          </a:prstGeom>
          <a:solidFill>
            <a:srgbClr val="F7E6BC"/>
          </a:solidFill>
          <a:ln/>
        </p:spPr>
      </p:sp>
      <p:sp>
        <p:nvSpPr>
          <p:cNvPr id="32" name="anim-g6-174"/>
          <p:cNvSpPr/>
          <p:nvPr/>
        </p:nvSpPr>
        <p:spPr>
          <a:xfrm>
            <a:off x="331409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33" name="anim-g6-175"/>
          <p:cNvSpPr/>
          <p:nvPr/>
        </p:nvSpPr>
        <p:spPr>
          <a:xfrm>
            <a:off x="1097280" y="507034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الشاشة وكابل HDMI</a:t>
            </a:r>
            <a:endParaRPr lang="ar-SA" sz="2200" dirty="0"/>
          </a:p>
        </p:txBody>
      </p:sp>
      <p:sp>
        <p:nvSpPr>
          <p:cNvPr id="34" name="anim-g6-176"/>
          <p:cNvSpPr/>
          <p:nvPr/>
        </p:nvSpPr>
        <p:spPr>
          <a:xfrm>
            <a:off x="1097280" y="5618988"/>
            <a:ext cx="278373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لنرى ما يفعله الـ Pi</a:t>
            </a:r>
            <a:endParaRPr lang="ar-SA" sz="1900" dirty="0"/>
          </a:p>
        </p:txBody>
      </p:sp>
      <p:sp>
        <p:nvSpPr>
          <p:cNvPr id="35" name="Text 3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36" name="Text 3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ما الراسبيري باي؟  ·  ١٩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0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00"/>
                                        <p:tgtEl>
                                          <p:spTgt spid="28"/>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400"/>
                                        <p:tgtEl>
                                          <p:spTgt spid="29"/>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30"/>
                                        </p:tgtEl>
                                        <p:attrNameLst>
                                          <p:attrName>style.visibility</p:attrName>
                                        </p:attrNameLst>
                                      </p:cBhvr>
                                      <p:to>
                                        <p:strVal val="visible"/>
                                      </p:to>
                                    </p:set>
                                    <p:animEffect transition="in" filter="fade">
                                      <p:cBhvr>
                                        <p:cTn id="92" dur="400"/>
                                        <p:tgtEl>
                                          <p:spTgt spid="30"/>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1"/>
                                        </p:tgtEl>
                                        <p:attrNameLst>
                                          <p:attrName>style.visibility</p:attrName>
                                        </p:attrNameLst>
                                      </p:cBhvr>
                                      <p:to>
                                        <p:strVal val="visible"/>
                                      </p:to>
                                    </p:set>
                                    <p:animEffect transition="in" filter="fade">
                                      <p:cBhvr>
                                        <p:cTn id="95" dur="400"/>
                                        <p:tgtEl>
                                          <p:spTgt spid="31"/>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2"/>
                                        </p:tgtEl>
                                        <p:attrNameLst>
                                          <p:attrName>style.visibility</p:attrName>
                                        </p:attrNameLst>
                                      </p:cBhvr>
                                      <p:to>
                                        <p:strVal val="visible"/>
                                      </p:to>
                                    </p:set>
                                    <p:animEffect transition="in" filter="fade">
                                      <p:cBhvr>
                                        <p:cTn id="98" dur="400"/>
                                        <p:tgtEl>
                                          <p:spTgt spid="32"/>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400"/>
                                        <p:tgtEl>
                                          <p:spTgt spid="33"/>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أين يحفظ الراسبيري باي نظام التشغيل وبرامجنا؟</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في الذاكرة المؤقتة RAM</a:t>
            </a:r>
            <a:endParaRPr lang="ar-SA" sz="2500" dirty="0"/>
          </a:p>
        </p:txBody>
      </p:sp>
      <p:sp>
        <p:nvSpPr>
          <p:cNvPr id="9" name="anim-g1-177"/>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178"/>
          <p:cNvSpPr/>
          <p:nvPr/>
        </p:nvSpPr>
        <p:spPr>
          <a:xfrm>
            <a:off x="10231831" y="2194560"/>
            <a:ext cx="954024" cy="954024"/>
          </a:xfrm>
          <a:prstGeom prst="roundRect">
            <a:avLst>
              <a:gd name="adj" fmla="val 11502"/>
            </a:avLst>
          </a:prstGeom>
          <a:solidFill>
            <a:srgbClr val="A3A9BA"/>
          </a:solidFill>
          <a:ln/>
        </p:spPr>
      </p:sp>
      <p:sp>
        <p:nvSpPr>
          <p:cNvPr id="11" name="anim-g1-179"/>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180"/>
          <p:cNvSpPr/>
          <p:nvPr/>
        </p:nvSpPr>
        <p:spPr>
          <a:xfrm>
            <a:off x="1097280" y="2093976"/>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في الذاكرة المؤقتة RAM</a:t>
            </a:r>
            <a:endParaRPr lang="ar-SA" sz="2400" dirty="0"/>
          </a:p>
        </p:txBody>
      </p:sp>
      <p:sp>
        <p:nvSpPr>
          <p:cNvPr id="13" name="anim-g1-181"/>
          <p:cNvSpPr/>
          <p:nvPr/>
        </p:nvSpPr>
        <p:spPr>
          <a:xfrm>
            <a:off x="1097280" y="2720706"/>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الـ RAM مثل السبورة: تنمسح لما نطفي الجهاز</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في كرت الذاكرة microSD</a:t>
            </a:r>
            <a:endParaRPr lang="ar-SA" sz="2500" dirty="0"/>
          </a:p>
        </p:txBody>
      </p:sp>
      <p:sp>
        <p:nvSpPr>
          <p:cNvPr id="18" name="anim-g1-182"/>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183"/>
          <p:cNvSpPr/>
          <p:nvPr/>
        </p:nvSpPr>
        <p:spPr>
          <a:xfrm>
            <a:off x="10231831" y="3569208"/>
            <a:ext cx="954024" cy="954024"/>
          </a:xfrm>
          <a:prstGeom prst="roundRect">
            <a:avLst>
              <a:gd name="adj" fmla="val 11502"/>
            </a:avLst>
          </a:prstGeom>
          <a:solidFill>
            <a:srgbClr val="2E9E6B"/>
          </a:solidFill>
          <a:ln/>
        </p:spPr>
      </p:sp>
      <p:sp>
        <p:nvSpPr>
          <p:cNvPr id="20" name="anim-g1-18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185"/>
          <p:cNvSpPr/>
          <p:nvPr/>
        </p:nvSpPr>
        <p:spPr>
          <a:xfrm>
            <a:off x="1097280" y="3468624"/>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131B34"/>
                </a:solidFill>
                <a:latin typeface="Cairo" pitchFamily="34" charset="0"/>
                <a:ea typeface="Cairo" pitchFamily="34" charset="-122"/>
                <a:cs typeface="Cairo" pitchFamily="34" charset="-120"/>
              </a:rPr>
              <a:t>في كرت الذاكرة microSD</a:t>
            </a:r>
            <a:endParaRPr lang="ar-SA" sz="2400" dirty="0"/>
          </a:p>
        </p:txBody>
      </p:sp>
      <p:sp>
        <p:nvSpPr>
          <p:cNvPr id="22" name="anim-g1-186"/>
          <p:cNvSpPr/>
          <p:nvPr/>
        </p:nvSpPr>
        <p:spPr>
          <a:xfrm>
            <a:off x="1097280" y="4095354"/>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1D5E40"/>
                </a:solidFill>
                <a:latin typeface="Cairo" pitchFamily="34" charset="0"/>
                <a:ea typeface="Cairo" pitchFamily="34" charset="-122"/>
                <a:cs typeface="Cairo" pitchFamily="34" charset="-120"/>
              </a:rPr>
              <a:t>صحيح! مثل الحقيبة، كل شيء يبقى فيها محفوظًا 💾</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في المروحة</a:t>
            </a:r>
            <a:endParaRPr lang="ar-SA" sz="2500" dirty="0"/>
          </a:p>
        </p:txBody>
      </p:sp>
      <p:sp>
        <p:nvSpPr>
          <p:cNvPr id="27" name="anim-g1-187"/>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188"/>
          <p:cNvSpPr/>
          <p:nvPr/>
        </p:nvSpPr>
        <p:spPr>
          <a:xfrm>
            <a:off x="10231831" y="4943856"/>
            <a:ext cx="954024" cy="954024"/>
          </a:xfrm>
          <a:prstGeom prst="roundRect">
            <a:avLst>
              <a:gd name="adj" fmla="val 11502"/>
            </a:avLst>
          </a:prstGeom>
          <a:solidFill>
            <a:srgbClr val="A3A9BA"/>
          </a:solidFill>
          <a:ln/>
        </p:spPr>
      </p:sp>
      <p:sp>
        <p:nvSpPr>
          <p:cNvPr id="29" name="anim-g1-189"/>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190"/>
          <p:cNvSpPr/>
          <p:nvPr/>
        </p:nvSpPr>
        <p:spPr>
          <a:xfrm>
            <a:off x="1097280" y="4843272"/>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في المروحة</a:t>
            </a:r>
            <a:endParaRPr lang="ar-SA" sz="2400" dirty="0"/>
          </a:p>
        </p:txBody>
      </p:sp>
      <p:sp>
        <p:nvSpPr>
          <p:cNvPr id="31" name="anim-g1-191"/>
          <p:cNvSpPr/>
          <p:nvPr/>
        </p:nvSpPr>
        <p:spPr>
          <a:xfrm>
            <a:off x="1097280" y="5470002"/>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المروحة تبرّد اللوحة فقط 🌀</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ما الراسبيري باي؟  ·  ٢٠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من أي جزء سيكلّم الراسبيري باي محركات نبيه؟</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منافذ GPIO</a:t>
            </a:r>
            <a:endParaRPr lang="ar-SA" sz="2500" dirty="0"/>
          </a:p>
        </p:txBody>
      </p:sp>
      <p:sp>
        <p:nvSpPr>
          <p:cNvPr id="9" name="anim-g1-192"/>
          <p:cNvSpPr/>
          <p:nvPr/>
        </p:nvSpPr>
        <p:spPr>
          <a:xfrm>
            <a:off x="822960" y="2057400"/>
            <a:ext cx="10545775" cy="1228344"/>
          </a:xfrm>
          <a:prstGeom prst="roundRect">
            <a:avLst>
              <a:gd name="adj" fmla="val 11911"/>
            </a:avLst>
          </a:prstGeom>
          <a:solidFill>
            <a:srgbClr val="E6F4EC"/>
          </a:solidFill>
          <a:ln w="31750">
            <a:solidFill>
              <a:srgbClr val="2E9E6B"/>
            </a:solidFill>
            <a:prstDash val="solid"/>
          </a:ln>
        </p:spPr>
      </p:sp>
      <p:sp>
        <p:nvSpPr>
          <p:cNvPr id="10" name="anim-g1-193"/>
          <p:cNvSpPr/>
          <p:nvPr/>
        </p:nvSpPr>
        <p:spPr>
          <a:xfrm>
            <a:off x="10231831" y="2194560"/>
            <a:ext cx="954024" cy="954024"/>
          </a:xfrm>
          <a:prstGeom prst="roundRect">
            <a:avLst>
              <a:gd name="adj" fmla="val 11502"/>
            </a:avLst>
          </a:prstGeom>
          <a:solidFill>
            <a:srgbClr val="2E9E6B"/>
          </a:solidFill>
          <a:ln/>
        </p:spPr>
      </p:sp>
      <p:sp>
        <p:nvSpPr>
          <p:cNvPr id="11" name="anim-g1-194"/>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12" name="anim-g1-195"/>
          <p:cNvSpPr/>
          <p:nvPr/>
        </p:nvSpPr>
        <p:spPr>
          <a:xfrm>
            <a:off x="1097280" y="2093976"/>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131B34"/>
                </a:solidFill>
                <a:latin typeface="Cairo" pitchFamily="34" charset="0"/>
                <a:ea typeface="Cairo" pitchFamily="34" charset="-122"/>
                <a:cs typeface="Cairo" pitchFamily="34" charset="-120"/>
              </a:rPr>
              <a:t>منافذ GPIO</a:t>
            </a:r>
            <a:endParaRPr lang="ar-SA" sz="2400" dirty="0"/>
          </a:p>
        </p:txBody>
      </p:sp>
      <p:sp>
        <p:nvSpPr>
          <p:cNvPr id="13" name="anim-g1-196"/>
          <p:cNvSpPr/>
          <p:nvPr/>
        </p:nvSpPr>
        <p:spPr>
          <a:xfrm>
            <a:off x="1097280" y="2720706"/>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1D5E40"/>
                </a:solidFill>
                <a:latin typeface="Cairo" pitchFamily="34" charset="0"/>
                <a:ea typeface="Cairo" pitchFamily="34" charset="-122"/>
                <a:cs typeface="Cairo" pitchFamily="34" charset="-120"/>
              </a:rPr>
              <a:t>صحيح! هي يدا الـ Pi، وسنستخدمها كثيرًا 📍</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منفذ الإنترنت</a:t>
            </a:r>
            <a:endParaRPr lang="ar-SA" sz="2500" dirty="0"/>
          </a:p>
        </p:txBody>
      </p:sp>
      <p:sp>
        <p:nvSpPr>
          <p:cNvPr id="18" name="anim-g1-197"/>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198"/>
          <p:cNvSpPr/>
          <p:nvPr/>
        </p:nvSpPr>
        <p:spPr>
          <a:xfrm>
            <a:off x="10231831" y="3569208"/>
            <a:ext cx="954024" cy="954024"/>
          </a:xfrm>
          <a:prstGeom prst="roundRect">
            <a:avLst>
              <a:gd name="adj" fmla="val 11502"/>
            </a:avLst>
          </a:prstGeom>
          <a:solidFill>
            <a:srgbClr val="A3A9BA"/>
          </a:solidFill>
          <a:ln/>
        </p:spPr>
      </p:sp>
      <p:sp>
        <p:nvSpPr>
          <p:cNvPr id="20" name="anim-g1-199"/>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200"/>
          <p:cNvSpPr/>
          <p:nvPr/>
        </p:nvSpPr>
        <p:spPr>
          <a:xfrm>
            <a:off x="1097280" y="3468624"/>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منفذ الإنترنت</a:t>
            </a:r>
            <a:endParaRPr lang="ar-SA" sz="2400" dirty="0"/>
          </a:p>
        </p:txBody>
      </p:sp>
      <p:sp>
        <p:nvSpPr>
          <p:cNvPr id="22" name="anim-g1-201"/>
          <p:cNvSpPr/>
          <p:nvPr/>
        </p:nvSpPr>
        <p:spPr>
          <a:xfrm>
            <a:off x="1097280" y="4095354"/>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هذا للإنترنت بالسلك فقط</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مخرج الصوت</a:t>
            </a:r>
            <a:endParaRPr lang="ar-SA" sz="2500" dirty="0"/>
          </a:p>
        </p:txBody>
      </p:sp>
      <p:sp>
        <p:nvSpPr>
          <p:cNvPr id="27" name="anim-g1-202"/>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203"/>
          <p:cNvSpPr/>
          <p:nvPr/>
        </p:nvSpPr>
        <p:spPr>
          <a:xfrm>
            <a:off x="10231831" y="4943856"/>
            <a:ext cx="954024" cy="954024"/>
          </a:xfrm>
          <a:prstGeom prst="roundRect">
            <a:avLst>
              <a:gd name="adj" fmla="val 11502"/>
            </a:avLst>
          </a:prstGeom>
          <a:solidFill>
            <a:srgbClr val="A3A9BA"/>
          </a:solidFill>
          <a:ln/>
        </p:spPr>
      </p:sp>
      <p:sp>
        <p:nvSpPr>
          <p:cNvPr id="29" name="anim-g1-204"/>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205"/>
          <p:cNvSpPr/>
          <p:nvPr/>
        </p:nvSpPr>
        <p:spPr>
          <a:xfrm>
            <a:off x="1097280" y="4843272"/>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مخرج الصوت</a:t>
            </a:r>
            <a:endParaRPr lang="ar-SA" sz="2400" dirty="0"/>
          </a:p>
        </p:txBody>
      </p:sp>
      <p:sp>
        <p:nvSpPr>
          <p:cNvPr id="31" name="anim-g1-206"/>
          <p:cNvSpPr/>
          <p:nvPr/>
        </p:nvSpPr>
        <p:spPr>
          <a:xfrm>
            <a:off x="1097280" y="5470002"/>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هذا لسماعة نبيه، ليتكلم</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ما الراسبيري باي؟  ·  ٢١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Users/mac/dev/younes-training/robot-pi/.pptx-cache/s2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979615" y="457200"/>
            <a:ext cx="438912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6979615" y="457200"/>
            <a:ext cx="438912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 تحدّي الفريق — ٥ دقائق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F0CC7A"/>
                </a:solidFill>
                <a:latin typeface="Cairo Black" pitchFamily="34" charset="0"/>
                <a:ea typeface="Cairo Black" pitchFamily="34" charset="-122"/>
                <a:cs typeface="Cairo Black" pitchFamily="34" charset="-120"/>
              </a:rPr>
              <a:t>ارسم نبيه الخاص بفريقك</a:t>
            </a:r>
            <a:endParaRPr lang="ar-SA" sz="3800" dirty="0"/>
          </a:p>
        </p:txBody>
      </p:sp>
      <p:sp>
        <p:nvSpPr>
          <p:cNvPr id="5" name="anim-g1-207"/>
          <p:cNvSpPr/>
          <p:nvPr/>
        </p:nvSpPr>
        <p:spPr>
          <a:xfrm>
            <a:off x="10637215" y="2286000"/>
            <a:ext cx="731520" cy="731520"/>
          </a:xfrm>
          <a:prstGeom prst="ellipse">
            <a:avLst/>
          </a:prstGeom>
          <a:solidFill>
            <a:srgbClr val="D9AE4B"/>
          </a:solidFill>
          <a:ln/>
        </p:spPr>
      </p:sp>
      <p:sp>
        <p:nvSpPr>
          <p:cNvPr id="6" name="anim-g1-208"/>
          <p:cNvSpPr/>
          <p:nvPr/>
        </p:nvSpPr>
        <p:spPr>
          <a:xfrm>
            <a:off x="10637215" y="228600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209"/>
          <p:cNvSpPr/>
          <p:nvPr/>
        </p:nvSpPr>
        <p:spPr>
          <a:xfrm>
            <a:off x="4023360" y="219456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ارسموا روبوتًا بالشكل الذي تحبونه</a:t>
            </a:r>
            <a:endParaRPr lang="ar-SA" sz="2200" dirty="0"/>
          </a:p>
        </p:txBody>
      </p:sp>
      <p:sp>
        <p:nvSpPr>
          <p:cNvPr id="8" name="anim-g2-210"/>
          <p:cNvSpPr/>
          <p:nvPr/>
        </p:nvSpPr>
        <p:spPr>
          <a:xfrm>
            <a:off x="10637215" y="3383280"/>
            <a:ext cx="731520" cy="731520"/>
          </a:xfrm>
          <a:prstGeom prst="ellipse">
            <a:avLst/>
          </a:prstGeom>
          <a:solidFill>
            <a:srgbClr val="D9AE4B"/>
          </a:solidFill>
          <a:ln/>
        </p:spPr>
      </p:sp>
      <p:sp>
        <p:nvSpPr>
          <p:cNvPr id="9" name="anim-g2-211"/>
          <p:cNvSpPr/>
          <p:nvPr/>
        </p:nvSpPr>
        <p:spPr>
          <a:xfrm>
            <a:off x="10637215" y="338328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212"/>
          <p:cNvSpPr/>
          <p:nvPr/>
        </p:nvSpPr>
        <p:spPr>
          <a:xfrm>
            <a:off x="4023360" y="329184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حدّدوا عليه: العقل، والعين، والأذن، والفم، والرجلين</a:t>
            </a:r>
            <a:endParaRPr lang="ar-SA" sz="2200" dirty="0"/>
          </a:p>
        </p:txBody>
      </p:sp>
      <p:sp>
        <p:nvSpPr>
          <p:cNvPr id="11" name="anim-g3-213"/>
          <p:cNvSpPr/>
          <p:nvPr/>
        </p:nvSpPr>
        <p:spPr>
          <a:xfrm>
            <a:off x="10637215" y="4480560"/>
            <a:ext cx="731520" cy="731520"/>
          </a:xfrm>
          <a:prstGeom prst="ellipse">
            <a:avLst/>
          </a:prstGeom>
          <a:solidFill>
            <a:srgbClr val="D9AE4B"/>
          </a:solidFill>
          <a:ln/>
        </p:spPr>
      </p:sp>
      <p:sp>
        <p:nvSpPr>
          <p:cNvPr id="12" name="anim-g3-214"/>
          <p:cNvSpPr/>
          <p:nvPr/>
        </p:nvSpPr>
        <p:spPr>
          <a:xfrm>
            <a:off x="10637215" y="448056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215"/>
          <p:cNvSpPr/>
          <p:nvPr/>
        </p:nvSpPr>
        <p:spPr>
          <a:xfrm>
            <a:off x="4023360" y="438912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اكتبوا تحت كل جزء: ماذا يقابله في الروبوت الحقيقي؟</a:t>
            </a:r>
            <a:endParaRPr lang="ar-SA" sz="2200" dirty="0"/>
          </a:p>
        </p:txBody>
      </p:sp>
      <p:sp>
        <p:nvSpPr>
          <p:cNvPr id="14" name="anim-g4-216"/>
          <p:cNvSpPr/>
          <p:nvPr/>
        </p:nvSpPr>
        <p:spPr>
          <a:xfrm>
            <a:off x="10637215" y="5577840"/>
            <a:ext cx="731520" cy="731520"/>
          </a:xfrm>
          <a:prstGeom prst="ellipse">
            <a:avLst/>
          </a:prstGeom>
          <a:solidFill>
            <a:srgbClr val="D9AE4B"/>
          </a:solidFill>
          <a:ln/>
        </p:spPr>
      </p:sp>
      <p:sp>
        <p:nvSpPr>
          <p:cNvPr id="15" name="anim-g4-217"/>
          <p:cNvSpPr/>
          <p:nvPr/>
        </p:nvSpPr>
        <p:spPr>
          <a:xfrm>
            <a:off x="10637215" y="557784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٤</a:t>
            </a:r>
            <a:endParaRPr lang="ar-SA" sz="2400" dirty="0"/>
          </a:p>
        </p:txBody>
      </p:sp>
      <p:sp>
        <p:nvSpPr>
          <p:cNvPr id="16" name="anim-g4-218"/>
          <p:cNvSpPr/>
          <p:nvPr/>
        </p:nvSpPr>
        <p:spPr>
          <a:xfrm>
            <a:off x="4023360" y="548640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اعرضوا رسمتكم على باقي الفرق في دقيقة واحدة</a:t>
            </a:r>
            <a:endParaRPr lang="ar-SA" sz="2200" dirty="0"/>
          </a:p>
        </p:txBody>
      </p:sp>
      <p:sp>
        <p:nvSpPr>
          <p:cNvPr id="17" name="Shape 15"/>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8" name="Text 16"/>
          <p:cNvSpPr/>
          <p:nvPr/>
        </p:nvSpPr>
        <p:spPr>
          <a:xfrm>
            <a:off x="822960" y="2834640"/>
            <a:ext cx="2834640" cy="1097280"/>
          </a:xfrm>
          <a:prstGeom prst="rect">
            <a:avLst/>
          </a:prstGeom>
          <a:noFill/>
          <a:ln/>
        </p:spPr>
        <p:txBody>
          <a:bodyPr wrap="square" lIns="0" tIns="0" rIns="0" bIns="0" rtlCol="0" anchor="ctr">
            <a:normAutofit/>
          </a:bodyPr>
          <a:lstStyle/>
          <a:p>
            <a:pPr marL="0" indent="0" algn="ctr">
              <a:buNone/>
            </a:pPr>
            <a:r>
              <a:rPr lang="ar-SA" altLang="en-US" sz="6000" dirty="0">
                <a:solidFill>
                  <a:srgbClr val="F0CC7A"/>
                </a:solidFill>
                <a:latin typeface="Cairo Black" pitchFamily="34" charset="0"/>
                <a:ea typeface="Cairo Black" pitchFamily="34" charset="-122"/>
                <a:cs typeface="Cairo Black" pitchFamily="34" charset="-120"/>
              </a:rPr>
              <a:t>5:00</a:t>
            </a:r>
            <a:endParaRPr lang="ar-SA" sz="6000" dirty="0"/>
          </a:p>
        </p:txBody>
      </p:sp>
      <p:sp>
        <p:nvSpPr>
          <p:cNvPr id="19" name="Text 17"/>
          <p:cNvSpPr/>
          <p:nvPr/>
        </p:nvSpPr>
        <p:spPr>
          <a:xfrm>
            <a:off x="822960" y="3840480"/>
            <a:ext cx="2834640" cy="457200"/>
          </a:xfrm>
          <a:prstGeom prst="rect">
            <a:avLst/>
          </a:prstGeom>
          <a:noFill/>
          <a:ln/>
        </p:spPr>
        <p:txBody>
          <a:bodyPr wrap="square" lIns="0" tIns="0" rIns="0" bIns="0" rtlCol="0" anchor="ctr">
            <a:normAutofit/>
          </a:bodyPr>
          <a:lstStyle/>
          <a:p>
            <a:pPr marL="0" indent="0" algn="ctr" rtl="1">
              <a:buNone/>
            </a:pPr>
            <a:r>
              <a:rPr lang="ar-SA" altLang="en-US" sz="1600" b="1" dirty="0">
                <a:solidFill>
                  <a:srgbClr val="C9CFE6"/>
                </a:solidFill>
                <a:latin typeface="Cairo" pitchFamily="34" charset="0"/>
                <a:ea typeface="Cairo" pitchFamily="34" charset="-122"/>
                <a:cs typeface="Cairo" pitchFamily="34" charset="-120"/>
              </a:rPr>
              <a:t>٥ دقائق</a:t>
            </a:r>
            <a:endParaRPr lang="ar-SA" sz="16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ما الراسبيري باي؟  ·  ٢٣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Users/mac/dev/younes-training/robot-pi/.pptx-cache/s2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marL="0" indent="0" algn="ctr" rtl="1">
              <a:buNone/>
            </a:pPr>
            <a:r>
              <a:rPr lang="ar-SA" altLang="en-US" sz="8000" dirty="0">
                <a:solidFill>
                  <a:srgbClr val="FFF3D6"/>
                </a:solidFill>
                <a:latin typeface="Cairo Black" pitchFamily="34" charset="0"/>
                <a:ea typeface="Cairo Black" pitchFamily="34" charset="-122"/>
                <a:cs typeface="Cairo Black" pitchFamily="34" charset="-120"/>
              </a:rPr>
              <a:t>أحسنتم يا مهندسون!</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في الوحدة القادمة: نجهّز عقل نبيه ونشغّله لأول مرة ⚙️</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C9CFE6"/>
                </a:solidFill>
                <a:latin typeface="Cairo" pitchFamily="34" charset="0"/>
                <a:ea typeface="Cairo" pitchFamily="34" charset="-122"/>
                <a:cs typeface="Cairo" pitchFamily="34" charset="-120"/>
              </a:rPr>
              <a:t>روبوتي الذكي · إعداد وتقديم: أ. محمد زيتون</a:t>
            </a:r>
            <a:endParaRPr lang="ar-SA"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marL="0" indent="0" algn="ctr" rtl="1">
              <a:buNone/>
            </a:pPr>
            <a:r>
              <a:rPr lang="ar-SA" altLang="en-US" sz="12000" dirty="0">
                <a:solidFill>
                  <a:srgbClr val="F0CC7A"/>
                </a:solidFill>
                <a:latin typeface="Cairo Black" pitchFamily="34" charset="0"/>
                <a:ea typeface="Cairo Black" pitchFamily="34" charset="-122"/>
                <a:cs typeface="Cairo Black" pitchFamily="34" charset="-120"/>
              </a:rPr>
              <a:t>٢</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marL="0" indent="0" algn="r" rtl="1">
              <a:buNone/>
            </a:pPr>
            <a:r>
              <a:rPr lang="ar-SA" altLang="en-US" sz="2000" b="1" dirty="0">
                <a:solidFill>
                  <a:srgbClr val="D9AE4B"/>
                </a:solidFill>
                <a:latin typeface="Cairo" pitchFamily="34" charset="0"/>
                <a:ea typeface="Cairo" pitchFamily="34" charset="-122"/>
                <a:cs typeface="Cairo" pitchFamily="34" charset="-120"/>
              </a:rPr>
              <a:t>الوحدة ٢</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marL="0" indent="0" algn="r" rtl="1">
              <a:buNone/>
            </a:pPr>
            <a:r>
              <a:rPr lang="ar-SA" altLang="en-US" sz="5600" dirty="0">
                <a:solidFill>
                  <a:srgbClr val="FFFFFF"/>
                </a:solidFill>
                <a:latin typeface="Cairo Black" pitchFamily="34" charset="0"/>
                <a:ea typeface="Cairo Black" pitchFamily="34" charset="-122"/>
                <a:cs typeface="Cairo Black" pitchFamily="34" charset="-120"/>
              </a:rPr>
              <a:t>نجهّز عقل نبيه</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marL="0" indent="0" algn="r" rtl="1">
              <a:buNone/>
            </a:pPr>
            <a:r>
              <a:rPr lang="ar-SA" altLang="en-US" sz="2200" b="1" dirty="0">
                <a:solidFill>
                  <a:srgbClr val="C9CFE6"/>
                </a:solidFill>
                <a:latin typeface="Cairo" pitchFamily="34" charset="0"/>
                <a:ea typeface="Cairo" pitchFamily="34" charset="-122"/>
                <a:cs typeface="Cairo" pitchFamily="34" charset="-120"/>
              </a:rPr>
              <a:t>نركّب الراسبيري باي، ونشغّله، ونكتب أول برنامج</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نجهّز عقل نبيه  ·  ٢٦</a:t>
            </a:r>
            <a:endParaRPr lang="ar-SA"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مهمتي اليوم</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بنهاية هذه الوحدة سأستطيع أن</a:t>
            </a:r>
            <a:endParaRPr lang="ar-SA" sz="3800" dirty="0"/>
          </a:p>
        </p:txBody>
      </p:sp>
      <p:sp>
        <p:nvSpPr>
          <p:cNvPr id="5" name="anim-g1-219"/>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220"/>
          <p:cNvSpPr/>
          <p:nvPr/>
        </p:nvSpPr>
        <p:spPr>
          <a:xfrm>
            <a:off x="10573207" y="2109978"/>
            <a:ext cx="566928" cy="566928"/>
          </a:xfrm>
          <a:prstGeom prst="ellipse">
            <a:avLst/>
          </a:prstGeom>
          <a:solidFill>
            <a:srgbClr val="D9AE4B"/>
          </a:solidFill>
          <a:ln/>
        </p:spPr>
      </p:sp>
      <p:sp>
        <p:nvSpPr>
          <p:cNvPr id="7" name="anim-g1-221"/>
          <p:cNvSpPr/>
          <p:nvPr/>
        </p:nvSpPr>
        <p:spPr>
          <a:xfrm>
            <a:off x="10573207" y="2109978"/>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222"/>
          <p:cNvSpPr/>
          <p:nvPr/>
        </p:nvSpPr>
        <p:spPr>
          <a:xfrm>
            <a:off x="1097280" y="1920240"/>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أعرف ما نظام التشغيل</a:t>
            </a:r>
            <a:endParaRPr lang="ar-SA" sz="2400" dirty="0"/>
          </a:p>
        </p:txBody>
      </p:sp>
      <p:sp>
        <p:nvSpPr>
          <p:cNvPr id="9" name="anim-g2-223"/>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224"/>
          <p:cNvSpPr/>
          <p:nvPr/>
        </p:nvSpPr>
        <p:spPr>
          <a:xfrm>
            <a:off x="10573207" y="3166110"/>
            <a:ext cx="566928" cy="566928"/>
          </a:xfrm>
          <a:prstGeom prst="ellipse">
            <a:avLst/>
          </a:prstGeom>
          <a:solidFill>
            <a:srgbClr val="D9AE4B"/>
          </a:solidFill>
          <a:ln/>
        </p:spPr>
      </p:sp>
      <p:sp>
        <p:nvSpPr>
          <p:cNvPr id="11" name="anim-g2-225"/>
          <p:cNvSpPr/>
          <p:nvPr/>
        </p:nvSpPr>
        <p:spPr>
          <a:xfrm>
            <a:off x="10573207" y="3166110"/>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226"/>
          <p:cNvSpPr/>
          <p:nvPr/>
        </p:nvSpPr>
        <p:spPr>
          <a:xfrm>
            <a:off x="1097280" y="2976372"/>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أركّب الراسبيري باي بالترتيب الصحيح</a:t>
            </a:r>
            <a:endParaRPr lang="ar-SA" sz="2400" dirty="0"/>
          </a:p>
        </p:txBody>
      </p:sp>
      <p:sp>
        <p:nvSpPr>
          <p:cNvPr id="13" name="anim-g3-227"/>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228"/>
          <p:cNvSpPr/>
          <p:nvPr/>
        </p:nvSpPr>
        <p:spPr>
          <a:xfrm>
            <a:off x="10573207" y="4222242"/>
            <a:ext cx="566928" cy="566928"/>
          </a:xfrm>
          <a:prstGeom prst="ellipse">
            <a:avLst/>
          </a:prstGeom>
          <a:solidFill>
            <a:srgbClr val="D9AE4B"/>
          </a:solidFill>
          <a:ln/>
        </p:spPr>
      </p:sp>
      <p:sp>
        <p:nvSpPr>
          <p:cNvPr id="15" name="anim-g3-229"/>
          <p:cNvSpPr/>
          <p:nvPr/>
        </p:nvSpPr>
        <p:spPr>
          <a:xfrm>
            <a:off x="10573207" y="4222242"/>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230"/>
          <p:cNvSpPr/>
          <p:nvPr/>
        </p:nvSpPr>
        <p:spPr>
          <a:xfrm>
            <a:off x="1097280" y="4032504"/>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أشغّله وأتجوّل في سطح المكتب</a:t>
            </a:r>
            <a:endParaRPr lang="ar-SA" sz="2400" dirty="0"/>
          </a:p>
        </p:txBody>
      </p:sp>
      <p:sp>
        <p:nvSpPr>
          <p:cNvPr id="17" name="anim-g4-231"/>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232"/>
          <p:cNvSpPr/>
          <p:nvPr/>
        </p:nvSpPr>
        <p:spPr>
          <a:xfrm>
            <a:off x="10573207" y="5278374"/>
            <a:ext cx="566928" cy="566928"/>
          </a:xfrm>
          <a:prstGeom prst="ellipse">
            <a:avLst/>
          </a:prstGeom>
          <a:solidFill>
            <a:srgbClr val="D9AE4B"/>
          </a:solidFill>
          <a:ln/>
        </p:spPr>
      </p:sp>
      <p:sp>
        <p:nvSpPr>
          <p:cNvPr id="19" name="anim-g4-233"/>
          <p:cNvSpPr/>
          <p:nvPr/>
        </p:nvSpPr>
        <p:spPr>
          <a:xfrm>
            <a:off x="10573207" y="5278374"/>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234"/>
          <p:cNvSpPr/>
          <p:nvPr/>
        </p:nvSpPr>
        <p:spPr>
          <a:xfrm>
            <a:off x="1097280" y="5088636"/>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أكتب أول برنامج لنبيه… وأطفئ الجهاز بأمان</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نجهّز عقل نبيه  ·  ٢٧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ما نظام التشغيل؟</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كل جهاز ذكي… له مدير</a:t>
            </a:r>
            <a:endParaRPr lang="ar-SA" sz="3800" dirty="0"/>
          </a:p>
        </p:txBody>
      </p:sp>
      <p:sp>
        <p:nvSpPr>
          <p:cNvPr id="5" name="anim-g1-235"/>
          <p:cNvSpPr/>
          <p:nvPr/>
        </p:nvSpPr>
        <p:spPr>
          <a:xfrm>
            <a:off x="8938031" y="2011680"/>
            <a:ext cx="2430704" cy="4023360"/>
          </a:xfrm>
          <a:prstGeom prst="roundRect">
            <a:avLst>
              <a:gd name="adj" fmla="val 6771"/>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236"/>
          <p:cNvSpPr/>
          <p:nvPr/>
        </p:nvSpPr>
        <p:spPr>
          <a:xfrm>
            <a:off x="10527487" y="2267712"/>
            <a:ext cx="566928" cy="566928"/>
          </a:xfrm>
          <a:prstGeom prst="roundRect">
            <a:avLst>
              <a:gd name="adj" fmla="val 32258"/>
            </a:avLst>
          </a:prstGeom>
          <a:solidFill>
            <a:srgbClr val="F7E6BC"/>
          </a:solidFill>
          <a:ln/>
        </p:spPr>
      </p:sp>
      <p:sp>
        <p:nvSpPr>
          <p:cNvPr id="7" name="anim-g1-237"/>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238"/>
          <p:cNvSpPr/>
          <p:nvPr/>
        </p:nvSpPr>
        <p:spPr>
          <a:xfrm>
            <a:off x="9212351" y="2944368"/>
            <a:ext cx="1882064"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Windows</a:t>
            </a:r>
            <a:endParaRPr lang="ar-SA" sz="2200" dirty="0"/>
          </a:p>
        </p:txBody>
      </p:sp>
      <p:sp>
        <p:nvSpPr>
          <p:cNvPr id="9" name="anim-g1-239"/>
          <p:cNvSpPr/>
          <p:nvPr/>
        </p:nvSpPr>
        <p:spPr>
          <a:xfrm>
            <a:off x="9212351" y="3493008"/>
            <a:ext cx="1882064"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في أغلب أجهزة المدرسة</a:t>
            </a:r>
            <a:endParaRPr lang="ar-SA" sz="1900" dirty="0"/>
          </a:p>
        </p:txBody>
      </p:sp>
      <p:sp>
        <p:nvSpPr>
          <p:cNvPr id="10" name="anim-g2-240"/>
          <p:cNvSpPr/>
          <p:nvPr/>
        </p:nvSpPr>
        <p:spPr>
          <a:xfrm>
            <a:off x="6233008" y="2011680"/>
            <a:ext cx="2430704" cy="4023360"/>
          </a:xfrm>
          <a:prstGeom prst="roundRect">
            <a:avLst>
              <a:gd name="adj" fmla="val 6771"/>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241"/>
          <p:cNvSpPr/>
          <p:nvPr/>
        </p:nvSpPr>
        <p:spPr>
          <a:xfrm>
            <a:off x="7822463" y="2267712"/>
            <a:ext cx="566928" cy="566928"/>
          </a:xfrm>
          <a:prstGeom prst="roundRect">
            <a:avLst>
              <a:gd name="adj" fmla="val 32258"/>
            </a:avLst>
          </a:prstGeom>
          <a:solidFill>
            <a:srgbClr val="F7E6BC"/>
          </a:solidFill>
          <a:ln/>
        </p:spPr>
      </p:sp>
      <p:sp>
        <p:nvSpPr>
          <p:cNvPr id="12" name="anim-g2-242"/>
          <p:cNvSpPr/>
          <p:nvPr/>
        </p:nvSpPr>
        <p:spPr>
          <a:xfrm>
            <a:off x="7822463"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243"/>
          <p:cNvSpPr/>
          <p:nvPr/>
        </p:nvSpPr>
        <p:spPr>
          <a:xfrm>
            <a:off x="6507328" y="2944368"/>
            <a:ext cx="1882064"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macOS</a:t>
            </a:r>
            <a:endParaRPr lang="ar-SA" sz="2200" dirty="0"/>
          </a:p>
        </p:txBody>
      </p:sp>
      <p:sp>
        <p:nvSpPr>
          <p:cNvPr id="14" name="anim-g2-244"/>
          <p:cNvSpPr/>
          <p:nvPr/>
        </p:nvSpPr>
        <p:spPr>
          <a:xfrm>
            <a:off x="6507328" y="3493008"/>
            <a:ext cx="1882064"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في أجهزة أبل</a:t>
            </a:r>
            <a:endParaRPr lang="ar-SA" sz="1900" dirty="0"/>
          </a:p>
        </p:txBody>
      </p:sp>
      <p:sp>
        <p:nvSpPr>
          <p:cNvPr id="15" name="anim-g3-245"/>
          <p:cNvSpPr/>
          <p:nvPr/>
        </p:nvSpPr>
        <p:spPr>
          <a:xfrm>
            <a:off x="3527984" y="2011680"/>
            <a:ext cx="2430704" cy="4023360"/>
          </a:xfrm>
          <a:prstGeom prst="roundRect">
            <a:avLst>
              <a:gd name="adj" fmla="val 6771"/>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246"/>
          <p:cNvSpPr/>
          <p:nvPr/>
        </p:nvSpPr>
        <p:spPr>
          <a:xfrm>
            <a:off x="5117440" y="2267712"/>
            <a:ext cx="566928" cy="566928"/>
          </a:xfrm>
          <a:prstGeom prst="roundRect">
            <a:avLst>
              <a:gd name="adj" fmla="val 32258"/>
            </a:avLst>
          </a:prstGeom>
          <a:solidFill>
            <a:srgbClr val="F7E6BC"/>
          </a:solidFill>
          <a:ln/>
        </p:spPr>
      </p:sp>
      <p:sp>
        <p:nvSpPr>
          <p:cNvPr id="17" name="anim-g3-247"/>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248"/>
          <p:cNvSpPr/>
          <p:nvPr/>
        </p:nvSpPr>
        <p:spPr>
          <a:xfrm>
            <a:off x="3802304" y="2944368"/>
            <a:ext cx="1882064"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Android</a:t>
            </a:r>
            <a:endParaRPr lang="ar-SA" sz="2200" dirty="0"/>
          </a:p>
        </p:txBody>
      </p:sp>
      <p:sp>
        <p:nvSpPr>
          <p:cNvPr id="19" name="anim-g3-249"/>
          <p:cNvSpPr/>
          <p:nvPr/>
        </p:nvSpPr>
        <p:spPr>
          <a:xfrm>
            <a:off x="3802304" y="3493008"/>
            <a:ext cx="1882064"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في كثير من الجوالات</a:t>
            </a:r>
            <a:endParaRPr lang="ar-SA" sz="1900" dirty="0"/>
          </a:p>
        </p:txBody>
      </p:sp>
      <p:sp>
        <p:nvSpPr>
          <p:cNvPr id="20" name="anim-g4-250"/>
          <p:cNvSpPr/>
          <p:nvPr/>
        </p:nvSpPr>
        <p:spPr>
          <a:xfrm>
            <a:off x="822960" y="2011680"/>
            <a:ext cx="2430704" cy="4023360"/>
          </a:xfrm>
          <a:prstGeom prst="roundRect">
            <a:avLst>
              <a:gd name="adj" fmla="val 6771"/>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251"/>
          <p:cNvSpPr/>
          <p:nvPr/>
        </p:nvSpPr>
        <p:spPr>
          <a:xfrm>
            <a:off x="2412416" y="2267712"/>
            <a:ext cx="566928" cy="566928"/>
          </a:xfrm>
          <a:prstGeom prst="roundRect">
            <a:avLst>
              <a:gd name="adj" fmla="val 32258"/>
            </a:avLst>
          </a:prstGeom>
          <a:solidFill>
            <a:srgbClr val="F7E6BC"/>
          </a:solidFill>
          <a:ln/>
        </p:spPr>
      </p:sp>
      <p:sp>
        <p:nvSpPr>
          <p:cNvPr id="22" name="anim-g4-252"/>
          <p:cNvSpPr/>
          <p:nvPr/>
        </p:nvSpPr>
        <p:spPr>
          <a:xfrm>
            <a:off x="2412416"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253"/>
          <p:cNvSpPr/>
          <p:nvPr/>
        </p:nvSpPr>
        <p:spPr>
          <a:xfrm>
            <a:off x="1097280" y="2944368"/>
            <a:ext cx="1882064"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Raspberry Pi OS</a:t>
            </a:r>
            <a:endParaRPr lang="ar-SA" sz="2200" dirty="0"/>
          </a:p>
        </p:txBody>
      </p:sp>
      <p:sp>
        <p:nvSpPr>
          <p:cNvPr id="24" name="anim-g4-254"/>
          <p:cNvSpPr/>
          <p:nvPr/>
        </p:nvSpPr>
        <p:spPr>
          <a:xfrm>
            <a:off x="1097280" y="3493008"/>
            <a:ext cx="1882064"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مدير عقل نبيه!</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نجهّز عقل نبيه  ·  ٢٨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Users/mac/dev/younes-training/robot-pi/.pptx-cache/s2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Users/mac/dev/younes-training/robot-pi/.pptx-cache/s30.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632808" y="1188720"/>
            <a:ext cx="292608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632808" y="118872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القاعدة الذهبية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نوصّل كل شيء أولًا…</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والكهرباء آخر شيء</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نجهّز عقل نبيه  ·  ٣١</a:t>
            </a:r>
            <a:endParaRPr lang="ar-SA"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Users/mac/dev/younes-training/robot-pi/.pptx-cache/s3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Users/mac/dev/younes-training/robot-pi/.pptx-cache/s33.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Users/mac/dev/younes-training/robot-pi/.pptx-cache/s3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Users/mac/dev/younes-training/robot-pi/.pptx-cache/s35-0.jpg"/>
          <p:cNvPicPr>
            <a:picLocks noChangeAspect="1"/>
          </p:cNvPicPr>
          <p:nvPr/>
        </p:nvPicPr>
        <p:blipFill>
          <a:blip r:embed="rId3"/>
          <a:stretch>
            <a:fillRect/>
          </a:stretch>
        </p:blipFill>
        <p:spPr>
          <a:xfrm>
            <a:off x="0" y="0"/>
            <a:ext cx="12191695" cy="6858000"/>
          </a:xfrm>
          <a:prstGeom prst="rect">
            <a:avLst/>
          </a:prstGeom>
        </p:spPr>
      </p:pic>
      <p:pic>
        <p:nvPicPr>
          <p:cNvPr id="3" name="anim-g1-255" descr="/Users/mac/dev/younes-training/robot-pi/.pptx-cache/s35-1.jpg"/>
          <p:cNvPicPr>
            <a:picLocks noChangeAspect="1"/>
          </p:cNvPicPr>
          <p:nvPr/>
        </p:nvPicPr>
        <p:blipFill>
          <a:blip r:embed="rId4"/>
          <a:stretch>
            <a:fillRect/>
          </a:stretch>
        </p:blipFill>
        <p:spPr>
          <a:xfrm>
            <a:off x="0" y="0"/>
            <a:ext cx="12191695" cy="6858000"/>
          </a:xfrm>
          <a:prstGeom prst="rect">
            <a:avLst/>
          </a:prstGeom>
        </p:spPr>
      </p:pic>
      <p:pic>
        <p:nvPicPr>
          <p:cNvPr id="4" name="anim-g2-256" descr="/Users/mac/dev/younes-training/robot-pi/.pptx-cache/s35-2.jpg"/>
          <p:cNvPicPr>
            <a:picLocks noChangeAspect="1"/>
          </p:cNvPicPr>
          <p:nvPr/>
        </p:nvPicPr>
        <p:blipFill>
          <a:blip r:embed="rId5"/>
          <a:stretch>
            <a:fillRect/>
          </a:stretch>
        </p:blipFill>
        <p:spPr>
          <a:xfrm>
            <a:off x="0" y="0"/>
            <a:ext cx="12191695" cy="6858000"/>
          </a:xfrm>
          <a:prstGeom prst="rect">
            <a:avLst/>
          </a:prstGeom>
        </p:spPr>
      </p:pic>
      <p:pic>
        <p:nvPicPr>
          <p:cNvPr id="5" name="anim-g3-257" descr="/Users/mac/dev/younes-training/robot-pi/.pptx-cache/s35-3.jpg"/>
          <p:cNvPicPr>
            <a:picLocks noChangeAspect="1"/>
          </p:cNvPicPr>
          <p:nvPr/>
        </p:nvPicPr>
        <p:blipFill>
          <a:blip r:embed="rId6"/>
          <a:stretch>
            <a:fillRect/>
          </a:stretch>
        </p:blipFill>
        <p:spPr>
          <a:xfrm>
            <a:off x="0" y="0"/>
            <a:ext cx="12191695" cy="6858000"/>
          </a:xfrm>
          <a:prstGeom prst="rect">
            <a:avLst/>
          </a:prstGeom>
        </p:spPr>
      </p:pic>
      <p:pic>
        <p:nvPicPr>
          <p:cNvPr id="6" name="anim-g4-258" descr="/Users/mac/dev/younes-training/robot-pi/.pptx-cache/s35-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979615" y="457200"/>
            <a:ext cx="438912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6979615" y="457200"/>
            <a:ext cx="438912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 تحدّي الفريق — ٥ دقائق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F0CC7A"/>
                </a:solidFill>
                <a:latin typeface="Cairo Black" pitchFamily="34" charset="0"/>
                <a:ea typeface="Cairo Black" pitchFamily="34" charset="-122"/>
                <a:cs typeface="Cairo Black" pitchFamily="34" charset="-120"/>
              </a:rPr>
              <a:t>اجعل نبيه يعرّف بفريقك</a:t>
            </a:r>
            <a:endParaRPr lang="ar-SA" sz="3800" dirty="0"/>
          </a:p>
        </p:txBody>
      </p:sp>
      <p:sp>
        <p:nvSpPr>
          <p:cNvPr id="5" name="anim-g1-259"/>
          <p:cNvSpPr/>
          <p:nvPr/>
        </p:nvSpPr>
        <p:spPr>
          <a:xfrm>
            <a:off x="10637215" y="2286000"/>
            <a:ext cx="731520" cy="731520"/>
          </a:xfrm>
          <a:prstGeom prst="ellipse">
            <a:avLst/>
          </a:prstGeom>
          <a:solidFill>
            <a:srgbClr val="D9AE4B"/>
          </a:solidFill>
          <a:ln/>
        </p:spPr>
      </p:sp>
      <p:sp>
        <p:nvSpPr>
          <p:cNvPr id="6" name="anim-g1-260"/>
          <p:cNvSpPr/>
          <p:nvPr/>
        </p:nvSpPr>
        <p:spPr>
          <a:xfrm>
            <a:off x="10637215" y="228600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261"/>
          <p:cNvSpPr/>
          <p:nvPr/>
        </p:nvSpPr>
        <p:spPr>
          <a:xfrm>
            <a:off x="4023360" y="219456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اكتبوا print فيها اسم فريقكم بالإنجليزي</a:t>
            </a:r>
            <a:endParaRPr lang="ar-SA" sz="2200" dirty="0"/>
          </a:p>
        </p:txBody>
      </p:sp>
      <p:sp>
        <p:nvSpPr>
          <p:cNvPr id="8" name="anim-g2-262"/>
          <p:cNvSpPr/>
          <p:nvPr/>
        </p:nvSpPr>
        <p:spPr>
          <a:xfrm>
            <a:off x="10637215" y="3383280"/>
            <a:ext cx="731520" cy="731520"/>
          </a:xfrm>
          <a:prstGeom prst="ellipse">
            <a:avLst/>
          </a:prstGeom>
          <a:solidFill>
            <a:srgbClr val="D9AE4B"/>
          </a:solidFill>
          <a:ln/>
        </p:spPr>
      </p:sp>
      <p:sp>
        <p:nvSpPr>
          <p:cNvPr id="9" name="anim-g2-263"/>
          <p:cNvSpPr/>
          <p:nvPr/>
        </p:nvSpPr>
        <p:spPr>
          <a:xfrm>
            <a:off x="10637215" y="338328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264"/>
          <p:cNvSpPr/>
          <p:nvPr/>
        </p:nvSpPr>
        <p:spPr>
          <a:xfrm>
            <a:off x="4023360" y="329184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أضيفوا سطرًا لكل عضو في الفريق: print("Sara")</a:t>
            </a:r>
            <a:endParaRPr lang="ar-SA" sz="2200" dirty="0"/>
          </a:p>
        </p:txBody>
      </p:sp>
      <p:sp>
        <p:nvSpPr>
          <p:cNvPr id="11" name="anim-g3-265"/>
          <p:cNvSpPr/>
          <p:nvPr/>
        </p:nvSpPr>
        <p:spPr>
          <a:xfrm>
            <a:off x="10637215" y="4480560"/>
            <a:ext cx="731520" cy="731520"/>
          </a:xfrm>
          <a:prstGeom prst="ellipse">
            <a:avLst/>
          </a:prstGeom>
          <a:solidFill>
            <a:srgbClr val="D9AE4B"/>
          </a:solidFill>
          <a:ln/>
        </p:spPr>
      </p:sp>
      <p:sp>
        <p:nvSpPr>
          <p:cNvPr id="12" name="anim-g3-266"/>
          <p:cNvSpPr/>
          <p:nvPr/>
        </p:nvSpPr>
        <p:spPr>
          <a:xfrm>
            <a:off x="10637215" y="448056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267"/>
          <p:cNvSpPr/>
          <p:nvPr/>
        </p:nvSpPr>
        <p:spPr>
          <a:xfrm>
            <a:off x="4023360" y="438912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شغّلوا البرنامج بزر ▶️</a:t>
            </a:r>
            <a:endParaRPr lang="ar-SA" sz="2200" dirty="0"/>
          </a:p>
        </p:txBody>
      </p:sp>
      <p:sp>
        <p:nvSpPr>
          <p:cNvPr id="14" name="anim-g4-268"/>
          <p:cNvSpPr/>
          <p:nvPr/>
        </p:nvSpPr>
        <p:spPr>
          <a:xfrm>
            <a:off x="10637215" y="5577840"/>
            <a:ext cx="731520" cy="731520"/>
          </a:xfrm>
          <a:prstGeom prst="ellipse">
            <a:avLst/>
          </a:prstGeom>
          <a:solidFill>
            <a:srgbClr val="D9AE4B"/>
          </a:solidFill>
          <a:ln/>
        </p:spPr>
      </p:sp>
      <p:sp>
        <p:nvSpPr>
          <p:cNvPr id="15" name="anim-g4-269"/>
          <p:cNvSpPr/>
          <p:nvPr/>
        </p:nvSpPr>
        <p:spPr>
          <a:xfrm>
            <a:off x="10637215" y="557784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٤</a:t>
            </a:r>
            <a:endParaRPr lang="ar-SA" sz="2400" dirty="0"/>
          </a:p>
        </p:txBody>
      </p:sp>
      <p:sp>
        <p:nvSpPr>
          <p:cNvPr id="16" name="anim-g4-270"/>
          <p:cNvSpPr/>
          <p:nvPr/>
        </p:nvSpPr>
        <p:spPr>
          <a:xfrm>
            <a:off x="4023360" y="548640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تحدٍّ إضافي: اجعلوا نبيه يرسم نجمة: print("*****")</a:t>
            </a:r>
            <a:endParaRPr lang="ar-SA" sz="2200" dirty="0"/>
          </a:p>
        </p:txBody>
      </p:sp>
      <p:sp>
        <p:nvSpPr>
          <p:cNvPr id="17" name="Shape 15"/>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8" name="Text 16"/>
          <p:cNvSpPr/>
          <p:nvPr/>
        </p:nvSpPr>
        <p:spPr>
          <a:xfrm>
            <a:off x="822960" y="2834640"/>
            <a:ext cx="2834640" cy="1097280"/>
          </a:xfrm>
          <a:prstGeom prst="rect">
            <a:avLst/>
          </a:prstGeom>
          <a:noFill/>
          <a:ln/>
        </p:spPr>
        <p:txBody>
          <a:bodyPr wrap="square" lIns="0" tIns="0" rIns="0" bIns="0" rtlCol="0" anchor="ctr">
            <a:normAutofit/>
          </a:bodyPr>
          <a:lstStyle/>
          <a:p>
            <a:pPr marL="0" indent="0" algn="ctr">
              <a:buNone/>
            </a:pPr>
            <a:r>
              <a:rPr lang="ar-SA" altLang="en-US" sz="6000" dirty="0">
                <a:solidFill>
                  <a:srgbClr val="F0CC7A"/>
                </a:solidFill>
                <a:latin typeface="Cairo Black" pitchFamily="34" charset="0"/>
                <a:ea typeface="Cairo Black" pitchFamily="34" charset="-122"/>
                <a:cs typeface="Cairo Black" pitchFamily="34" charset="-120"/>
              </a:rPr>
              <a:t>5:00</a:t>
            </a:r>
            <a:endParaRPr lang="ar-SA" sz="6000" dirty="0"/>
          </a:p>
        </p:txBody>
      </p:sp>
      <p:sp>
        <p:nvSpPr>
          <p:cNvPr id="19" name="Text 17"/>
          <p:cNvSpPr/>
          <p:nvPr/>
        </p:nvSpPr>
        <p:spPr>
          <a:xfrm>
            <a:off x="822960" y="3840480"/>
            <a:ext cx="2834640" cy="457200"/>
          </a:xfrm>
          <a:prstGeom prst="rect">
            <a:avLst/>
          </a:prstGeom>
          <a:noFill/>
          <a:ln/>
        </p:spPr>
        <p:txBody>
          <a:bodyPr wrap="square" lIns="0" tIns="0" rIns="0" bIns="0" rtlCol="0" anchor="ctr">
            <a:normAutofit/>
          </a:bodyPr>
          <a:lstStyle/>
          <a:p>
            <a:pPr marL="0" indent="0" algn="ctr" rtl="1">
              <a:buNone/>
            </a:pPr>
            <a:r>
              <a:rPr lang="ar-SA" altLang="en-US" sz="1600" b="1" dirty="0">
                <a:solidFill>
                  <a:srgbClr val="C9CFE6"/>
                </a:solidFill>
                <a:latin typeface="Cairo" pitchFamily="34" charset="0"/>
                <a:ea typeface="Cairo" pitchFamily="34" charset="-122"/>
                <a:cs typeface="Cairo" pitchFamily="34" charset="-120"/>
              </a:rPr>
              <a:t>٥ دقائق</a:t>
            </a:r>
            <a:endParaRPr lang="ar-SA" sz="16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نجهّز عقل نبيه  ·  ٣٦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مهم جدًّا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كيف نطفئ نبيه بأمان؟</a:t>
            </a:r>
            <a:endParaRPr lang="ar-SA" sz="3800" dirty="0"/>
          </a:p>
        </p:txBody>
      </p:sp>
      <p:sp>
        <p:nvSpPr>
          <p:cNvPr id="5" name="anim-g1-271"/>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272"/>
          <p:cNvSpPr/>
          <p:nvPr/>
        </p:nvSpPr>
        <p:spPr>
          <a:xfrm>
            <a:off x="10527487" y="2267712"/>
            <a:ext cx="566928" cy="566928"/>
          </a:xfrm>
          <a:prstGeom prst="roundRect">
            <a:avLst>
              <a:gd name="adj" fmla="val 32258"/>
            </a:avLst>
          </a:prstGeom>
          <a:solidFill>
            <a:srgbClr val="F7E6BC"/>
          </a:solidFill>
          <a:ln/>
        </p:spPr>
      </p:sp>
      <p:sp>
        <p:nvSpPr>
          <p:cNvPr id="7" name="anim-g1-273"/>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274"/>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١. القائمة</a:t>
            </a:r>
            <a:endParaRPr lang="ar-SA" sz="2200" dirty="0"/>
          </a:p>
        </p:txBody>
      </p:sp>
      <p:sp>
        <p:nvSpPr>
          <p:cNvPr id="9" name="anim-g1-275"/>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زر التوتة ← Shutdown</a:t>
            </a:r>
            <a:endParaRPr lang="ar-SA" sz="1900" dirty="0"/>
          </a:p>
        </p:txBody>
      </p:sp>
      <p:sp>
        <p:nvSpPr>
          <p:cNvPr id="10" name="anim-g2-276"/>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277"/>
          <p:cNvSpPr/>
          <p:nvPr/>
        </p:nvSpPr>
        <p:spPr>
          <a:xfrm>
            <a:off x="6920789" y="2267712"/>
            <a:ext cx="566928" cy="566928"/>
          </a:xfrm>
          <a:prstGeom prst="roundRect">
            <a:avLst>
              <a:gd name="adj" fmla="val 32258"/>
            </a:avLst>
          </a:prstGeom>
          <a:solidFill>
            <a:srgbClr val="F7E6BC"/>
          </a:solidFill>
          <a:ln/>
        </p:spPr>
      </p:sp>
      <p:sp>
        <p:nvSpPr>
          <p:cNvPr id="12" name="anim-g2-278"/>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279"/>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٢. ننتظر</a:t>
            </a:r>
            <a:endParaRPr lang="ar-SA" sz="2200" dirty="0"/>
          </a:p>
        </p:txBody>
      </p:sp>
      <p:sp>
        <p:nvSpPr>
          <p:cNvPr id="14" name="anim-g2-280"/>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حتى يتوقف الضوء الأخضر عن الرمش</a:t>
            </a:r>
            <a:endParaRPr lang="ar-SA" sz="1900" dirty="0"/>
          </a:p>
        </p:txBody>
      </p:sp>
      <p:sp>
        <p:nvSpPr>
          <p:cNvPr id="15" name="anim-g3-281"/>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282"/>
          <p:cNvSpPr/>
          <p:nvPr/>
        </p:nvSpPr>
        <p:spPr>
          <a:xfrm>
            <a:off x="3314090" y="2267712"/>
            <a:ext cx="566928" cy="566928"/>
          </a:xfrm>
          <a:prstGeom prst="roundRect">
            <a:avLst>
              <a:gd name="adj" fmla="val 32258"/>
            </a:avLst>
          </a:prstGeom>
          <a:solidFill>
            <a:srgbClr val="F7E6BC"/>
          </a:solidFill>
          <a:ln/>
        </p:spPr>
      </p:sp>
      <p:sp>
        <p:nvSpPr>
          <p:cNvPr id="17" name="anim-g3-283"/>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284"/>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٣. ننزع الكهرباء</a:t>
            </a:r>
            <a:endParaRPr lang="ar-SA" sz="2200" dirty="0"/>
          </a:p>
        </p:txBody>
      </p:sp>
      <p:sp>
        <p:nvSpPr>
          <p:cNvPr id="19" name="anim-g3-285"/>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الآن فقط!</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نجهّز عقل نبيه  ·  ٣٧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ما آخر خطوة عند تركيب الراسبيري باي؟</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كرت الذاكرة</a:t>
            </a:r>
            <a:endParaRPr lang="ar-SA" sz="2500" dirty="0"/>
          </a:p>
        </p:txBody>
      </p:sp>
      <p:sp>
        <p:nvSpPr>
          <p:cNvPr id="9" name="anim-g1-286"/>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287"/>
          <p:cNvSpPr/>
          <p:nvPr/>
        </p:nvSpPr>
        <p:spPr>
          <a:xfrm>
            <a:off x="10231831" y="2194560"/>
            <a:ext cx="954024" cy="954024"/>
          </a:xfrm>
          <a:prstGeom prst="roundRect">
            <a:avLst>
              <a:gd name="adj" fmla="val 11502"/>
            </a:avLst>
          </a:prstGeom>
          <a:solidFill>
            <a:srgbClr val="A3A9BA"/>
          </a:solidFill>
          <a:ln/>
        </p:spPr>
      </p:sp>
      <p:sp>
        <p:nvSpPr>
          <p:cNvPr id="11" name="anim-g1-288"/>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289"/>
          <p:cNvSpPr/>
          <p:nvPr/>
        </p:nvSpPr>
        <p:spPr>
          <a:xfrm>
            <a:off x="1097280" y="2093976"/>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كرت الذاكرة</a:t>
            </a:r>
            <a:endParaRPr lang="ar-SA" sz="2400" dirty="0"/>
          </a:p>
        </p:txBody>
      </p:sp>
      <p:sp>
        <p:nvSpPr>
          <p:cNvPr id="13" name="anim-g1-290"/>
          <p:cNvSpPr/>
          <p:nvPr/>
        </p:nvSpPr>
        <p:spPr>
          <a:xfrm>
            <a:off x="1097280" y="2720706"/>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الكرت يدخل في البداية</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الشاشة</a:t>
            </a:r>
            <a:endParaRPr lang="ar-SA" sz="2500" dirty="0"/>
          </a:p>
        </p:txBody>
      </p:sp>
      <p:sp>
        <p:nvSpPr>
          <p:cNvPr id="18" name="anim-g1-291"/>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292"/>
          <p:cNvSpPr/>
          <p:nvPr/>
        </p:nvSpPr>
        <p:spPr>
          <a:xfrm>
            <a:off x="10231831" y="3569208"/>
            <a:ext cx="954024" cy="954024"/>
          </a:xfrm>
          <a:prstGeom prst="roundRect">
            <a:avLst>
              <a:gd name="adj" fmla="val 11502"/>
            </a:avLst>
          </a:prstGeom>
          <a:solidFill>
            <a:srgbClr val="A3A9BA"/>
          </a:solidFill>
          <a:ln/>
        </p:spPr>
      </p:sp>
      <p:sp>
        <p:nvSpPr>
          <p:cNvPr id="20" name="anim-g1-293"/>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294"/>
          <p:cNvSpPr/>
          <p:nvPr/>
        </p:nvSpPr>
        <p:spPr>
          <a:xfrm>
            <a:off x="1097280" y="3468624"/>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الشاشة</a:t>
            </a:r>
            <a:endParaRPr lang="ar-SA" sz="2400" dirty="0"/>
          </a:p>
        </p:txBody>
      </p:sp>
      <p:sp>
        <p:nvSpPr>
          <p:cNvPr id="22" name="anim-g1-295"/>
          <p:cNvSpPr/>
          <p:nvPr/>
        </p:nvSpPr>
        <p:spPr>
          <a:xfrm>
            <a:off x="1097280" y="4095354"/>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الشاشة قبل الكهرباء</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الكهرباء</a:t>
            </a:r>
            <a:endParaRPr lang="ar-SA" sz="2500" dirty="0"/>
          </a:p>
        </p:txBody>
      </p:sp>
      <p:sp>
        <p:nvSpPr>
          <p:cNvPr id="27" name="anim-g1-296"/>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297"/>
          <p:cNvSpPr/>
          <p:nvPr/>
        </p:nvSpPr>
        <p:spPr>
          <a:xfrm>
            <a:off x="10231831" y="4943856"/>
            <a:ext cx="954024" cy="954024"/>
          </a:xfrm>
          <a:prstGeom prst="roundRect">
            <a:avLst>
              <a:gd name="adj" fmla="val 11502"/>
            </a:avLst>
          </a:prstGeom>
          <a:solidFill>
            <a:srgbClr val="2E9E6B"/>
          </a:solidFill>
          <a:ln/>
        </p:spPr>
      </p:sp>
      <p:sp>
        <p:nvSpPr>
          <p:cNvPr id="29" name="anim-g1-298"/>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299"/>
          <p:cNvSpPr/>
          <p:nvPr/>
        </p:nvSpPr>
        <p:spPr>
          <a:xfrm>
            <a:off x="1097280" y="4843272"/>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131B34"/>
                </a:solidFill>
                <a:latin typeface="Cairo" pitchFamily="34" charset="0"/>
                <a:ea typeface="Cairo" pitchFamily="34" charset="-122"/>
                <a:cs typeface="Cairo" pitchFamily="34" charset="-120"/>
              </a:rPr>
              <a:t>الكهرباء</a:t>
            </a:r>
            <a:endParaRPr lang="ar-SA" sz="2400" dirty="0"/>
          </a:p>
        </p:txBody>
      </p:sp>
      <p:sp>
        <p:nvSpPr>
          <p:cNvPr id="31" name="anim-g1-300"/>
          <p:cNvSpPr/>
          <p:nvPr/>
        </p:nvSpPr>
        <p:spPr>
          <a:xfrm>
            <a:off x="1097280" y="5470002"/>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1D5E40"/>
                </a:solidFill>
                <a:latin typeface="Cairo" pitchFamily="34" charset="0"/>
                <a:ea typeface="Cairo" pitchFamily="34" charset="-122"/>
                <a:cs typeface="Cairo" pitchFamily="34" charset="-120"/>
              </a:rPr>
              <a:t>صحيح! الكهرباء آخر شيء دائمًا ⚡</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نجهّز عقل نبيه  ·  ٣٨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كتبنا: print("Hello")… ماذا سيظهر على الشاشة؟</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print("Hello")</a:t>
            </a:r>
            <a:endParaRPr lang="ar-SA" sz="2500" dirty="0"/>
          </a:p>
        </p:txBody>
      </p:sp>
      <p:sp>
        <p:nvSpPr>
          <p:cNvPr id="9" name="anim-g1-301"/>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302"/>
          <p:cNvSpPr/>
          <p:nvPr/>
        </p:nvSpPr>
        <p:spPr>
          <a:xfrm>
            <a:off x="10231831" y="2194560"/>
            <a:ext cx="954024" cy="954024"/>
          </a:xfrm>
          <a:prstGeom prst="roundRect">
            <a:avLst>
              <a:gd name="adj" fmla="val 11502"/>
            </a:avLst>
          </a:prstGeom>
          <a:solidFill>
            <a:srgbClr val="A3A9BA"/>
          </a:solidFill>
          <a:ln/>
        </p:spPr>
      </p:sp>
      <p:sp>
        <p:nvSpPr>
          <p:cNvPr id="11" name="anim-g1-303"/>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304"/>
          <p:cNvSpPr/>
          <p:nvPr/>
        </p:nvSpPr>
        <p:spPr>
          <a:xfrm>
            <a:off x="1097280" y="2093976"/>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print("Hello")</a:t>
            </a:r>
            <a:endParaRPr lang="ar-SA" sz="2400" dirty="0"/>
          </a:p>
        </p:txBody>
      </p:sp>
      <p:sp>
        <p:nvSpPr>
          <p:cNvPr id="13" name="anim-g1-305"/>
          <p:cNvSpPr/>
          <p:nvPr/>
        </p:nvSpPr>
        <p:spPr>
          <a:xfrm>
            <a:off x="1097280" y="2720706"/>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print أمر للـ Pi، لا يُكتب على الشاشة</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Hello</a:t>
            </a:r>
            <a:endParaRPr lang="ar-SA" sz="2500" dirty="0"/>
          </a:p>
        </p:txBody>
      </p:sp>
      <p:sp>
        <p:nvSpPr>
          <p:cNvPr id="18" name="anim-g1-306"/>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307"/>
          <p:cNvSpPr/>
          <p:nvPr/>
        </p:nvSpPr>
        <p:spPr>
          <a:xfrm>
            <a:off x="10231831" y="3569208"/>
            <a:ext cx="954024" cy="954024"/>
          </a:xfrm>
          <a:prstGeom prst="roundRect">
            <a:avLst>
              <a:gd name="adj" fmla="val 11502"/>
            </a:avLst>
          </a:prstGeom>
          <a:solidFill>
            <a:srgbClr val="2E9E6B"/>
          </a:solidFill>
          <a:ln/>
        </p:spPr>
      </p:sp>
      <p:sp>
        <p:nvSpPr>
          <p:cNvPr id="20" name="anim-g1-308"/>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309"/>
          <p:cNvSpPr/>
          <p:nvPr/>
        </p:nvSpPr>
        <p:spPr>
          <a:xfrm>
            <a:off x="1097280" y="3468624"/>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131B34"/>
                </a:solidFill>
                <a:latin typeface="Cairo" pitchFamily="34" charset="0"/>
                <a:ea typeface="Cairo" pitchFamily="34" charset="-122"/>
                <a:cs typeface="Cairo" pitchFamily="34" charset="-120"/>
              </a:rPr>
              <a:t>Hello</a:t>
            </a:r>
            <a:endParaRPr lang="ar-SA" sz="2400" dirty="0"/>
          </a:p>
        </p:txBody>
      </p:sp>
      <p:sp>
        <p:nvSpPr>
          <p:cNvPr id="22" name="anim-g1-310"/>
          <p:cNvSpPr/>
          <p:nvPr/>
        </p:nvSpPr>
        <p:spPr>
          <a:xfrm>
            <a:off x="1097280" y="4095354"/>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1D5E40"/>
                </a:solidFill>
                <a:latin typeface="Cairo" pitchFamily="34" charset="0"/>
                <a:ea typeface="Cairo" pitchFamily="34" charset="-122"/>
                <a:cs typeface="Cairo" pitchFamily="34" charset="-120"/>
              </a:rPr>
              <a:t>صحيح! يظهر الكلام الذي بين التنصيص فقط</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لا شيء</a:t>
            </a:r>
            <a:endParaRPr lang="ar-SA" sz="2500" dirty="0"/>
          </a:p>
        </p:txBody>
      </p:sp>
      <p:sp>
        <p:nvSpPr>
          <p:cNvPr id="27" name="anim-g1-311"/>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312"/>
          <p:cNvSpPr/>
          <p:nvPr/>
        </p:nvSpPr>
        <p:spPr>
          <a:xfrm>
            <a:off x="10231831" y="4943856"/>
            <a:ext cx="954024" cy="954024"/>
          </a:xfrm>
          <a:prstGeom prst="roundRect">
            <a:avLst>
              <a:gd name="adj" fmla="val 11502"/>
            </a:avLst>
          </a:prstGeom>
          <a:solidFill>
            <a:srgbClr val="A3A9BA"/>
          </a:solidFill>
          <a:ln/>
        </p:spPr>
      </p:sp>
      <p:sp>
        <p:nvSpPr>
          <p:cNvPr id="29" name="anim-g1-31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314"/>
          <p:cNvSpPr/>
          <p:nvPr/>
        </p:nvSpPr>
        <p:spPr>
          <a:xfrm>
            <a:off x="1097280" y="4843272"/>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لا شيء</a:t>
            </a:r>
            <a:endParaRPr lang="ar-SA" sz="2400" dirty="0"/>
          </a:p>
        </p:txBody>
      </p:sp>
      <p:sp>
        <p:nvSpPr>
          <p:cNvPr id="31" name="anim-g1-315"/>
          <p:cNvSpPr/>
          <p:nvPr/>
        </p:nvSpPr>
        <p:spPr>
          <a:xfrm>
            <a:off x="1097280" y="5470002"/>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بل سيظهر الكلام الذي بين التنصيص</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نجهّز عقل نبيه  ·  ٣٩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Users/mac/dev/younes-training/robot-pi/.pptx-cache/s40.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Users/mac/dev/younes-training/robot-pi/.pptx-cache/s4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marL="0" indent="0" algn="ctr" rtl="1">
              <a:buNone/>
            </a:pPr>
            <a:r>
              <a:rPr lang="ar-SA" altLang="en-US" sz="8000" dirty="0">
                <a:solidFill>
                  <a:srgbClr val="FFF3D6"/>
                </a:solidFill>
                <a:latin typeface="Cairo Black" pitchFamily="34" charset="0"/>
                <a:ea typeface="Cairo Black" pitchFamily="34" charset="-122"/>
                <a:cs typeface="Cairo Black" pitchFamily="34" charset="-120"/>
              </a:rPr>
              <a:t>نبيه استيقظ! 🎉</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في الوحدة القادمة: نتعلم لغة Python ونبرمج نبيه بالبطاقات 🐍</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C9CFE6"/>
                </a:solidFill>
                <a:latin typeface="Cairo" pitchFamily="34" charset="0"/>
                <a:ea typeface="Cairo" pitchFamily="34" charset="-122"/>
                <a:cs typeface="Cairo" pitchFamily="34" charset="-120"/>
              </a:rPr>
              <a:t>روبوتي الذكي · إعداد وتقديم: أ. محمد زيتون</a:t>
            </a:r>
            <a:endParaRPr lang="ar-SA"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marL="0" indent="0" algn="ctr" rtl="1">
              <a:buNone/>
            </a:pPr>
            <a:r>
              <a:rPr lang="ar-SA" altLang="en-US" sz="12000" dirty="0">
                <a:solidFill>
                  <a:srgbClr val="F0CC7A"/>
                </a:solidFill>
                <a:latin typeface="Cairo Black" pitchFamily="34" charset="0"/>
                <a:ea typeface="Cairo Black" pitchFamily="34" charset="-122"/>
                <a:cs typeface="Cairo Black" pitchFamily="34" charset="-120"/>
              </a:rPr>
              <a:t>٣</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marL="0" indent="0" algn="r" rtl="1">
              <a:buNone/>
            </a:pPr>
            <a:r>
              <a:rPr lang="ar-SA" altLang="en-US" sz="2000" b="1" dirty="0">
                <a:solidFill>
                  <a:srgbClr val="D9AE4B"/>
                </a:solidFill>
                <a:latin typeface="Cairo" pitchFamily="34" charset="0"/>
                <a:ea typeface="Cairo" pitchFamily="34" charset="-122"/>
                <a:cs typeface="Cairo" pitchFamily="34" charset="-120"/>
              </a:rPr>
              <a:t>الوحدة ٣</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marL="0" indent="0" algn="r" rtl="1">
              <a:buNone/>
            </a:pPr>
            <a:r>
              <a:rPr lang="ar-SA" altLang="en-US" sz="5600" dirty="0">
                <a:solidFill>
                  <a:srgbClr val="FFFFFF"/>
                </a:solidFill>
                <a:latin typeface="Cairo Black" pitchFamily="34" charset="0"/>
                <a:ea typeface="Cairo Black" pitchFamily="34" charset="-122"/>
                <a:cs typeface="Cairo Black" pitchFamily="34" charset="-120"/>
              </a:rPr>
              <a:t>نتعلم لغة Python</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marL="0" indent="0" algn="r" rtl="1">
              <a:buNone/>
            </a:pPr>
            <a:r>
              <a:rPr lang="ar-SA" altLang="en-US" sz="2200" b="1" dirty="0">
                <a:solidFill>
                  <a:srgbClr val="C9CFE6"/>
                </a:solidFill>
                <a:latin typeface="Cairo" pitchFamily="34" charset="0"/>
                <a:ea typeface="Cairo" pitchFamily="34" charset="-122"/>
                <a:cs typeface="Cairo" pitchFamily="34" charset="-120"/>
              </a:rPr>
              <a:t>اللغة التي سنكلّم بها نبيه 🐍</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نتعلم لغة Python  ·  ٤٣</a:t>
            </a:r>
            <a:endParaRPr lang="ar-SA"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مهمتي اليوم</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بنهاية هذه الوحدة سأعرف</a:t>
            </a:r>
            <a:endParaRPr lang="ar-SA" sz="3800" dirty="0"/>
          </a:p>
        </p:txBody>
      </p:sp>
      <p:sp>
        <p:nvSpPr>
          <p:cNvPr id="5" name="anim-g1-316"/>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317"/>
          <p:cNvSpPr/>
          <p:nvPr/>
        </p:nvSpPr>
        <p:spPr>
          <a:xfrm>
            <a:off x="10573207" y="2109978"/>
            <a:ext cx="566928" cy="566928"/>
          </a:xfrm>
          <a:prstGeom prst="ellipse">
            <a:avLst/>
          </a:prstGeom>
          <a:solidFill>
            <a:srgbClr val="D9AE4B"/>
          </a:solidFill>
          <a:ln/>
        </p:spPr>
      </p:sp>
      <p:sp>
        <p:nvSpPr>
          <p:cNvPr id="7" name="anim-g1-318"/>
          <p:cNvSpPr/>
          <p:nvPr/>
        </p:nvSpPr>
        <p:spPr>
          <a:xfrm>
            <a:off x="10573207" y="2109978"/>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319"/>
          <p:cNvSpPr/>
          <p:nvPr/>
        </p:nvSpPr>
        <p:spPr>
          <a:xfrm>
            <a:off x="1097280" y="1920240"/>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ما البرنامج؟ ولماذا الترتيب مهم</a:t>
            </a:r>
            <a:endParaRPr lang="ar-SA" sz="2400" dirty="0"/>
          </a:p>
        </p:txBody>
      </p:sp>
      <p:sp>
        <p:nvSpPr>
          <p:cNvPr id="9" name="anim-g2-320"/>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321"/>
          <p:cNvSpPr/>
          <p:nvPr/>
        </p:nvSpPr>
        <p:spPr>
          <a:xfrm>
            <a:off x="10573207" y="3166110"/>
            <a:ext cx="566928" cy="566928"/>
          </a:xfrm>
          <a:prstGeom prst="ellipse">
            <a:avLst/>
          </a:prstGeom>
          <a:solidFill>
            <a:srgbClr val="D9AE4B"/>
          </a:solidFill>
          <a:ln/>
        </p:spPr>
      </p:sp>
      <p:sp>
        <p:nvSpPr>
          <p:cNvPr id="11" name="anim-g2-322"/>
          <p:cNvSpPr/>
          <p:nvPr/>
        </p:nvSpPr>
        <p:spPr>
          <a:xfrm>
            <a:off x="10573207" y="3166110"/>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323"/>
          <p:cNvSpPr/>
          <p:nvPr/>
        </p:nvSpPr>
        <p:spPr>
          <a:xfrm>
            <a:off x="1097280" y="2976372"/>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أوامر نبيه: امشِ، ولف يمين، ولف يسار</a:t>
            </a:r>
            <a:endParaRPr lang="ar-SA" sz="2400" dirty="0"/>
          </a:p>
        </p:txBody>
      </p:sp>
      <p:sp>
        <p:nvSpPr>
          <p:cNvPr id="13" name="anim-g3-324"/>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325"/>
          <p:cNvSpPr/>
          <p:nvPr/>
        </p:nvSpPr>
        <p:spPr>
          <a:xfrm>
            <a:off x="10573207" y="4222242"/>
            <a:ext cx="566928" cy="566928"/>
          </a:xfrm>
          <a:prstGeom prst="ellipse">
            <a:avLst/>
          </a:prstGeom>
          <a:solidFill>
            <a:srgbClr val="D9AE4B"/>
          </a:solidFill>
          <a:ln/>
        </p:spPr>
      </p:sp>
      <p:sp>
        <p:nvSpPr>
          <p:cNvPr id="15" name="anim-g3-326"/>
          <p:cNvSpPr/>
          <p:nvPr/>
        </p:nvSpPr>
        <p:spPr>
          <a:xfrm>
            <a:off x="10573207" y="4222242"/>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327"/>
          <p:cNvSpPr/>
          <p:nvPr/>
        </p:nvSpPr>
        <p:spPr>
          <a:xfrm>
            <a:off x="1097280" y="4032504"/>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المتغير: صندوق له اسم</a:t>
            </a:r>
            <a:endParaRPr lang="ar-SA" sz="2400" dirty="0"/>
          </a:p>
        </p:txBody>
      </p:sp>
      <p:sp>
        <p:nvSpPr>
          <p:cNvPr id="17" name="anim-g4-328"/>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329"/>
          <p:cNvSpPr/>
          <p:nvPr/>
        </p:nvSpPr>
        <p:spPr>
          <a:xfrm>
            <a:off x="10573207" y="5278374"/>
            <a:ext cx="566928" cy="566928"/>
          </a:xfrm>
          <a:prstGeom prst="ellipse">
            <a:avLst/>
          </a:prstGeom>
          <a:solidFill>
            <a:srgbClr val="D9AE4B"/>
          </a:solidFill>
          <a:ln/>
        </p:spPr>
      </p:sp>
      <p:sp>
        <p:nvSpPr>
          <p:cNvPr id="19" name="anim-g4-330"/>
          <p:cNvSpPr/>
          <p:nvPr/>
        </p:nvSpPr>
        <p:spPr>
          <a:xfrm>
            <a:off x="10573207" y="5278374"/>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331"/>
          <p:cNvSpPr/>
          <p:nvPr/>
        </p:nvSpPr>
        <p:spPr>
          <a:xfrm>
            <a:off x="1097280" y="5088636"/>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التكرار والشرط: نبيه يكرر ويقرر</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نتعلم لغة Python  ·  ٤٤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ما البرنامج؟</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البرنامج خطوات صغيرة…</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ننفّذها بالترتيب</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نتعلم لغة Python  ·  ٤٥</a:t>
            </a:r>
            <a:endParaRPr lang="ar-SA"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394399" y="457200"/>
            <a:ext cx="497433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6394399" y="457200"/>
            <a:ext cx="4974336"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 نشاط بلا كمبيوتر — ٥ دقائق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F0CC7A"/>
                </a:solidFill>
                <a:latin typeface="Cairo Black" pitchFamily="34" charset="0"/>
                <a:ea typeface="Cairo Black" pitchFamily="34" charset="-122"/>
                <a:cs typeface="Cairo Black" pitchFamily="34" charset="-120"/>
              </a:rPr>
              <a:t>برمج زميلك!</a:t>
            </a:r>
            <a:endParaRPr lang="ar-SA" sz="3800" dirty="0"/>
          </a:p>
        </p:txBody>
      </p:sp>
      <p:sp>
        <p:nvSpPr>
          <p:cNvPr id="5" name="anim-g1-332"/>
          <p:cNvSpPr/>
          <p:nvPr/>
        </p:nvSpPr>
        <p:spPr>
          <a:xfrm>
            <a:off x="10637215" y="2286000"/>
            <a:ext cx="731520" cy="731520"/>
          </a:xfrm>
          <a:prstGeom prst="ellipse">
            <a:avLst/>
          </a:prstGeom>
          <a:solidFill>
            <a:srgbClr val="D9AE4B"/>
          </a:solidFill>
          <a:ln/>
        </p:spPr>
      </p:sp>
      <p:sp>
        <p:nvSpPr>
          <p:cNvPr id="6" name="anim-g1-333"/>
          <p:cNvSpPr/>
          <p:nvPr/>
        </p:nvSpPr>
        <p:spPr>
          <a:xfrm>
            <a:off x="10637215" y="228600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334"/>
          <p:cNvSpPr/>
          <p:nvPr/>
        </p:nvSpPr>
        <p:spPr>
          <a:xfrm>
            <a:off x="4023360" y="219456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طالب يكون «الروبوت»، ويقف في أول الفصل مغمض العينين</a:t>
            </a:r>
            <a:endParaRPr lang="ar-SA" sz="2200" dirty="0"/>
          </a:p>
        </p:txBody>
      </p:sp>
      <p:sp>
        <p:nvSpPr>
          <p:cNvPr id="8" name="anim-g2-335"/>
          <p:cNvSpPr/>
          <p:nvPr/>
        </p:nvSpPr>
        <p:spPr>
          <a:xfrm>
            <a:off x="10637215" y="3383280"/>
            <a:ext cx="731520" cy="731520"/>
          </a:xfrm>
          <a:prstGeom prst="ellipse">
            <a:avLst/>
          </a:prstGeom>
          <a:solidFill>
            <a:srgbClr val="D9AE4B"/>
          </a:solidFill>
          <a:ln/>
        </p:spPr>
      </p:sp>
      <p:sp>
        <p:nvSpPr>
          <p:cNvPr id="9" name="anim-g2-336"/>
          <p:cNvSpPr/>
          <p:nvPr/>
        </p:nvSpPr>
        <p:spPr>
          <a:xfrm>
            <a:off x="10637215" y="338328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337"/>
          <p:cNvSpPr/>
          <p:nvPr/>
        </p:nvSpPr>
        <p:spPr>
          <a:xfrm>
            <a:off x="4023360" y="329184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فريقه يعطيه أوامر فقط: «خطوة للأمام»، «لف يمين»، «لف يسار»</a:t>
            </a:r>
            <a:endParaRPr lang="ar-SA" sz="2200" dirty="0"/>
          </a:p>
        </p:txBody>
      </p:sp>
      <p:sp>
        <p:nvSpPr>
          <p:cNvPr id="11" name="anim-g3-338"/>
          <p:cNvSpPr/>
          <p:nvPr/>
        </p:nvSpPr>
        <p:spPr>
          <a:xfrm>
            <a:off x="10637215" y="4480560"/>
            <a:ext cx="731520" cy="731520"/>
          </a:xfrm>
          <a:prstGeom prst="ellipse">
            <a:avLst/>
          </a:prstGeom>
          <a:solidFill>
            <a:srgbClr val="D9AE4B"/>
          </a:solidFill>
          <a:ln/>
        </p:spPr>
      </p:sp>
      <p:sp>
        <p:nvSpPr>
          <p:cNvPr id="12" name="anim-g3-339"/>
          <p:cNvSpPr/>
          <p:nvPr/>
        </p:nvSpPr>
        <p:spPr>
          <a:xfrm>
            <a:off x="10637215" y="448056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340"/>
          <p:cNvSpPr/>
          <p:nvPr/>
        </p:nvSpPr>
        <p:spPr>
          <a:xfrm>
            <a:off x="4023360" y="438912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المهمة: يصل الروبوت إلى الكرسي دون أن يصطدم بشيء</a:t>
            </a:r>
            <a:endParaRPr lang="ar-SA" sz="2200" dirty="0"/>
          </a:p>
        </p:txBody>
      </p:sp>
      <p:sp>
        <p:nvSpPr>
          <p:cNvPr id="14" name="anim-g4-341"/>
          <p:cNvSpPr/>
          <p:nvPr/>
        </p:nvSpPr>
        <p:spPr>
          <a:xfrm>
            <a:off x="10637215" y="5577840"/>
            <a:ext cx="731520" cy="731520"/>
          </a:xfrm>
          <a:prstGeom prst="ellipse">
            <a:avLst/>
          </a:prstGeom>
          <a:solidFill>
            <a:srgbClr val="D9AE4B"/>
          </a:solidFill>
          <a:ln/>
        </p:spPr>
      </p:sp>
      <p:sp>
        <p:nvSpPr>
          <p:cNvPr id="15" name="anim-g4-342"/>
          <p:cNvSpPr/>
          <p:nvPr/>
        </p:nvSpPr>
        <p:spPr>
          <a:xfrm>
            <a:off x="10637215" y="557784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٤</a:t>
            </a:r>
            <a:endParaRPr lang="ar-SA" sz="2400" dirty="0"/>
          </a:p>
        </p:txBody>
      </p:sp>
      <p:sp>
        <p:nvSpPr>
          <p:cNvPr id="16" name="anim-g4-343"/>
          <p:cNvSpPr/>
          <p:nvPr/>
        </p:nvSpPr>
        <p:spPr>
          <a:xfrm>
            <a:off x="4023360" y="548640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الروبوت ينفّذ الأمر كما قيل بالضبط، حتى لو كان خطأ!</a:t>
            </a:r>
            <a:endParaRPr lang="ar-SA" sz="2200" dirty="0"/>
          </a:p>
        </p:txBody>
      </p:sp>
      <p:sp>
        <p:nvSpPr>
          <p:cNvPr id="17" name="Shape 15"/>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8" name="Text 16"/>
          <p:cNvSpPr/>
          <p:nvPr/>
        </p:nvSpPr>
        <p:spPr>
          <a:xfrm>
            <a:off x="822960" y="2834640"/>
            <a:ext cx="2834640" cy="1097280"/>
          </a:xfrm>
          <a:prstGeom prst="rect">
            <a:avLst/>
          </a:prstGeom>
          <a:noFill/>
          <a:ln/>
        </p:spPr>
        <p:txBody>
          <a:bodyPr wrap="square" lIns="0" tIns="0" rIns="0" bIns="0" rtlCol="0" anchor="ctr">
            <a:normAutofit/>
          </a:bodyPr>
          <a:lstStyle/>
          <a:p>
            <a:pPr marL="0" indent="0" algn="ctr">
              <a:buNone/>
            </a:pPr>
            <a:r>
              <a:rPr lang="ar-SA" altLang="en-US" sz="6000" dirty="0">
                <a:solidFill>
                  <a:srgbClr val="F0CC7A"/>
                </a:solidFill>
                <a:latin typeface="Cairo Black" pitchFamily="34" charset="0"/>
                <a:ea typeface="Cairo Black" pitchFamily="34" charset="-122"/>
                <a:cs typeface="Cairo Black" pitchFamily="34" charset="-120"/>
              </a:rPr>
              <a:t>5:00</a:t>
            </a:r>
            <a:endParaRPr lang="ar-SA" sz="6000" dirty="0"/>
          </a:p>
        </p:txBody>
      </p:sp>
      <p:sp>
        <p:nvSpPr>
          <p:cNvPr id="19" name="Text 17"/>
          <p:cNvSpPr/>
          <p:nvPr/>
        </p:nvSpPr>
        <p:spPr>
          <a:xfrm>
            <a:off x="822960" y="3840480"/>
            <a:ext cx="2834640" cy="457200"/>
          </a:xfrm>
          <a:prstGeom prst="rect">
            <a:avLst/>
          </a:prstGeom>
          <a:noFill/>
          <a:ln/>
        </p:spPr>
        <p:txBody>
          <a:bodyPr wrap="square" lIns="0" tIns="0" rIns="0" bIns="0" rtlCol="0" anchor="ctr">
            <a:normAutofit/>
          </a:bodyPr>
          <a:lstStyle/>
          <a:p>
            <a:pPr marL="0" indent="0" algn="ctr" rtl="1">
              <a:buNone/>
            </a:pPr>
            <a:r>
              <a:rPr lang="ar-SA" altLang="en-US" sz="1600" b="1" dirty="0">
                <a:solidFill>
                  <a:srgbClr val="C9CFE6"/>
                </a:solidFill>
                <a:latin typeface="Cairo" pitchFamily="34" charset="0"/>
                <a:ea typeface="Cairo" pitchFamily="34" charset="-122"/>
                <a:cs typeface="Cairo" pitchFamily="34" charset="-120"/>
              </a:rPr>
              <a:t>٥ دقائق</a:t>
            </a:r>
            <a:endParaRPr lang="ar-SA" sz="16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نتعلم لغة Python  ·  ٤٦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لماذا Python؟</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لغة سهلة… ويستعملها الكبار أيضًا</a:t>
            </a:r>
            <a:endParaRPr lang="ar-SA" sz="3800" dirty="0"/>
          </a:p>
        </p:txBody>
      </p:sp>
      <p:sp>
        <p:nvSpPr>
          <p:cNvPr id="5" name="anim-g1-344"/>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345"/>
          <p:cNvSpPr/>
          <p:nvPr/>
        </p:nvSpPr>
        <p:spPr>
          <a:xfrm>
            <a:off x="10527487" y="2267712"/>
            <a:ext cx="566928" cy="566928"/>
          </a:xfrm>
          <a:prstGeom prst="roundRect">
            <a:avLst>
              <a:gd name="adj" fmla="val 32258"/>
            </a:avLst>
          </a:prstGeom>
          <a:solidFill>
            <a:srgbClr val="F7E6BC"/>
          </a:solidFill>
          <a:ln/>
        </p:spPr>
      </p:sp>
      <p:sp>
        <p:nvSpPr>
          <p:cNvPr id="7" name="anim-g1-346"/>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347"/>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سهلة القراءة</a:t>
            </a:r>
            <a:endParaRPr lang="ar-SA" sz="2200" dirty="0"/>
          </a:p>
        </p:txBody>
      </p:sp>
      <p:sp>
        <p:nvSpPr>
          <p:cNvPr id="9" name="anim-g1-348"/>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كلماتها قريبة من الإنجليزي العادي</a:t>
            </a:r>
            <a:endParaRPr lang="ar-SA" sz="1900" dirty="0"/>
          </a:p>
        </p:txBody>
      </p:sp>
      <p:sp>
        <p:nvSpPr>
          <p:cNvPr id="10" name="anim-g2-349"/>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350"/>
          <p:cNvSpPr/>
          <p:nvPr/>
        </p:nvSpPr>
        <p:spPr>
          <a:xfrm>
            <a:off x="6920789" y="2267712"/>
            <a:ext cx="566928" cy="566928"/>
          </a:xfrm>
          <a:prstGeom prst="roundRect">
            <a:avLst>
              <a:gd name="adj" fmla="val 32258"/>
            </a:avLst>
          </a:prstGeom>
          <a:solidFill>
            <a:srgbClr val="F7E6BC"/>
          </a:solidFill>
          <a:ln/>
        </p:spPr>
      </p:sp>
      <p:sp>
        <p:nvSpPr>
          <p:cNvPr id="12" name="anim-g2-351"/>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352"/>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لغة الذكاء الاصطناعي</a:t>
            </a:r>
            <a:endParaRPr lang="ar-SA" sz="2200" dirty="0"/>
          </a:p>
        </p:txBody>
      </p:sp>
      <p:sp>
        <p:nvSpPr>
          <p:cNvPr id="14" name="anim-g2-353"/>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أشهر لغة في عالم الذكاء الاصطناعي</a:t>
            </a:r>
            <a:endParaRPr lang="ar-SA" sz="1900" dirty="0"/>
          </a:p>
        </p:txBody>
      </p:sp>
      <p:sp>
        <p:nvSpPr>
          <p:cNvPr id="15" name="anim-g3-354"/>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355"/>
          <p:cNvSpPr/>
          <p:nvPr/>
        </p:nvSpPr>
        <p:spPr>
          <a:xfrm>
            <a:off x="3314090" y="2267712"/>
            <a:ext cx="566928" cy="566928"/>
          </a:xfrm>
          <a:prstGeom prst="roundRect">
            <a:avLst>
              <a:gd name="adj" fmla="val 32258"/>
            </a:avLst>
          </a:prstGeom>
          <a:solidFill>
            <a:srgbClr val="F7E6BC"/>
          </a:solidFill>
          <a:ln/>
        </p:spPr>
      </p:sp>
      <p:sp>
        <p:nvSpPr>
          <p:cNvPr id="17" name="anim-g3-356"/>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357"/>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صديقة الـ Pi</a:t>
            </a:r>
            <a:endParaRPr lang="ar-SA" sz="2200" dirty="0"/>
          </a:p>
        </p:txBody>
      </p:sp>
      <p:sp>
        <p:nvSpPr>
          <p:cNvPr id="19" name="anim-g3-358"/>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ومنها أخذ الـ Pi اسمه، كما عرفنا</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نتعلم لغة Python  ·  ٤٧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Users/mac/dev/younes-training/robot-pi/.pptx-cache/s4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Users/mac/dev/younes-training/robot-pi/.pptx-cache/s4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Image 0" descr="/Users/mac/dev/younes-training/robot-pi/.pptx-cache/s50.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Users/mac/dev/younes-training/robot-pi/.pptx-cache/s51-0.jpg"/>
          <p:cNvPicPr>
            <a:picLocks noChangeAspect="1"/>
          </p:cNvPicPr>
          <p:nvPr/>
        </p:nvPicPr>
        <p:blipFill>
          <a:blip r:embed="rId3"/>
          <a:stretch>
            <a:fillRect/>
          </a:stretch>
        </p:blipFill>
        <p:spPr>
          <a:xfrm>
            <a:off x="0" y="0"/>
            <a:ext cx="12191695" cy="6858000"/>
          </a:xfrm>
          <a:prstGeom prst="rect">
            <a:avLst/>
          </a:prstGeom>
        </p:spPr>
      </p:pic>
      <p:pic>
        <p:nvPicPr>
          <p:cNvPr id="3" name="anim-g1-359" descr="/Users/mac/dev/younes-training/robot-pi/.pptx-cache/s51-1.jpg"/>
          <p:cNvPicPr>
            <a:picLocks noChangeAspect="1"/>
          </p:cNvPicPr>
          <p:nvPr/>
        </p:nvPicPr>
        <p:blipFill>
          <a:blip r:embed="rId4"/>
          <a:stretch>
            <a:fillRect/>
          </a:stretch>
        </p:blipFill>
        <p:spPr>
          <a:xfrm>
            <a:off x="0" y="0"/>
            <a:ext cx="12191695" cy="6858000"/>
          </a:xfrm>
          <a:prstGeom prst="rect">
            <a:avLst/>
          </a:prstGeom>
        </p:spPr>
      </p:pic>
      <p:pic>
        <p:nvPicPr>
          <p:cNvPr id="4" name="anim-g2-360" descr="/Users/mac/dev/younes-training/robot-pi/.pptx-cache/s51-2.jpg"/>
          <p:cNvPicPr>
            <a:picLocks noChangeAspect="1"/>
          </p:cNvPicPr>
          <p:nvPr/>
        </p:nvPicPr>
        <p:blipFill>
          <a:blip r:embed="rId5"/>
          <a:stretch>
            <a:fillRect/>
          </a:stretch>
        </p:blipFill>
        <p:spPr>
          <a:xfrm>
            <a:off x="0" y="0"/>
            <a:ext cx="12191695" cy="6858000"/>
          </a:xfrm>
          <a:prstGeom prst="rect">
            <a:avLst/>
          </a:prstGeom>
        </p:spPr>
      </p:pic>
      <p:pic>
        <p:nvPicPr>
          <p:cNvPr id="5" name="anim-g3-361" descr="/Users/mac/dev/younes-training/robot-pi/.pptx-cache/s51-3.jpg"/>
          <p:cNvPicPr>
            <a:picLocks noChangeAspect="1"/>
          </p:cNvPicPr>
          <p:nvPr/>
        </p:nvPicPr>
        <p:blipFill>
          <a:blip r:embed="rId6"/>
          <a:stretch>
            <a:fillRect/>
          </a:stretch>
        </p:blipFill>
        <p:spPr>
          <a:xfrm>
            <a:off x="0" y="0"/>
            <a:ext cx="12191695" cy="6858000"/>
          </a:xfrm>
          <a:prstGeom prst="rect">
            <a:avLst/>
          </a:prstGeom>
        </p:spPr>
      </p:pic>
      <p:pic>
        <p:nvPicPr>
          <p:cNvPr id="6" name="anim-g4-362" descr="/Users/mac/dev/younes-training/robot-pi/.pptx-cache/s51-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أي أمر يجعل نبيه يلف يسارًا؟</a:t>
            </a:r>
            <a:endParaRPr lang="ar-SA" sz="38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nabeeh.forward()</a:t>
            </a:r>
            <a:endParaRPr lang="ar-SA" sz="2500" dirty="0"/>
          </a:p>
        </p:txBody>
      </p:sp>
      <p:sp>
        <p:nvSpPr>
          <p:cNvPr id="9" name="anim-g1-363"/>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364"/>
          <p:cNvSpPr/>
          <p:nvPr/>
        </p:nvSpPr>
        <p:spPr>
          <a:xfrm>
            <a:off x="10231831" y="2194560"/>
            <a:ext cx="954024" cy="954024"/>
          </a:xfrm>
          <a:prstGeom prst="roundRect">
            <a:avLst>
              <a:gd name="adj" fmla="val 11502"/>
            </a:avLst>
          </a:prstGeom>
          <a:solidFill>
            <a:srgbClr val="A3A9BA"/>
          </a:solidFill>
          <a:ln/>
        </p:spPr>
      </p:sp>
      <p:sp>
        <p:nvSpPr>
          <p:cNvPr id="11" name="anim-g1-36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366"/>
          <p:cNvSpPr/>
          <p:nvPr/>
        </p:nvSpPr>
        <p:spPr>
          <a:xfrm>
            <a:off x="1097280" y="2093976"/>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nabeeh.forward()</a:t>
            </a:r>
            <a:endParaRPr lang="ar-SA" sz="2400" dirty="0"/>
          </a:p>
        </p:txBody>
      </p:sp>
      <p:sp>
        <p:nvSpPr>
          <p:cNvPr id="13" name="anim-g1-367"/>
          <p:cNvSpPr/>
          <p:nvPr/>
        </p:nvSpPr>
        <p:spPr>
          <a:xfrm>
            <a:off x="1097280" y="2720706"/>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هذا يجعله يمشي للأمام</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nabeeh.right()</a:t>
            </a:r>
            <a:endParaRPr lang="ar-SA" sz="2500" dirty="0"/>
          </a:p>
        </p:txBody>
      </p:sp>
      <p:sp>
        <p:nvSpPr>
          <p:cNvPr id="18" name="anim-g1-368"/>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369"/>
          <p:cNvSpPr/>
          <p:nvPr/>
        </p:nvSpPr>
        <p:spPr>
          <a:xfrm>
            <a:off x="10231831" y="3569208"/>
            <a:ext cx="954024" cy="954024"/>
          </a:xfrm>
          <a:prstGeom prst="roundRect">
            <a:avLst>
              <a:gd name="adj" fmla="val 11502"/>
            </a:avLst>
          </a:prstGeom>
          <a:solidFill>
            <a:srgbClr val="A3A9BA"/>
          </a:solidFill>
          <a:ln/>
        </p:spPr>
      </p:sp>
      <p:sp>
        <p:nvSpPr>
          <p:cNvPr id="20" name="anim-g1-370"/>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371"/>
          <p:cNvSpPr/>
          <p:nvPr/>
        </p:nvSpPr>
        <p:spPr>
          <a:xfrm>
            <a:off x="1097280" y="3468624"/>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nabeeh.right()</a:t>
            </a:r>
            <a:endParaRPr lang="ar-SA" sz="2400" dirty="0"/>
          </a:p>
        </p:txBody>
      </p:sp>
      <p:sp>
        <p:nvSpPr>
          <p:cNvPr id="22" name="anim-g1-372"/>
          <p:cNvSpPr/>
          <p:nvPr/>
        </p:nvSpPr>
        <p:spPr>
          <a:xfrm>
            <a:off x="1097280" y="4095354"/>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هذا يلف يمينًا</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nabeeh.left()</a:t>
            </a:r>
            <a:endParaRPr lang="ar-SA" sz="2500" dirty="0"/>
          </a:p>
        </p:txBody>
      </p:sp>
      <p:sp>
        <p:nvSpPr>
          <p:cNvPr id="27" name="anim-g1-373"/>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374"/>
          <p:cNvSpPr/>
          <p:nvPr/>
        </p:nvSpPr>
        <p:spPr>
          <a:xfrm>
            <a:off x="10231831" y="4943856"/>
            <a:ext cx="954024" cy="954024"/>
          </a:xfrm>
          <a:prstGeom prst="roundRect">
            <a:avLst>
              <a:gd name="adj" fmla="val 11502"/>
            </a:avLst>
          </a:prstGeom>
          <a:solidFill>
            <a:srgbClr val="2E9E6B"/>
          </a:solidFill>
          <a:ln/>
        </p:spPr>
      </p:sp>
      <p:sp>
        <p:nvSpPr>
          <p:cNvPr id="29" name="anim-g1-375"/>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376"/>
          <p:cNvSpPr/>
          <p:nvPr/>
        </p:nvSpPr>
        <p:spPr>
          <a:xfrm>
            <a:off x="1097280" y="4843272"/>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131B34"/>
                </a:solidFill>
                <a:latin typeface="Cairo" pitchFamily="34" charset="0"/>
                <a:ea typeface="Cairo" pitchFamily="34" charset="-122"/>
                <a:cs typeface="Cairo" pitchFamily="34" charset="-120"/>
              </a:rPr>
              <a:t>nabeeh.left()</a:t>
            </a:r>
            <a:endParaRPr lang="ar-SA" sz="2400" dirty="0"/>
          </a:p>
        </p:txBody>
      </p:sp>
      <p:sp>
        <p:nvSpPr>
          <p:cNvPr id="31" name="anim-g1-377"/>
          <p:cNvSpPr/>
          <p:nvPr/>
        </p:nvSpPr>
        <p:spPr>
          <a:xfrm>
            <a:off x="1097280" y="5470002"/>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1D5E40"/>
                </a:solidFill>
                <a:latin typeface="Cairo" pitchFamily="34" charset="0"/>
                <a:ea typeface="Cairo" pitchFamily="34" charset="-122"/>
                <a:cs typeface="Cairo" pitchFamily="34" charset="-120"/>
              </a:rPr>
              <a:t>صحيح! left = يسار ↩️</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نتعلم لغة Python  ·  ٥٢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218024" y="1188720"/>
            <a:ext cx="175564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5218024" y="1188720"/>
            <a:ext cx="175564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المتغير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المتغير صندوق له اسم…</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نحفظ فيه شيئًا لنستعمله بعدين</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نتعلم لغة Python  ·  ٥٣</a:t>
            </a:r>
            <a:endParaRPr lang="ar-SA"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Image 0" descr="/Users/mac/dev/younes-training/robot-pi/.pptx-cache/s5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218024" y="1188720"/>
            <a:ext cx="175564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5218024" y="1188720"/>
            <a:ext cx="175564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التكرار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بدل أن نكتب الأمر عشر مرات…</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نقول: كرّر</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نتعلم لغة Python  ·  ٥٥</a:t>
            </a:r>
            <a:endParaRPr lang="ar-SA"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Image 0" descr="/Users/mac/dev/younes-training/robot-pi/.pptx-cache/s5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Image 0" descr="/Users/mac/dev/younes-training/robot-pi/.pptx-cache/s57-0.jpg"/>
          <p:cNvPicPr>
            <a:picLocks noChangeAspect="1"/>
          </p:cNvPicPr>
          <p:nvPr/>
        </p:nvPicPr>
        <p:blipFill>
          <a:blip r:embed="rId3"/>
          <a:stretch>
            <a:fillRect/>
          </a:stretch>
        </p:blipFill>
        <p:spPr>
          <a:xfrm>
            <a:off x="0" y="0"/>
            <a:ext cx="12191695" cy="6858000"/>
          </a:xfrm>
          <a:prstGeom prst="rect">
            <a:avLst/>
          </a:prstGeom>
        </p:spPr>
      </p:pic>
      <p:pic>
        <p:nvPicPr>
          <p:cNvPr id="3" name="anim-g1-378" descr="/Users/mac/dev/younes-training/robot-pi/.pptx-cache/s57-1.jpg"/>
          <p:cNvPicPr>
            <a:picLocks noChangeAspect="1"/>
          </p:cNvPicPr>
          <p:nvPr/>
        </p:nvPicPr>
        <p:blipFill>
          <a:blip r:embed="rId4"/>
          <a:stretch>
            <a:fillRect/>
          </a:stretch>
        </p:blipFill>
        <p:spPr>
          <a:xfrm>
            <a:off x="0" y="0"/>
            <a:ext cx="12191695" cy="6858000"/>
          </a:xfrm>
          <a:prstGeom prst="rect">
            <a:avLst/>
          </a:prstGeom>
        </p:spPr>
      </p:pic>
      <p:pic>
        <p:nvPicPr>
          <p:cNvPr id="4" name="anim-g2-379" descr="/Users/mac/dev/younes-training/robot-pi/.pptx-cache/s57-2.jpg"/>
          <p:cNvPicPr>
            <a:picLocks noChangeAspect="1"/>
          </p:cNvPicPr>
          <p:nvPr/>
        </p:nvPicPr>
        <p:blipFill>
          <a:blip r:embed="rId5"/>
          <a:stretch>
            <a:fillRect/>
          </a:stretch>
        </p:blipFill>
        <p:spPr>
          <a:xfrm>
            <a:off x="0" y="0"/>
            <a:ext cx="12191695" cy="6858000"/>
          </a:xfrm>
          <a:prstGeom prst="rect">
            <a:avLst/>
          </a:prstGeom>
        </p:spPr>
      </p:pic>
      <p:pic>
        <p:nvPicPr>
          <p:cNvPr id="5" name="anim-g3-380" descr="/Users/mac/dev/younes-training/robot-pi/.pptx-cache/s57-3.jpg"/>
          <p:cNvPicPr>
            <a:picLocks noChangeAspect="1"/>
          </p:cNvPicPr>
          <p:nvPr/>
        </p:nvPicPr>
        <p:blipFill>
          <a:blip r:embed="rId6"/>
          <a:stretch>
            <a:fillRect/>
          </a:stretch>
        </p:blipFill>
        <p:spPr>
          <a:xfrm>
            <a:off x="0" y="0"/>
            <a:ext cx="12191695" cy="6858000"/>
          </a:xfrm>
          <a:prstGeom prst="rect">
            <a:avLst/>
          </a:prstGeom>
        </p:spPr>
      </p:pic>
      <p:pic>
        <p:nvPicPr>
          <p:cNvPr id="6" name="anim-g4-381" descr="/Users/mac/dev/younes-training/robot-pi/.pptx-cache/s57-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364328" y="1188720"/>
            <a:ext cx="146304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5364328" y="1188720"/>
            <a:ext cx="146304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الشرط</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إذا رأيت جدارًا…</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توقف. وإلّا… امشِ</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نتعلم لغة Python  ·  ٥٨</a:t>
            </a:r>
            <a:endParaRPr lang="ar-SA"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Image 0" descr="/Users/mac/dev/younes-training/robot-pi/.pptx-cache/s5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139135" y="457200"/>
            <a:ext cx="8229600" cy="457200"/>
          </a:xfrm>
          <a:prstGeom prst="roundRect">
            <a:avLst>
              <a:gd name="adj" fmla="val 50000"/>
            </a:avLst>
          </a:prstGeom>
          <a:solidFill>
            <a:srgbClr val="F6EBCF"/>
          </a:solidFill>
          <a:ln/>
        </p:spPr>
      </p:sp>
      <p:sp>
        <p:nvSpPr>
          <p:cNvPr id="3" name="Text 1"/>
          <p:cNvSpPr/>
          <p:nvPr/>
        </p:nvSpPr>
        <p:spPr>
          <a:xfrm>
            <a:off x="3139135" y="457200"/>
            <a:ext cx="822960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اختبر نفسك · &lt;span dir="ltr" class="nb-kcode"&gt;for i in range(4): nabeeh.forward()&lt;/span&gt;</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كم مرة سيمشي نبيه في هذا البرنامج؟</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مرة واحدة</a:t>
            </a:r>
            <a:endParaRPr lang="ar-SA" sz="2500" dirty="0"/>
          </a:p>
        </p:txBody>
      </p:sp>
      <p:sp>
        <p:nvSpPr>
          <p:cNvPr id="9" name="anim-g1-382"/>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383"/>
          <p:cNvSpPr/>
          <p:nvPr/>
        </p:nvSpPr>
        <p:spPr>
          <a:xfrm>
            <a:off x="10231831" y="2194560"/>
            <a:ext cx="954024" cy="954024"/>
          </a:xfrm>
          <a:prstGeom prst="roundRect">
            <a:avLst>
              <a:gd name="adj" fmla="val 11502"/>
            </a:avLst>
          </a:prstGeom>
          <a:solidFill>
            <a:srgbClr val="A3A9BA"/>
          </a:solidFill>
          <a:ln/>
        </p:spPr>
      </p:sp>
      <p:sp>
        <p:nvSpPr>
          <p:cNvPr id="11" name="anim-g1-384"/>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385"/>
          <p:cNvSpPr/>
          <p:nvPr/>
        </p:nvSpPr>
        <p:spPr>
          <a:xfrm>
            <a:off x="1097280" y="2093976"/>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مرة واحدة</a:t>
            </a:r>
            <a:endParaRPr lang="ar-SA" sz="2400" dirty="0"/>
          </a:p>
        </p:txBody>
      </p:sp>
      <p:sp>
        <p:nvSpPr>
          <p:cNvPr id="13" name="anim-g1-386"/>
          <p:cNvSpPr/>
          <p:nvPr/>
        </p:nvSpPr>
        <p:spPr>
          <a:xfrm>
            <a:off x="1097280" y="2720706"/>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الأمر داخل التكرار، فيتكرر</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٤ مرات</a:t>
            </a:r>
            <a:endParaRPr lang="ar-SA" sz="2500" dirty="0"/>
          </a:p>
        </p:txBody>
      </p:sp>
      <p:sp>
        <p:nvSpPr>
          <p:cNvPr id="18" name="anim-g1-387"/>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388"/>
          <p:cNvSpPr/>
          <p:nvPr/>
        </p:nvSpPr>
        <p:spPr>
          <a:xfrm>
            <a:off x="10231831" y="3569208"/>
            <a:ext cx="954024" cy="954024"/>
          </a:xfrm>
          <a:prstGeom prst="roundRect">
            <a:avLst>
              <a:gd name="adj" fmla="val 11502"/>
            </a:avLst>
          </a:prstGeom>
          <a:solidFill>
            <a:srgbClr val="2E9E6B"/>
          </a:solidFill>
          <a:ln/>
        </p:spPr>
      </p:sp>
      <p:sp>
        <p:nvSpPr>
          <p:cNvPr id="20" name="anim-g1-389"/>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390"/>
          <p:cNvSpPr/>
          <p:nvPr/>
        </p:nvSpPr>
        <p:spPr>
          <a:xfrm>
            <a:off x="1097280" y="3468624"/>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131B34"/>
                </a:solidFill>
                <a:latin typeface="Cairo" pitchFamily="34" charset="0"/>
                <a:ea typeface="Cairo" pitchFamily="34" charset="-122"/>
                <a:cs typeface="Cairo" pitchFamily="34" charset="-120"/>
              </a:rPr>
              <a:t>٤ مرات</a:t>
            </a:r>
            <a:endParaRPr lang="ar-SA" sz="2400" dirty="0"/>
          </a:p>
        </p:txBody>
      </p:sp>
      <p:sp>
        <p:nvSpPr>
          <p:cNvPr id="22" name="anim-g1-391"/>
          <p:cNvSpPr/>
          <p:nvPr/>
        </p:nvSpPr>
        <p:spPr>
          <a:xfrm>
            <a:off x="1097280" y="4095354"/>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1D5E40"/>
                </a:solidFill>
                <a:latin typeface="Cairo" pitchFamily="34" charset="0"/>
                <a:ea typeface="Cairo" pitchFamily="34" charset="-122"/>
                <a:cs typeface="Cairo" pitchFamily="34" charset="-120"/>
              </a:rPr>
              <a:t>صحيح! range(4) معناها كرّر ٤ مرات 🔁</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٥ مرات</a:t>
            </a:r>
            <a:endParaRPr lang="ar-SA" sz="2500" dirty="0"/>
          </a:p>
        </p:txBody>
      </p:sp>
      <p:sp>
        <p:nvSpPr>
          <p:cNvPr id="27" name="anim-g1-392"/>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393"/>
          <p:cNvSpPr/>
          <p:nvPr/>
        </p:nvSpPr>
        <p:spPr>
          <a:xfrm>
            <a:off x="10231831" y="4943856"/>
            <a:ext cx="954024" cy="954024"/>
          </a:xfrm>
          <a:prstGeom prst="roundRect">
            <a:avLst>
              <a:gd name="adj" fmla="val 11502"/>
            </a:avLst>
          </a:prstGeom>
          <a:solidFill>
            <a:srgbClr val="A3A9BA"/>
          </a:solidFill>
          <a:ln/>
        </p:spPr>
      </p:sp>
      <p:sp>
        <p:nvSpPr>
          <p:cNvPr id="29" name="anim-g1-394"/>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395"/>
          <p:cNvSpPr/>
          <p:nvPr/>
        </p:nvSpPr>
        <p:spPr>
          <a:xfrm>
            <a:off x="1097280" y="4843272"/>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٥ مرات</a:t>
            </a:r>
            <a:endParaRPr lang="ar-SA" sz="2400" dirty="0"/>
          </a:p>
        </p:txBody>
      </p:sp>
      <p:sp>
        <p:nvSpPr>
          <p:cNvPr id="31" name="anim-g1-396"/>
          <p:cNvSpPr/>
          <p:nvPr/>
        </p:nvSpPr>
        <p:spPr>
          <a:xfrm>
            <a:off x="1097280" y="5470002"/>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range(4) تكرر ٤ مرات فقط</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نتعلم لغة Python  ·  ٦٠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الجدار على بعد ٥٠ سم، والحد ٢٠ سم. ماذا يفعل نبيه؟</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يمشي، لأن ٥٠ ليست أقل من ٢٠</a:t>
            </a:r>
            <a:endParaRPr lang="ar-SA" sz="2500" dirty="0"/>
          </a:p>
        </p:txBody>
      </p:sp>
      <p:sp>
        <p:nvSpPr>
          <p:cNvPr id="9" name="anim-g1-397"/>
          <p:cNvSpPr/>
          <p:nvPr/>
        </p:nvSpPr>
        <p:spPr>
          <a:xfrm>
            <a:off x="822960" y="2057400"/>
            <a:ext cx="10545775" cy="1228344"/>
          </a:xfrm>
          <a:prstGeom prst="roundRect">
            <a:avLst>
              <a:gd name="adj" fmla="val 11911"/>
            </a:avLst>
          </a:prstGeom>
          <a:solidFill>
            <a:srgbClr val="E6F4EC"/>
          </a:solidFill>
          <a:ln w="31750">
            <a:solidFill>
              <a:srgbClr val="2E9E6B"/>
            </a:solidFill>
            <a:prstDash val="solid"/>
          </a:ln>
        </p:spPr>
      </p:sp>
      <p:sp>
        <p:nvSpPr>
          <p:cNvPr id="10" name="anim-g1-398"/>
          <p:cNvSpPr/>
          <p:nvPr/>
        </p:nvSpPr>
        <p:spPr>
          <a:xfrm>
            <a:off x="10231831" y="2194560"/>
            <a:ext cx="954024" cy="954024"/>
          </a:xfrm>
          <a:prstGeom prst="roundRect">
            <a:avLst>
              <a:gd name="adj" fmla="val 11502"/>
            </a:avLst>
          </a:prstGeom>
          <a:solidFill>
            <a:srgbClr val="2E9E6B"/>
          </a:solidFill>
          <a:ln/>
        </p:spPr>
      </p:sp>
      <p:sp>
        <p:nvSpPr>
          <p:cNvPr id="11" name="anim-g1-399"/>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12" name="anim-g1-400"/>
          <p:cNvSpPr/>
          <p:nvPr/>
        </p:nvSpPr>
        <p:spPr>
          <a:xfrm>
            <a:off x="1097280" y="2093976"/>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131B34"/>
                </a:solidFill>
                <a:latin typeface="Cairo" pitchFamily="34" charset="0"/>
                <a:ea typeface="Cairo" pitchFamily="34" charset="-122"/>
                <a:cs typeface="Cairo" pitchFamily="34" charset="-120"/>
              </a:rPr>
              <a:t>يمشي، لأن ٥٠ ليست أقل من ٢٠</a:t>
            </a:r>
            <a:endParaRPr lang="ar-SA" sz="2400" dirty="0"/>
          </a:p>
        </p:txBody>
      </p:sp>
      <p:sp>
        <p:nvSpPr>
          <p:cNvPr id="13" name="anim-g1-401"/>
          <p:cNvSpPr/>
          <p:nvPr/>
        </p:nvSpPr>
        <p:spPr>
          <a:xfrm>
            <a:off x="1097280" y="2720706"/>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1D5E40"/>
                </a:solidFill>
                <a:latin typeface="Cairo" pitchFamily="34" charset="0"/>
                <a:ea typeface="Cairo" pitchFamily="34" charset="-122"/>
                <a:cs typeface="Cairo" pitchFamily="34" charset="-120"/>
              </a:rPr>
              <a:t>صحيح! الشرط خطأ، فيذهب إلى else ويمشي 🚗</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يتوقف</a:t>
            </a:r>
            <a:endParaRPr lang="ar-SA" sz="2500" dirty="0"/>
          </a:p>
        </p:txBody>
      </p:sp>
      <p:sp>
        <p:nvSpPr>
          <p:cNvPr id="18" name="anim-g1-402"/>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403"/>
          <p:cNvSpPr/>
          <p:nvPr/>
        </p:nvSpPr>
        <p:spPr>
          <a:xfrm>
            <a:off x="10231831" y="3569208"/>
            <a:ext cx="954024" cy="954024"/>
          </a:xfrm>
          <a:prstGeom prst="roundRect">
            <a:avLst>
              <a:gd name="adj" fmla="val 11502"/>
            </a:avLst>
          </a:prstGeom>
          <a:solidFill>
            <a:srgbClr val="A3A9BA"/>
          </a:solidFill>
          <a:ln/>
        </p:spPr>
      </p:sp>
      <p:sp>
        <p:nvSpPr>
          <p:cNvPr id="20" name="anim-g1-40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405"/>
          <p:cNvSpPr/>
          <p:nvPr/>
        </p:nvSpPr>
        <p:spPr>
          <a:xfrm>
            <a:off x="1097280" y="3468624"/>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يتوقف</a:t>
            </a:r>
            <a:endParaRPr lang="ar-SA" sz="2400" dirty="0"/>
          </a:p>
        </p:txBody>
      </p:sp>
      <p:sp>
        <p:nvSpPr>
          <p:cNvPr id="22" name="anim-g1-406"/>
          <p:cNvSpPr/>
          <p:nvPr/>
        </p:nvSpPr>
        <p:spPr>
          <a:xfrm>
            <a:off x="1097280" y="4095354"/>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يتوقف فقط إذا كانت المسافة أقل من ٢٠</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يلف يمين</a:t>
            </a:r>
            <a:endParaRPr lang="ar-SA" sz="2500" dirty="0"/>
          </a:p>
        </p:txBody>
      </p:sp>
      <p:sp>
        <p:nvSpPr>
          <p:cNvPr id="27" name="anim-g1-407"/>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408"/>
          <p:cNvSpPr/>
          <p:nvPr/>
        </p:nvSpPr>
        <p:spPr>
          <a:xfrm>
            <a:off x="10231831" y="4943856"/>
            <a:ext cx="954024" cy="954024"/>
          </a:xfrm>
          <a:prstGeom prst="roundRect">
            <a:avLst>
              <a:gd name="adj" fmla="val 11502"/>
            </a:avLst>
          </a:prstGeom>
          <a:solidFill>
            <a:srgbClr val="A3A9BA"/>
          </a:solidFill>
          <a:ln/>
        </p:spPr>
      </p:sp>
      <p:sp>
        <p:nvSpPr>
          <p:cNvPr id="29" name="anim-g1-409"/>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410"/>
          <p:cNvSpPr/>
          <p:nvPr/>
        </p:nvSpPr>
        <p:spPr>
          <a:xfrm>
            <a:off x="1097280" y="4843272"/>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يلف يمين</a:t>
            </a:r>
            <a:endParaRPr lang="ar-SA" sz="2400" dirty="0"/>
          </a:p>
        </p:txBody>
      </p:sp>
      <p:sp>
        <p:nvSpPr>
          <p:cNvPr id="31" name="anim-g1-411"/>
          <p:cNvSpPr/>
          <p:nvPr/>
        </p:nvSpPr>
        <p:spPr>
          <a:xfrm>
            <a:off x="1097280" y="5470002"/>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لم نكتب أمر لف في البرنامج</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نتعلم لغة Python  ·  ٦١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Image 0" descr="/Users/mac/dev/younes-training/robot-pi/.pptx-cache/s6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979615" y="457200"/>
            <a:ext cx="438912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6979615" y="457200"/>
            <a:ext cx="438912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 تحدّي الفرق — ١٠ دقائق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F0CC7A"/>
                </a:solidFill>
                <a:latin typeface="Cairo Black" pitchFamily="34" charset="0"/>
                <a:ea typeface="Cairo Black" pitchFamily="34" charset="-122"/>
                <a:cs typeface="Cairo Black" pitchFamily="34" charset="-120"/>
              </a:rPr>
              <a:t>صمّم متاهة لفريق آخر</a:t>
            </a:r>
            <a:endParaRPr lang="ar-SA" sz="3800" dirty="0"/>
          </a:p>
        </p:txBody>
      </p:sp>
      <p:sp>
        <p:nvSpPr>
          <p:cNvPr id="5" name="anim-g1-412"/>
          <p:cNvSpPr/>
          <p:nvPr/>
        </p:nvSpPr>
        <p:spPr>
          <a:xfrm>
            <a:off x="10637215" y="2286000"/>
            <a:ext cx="731520" cy="731520"/>
          </a:xfrm>
          <a:prstGeom prst="ellipse">
            <a:avLst/>
          </a:prstGeom>
          <a:solidFill>
            <a:srgbClr val="D9AE4B"/>
          </a:solidFill>
          <a:ln/>
        </p:spPr>
      </p:sp>
      <p:sp>
        <p:nvSpPr>
          <p:cNvPr id="6" name="anim-g1-413"/>
          <p:cNvSpPr/>
          <p:nvPr/>
        </p:nvSpPr>
        <p:spPr>
          <a:xfrm>
            <a:off x="10637215" y="228600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414"/>
          <p:cNvSpPr/>
          <p:nvPr/>
        </p:nvSpPr>
        <p:spPr>
          <a:xfrm>
            <a:off x="4023360" y="219456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ارسموا شبكة ٥×٥ على ورقة، وضعوا فيها نبيه ونجمة وجدرانًا</a:t>
            </a:r>
            <a:endParaRPr lang="ar-SA" sz="2200" dirty="0"/>
          </a:p>
        </p:txBody>
      </p:sp>
      <p:sp>
        <p:nvSpPr>
          <p:cNvPr id="8" name="anim-g2-415"/>
          <p:cNvSpPr/>
          <p:nvPr/>
        </p:nvSpPr>
        <p:spPr>
          <a:xfrm>
            <a:off x="10637215" y="3383280"/>
            <a:ext cx="731520" cy="731520"/>
          </a:xfrm>
          <a:prstGeom prst="ellipse">
            <a:avLst/>
          </a:prstGeom>
          <a:solidFill>
            <a:srgbClr val="D9AE4B"/>
          </a:solidFill>
          <a:ln/>
        </p:spPr>
      </p:sp>
      <p:sp>
        <p:nvSpPr>
          <p:cNvPr id="9" name="anim-g2-416"/>
          <p:cNvSpPr/>
          <p:nvPr/>
        </p:nvSpPr>
        <p:spPr>
          <a:xfrm>
            <a:off x="10637215" y="338328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417"/>
          <p:cNvSpPr/>
          <p:nvPr/>
        </p:nvSpPr>
        <p:spPr>
          <a:xfrm>
            <a:off x="4023360" y="329184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بادلوا الورقة مع فريق آخر</a:t>
            </a:r>
            <a:endParaRPr lang="ar-SA" sz="2200" dirty="0"/>
          </a:p>
        </p:txBody>
      </p:sp>
      <p:sp>
        <p:nvSpPr>
          <p:cNvPr id="11" name="anim-g3-418"/>
          <p:cNvSpPr/>
          <p:nvPr/>
        </p:nvSpPr>
        <p:spPr>
          <a:xfrm>
            <a:off x="10637215" y="4480560"/>
            <a:ext cx="731520" cy="731520"/>
          </a:xfrm>
          <a:prstGeom prst="ellipse">
            <a:avLst/>
          </a:prstGeom>
          <a:solidFill>
            <a:srgbClr val="D9AE4B"/>
          </a:solidFill>
          <a:ln/>
        </p:spPr>
      </p:sp>
      <p:sp>
        <p:nvSpPr>
          <p:cNvPr id="12" name="anim-g3-419"/>
          <p:cNvSpPr/>
          <p:nvPr/>
        </p:nvSpPr>
        <p:spPr>
          <a:xfrm>
            <a:off x="10637215" y="448056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420"/>
          <p:cNvSpPr/>
          <p:nvPr/>
        </p:nvSpPr>
        <p:spPr>
          <a:xfrm>
            <a:off x="4023360" y="438912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الفريق الآخر يكتب برنامج Python يوصل نبيه إلى النجمة</a:t>
            </a:r>
            <a:endParaRPr lang="ar-SA" sz="2200" dirty="0"/>
          </a:p>
        </p:txBody>
      </p:sp>
      <p:sp>
        <p:nvSpPr>
          <p:cNvPr id="14" name="anim-g4-421"/>
          <p:cNvSpPr/>
          <p:nvPr/>
        </p:nvSpPr>
        <p:spPr>
          <a:xfrm>
            <a:off x="10637215" y="5577840"/>
            <a:ext cx="731520" cy="731520"/>
          </a:xfrm>
          <a:prstGeom prst="ellipse">
            <a:avLst/>
          </a:prstGeom>
          <a:solidFill>
            <a:srgbClr val="D9AE4B"/>
          </a:solidFill>
          <a:ln/>
        </p:spPr>
      </p:sp>
      <p:sp>
        <p:nvSpPr>
          <p:cNvPr id="15" name="anim-g4-422"/>
          <p:cNvSpPr/>
          <p:nvPr/>
        </p:nvSpPr>
        <p:spPr>
          <a:xfrm>
            <a:off x="10637215" y="557784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٤</a:t>
            </a:r>
            <a:endParaRPr lang="ar-SA" sz="2400" dirty="0"/>
          </a:p>
        </p:txBody>
      </p:sp>
      <p:sp>
        <p:nvSpPr>
          <p:cNvPr id="16" name="anim-g4-423"/>
          <p:cNvSpPr/>
          <p:nvPr/>
        </p:nvSpPr>
        <p:spPr>
          <a:xfrm>
            <a:off x="4023360" y="548640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أصحاب المتاهة يتأكدون: هل وصل نبيه؟ أين الخطأ؟</a:t>
            </a:r>
            <a:endParaRPr lang="ar-SA" sz="2200" dirty="0"/>
          </a:p>
        </p:txBody>
      </p:sp>
      <p:sp>
        <p:nvSpPr>
          <p:cNvPr id="17" name="Shape 15"/>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8" name="Text 16"/>
          <p:cNvSpPr/>
          <p:nvPr/>
        </p:nvSpPr>
        <p:spPr>
          <a:xfrm>
            <a:off x="822960" y="2834640"/>
            <a:ext cx="2834640" cy="1097280"/>
          </a:xfrm>
          <a:prstGeom prst="rect">
            <a:avLst/>
          </a:prstGeom>
          <a:noFill/>
          <a:ln/>
        </p:spPr>
        <p:txBody>
          <a:bodyPr wrap="square" lIns="0" tIns="0" rIns="0" bIns="0" rtlCol="0" anchor="ctr">
            <a:normAutofit/>
          </a:bodyPr>
          <a:lstStyle/>
          <a:p>
            <a:pPr marL="0" indent="0" algn="ctr">
              <a:buNone/>
            </a:pPr>
            <a:r>
              <a:rPr lang="ar-SA" altLang="en-US" sz="6000" dirty="0">
                <a:solidFill>
                  <a:srgbClr val="F0CC7A"/>
                </a:solidFill>
                <a:latin typeface="Cairo Black" pitchFamily="34" charset="0"/>
                <a:ea typeface="Cairo Black" pitchFamily="34" charset="-122"/>
                <a:cs typeface="Cairo Black" pitchFamily="34" charset="-120"/>
              </a:rPr>
              <a:t>10:00</a:t>
            </a:r>
            <a:endParaRPr lang="ar-SA" sz="6000" dirty="0"/>
          </a:p>
        </p:txBody>
      </p:sp>
      <p:sp>
        <p:nvSpPr>
          <p:cNvPr id="19" name="Text 17"/>
          <p:cNvSpPr/>
          <p:nvPr/>
        </p:nvSpPr>
        <p:spPr>
          <a:xfrm>
            <a:off x="822960" y="3840480"/>
            <a:ext cx="2834640" cy="457200"/>
          </a:xfrm>
          <a:prstGeom prst="rect">
            <a:avLst/>
          </a:prstGeom>
          <a:noFill/>
          <a:ln/>
        </p:spPr>
        <p:txBody>
          <a:bodyPr wrap="square" lIns="0" tIns="0" rIns="0" bIns="0" rtlCol="0" anchor="ctr">
            <a:normAutofit/>
          </a:bodyPr>
          <a:lstStyle/>
          <a:p>
            <a:pPr marL="0" indent="0" algn="ctr" rtl="1">
              <a:buNone/>
            </a:pPr>
            <a:r>
              <a:rPr lang="ar-SA" altLang="en-US" sz="1600" b="1" dirty="0">
                <a:solidFill>
                  <a:srgbClr val="C9CFE6"/>
                </a:solidFill>
                <a:latin typeface="Cairo" pitchFamily="34" charset="0"/>
                <a:ea typeface="Cairo" pitchFamily="34" charset="-122"/>
                <a:cs typeface="Cairo" pitchFamily="34" charset="-120"/>
              </a:rPr>
              <a:t>١٠ دقائق</a:t>
            </a:r>
            <a:endParaRPr lang="ar-SA" sz="16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نتعلم لغة Python  ·  ٦٣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Image 0" descr="/Users/mac/dev/younes-training/robot-pi/.pptx-cache/s6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marL="0" indent="0" algn="ctr" rtl="1">
              <a:buNone/>
            </a:pPr>
            <a:r>
              <a:rPr lang="ar-SA" altLang="en-US" sz="8000" dirty="0">
                <a:solidFill>
                  <a:srgbClr val="FFF3D6"/>
                </a:solidFill>
                <a:latin typeface="Cairo Black" pitchFamily="34" charset="0"/>
                <a:ea typeface="Cairo Black" pitchFamily="34" charset="-122"/>
                <a:cs typeface="Cairo Black" pitchFamily="34" charset="-120"/>
              </a:rPr>
              <a:t>صرتم مبرمجين! 🐍</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في الوحدة القادمة: نوصل أول ضوء بالراسبيري باي ونضغط أول زر 💡</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C9CFE6"/>
                </a:solidFill>
                <a:latin typeface="Cairo" pitchFamily="34" charset="0"/>
                <a:ea typeface="Cairo" pitchFamily="34" charset="-122"/>
                <a:cs typeface="Cairo" pitchFamily="34" charset="-120"/>
              </a:rPr>
              <a:t>روبوتي الذكي · إعداد وتقديم: أ. محمد زيتون</a:t>
            </a:r>
            <a:endParaRPr lang="ar-SA" sz="18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marL="0" indent="0" algn="ctr" rtl="1">
              <a:buNone/>
            </a:pPr>
            <a:r>
              <a:rPr lang="ar-SA" altLang="en-US" sz="12000" dirty="0">
                <a:solidFill>
                  <a:srgbClr val="F0CC7A"/>
                </a:solidFill>
                <a:latin typeface="Cairo Black" pitchFamily="34" charset="0"/>
                <a:ea typeface="Cairo Black" pitchFamily="34" charset="-122"/>
                <a:cs typeface="Cairo Black" pitchFamily="34" charset="-120"/>
              </a:rPr>
              <a:t>٤</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marL="0" indent="0" algn="r" rtl="1">
              <a:buNone/>
            </a:pPr>
            <a:r>
              <a:rPr lang="ar-SA" altLang="en-US" sz="2000" b="1" dirty="0">
                <a:solidFill>
                  <a:srgbClr val="D9AE4B"/>
                </a:solidFill>
                <a:latin typeface="Cairo" pitchFamily="34" charset="0"/>
                <a:ea typeface="Cairo" pitchFamily="34" charset="-122"/>
                <a:cs typeface="Cairo" pitchFamily="34" charset="-120"/>
              </a:rPr>
              <a:t>الوحدة ٤</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marL="0" indent="0" algn="r" rtl="1">
              <a:buNone/>
            </a:pPr>
            <a:r>
              <a:rPr lang="ar-SA" altLang="en-US" sz="5600" dirty="0">
                <a:solidFill>
                  <a:srgbClr val="FFFFFF"/>
                </a:solidFill>
                <a:latin typeface="Cairo Black" pitchFamily="34" charset="0"/>
                <a:ea typeface="Cairo Black" pitchFamily="34" charset="-122"/>
                <a:cs typeface="Cairo Black" pitchFamily="34" charset="-120"/>
              </a:rPr>
              <a:t>ليد وزر</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marL="0" indent="0" algn="r" rtl="1">
              <a:buNone/>
            </a:pPr>
            <a:r>
              <a:rPr lang="ar-SA" altLang="en-US" sz="2200" b="1" dirty="0">
                <a:solidFill>
                  <a:srgbClr val="C9CFE6"/>
                </a:solidFill>
                <a:latin typeface="Cairo" pitchFamily="34" charset="0"/>
                <a:ea typeface="Cairo" pitchFamily="34" charset="-122"/>
                <a:cs typeface="Cairo" pitchFamily="34" charset="-120"/>
              </a:rPr>
              <a:t>أول مرة يمدّ عقل نبيه يديه إلى العالم الحقيقي 💡</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ليد وزر  ·  ٦٦</a:t>
            </a:r>
            <a:endParaRPr lang="ar-SA" sz="12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مهمتي اليوم</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بنهاية هذه الوحدة سأستطيع أن</a:t>
            </a:r>
            <a:endParaRPr lang="ar-SA" sz="3800" dirty="0"/>
          </a:p>
        </p:txBody>
      </p:sp>
      <p:sp>
        <p:nvSpPr>
          <p:cNvPr id="5" name="anim-g1-424"/>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425"/>
          <p:cNvSpPr/>
          <p:nvPr/>
        </p:nvSpPr>
        <p:spPr>
          <a:xfrm>
            <a:off x="10573207" y="2109978"/>
            <a:ext cx="566928" cy="566928"/>
          </a:xfrm>
          <a:prstGeom prst="ellipse">
            <a:avLst/>
          </a:prstGeom>
          <a:solidFill>
            <a:srgbClr val="D9AE4B"/>
          </a:solidFill>
          <a:ln/>
        </p:spPr>
      </p:sp>
      <p:sp>
        <p:nvSpPr>
          <p:cNvPr id="7" name="anim-g1-426"/>
          <p:cNvSpPr/>
          <p:nvPr/>
        </p:nvSpPr>
        <p:spPr>
          <a:xfrm>
            <a:off x="10573207" y="2109978"/>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427"/>
          <p:cNvSpPr/>
          <p:nvPr/>
        </p:nvSpPr>
        <p:spPr>
          <a:xfrm>
            <a:off x="1097280" y="1920240"/>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أعرف أنواع دبابيس الـ Pi الأربعين</a:t>
            </a:r>
            <a:endParaRPr lang="ar-SA" sz="2400" dirty="0"/>
          </a:p>
        </p:txBody>
      </p:sp>
      <p:sp>
        <p:nvSpPr>
          <p:cNvPr id="9" name="anim-g2-428"/>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429"/>
          <p:cNvSpPr/>
          <p:nvPr/>
        </p:nvSpPr>
        <p:spPr>
          <a:xfrm>
            <a:off x="10573207" y="3166110"/>
            <a:ext cx="566928" cy="566928"/>
          </a:xfrm>
          <a:prstGeom prst="ellipse">
            <a:avLst/>
          </a:prstGeom>
          <a:solidFill>
            <a:srgbClr val="D9AE4B"/>
          </a:solidFill>
          <a:ln/>
        </p:spPr>
      </p:sp>
      <p:sp>
        <p:nvSpPr>
          <p:cNvPr id="11" name="anim-g2-430"/>
          <p:cNvSpPr/>
          <p:nvPr/>
        </p:nvSpPr>
        <p:spPr>
          <a:xfrm>
            <a:off x="10573207" y="3166110"/>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431"/>
          <p:cNvSpPr/>
          <p:nvPr/>
        </p:nvSpPr>
        <p:spPr>
          <a:xfrm>
            <a:off x="1097280" y="2976372"/>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أوصّل ليدًا بالطريقة الصحيحة والآمنة</a:t>
            </a:r>
            <a:endParaRPr lang="ar-SA" sz="2400" dirty="0"/>
          </a:p>
        </p:txBody>
      </p:sp>
      <p:sp>
        <p:nvSpPr>
          <p:cNvPr id="13" name="anim-g3-432"/>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433"/>
          <p:cNvSpPr/>
          <p:nvPr/>
        </p:nvSpPr>
        <p:spPr>
          <a:xfrm>
            <a:off x="10573207" y="4222242"/>
            <a:ext cx="566928" cy="566928"/>
          </a:xfrm>
          <a:prstGeom prst="ellipse">
            <a:avLst/>
          </a:prstGeom>
          <a:solidFill>
            <a:srgbClr val="D9AE4B"/>
          </a:solidFill>
          <a:ln/>
        </p:spPr>
      </p:sp>
      <p:sp>
        <p:nvSpPr>
          <p:cNvPr id="15" name="anim-g3-434"/>
          <p:cNvSpPr/>
          <p:nvPr/>
        </p:nvSpPr>
        <p:spPr>
          <a:xfrm>
            <a:off x="10573207" y="4222242"/>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435"/>
          <p:cNvSpPr/>
          <p:nvPr/>
        </p:nvSpPr>
        <p:spPr>
          <a:xfrm>
            <a:off x="1097280" y="4032504"/>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أجعل الليد يومض ببرنامج Python</a:t>
            </a:r>
            <a:endParaRPr lang="ar-SA" sz="2400" dirty="0"/>
          </a:p>
        </p:txBody>
      </p:sp>
      <p:sp>
        <p:nvSpPr>
          <p:cNvPr id="17" name="anim-g4-436"/>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437"/>
          <p:cNvSpPr/>
          <p:nvPr/>
        </p:nvSpPr>
        <p:spPr>
          <a:xfrm>
            <a:off x="10573207" y="5278374"/>
            <a:ext cx="566928" cy="566928"/>
          </a:xfrm>
          <a:prstGeom prst="ellipse">
            <a:avLst/>
          </a:prstGeom>
          <a:solidFill>
            <a:srgbClr val="D9AE4B"/>
          </a:solidFill>
          <a:ln/>
        </p:spPr>
      </p:sp>
      <p:sp>
        <p:nvSpPr>
          <p:cNvPr id="19" name="anim-g4-438"/>
          <p:cNvSpPr/>
          <p:nvPr/>
        </p:nvSpPr>
        <p:spPr>
          <a:xfrm>
            <a:off x="10573207" y="5278374"/>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439"/>
          <p:cNvSpPr/>
          <p:nvPr/>
        </p:nvSpPr>
        <p:spPr>
          <a:xfrm>
            <a:off x="1097280" y="5088636"/>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أقرأ الزر: حين أضغطه يضيء الليد</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ليد وزر  ·  ٦٧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364328" y="1188720"/>
            <a:ext cx="146304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5364328" y="1188720"/>
            <a:ext cx="146304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تذكّر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دبابيس GPIO…</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هي يدا عقل نبيه</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ليد وزر  ·  ٦٨</a:t>
            </a:r>
            <a:endParaRPr lang="ar-SA" sz="12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Users/mac/dev/younes-training/robot-pi/.pptx-cache/s6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150047" y="457200"/>
            <a:ext cx="3218688" cy="457200"/>
          </a:xfrm>
          <a:prstGeom prst="roundRect">
            <a:avLst>
              <a:gd name="adj" fmla="val 50000"/>
            </a:avLst>
          </a:prstGeom>
          <a:solidFill>
            <a:srgbClr val="F6EBCF"/>
          </a:solidFill>
          <a:ln/>
        </p:spPr>
      </p:sp>
      <p:sp>
        <p:nvSpPr>
          <p:cNvPr id="3" name="Text 1"/>
          <p:cNvSpPr/>
          <p:nvPr/>
        </p:nvSpPr>
        <p:spPr>
          <a:xfrm>
            <a:off x="8150047" y="457200"/>
            <a:ext cx="321868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نوعان من العمل</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الدبوس يُخرج… أو يقرأ</a:t>
            </a:r>
            <a:endParaRPr lang="ar-SA" sz="3800" dirty="0"/>
          </a:p>
        </p:txBody>
      </p:sp>
      <p:sp>
        <p:nvSpPr>
          <p:cNvPr id="5" name="anim-g1-440"/>
          <p:cNvSpPr/>
          <p:nvPr/>
        </p:nvSpPr>
        <p:spPr>
          <a:xfrm>
            <a:off x="6233008" y="2011680"/>
            <a:ext cx="5135728" cy="4023360"/>
          </a:xfrm>
          <a:prstGeom prst="roundRect">
            <a:avLst>
              <a:gd name="adj" fmla="val 4091"/>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441"/>
          <p:cNvSpPr/>
          <p:nvPr/>
        </p:nvSpPr>
        <p:spPr>
          <a:xfrm>
            <a:off x="10527487" y="2267712"/>
            <a:ext cx="566928" cy="566928"/>
          </a:xfrm>
          <a:prstGeom prst="roundRect">
            <a:avLst>
              <a:gd name="adj" fmla="val 32258"/>
            </a:avLst>
          </a:prstGeom>
          <a:solidFill>
            <a:srgbClr val="F7E6BC"/>
          </a:solidFill>
          <a:ln/>
        </p:spPr>
      </p:sp>
      <p:sp>
        <p:nvSpPr>
          <p:cNvPr id="7" name="anim-g1-442"/>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443"/>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مخرج (Output)</a:t>
            </a:r>
            <a:endParaRPr lang="ar-SA" sz="2200" dirty="0"/>
          </a:p>
        </p:txBody>
      </p:sp>
      <p:sp>
        <p:nvSpPr>
          <p:cNvPr id="9" name="anim-g1-444"/>
          <p:cNvSpPr/>
          <p:nvPr/>
        </p:nvSpPr>
        <p:spPr>
          <a:xfrm>
            <a:off x="6507328" y="3493008"/>
            <a:ext cx="458708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الـ Pi يرسل كهرباء ليشغّل شيئًا: الليد، والمحرك، والصفارة</a:t>
            </a:r>
            <a:endParaRPr lang="ar-SA" sz="1900" dirty="0"/>
          </a:p>
        </p:txBody>
      </p:sp>
      <p:sp>
        <p:nvSpPr>
          <p:cNvPr id="10" name="anim-g2-445"/>
          <p:cNvSpPr/>
          <p:nvPr/>
        </p:nvSpPr>
        <p:spPr>
          <a:xfrm>
            <a:off x="822960" y="2011680"/>
            <a:ext cx="5135728" cy="4023360"/>
          </a:xfrm>
          <a:prstGeom prst="roundRect">
            <a:avLst>
              <a:gd name="adj" fmla="val 4091"/>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446"/>
          <p:cNvSpPr/>
          <p:nvPr/>
        </p:nvSpPr>
        <p:spPr>
          <a:xfrm>
            <a:off x="5117440" y="2267712"/>
            <a:ext cx="566928" cy="566928"/>
          </a:xfrm>
          <a:prstGeom prst="roundRect">
            <a:avLst>
              <a:gd name="adj" fmla="val 32258"/>
            </a:avLst>
          </a:prstGeom>
          <a:solidFill>
            <a:srgbClr val="F7E6BC"/>
          </a:solidFill>
          <a:ln/>
        </p:spPr>
      </p:sp>
      <p:sp>
        <p:nvSpPr>
          <p:cNvPr id="12" name="anim-g2-447"/>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448"/>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مدخل (Input)</a:t>
            </a:r>
            <a:endParaRPr lang="ar-SA" sz="2200" dirty="0"/>
          </a:p>
        </p:txBody>
      </p:sp>
      <p:sp>
        <p:nvSpPr>
          <p:cNvPr id="14" name="anim-g2-449"/>
          <p:cNvSpPr/>
          <p:nvPr/>
        </p:nvSpPr>
        <p:spPr>
          <a:xfrm>
            <a:off x="1097280" y="3493008"/>
            <a:ext cx="458708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الـ Pi يقرأ ما يحدث: هل الزر مضغوط؟ كم المسافة؟</a:t>
            </a:r>
            <a:endParaRPr lang="ar-SA" sz="1900" dirty="0"/>
          </a:p>
        </p:txBody>
      </p:sp>
      <p:sp>
        <p:nvSpPr>
          <p:cNvPr id="15" name="Text 1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16" name="Text 1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ليد وزر  ·  ٧٠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name="Slide 7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418527" y="457200"/>
            <a:ext cx="3950208" cy="457200"/>
          </a:xfrm>
          <a:prstGeom prst="roundRect">
            <a:avLst>
              <a:gd name="adj" fmla="val 50000"/>
            </a:avLst>
          </a:prstGeom>
          <a:solidFill>
            <a:srgbClr val="F6EBCF"/>
          </a:solidFill>
          <a:ln/>
        </p:spPr>
      </p:sp>
      <p:sp>
        <p:nvSpPr>
          <p:cNvPr id="3" name="Text 1"/>
          <p:cNvSpPr/>
          <p:nvPr/>
        </p:nvSpPr>
        <p:spPr>
          <a:xfrm>
            <a:off x="7418527" y="457200"/>
            <a:ext cx="395020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قاعدة الأمان الأولى</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دبابيس GPIO تتحمل ٣٫٣ فولت فقط</a:t>
            </a:r>
            <a:endParaRPr lang="ar-SA" sz="3800" dirty="0"/>
          </a:p>
        </p:txBody>
      </p:sp>
      <p:sp>
        <p:nvSpPr>
          <p:cNvPr id="5" name="anim-g1-450"/>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451"/>
          <p:cNvSpPr/>
          <p:nvPr/>
        </p:nvSpPr>
        <p:spPr>
          <a:xfrm>
            <a:off x="10527487" y="2267712"/>
            <a:ext cx="566928" cy="566928"/>
          </a:xfrm>
          <a:prstGeom prst="roundRect">
            <a:avLst>
              <a:gd name="adj" fmla="val 32258"/>
            </a:avLst>
          </a:prstGeom>
          <a:solidFill>
            <a:srgbClr val="F7E6BC"/>
          </a:solidFill>
          <a:ln/>
        </p:spPr>
      </p:sp>
      <p:sp>
        <p:nvSpPr>
          <p:cNvPr id="7" name="anim-g1-452"/>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453"/>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لا 5V في GPIO</a:t>
            </a:r>
            <a:endParaRPr lang="ar-SA" sz="2200" dirty="0"/>
          </a:p>
        </p:txBody>
      </p:sp>
      <p:sp>
        <p:nvSpPr>
          <p:cNvPr id="9" name="anim-g1-454"/>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لو دخلت ٥ فولت إلى دبوس GPIO قد يحترق الـ Pi كله</a:t>
            </a:r>
            <a:endParaRPr lang="ar-SA" sz="1900" dirty="0"/>
          </a:p>
        </p:txBody>
      </p:sp>
      <p:sp>
        <p:nvSpPr>
          <p:cNvPr id="10" name="anim-g2-455"/>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456"/>
          <p:cNvSpPr/>
          <p:nvPr/>
        </p:nvSpPr>
        <p:spPr>
          <a:xfrm>
            <a:off x="6920789" y="2267712"/>
            <a:ext cx="566928" cy="566928"/>
          </a:xfrm>
          <a:prstGeom prst="roundRect">
            <a:avLst>
              <a:gd name="adj" fmla="val 32258"/>
            </a:avLst>
          </a:prstGeom>
          <a:solidFill>
            <a:srgbClr val="F7E6BC"/>
          </a:solidFill>
          <a:ln/>
        </p:spPr>
      </p:sp>
      <p:sp>
        <p:nvSpPr>
          <p:cNvPr id="12" name="anim-g2-457"/>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458"/>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أطفئ قبل التوصيل</a:t>
            </a:r>
            <a:endParaRPr lang="ar-SA" sz="2200" dirty="0"/>
          </a:p>
        </p:txBody>
      </p:sp>
      <p:sp>
        <p:nvSpPr>
          <p:cNvPr id="14" name="anim-g2-459"/>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نوصّل الأسلاك والجهاز مطفأ، ثم نتحقق، ثم نشغّل</a:t>
            </a:r>
            <a:endParaRPr lang="ar-SA" sz="1900" dirty="0"/>
          </a:p>
        </p:txBody>
      </p:sp>
      <p:sp>
        <p:nvSpPr>
          <p:cNvPr id="15" name="anim-g3-460"/>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461"/>
          <p:cNvSpPr/>
          <p:nvPr/>
        </p:nvSpPr>
        <p:spPr>
          <a:xfrm>
            <a:off x="3314090" y="2267712"/>
            <a:ext cx="566928" cy="566928"/>
          </a:xfrm>
          <a:prstGeom prst="roundRect">
            <a:avLst>
              <a:gd name="adj" fmla="val 32258"/>
            </a:avLst>
          </a:prstGeom>
          <a:solidFill>
            <a:srgbClr val="F7E6BC"/>
          </a:solidFill>
          <a:ln/>
        </p:spPr>
      </p:sp>
      <p:sp>
        <p:nvSpPr>
          <p:cNvPr id="17" name="anim-g3-462"/>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463"/>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عُدّ مرتين</a:t>
            </a:r>
            <a:endParaRPr lang="ar-SA" sz="2200" dirty="0"/>
          </a:p>
        </p:txBody>
      </p:sp>
      <p:sp>
        <p:nvSpPr>
          <p:cNvPr id="19" name="anim-g3-464"/>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نعدّ الدبابيس بإصبعنا مرتين قبل أن نضع السلك</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ليد وزر  ·  ٧١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Image 0" descr="/Users/mac/dev/younes-training/robot-pi/.pptx-cache/s7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Image 0" descr="/Users/mac/dev/younes-training/robot-pi/.pptx-cache/s73-0.jpg"/>
          <p:cNvPicPr>
            <a:picLocks noChangeAspect="1"/>
          </p:cNvPicPr>
          <p:nvPr/>
        </p:nvPicPr>
        <p:blipFill>
          <a:blip r:embed="rId3"/>
          <a:stretch>
            <a:fillRect/>
          </a:stretch>
        </p:blipFill>
        <p:spPr>
          <a:xfrm>
            <a:off x="0" y="0"/>
            <a:ext cx="12191695" cy="6858000"/>
          </a:xfrm>
          <a:prstGeom prst="rect">
            <a:avLst/>
          </a:prstGeom>
        </p:spPr>
      </p:pic>
      <p:pic>
        <p:nvPicPr>
          <p:cNvPr id="3" name="anim-g1-465" descr="/Users/mac/dev/younes-training/robot-pi/.pptx-cache/s73-1.jpg"/>
          <p:cNvPicPr>
            <a:picLocks noChangeAspect="1"/>
          </p:cNvPicPr>
          <p:nvPr/>
        </p:nvPicPr>
        <p:blipFill>
          <a:blip r:embed="rId4"/>
          <a:stretch>
            <a:fillRect/>
          </a:stretch>
        </p:blipFill>
        <p:spPr>
          <a:xfrm>
            <a:off x="0" y="0"/>
            <a:ext cx="12191695" cy="6858000"/>
          </a:xfrm>
          <a:prstGeom prst="rect">
            <a:avLst/>
          </a:prstGeom>
        </p:spPr>
      </p:pic>
      <p:pic>
        <p:nvPicPr>
          <p:cNvPr id="4" name="anim-g2-466" descr="/Users/mac/dev/younes-training/robot-pi/.pptx-cache/s73-2.jpg"/>
          <p:cNvPicPr>
            <a:picLocks noChangeAspect="1"/>
          </p:cNvPicPr>
          <p:nvPr/>
        </p:nvPicPr>
        <p:blipFill>
          <a:blip r:embed="rId5"/>
          <a:stretch>
            <a:fillRect/>
          </a:stretch>
        </p:blipFill>
        <p:spPr>
          <a:xfrm>
            <a:off x="0" y="0"/>
            <a:ext cx="12191695" cy="6858000"/>
          </a:xfrm>
          <a:prstGeom prst="rect">
            <a:avLst/>
          </a:prstGeom>
        </p:spPr>
      </p:pic>
      <p:pic>
        <p:nvPicPr>
          <p:cNvPr id="5" name="anim-g3-467" descr="/Users/mac/dev/younes-training/robot-pi/.pptx-cache/s73-3.jpg"/>
          <p:cNvPicPr>
            <a:picLocks noChangeAspect="1"/>
          </p:cNvPicPr>
          <p:nvPr/>
        </p:nvPicPr>
        <p:blipFill>
          <a:blip r:embed="rId6"/>
          <a:stretch>
            <a:fillRect/>
          </a:stretch>
        </p:blipFill>
        <p:spPr>
          <a:xfrm>
            <a:off x="0" y="0"/>
            <a:ext cx="12191695" cy="6858000"/>
          </a:xfrm>
          <a:prstGeom prst="rect">
            <a:avLst/>
          </a:prstGeom>
        </p:spPr>
      </p:pic>
      <p:pic>
        <p:nvPicPr>
          <p:cNvPr id="6" name="anim-g4-468" descr="/Users/mac/dev/younes-training/robot-pi/.pptx-cache/s73-4.jpg"/>
          <p:cNvPicPr>
            <a:picLocks noChangeAspect="1"/>
          </p:cNvPicPr>
          <p:nvPr/>
        </p:nvPicPr>
        <p:blipFill>
          <a:blip r:embed="rId7"/>
          <a:stretch>
            <a:fillRect/>
          </a:stretch>
        </p:blipFill>
        <p:spPr>
          <a:xfrm>
            <a:off x="0" y="0"/>
            <a:ext cx="12191695" cy="6858000"/>
          </a:xfrm>
          <a:prstGeom prst="rect">
            <a:avLst/>
          </a:prstGeom>
        </p:spPr>
      </p:pic>
      <p:pic>
        <p:nvPicPr>
          <p:cNvPr id="7" name="anim-g5-469" descr="/Users/mac/dev/younes-training/robot-pi/.pptx-cache/s73-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Image 0" descr="/Users/mac/dev/younes-training/robot-pi/.pptx-cache/s7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Image 0" descr="/Users/mac/dev/younes-training/robot-pi/.pptx-cache/s75-0.jpg"/>
          <p:cNvPicPr>
            <a:picLocks noChangeAspect="1"/>
          </p:cNvPicPr>
          <p:nvPr/>
        </p:nvPicPr>
        <p:blipFill>
          <a:blip r:embed="rId3"/>
          <a:stretch>
            <a:fillRect/>
          </a:stretch>
        </p:blipFill>
        <p:spPr>
          <a:xfrm>
            <a:off x="0" y="0"/>
            <a:ext cx="12191695" cy="6858000"/>
          </a:xfrm>
          <a:prstGeom prst="rect">
            <a:avLst/>
          </a:prstGeom>
        </p:spPr>
      </p:pic>
      <p:pic>
        <p:nvPicPr>
          <p:cNvPr id="3" name="anim-g1-470" descr="/Users/mac/dev/younes-training/robot-pi/.pptx-cache/s75-1.jpg"/>
          <p:cNvPicPr>
            <a:picLocks noChangeAspect="1"/>
          </p:cNvPicPr>
          <p:nvPr/>
        </p:nvPicPr>
        <p:blipFill>
          <a:blip r:embed="rId4"/>
          <a:stretch>
            <a:fillRect/>
          </a:stretch>
        </p:blipFill>
        <p:spPr>
          <a:xfrm>
            <a:off x="0" y="0"/>
            <a:ext cx="12191695" cy="6858000"/>
          </a:xfrm>
          <a:prstGeom prst="rect">
            <a:avLst/>
          </a:prstGeom>
        </p:spPr>
      </p:pic>
      <p:pic>
        <p:nvPicPr>
          <p:cNvPr id="4" name="anim-g2-471" descr="/Users/mac/dev/younes-training/robot-pi/.pptx-cache/s75-2.jpg"/>
          <p:cNvPicPr>
            <a:picLocks noChangeAspect="1"/>
          </p:cNvPicPr>
          <p:nvPr/>
        </p:nvPicPr>
        <p:blipFill>
          <a:blip r:embed="rId5"/>
          <a:stretch>
            <a:fillRect/>
          </a:stretch>
        </p:blipFill>
        <p:spPr>
          <a:xfrm>
            <a:off x="0" y="0"/>
            <a:ext cx="12191695" cy="6858000"/>
          </a:xfrm>
          <a:prstGeom prst="rect">
            <a:avLst/>
          </a:prstGeom>
        </p:spPr>
      </p:pic>
      <p:pic>
        <p:nvPicPr>
          <p:cNvPr id="5" name="anim-g3-472" descr="/Users/mac/dev/younes-training/robot-pi/.pptx-cache/s75-3.jpg"/>
          <p:cNvPicPr>
            <a:picLocks noChangeAspect="1"/>
          </p:cNvPicPr>
          <p:nvPr/>
        </p:nvPicPr>
        <p:blipFill>
          <a:blip r:embed="rId6"/>
          <a:stretch>
            <a:fillRect/>
          </a:stretch>
        </p:blipFill>
        <p:spPr>
          <a:xfrm>
            <a:off x="0" y="0"/>
            <a:ext cx="12191695" cy="6858000"/>
          </a:xfrm>
          <a:prstGeom prst="rect">
            <a:avLst/>
          </a:prstGeom>
        </p:spPr>
      </p:pic>
      <p:pic>
        <p:nvPicPr>
          <p:cNvPr id="6" name="anim-g4-473" descr="/Users/mac/dev/younes-training/robot-pi/.pptx-cache/s75-4.jpg"/>
          <p:cNvPicPr>
            <a:picLocks noChangeAspect="1"/>
          </p:cNvPicPr>
          <p:nvPr/>
        </p:nvPicPr>
        <p:blipFill>
          <a:blip r:embed="rId7"/>
          <a:stretch>
            <a:fillRect/>
          </a:stretch>
        </p:blipFill>
        <p:spPr>
          <a:xfrm>
            <a:off x="0" y="0"/>
            <a:ext cx="12191695" cy="6858000"/>
          </a:xfrm>
          <a:prstGeom prst="rect">
            <a:avLst/>
          </a:prstGeom>
        </p:spPr>
      </p:pic>
      <p:pic>
        <p:nvPicPr>
          <p:cNvPr id="7" name="anim-g5-474" descr="/Users/mac/dev/younes-training/robot-pi/.pptx-cache/s75-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Image 0" descr="/Users/mac/dev/younes-training/robot-pi/.pptx-cache/s76-0.jpg"/>
          <p:cNvPicPr>
            <a:picLocks noChangeAspect="1"/>
          </p:cNvPicPr>
          <p:nvPr/>
        </p:nvPicPr>
        <p:blipFill>
          <a:blip r:embed="rId3"/>
          <a:stretch>
            <a:fillRect/>
          </a:stretch>
        </p:blipFill>
        <p:spPr>
          <a:xfrm>
            <a:off x="0" y="0"/>
            <a:ext cx="12191695" cy="6858000"/>
          </a:xfrm>
          <a:prstGeom prst="rect">
            <a:avLst/>
          </a:prstGeom>
        </p:spPr>
      </p:pic>
      <p:pic>
        <p:nvPicPr>
          <p:cNvPr id="3" name="anim-g1-475" descr="/Users/mac/dev/younes-training/robot-pi/.pptx-cache/s76-1.jpg"/>
          <p:cNvPicPr>
            <a:picLocks noChangeAspect="1"/>
          </p:cNvPicPr>
          <p:nvPr/>
        </p:nvPicPr>
        <p:blipFill>
          <a:blip r:embed="rId4"/>
          <a:stretch>
            <a:fillRect/>
          </a:stretch>
        </p:blipFill>
        <p:spPr>
          <a:xfrm>
            <a:off x="0" y="0"/>
            <a:ext cx="12191695" cy="6858000"/>
          </a:xfrm>
          <a:prstGeom prst="rect">
            <a:avLst/>
          </a:prstGeom>
        </p:spPr>
      </p:pic>
      <p:pic>
        <p:nvPicPr>
          <p:cNvPr id="4" name="anim-g2-476" descr="/Users/mac/dev/younes-training/robot-pi/.pptx-cache/s76-2.jpg"/>
          <p:cNvPicPr>
            <a:picLocks noChangeAspect="1"/>
          </p:cNvPicPr>
          <p:nvPr/>
        </p:nvPicPr>
        <p:blipFill>
          <a:blip r:embed="rId5"/>
          <a:stretch>
            <a:fillRect/>
          </a:stretch>
        </p:blipFill>
        <p:spPr>
          <a:xfrm>
            <a:off x="0" y="0"/>
            <a:ext cx="12191695" cy="6858000"/>
          </a:xfrm>
          <a:prstGeom prst="rect">
            <a:avLst/>
          </a:prstGeom>
        </p:spPr>
      </p:pic>
      <p:pic>
        <p:nvPicPr>
          <p:cNvPr id="5" name="anim-g3-477" descr="/Users/mac/dev/younes-training/robot-pi/.pptx-cache/s76-3.jpg"/>
          <p:cNvPicPr>
            <a:picLocks noChangeAspect="1"/>
          </p:cNvPicPr>
          <p:nvPr/>
        </p:nvPicPr>
        <p:blipFill>
          <a:blip r:embed="rId6"/>
          <a:stretch>
            <a:fillRect/>
          </a:stretch>
        </p:blipFill>
        <p:spPr>
          <a:xfrm>
            <a:off x="0" y="0"/>
            <a:ext cx="12191695" cy="6858000"/>
          </a:xfrm>
          <a:prstGeom prst="rect">
            <a:avLst/>
          </a:prstGeom>
        </p:spPr>
      </p:pic>
      <p:pic>
        <p:nvPicPr>
          <p:cNvPr id="6" name="anim-g4-478" descr="/Users/mac/dev/younes-training/robot-pi/.pptx-cache/s76-4.jpg"/>
          <p:cNvPicPr>
            <a:picLocks noChangeAspect="1"/>
          </p:cNvPicPr>
          <p:nvPr/>
        </p:nvPicPr>
        <p:blipFill>
          <a:blip r:embed="rId7"/>
          <a:stretch>
            <a:fillRect/>
          </a:stretch>
        </p:blipFill>
        <p:spPr>
          <a:xfrm>
            <a:off x="0" y="0"/>
            <a:ext cx="12191695" cy="6858000"/>
          </a:xfrm>
          <a:prstGeom prst="rect">
            <a:avLst/>
          </a:prstGeom>
        </p:spPr>
      </p:pic>
      <p:pic>
        <p:nvPicPr>
          <p:cNvPr id="7" name="anim-g5-479" descr="/Users/mac/dev/younes-training/robot-pi/.pptx-cache/s76-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Image 0" descr="/Users/mac/dev/younes-training/robot-pi/.pptx-cache/s7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كتبنا LED(17)… في أي دبوس نضع السلك؟</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الدبوس رقم ١٧</a:t>
            </a:r>
            <a:endParaRPr lang="ar-SA" sz="2500" dirty="0"/>
          </a:p>
        </p:txBody>
      </p:sp>
      <p:sp>
        <p:nvSpPr>
          <p:cNvPr id="9" name="anim-g1-480"/>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481"/>
          <p:cNvSpPr/>
          <p:nvPr/>
        </p:nvSpPr>
        <p:spPr>
          <a:xfrm>
            <a:off x="10231831" y="2194560"/>
            <a:ext cx="954024" cy="954024"/>
          </a:xfrm>
          <a:prstGeom prst="roundRect">
            <a:avLst>
              <a:gd name="adj" fmla="val 11502"/>
            </a:avLst>
          </a:prstGeom>
          <a:solidFill>
            <a:srgbClr val="A3A9BA"/>
          </a:solidFill>
          <a:ln/>
        </p:spPr>
      </p:sp>
      <p:sp>
        <p:nvSpPr>
          <p:cNvPr id="11" name="anim-g1-482"/>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483"/>
          <p:cNvSpPr/>
          <p:nvPr/>
        </p:nvSpPr>
        <p:spPr>
          <a:xfrm>
            <a:off x="1097280" y="2093976"/>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الدبوس رقم ١٧</a:t>
            </a:r>
            <a:endParaRPr lang="ar-SA" sz="2400" dirty="0"/>
          </a:p>
        </p:txBody>
      </p:sp>
      <p:sp>
        <p:nvSpPr>
          <p:cNvPr id="13" name="anim-g1-484"/>
          <p:cNvSpPr/>
          <p:nvPr/>
        </p:nvSpPr>
        <p:spPr>
          <a:xfrm>
            <a:off x="1097280" y="2720706"/>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الدبوس ١٧ في الترتيب هو 3.3V وليس GPIO17!</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الدبوس رقم ١١ (واسمه GPIO17)</a:t>
            </a:r>
            <a:endParaRPr lang="ar-SA" sz="2500" dirty="0"/>
          </a:p>
        </p:txBody>
      </p:sp>
      <p:sp>
        <p:nvSpPr>
          <p:cNvPr id="18" name="anim-g1-485"/>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486"/>
          <p:cNvSpPr/>
          <p:nvPr/>
        </p:nvSpPr>
        <p:spPr>
          <a:xfrm>
            <a:off x="10231831" y="3569208"/>
            <a:ext cx="954024" cy="954024"/>
          </a:xfrm>
          <a:prstGeom prst="roundRect">
            <a:avLst>
              <a:gd name="adj" fmla="val 11502"/>
            </a:avLst>
          </a:prstGeom>
          <a:solidFill>
            <a:srgbClr val="2E9E6B"/>
          </a:solidFill>
          <a:ln/>
        </p:spPr>
      </p:sp>
      <p:sp>
        <p:nvSpPr>
          <p:cNvPr id="20" name="anim-g1-487"/>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488"/>
          <p:cNvSpPr/>
          <p:nvPr/>
        </p:nvSpPr>
        <p:spPr>
          <a:xfrm>
            <a:off x="1097280" y="3468624"/>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131B34"/>
                </a:solidFill>
                <a:latin typeface="Cairo" pitchFamily="34" charset="0"/>
                <a:ea typeface="Cairo" pitchFamily="34" charset="-122"/>
                <a:cs typeface="Cairo" pitchFamily="34" charset="-120"/>
              </a:rPr>
              <a:t>الدبوس رقم ١١ (واسمه GPIO17)</a:t>
            </a:r>
            <a:endParaRPr lang="ar-SA" sz="2400" dirty="0"/>
          </a:p>
        </p:txBody>
      </p:sp>
      <p:sp>
        <p:nvSpPr>
          <p:cNvPr id="22" name="anim-g1-489"/>
          <p:cNvSpPr/>
          <p:nvPr/>
        </p:nvSpPr>
        <p:spPr>
          <a:xfrm>
            <a:off x="1097280" y="4095354"/>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1D5E40"/>
                </a:solidFill>
                <a:latin typeface="Cairo" pitchFamily="34" charset="0"/>
                <a:ea typeface="Cairo" pitchFamily="34" charset="-122"/>
                <a:cs typeface="Cairo" pitchFamily="34" charset="-120"/>
              </a:rPr>
              <a:t>صحيح! في الكود نكتب اسم الدبوس، لا ترتيبه 📍</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أي دبوس أخضر</a:t>
            </a:r>
            <a:endParaRPr lang="ar-SA" sz="2500" dirty="0"/>
          </a:p>
        </p:txBody>
      </p:sp>
      <p:sp>
        <p:nvSpPr>
          <p:cNvPr id="27" name="anim-g1-490"/>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491"/>
          <p:cNvSpPr/>
          <p:nvPr/>
        </p:nvSpPr>
        <p:spPr>
          <a:xfrm>
            <a:off x="10231831" y="4943856"/>
            <a:ext cx="954024" cy="954024"/>
          </a:xfrm>
          <a:prstGeom prst="roundRect">
            <a:avLst>
              <a:gd name="adj" fmla="val 11502"/>
            </a:avLst>
          </a:prstGeom>
          <a:solidFill>
            <a:srgbClr val="A3A9BA"/>
          </a:solidFill>
          <a:ln/>
        </p:spPr>
      </p:sp>
      <p:sp>
        <p:nvSpPr>
          <p:cNvPr id="29" name="anim-g1-492"/>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493"/>
          <p:cNvSpPr/>
          <p:nvPr/>
        </p:nvSpPr>
        <p:spPr>
          <a:xfrm>
            <a:off x="1097280" y="4843272"/>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أي دبوس أخضر</a:t>
            </a:r>
            <a:endParaRPr lang="ar-SA" sz="2400" dirty="0"/>
          </a:p>
        </p:txBody>
      </p:sp>
      <p:sp>
        <p:nvSpPr>
          <p:cNvPr id="31" name="anim-g1-494"/>
          <p:cNvSpPr/>
          <p:nvPr/>
        </p:nvSpPr>
        <p:spPr>
          <a:xfrm>
            <a:off x="1097280" y="5470002"/>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كل دبوس له رقم محدد، والبرنامج يعرف رقمًا واحدًا فقط</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ليد وزر  ·  ٧٨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name="Slide 7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وصّلنا الليد ولم يضئ. ما أول شيء نفحصه؟</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هل الليد مقلوب؟ الساق الطويلة إلى GPIO</a:t>
            </a:r>
            <a:endParaRPr lang="ar-SA" sz="2500" dirty="0"/>
          </a:p>
        </p:txBody>
      </p:sp>
      <p:sp>
        <p:nvSpPr>
          <p:cNvPr id="9" name="anim-g1-495"/>
          <p:cNvSpPr/>
          <p:nvPr/>
        </p:nvSpPr>
        <p:spPr>
          <a:xfrm>
            <a:off x="822960" y="2057400"/>
            <a:ext cx="10545775" cy="1228344"/>
          </a:xfrm>
          <a:prstGeom prst="roundRect">
            <a:avLst>
              <a:gd name="adj" fmla="val 11911"/>
            </a:avLst>
          </a:prstGeom>
          <a:solidFill>
            <a:srgbClr val="E6F4EC"/>
          </a:solidFill>
          <a:ln w="31750">
            <a:solidFill>
              <a:srgbClr val="2E9E6B"/>
            </a:solidFill>
            <a:prstDash val="solid"/>
          </a:ln>
        </p:spPr>
      </p:sp>
      <p:sp>
        <p:nvSpPr>
          <p:cNvPr id="10" name="anim-g1-496"/>
          <p:cNvSpPr/>
          <p:nvPr/>
        </p:nvSpPr>
        <p:spPr>
          <a:xfrm>
            <a:off x="10231831" y="2194560"/>
            <a:ext cx="954024" cy="954024"/>
          </a:xfrm>
          <a:prstGeom prst="roundRect">
            <a:avLst>
              <a:gd name="adj" fmla="val 11502"/>
            </a:avLst>
          </a:prstGeom>
          <a:solidFill>
            <a:srgbClr val="2E9E6B"/>
          </a:solidFill>
          <a:ln/>
        </p:spPr>
      </p:sp>
      <p:sp>
        <p:nvSpPr>
          <p:cNvPr id="11" name="anim-g1-497"/>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12" name="anim-g1-498"/>
          <p:cNvSpPr/>
          <p:nvPr/>
        </p:nvSpPr>
        <p:spPr>
          <a:xfrm>
            <a:off x="1097280" y="2093976"/>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131B34"/>
                </a:solidFill>
                <a:latin typeface="Cairo" pitchFamily="34" charset="0"/>
                <a:ea typeface="Cairo" pitchFamily="34" charset="-122"/>
                <a:cs typeface="Cairo" pitchFamily="34" charset="-120"/>
              </a:rPr>
              <a:t>هل الليد مقلوب؟ الساق الطويلة إلى GPIO</a:t>
            </a:r>
            <a:endParaRPr lang="ar-SA" sz="2400" dirty="0"/>
          </a:p>
        </p:txBody>
      </p:sp>
      <p:sp>
        <p:nvSpPr>
          <p:cNvPr id="13" name="anim-g1-499"/>
          <p:cNvSpPr/>
          <p:nvPr/>
        </p:nvSpPr>
        <p:spPr>
          <a:xfrm>
            <a:off x="1097280" y="2720706"/>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1D5E40"/>
                </a:solidFill>
                <a:latin typeface="Cairo" pitchFamily="34" charset="0"/>
                <a:ea typeface="Cairo" pitchFamily="34" charset="-122"/>
                <a:cs typeface="Cairo" pitchFamily="34" charset="-120"/>
              </a:rPr>
              <a:t>صحيح! نبدأ دائمًا بأبسط سبب 🔍</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نشتري Pi جديدًا</a:t>
            </a:r>
            <a:endParaRPr lang="ar-SA" sz="2500" dirty="0"/>
          </a:p>
        </p:txBody>
      </p:sp>
      <p:sp>
        <p:nvSpPr>
          <p:cNvPr id="18" name="anim-g1-500"/>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501"/>
          <p:cNvSpPr/>
          <p:nvPr/>
        </p:nvSpPr>
        <p:spPr>
          <a:xfrm>
            <a:off x="10231831" y="3569208"/>
            <a:ext cx="954024" cy="954024"/>
          </a:xfrm>
          <a:prstGeom prst="roundRect">
            <a:avLst>
              <a:gd name="adj" fmla="val 11502"/>
            </a:avLst>
          </a:prstGeom>
          <a:solidFill>
            <a:srgbClr val="A3A9BA"/>
          </a:solidFill>
          <a:ln/>
        </p:spPr>
      </p:sp>
      <p:sp>
        <p:nvSpPr>
          <p:cNvPr id="20" name="anim-g1-502"/>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503"/>
          <p:cNvSpPr/>
          <p:nvPr/>
        </p:nvSpPr>
        <p:spPr>
          <a:xfrm>
            <a:off x="1097280" y="3468624"/>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نشتري Pi جديدًا</a:t>
            </a:r>
            <a:endParaRPr lang="ar-SA" sz="2400" dirty="0"/>
          </a:p>
        </p:txBody>
      </p:sp>
      <p:sp>
        <p:nvSpPr>
          <p:cNvPr id="22" name="anim-g1-504"/>
          <p:cNvSpPr/>
          <p:nvPr/>
        </p:nvSpPr>
        <p:spPr>
          <a:xfrm>
            <a:off x="1097280" y="4095354"/>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الـ Pi غالبًا سليم، فالخطأ عادة في التوصيل</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نغيّر لون الليد</a:t>
            </a:r>
            <a:endParaRPr lang="ar-SA" sz="2500" dirty="0"/>
          </a:p>
        </p:txBody>
      </p:sp>
      <p:sp>
        <p:nvSpPr>
          <p:cNvPr id="27" name="anim-g1-505"/>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506"/>
          <p:cNvSpPr/>
          <p:nvPr/>
        </p:nvSpPr>
        <p:spPr>
          <a:xfrm>
            <a:off x="10231831" y="4943856"/>
            <a:ext cx="954024" cy="954024"/>
          </a:xfrm>
          <a:prstGeom prst="roundRect">
            <a:avLst>
              <a:gd name="adj" fmla="val 11502"/>
            </a:avLst>
          </a:prstGeom>
          <a:solidFill>
            <a:srgbClr val="A3A9BA"/>
          </a:solidFill>
          <a:ln/>
        </p:spPr>
      </p:sp>
      <p:sp>
        <p:nvSpPr>
          <p:cNvPr id="29" name="anim-g1-507"/>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508"/>
          <p:cNvSpPr/>
          <p:nvPr/>
        </p:nvSpPr>
        <p:spPr>
          <a:xfrm>
            <a:off x="1097280" y="4843272"/>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نغيّر لون الليد</a:t>
            </a:r>
            <a:endParaRPr lang="ar-SA" sz="2400" dirty="0"/>
          </a:p>
        </p:txBody>
      </p:sp>
      <p:sp>
        <p:nvSpPr>
          <p:cNvPr id="31" name="anim-g1-509"/>
          <p:cNvSpPr/>
          <p:nvPr/>
        </p:nvSpPr>
        <p:spPr>
          <a:xfrm>
            <a:off x="1097280" y="5470002"/>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اللون لا علاقة له بالمشكلة</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ليد وزر  ·  ٧٩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Image 0" descr="/Users/mac/dev/younes-training/robot-pi/.pptx-cache/s80.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833311" y="457200"/>
            <a:ext cx="4535424"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6833311" y="457200"/>
            <a:ext cx="453542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 تحدّي الفريق — ١٠ دقائق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F0CC7A"/>
                </a:solidFill>
                <a:latin typeface="Cairo Black" pitchFamily="34" charset="0"/>
                <a:ea typeface="Cairo Black" pitchFamily="34" charset="-122"/>
                <a:cs typeface="Cairo Black" pitchFamily="34" charset="-120"/>
              </a:rPr>
              <a:t>إشارة استغاثة!</a:t>
            </a:r>
            <a:endParaRPr lang="ar-SA" sz="3800" dirty="0"/>
          </a:p>
        </p:txBody>
      </p:sp>
      <p:sp>
        <p:nvSpPr>
          <p:cNvPr id="5" name="anim-g1-510"/>
          <p:cNvSpPr/>
          <p:nvPr/>
        </p:nvSpPr>
        <p:spPr>
          <a:xfrm>
            <a:off x="10637215" y="2286000"/>
            <a:ext cx="731520" cy="731520"/>
          </a:xfrm>
          <a:prstGeom prst="ellipse">
            <a:avLst/>
          </a:prstGeom>
          <a:solidFill>
            <a:srgbClr val="D9AE4B"/>
          </a:solidFill>
          <a:ln/>
        </p:spPr>
      </p:sp>
      <p:sp>
        <p:nvSpPr>
          <p:cNvPr id="6" name="anim-g1-511"/>
          <p:cNvSpPr/>
          <p:nvPr/>
        </p:nvSpPr>
        <p:spPr>
          <a:xfrm>
            <a:off x="10637215" y="228600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512"/>
          <p:cNvSpPr/>
          <p:nvPr/>
        </p:nvSpPr>
        <p:spPr>
          <a:xfrm>
            <a:off x="4023360" y="219456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اجعلوا الليد يرسل إشارة SOS: ٣ ومضات سريعة، ثم ٣ بطيئة، ثم ٣ سريعة</a:t>
            </a:r>
            <a:endParaRPr lang="ar-SA" sz="2200" dirty="0"/>
          </a:p>
        </p:txBody>
      </p:sp>
      <p:sp>
        <p:nvSpPr>
          <p:cNvPr id="8" name="anim-g2-513"/>
          <p:cNvSpPr/>
          <p:nvPr/>
        </p:nvSpPr>
        <p:spPr>
          <a:xfrm>
            <a:off x="10637215" y="3383280"/>
            <a:ext cx="731520" cy="731520"/>
          </a:xfrm>
          <a:prstGeom prst="ellipse">
            <a:avLst/>
          </a:prstGeom>
          <a:solidFill>
            <a:srgbClr val="D9AE4B"/>
          </a:solidFill>
          <a:ln/>
        </p:spPr>
      </p:sp>
      <p:sp>
        <p:nvSpPr>
          <p:cNvPr id="9" name="anim-g2-514"/>
          <p:cNvSpPr/>
          <p:nvPr/>
        </p:nvSpPr>
        <p:spPr>
          <a:xfrm>
            <a:off x="10637215" y="338328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515"/>
          <p:cNvSpPr/>
          <p:nvPr/>
        </p:nvSpPr>
        <p:spPr>
          <a:xfrm>
            <a:off x="4023360" y="329184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استعملوا for للتكرار، وsleep للسرعة</a:t>
            </a:r>
            <a:endParaRPr lang="ar-SA" sz="2200" dirty="0"/>
          </a:p>
        </p:txBody>
      </p:sp>
      <p:sp>
        <p:nvSpPr>
          <p:cNvPr id="11" name="anim-g3-516"/>
          <p:cNvSpPr/>
          <p:nvPr/>
        </p:nvSpPr>
        <p:spPr>
          <a:xfrm>
            <a:off x="10637215" y="4480560"/>
            <a:ext cx="731520" cy="731520"/>
          </a:xfrm>
          <a:prstGeom prst="ellipse">
            <a:avLst/>
          </a:prstGeom>
          <a:solidFill>
            <a:srgbClr val="D9AE4B"/>
          </a:solidFill>
          <a:ln/>
        </p:spPr>
      </p:sp>
      <p:sp>
        <p:nvSpPr>
          <p:cNvPr id="12" name="anim-g3-517"/>
          <p:cNvSpPr/>
          <p:nvPr/>
        </p:nvSpPr>
        <p:spPr>
          <a:xfrm>
            <a:off x="10637215" y="448056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518"/>
          <p:cNvSpPr/>
          <p:nvPr/>
        </p:nvSpPr>
        <p:spPr>
          <a:xfrm>
            <a:off x="4023360" y="438912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تحدٍّ إضافي: لا تبدأ الإشارة إلا إذا ضُغط الزر</a:t>
            </a:r>
            <a:endParaRPr lang="ar-SA" sz="2200" dirty="0"/>
          </a:p>
        </p:txBody>
      </p:sp>
      <p:sp>
        <p:nvSpPr>
          <p:cNvPr id="14" name="Shape 12"/>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5" name="Text 13"/>
          <p:cNvSpPr/>
          <p:nvPr/>
        </p:nvSpPr>
        <p:spPr>
          <a:xfrm>
            <a:off x="822960" y="2834640"/>
            <a:ext cx="2834640" cy="1097280"/>
          </a:xfrm>
          <a:prstGeom prst="rect">
            <a:avLst/>
          </a:prstGeom>
          <a:noFill/>
          <a:ln/>
        </p:spPr>
        <p:txBody>
          <a:bodyPr wrap="square" lIns="0" tIns="0" rIns="0" bIns="0" rtlCol="0" anchor="ctr">
            <a:normAutofit/>
          </a:bodyPr>
          <a:lstStyle/>
          <a:p>
            <a:pPr marL="0" indent="0" algn="ctr">
              <a:buNone/>
            </a:pPr>
            <a:r>
              <a:rPr lang="ar-SA" altLang="en-US" sz="6000" dirty="0">
                <a:solidFill>
                  <a:srgbClr val="F0CC7A"/>
                </a:solidFill>
                <a:latin typeface="Cairo Black" pitchFamily="34" charset="0"/>
                <a:ea typeface="Cairo Black" pitchFamily="34" charset="-122"/>
                <a:cs typeface="Cairo Black" pitchFamily="34" charset="-120"/>
              </a:rPr>
              <a:t>10:00</a:t>
            </a:r>
            <a:endParaRPr lang="ar-SA" sz="6000" dirty="0"/>
          </a:p>
        </p:txBody>
      </p:sp>
      <p:sp>
        <p:nvSpPr>
          <p:cNvPr id="16" name="Text 14"/>
          <p:cNvSpPr/>
          <p:nvPr/>
        </p:nvSpPr>
        <p:spPr>
          <a:xfrm>
            <a:off x="822960" y="3840480"/>
            <a:ext cx="2834640" cy="457200"/>
          </a:xfrm>
          <a:prstGeom prst="rect">
            <a:avLst/>
          </a:prstGeom>
          <a:noFill/>
          <a:ln/>
        </p:spPr>
        <p:txBody>
          <a:bodyPr wrap="square" lIns="0" tIns="0" rIns="0" bIns="0" rtlCol="0" anchor="ctr">
            <a:normAutofit/>
          </a:bodyPr>
          <a:lstStyle/>
          <a:p>
            <a:pPr marL="0" indent="0" algn="ctr" rtl="1">
              <a:buNone/>
            </a:pPr>
            <a:r>
              <a:rPr lang="ar-SA" altLang="en-US" sz="1600" b="1" dirty="0">
                <a:solidFill>
                  <a:srgbClr val="C9CFE6"/>
                </a:solidFill>
                <a:latin typeface="Cairo" pitchFamily="34" charset="0"/>
                <a:ea typeface="Cairo" pitchFamily="34" charset="-122"/>
                <a:cs typeface="Cairo" pitchFamily="34" charset="-120"/>
              </a:rPr>
              <a:t>١٠ دقائق</a:t>
            </a:r>
            <a:endParaRPr lang="ar-SA" sz="16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ليد وزر  ·  ٨١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Image 0" descr="/Users/mac/dev/younes-training/robot-pi/.pptx-cache/s8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marL="0" indent="0" algn="ctr" rtl="1">
              <a:buNone/>
            </a:pPr>
            <a:r>
              <a:rPr lang="ar-SA" altLang="en-US" sz="8000" dirty="0">
                <a:solidFill>
                  <a:srgbClr val="FFF3D6"/>
                </a:solidFill>
                <a:latin typeface="Cairo Black" pitchFamily="34" charset="0"/>
                <a:ea typeface="Cairo Black" pitchFamily="34" charset="-122"/>
                <a:cs typeface="Cairo Black" pitchFamily="34" charset="-120"/>
              </a:rPr>
              <a:t>أضأتم أول ضوء! 💡</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في الوحدة القادمة: نركّب المحركات… ونبيه يمشي! 🚗</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C9CFE6"/>
                </a:solidFill>
                <a:latin typeface="Cairo" pitchFamily="34" charset="0"/>
                <a:ea typeface="Cairo" pitchFamily="34" charset="-122"/>
                <a:cs typeface="Cairo" pitchFamily="34" charset="-120"/>
              </a:rPr>
              <a:t>روبوتي الذكي · إعداد وتقديم: أ. محمد زيتون</a:t>
            </a:r>
            <a:endParaRPr lang="ar-SA" sz="18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marL="0" indent="0" algn="ctr" rtl="1">
              <a:buNone/>
            </a:pPr>
            <a:r>
              <a:rPr lang="ar-SA" altLang="en-US" sz="12000" dirty="0">
                <a:solidFill>
                  <a:srgbClr val="F0CC7A"/>
                </a:solidFill>
                <a:latin typeface="Cairo Black" pitchFamily="34" charset="0"/>
                <a:ea typeface="Cairo Black" pitchFamily="34" charset="-122"/>
                <a:cs typeface="Cairo Black" pitchFamily="34" charset="-120"/>
              </a:rPr>
              <a:t>٥</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marL="0" indent="0" algn="r" rtl="1">
              <a:buNone/>
            </a:pPr>
            <a:r>
              <a:rPr lang="ar-SA" altLang="en-US" sz="2000" b="1" dirty="0">
                <a:solidFill>
                  <a:srgbClr val="D9AE4B"/>
                </a:solidFill>
                <a:latin typeface="Cairo" pitchFamily="34" charset="0"/>
                <a:ea typeface="Cairo" pitchFamily="34" charset="-122"/>
                <a:cs typeface="Cairo" pitchFamily="34" charset="-120"/>
              </a:rPr>
              <a:t>الوحدة ٥</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marL="0" indent="0" algn="r" rtl="1">
              <a:buNone/>
            </a:pPr>
            <a:r>
              <a:rPr lang="ar-SA" altLang="en-US" sz="5600" dirty="0">
                <a:solidFill>
                  <a:srgbClr val="FFFFFF"/>
                </a:solidFill>
                <a:latin typeface="Cairo Black" pitchFamily="34" charset="0"/>
                <a:ea typeface="Cairo Black" pitchFamily="34" charset="-122"/>
                <a:cs typeface="Cairo Black" pitchFamily="34" charset="-120"/>
              </a:rPr>
              <a:t>نبيه يمشي!</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marL="0" indent="0" algn="r" rtl="1">
              <a:buNone/>
            </a:pPr>
            <a:r>
              <a:rPr lang="ar-SA" altLang="en-US" sz="2200" b="1" dirty="0">
                <a:solidFill>
                  <a:srgbClr val="C9CFE6"/>
                </a:solidFill>
                <a:latin typeface="Cairo" pitchFamily="34" charset="0"/>
                <a:ea typeface="Cairo" pitchFamily="34" charset="-122"/>
                <a:cs typeface="Cairo" pitchFamily="34" charset="-120"/>
              </a:rPr>
              <a:t>نركّب الرجلين والعضلات… ونرسل أول أمر حركة 🚗</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نبيه يمشي  ·  ٨٤</a:t>
            </a:r>
            <a:endParaRPr lang="ar-SA" sz="12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مهمتي اليوم</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بنهاية هذه الوحدة سأستطيع أن</a:t>
            </a:r>
            <a:endParaRPr lang="ar-SA" sz="3800" dirty="0"/>
          </a:p>
        </p:txBody>
      </p:sp>
      <p:sp>
        <p:nvSpPr>
          <p:cNvPr id="5" name="anim-g1-519"/>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520"/>
          <p:cNvSpPr/>
          <p:nvPr/>
        </p:nvSpPr>
        <p:spPr>
          <a:xfrm>
            <a:off x="10573207" y="2109978"/>
            <a:ext cx="566928" cy="566928"/>
          </a:xfrm>
          <a:prstGeom prst="ellipse">
            <a:avLst/>
          </a:prstGeom>
          <a:solidFill>
            <a:srgbClr val="D9AE4B"/>
          </a:solidFill>
          <a:ln/>
        </p:spPr>
      </p:sp>
      <p:sp>
        <p:nvSpPr>
          <p:cNvPr id="7" name="anim-g1-521"/>
          <p:cNvSpPr/>
          <p:nvPr/>
        </p:nvSpPr>
        <p:spPr>
          <a:xfrm>
            <a:off x="10573207" y="2109978"/>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522"/>
          <p:cNvSpPr/>
          <p:nvPr/>
        </p:nvSpPr>
        <p:spPr>
          <a:xfrm>
            <a:off x="1097280" y="1920240"/>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أفهم لماذا يحتاج نبيه «عضلات» بين العقل والمحركات</a:t>
            </a:r>
            <a:endParaRPr lang="ar-SA" sz="2400" dirty="0"/>
          </a:p>
        </p:txBody>
      </p:sp>
      <p:sp>
        <p:nvSpPr>
          <p:cNvPr id="9" name="anim-g2-523"/>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524"/>
          <p:cNvSpPr/>
          <p:nvPr/>
        </p:nvSpPr>
        <p:spPr>
          <a:xfrm>
            <a:off x="10573207" y="3166110"/>
            <a:ext cx="566928" cy="566928"/>
          </a:xfrm>
          <a:prstGeom prst="ellipse">
            <a:avLst/>
          </a:prstGeom>
          <a:solidFill>
            <a:srgbClr val="D9AE4B"/>
          </a:solidFill>
          <a:ln/>
        </p:spPr>
      </p:sp>
      <p:sp>
        <p:nvSpPr>
          <p:cNvPr id="11" name="anim-g2-525"/>
          <p:cNvSpPr/>
          <p:nvPr/>
        </p:nvSpPr>
        <p:spPr>
          <a:xfrm>
            <a:off x="10573207" y="3166110"/>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526"/>
          <p:cNvSpPr/>
          <p:nvPr/>
        </p:nvSpPr>
        <p:spPr>
          <a:xfrm>
            <a:off x="1097280" y="2976372"/>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أعرف كيف يغيّر المحرك اتجاهه</a:t>
            </a:r>
            <a:endParaRPr lang="ar-SA" sz="2400" dirty="0"/>
          </a:p>
        </p:txBody>
      </p:sp>
      <p:sp>
        <p:nvSpPr>
          <p:cNvPr id="13" name="anim-g3-527"/>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528"/>
          <p:cNvSpPr/>
          <p:nvPr/>
        </p:nvSpPr>
        <p:spPr>
          <a:xfrm>
            <a:off x="10573207" y="4222242"/>
            <a:ext cx="566928" cy="566928"/>
          </a:xfrm>
          <a:prstGeom prst="ellipse">
            <a:avLst/>
          </a:prstGeom>
          <a:solidFill>
            <a:srgbClr val="D9AE4B"/>
          </a:solidFill>
          <a:ln/>
        </p:spPr>
      </p:sp>
      <p:sp>
        <p:nvSpPr>
          <p:cNvPr id="15" name="anim-g3-529"/>
          <p:cNvSpPr/>
          <p:nvPr/>
        </p:nvSpPr>
        <p:spPr>
          <a:xfrm>
            <a:off x="10573207" y="4222242"/>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530"/>
          <p:cNvSpPr/>
          <p:nvPr/>
        </p:nvSpPr>
        <p:spPr>
          <a:xfrm>
            <a:off x="1097280" y="4032504"/>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أوصّل المحركين ولوحة L298N بأمان</a:t>
            </a:r>
            <a:endParaRPr lang="ar-SA" sz="2400" dirty="0"/>
          </a:p>
        </p:txBody>
      </p:sp>
      <p:sp>
        <p:nvSpPr>
          <p:cNvPr id="17" name="anim-g4-531"/>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532"/>
          <p:cNvSpPr/>
          <p:nvPr/>
        </p:nvSpPr>
        <p:spPr>
          <a:xfrm>
            <a:off x="10573207" y="5278374"/>
            <a:ext cx="566928" cy="566928"/>
          </a:xfrm>
          <a:prstGeom prst="ellipse">
            <a:avLst/>
          </a:prstGeom>
          <a:solidFill>
            <a:srgbClr val="D9AE4B"/>
          </a:solidFill>
          <a:ln/>
        </p:spPr>
      </p:sp>
      <p:sp>
        <p:nvSpPr>
          <p:cNvPr id="19" name="anim-g4-533"/>
          <p:cNvSpPr/>
          <p:nvPr/>
        </p:nvSpPr>
        <p:spPr>
          <a:xfrm>
            <a:off x="10573207" y="5278374"/>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534"/>
          <p:cNvSpPr/>
          <p:nvPr/>
        </p:nvSpPr>
        <p:spPr>
          <a:xfrm>
            <a:off x="1097280" y="5088636"/>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أبرمج نبيه ليمشي ويلف ويرقص!</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يمشي  ·  ٨٥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name="Slide 8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027871" y="457200"/>
            <a:ext cx="2340864" cy="457200"/>
          </a:xfrm>
          <a:prstGeom prst="roundRect">
            <a:avLst>
              <a:gd name="adj" fmla="val 50000"/>
            </a:avLst>
          </a:prstGeom>
          <a:solidFill>
            <a:srgbClr val="F6EBCF"/>
          </a:solidFill>
          <a:ln/>
        </p:spPr>
      </p:sp>
      <p:sp>
        <p:nvSpPr>
          <p:cNvPr id="3" name="Text 1"/>
          <p:cNvSpPr/>
          <p:nvPr/>
        </p:nvSpPr>
        <p:spPr>
          <a:xfrm>
            <a:off x="9027871" y="457200"/>
            <a:ext cx="234086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سؤال مهم</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لماذا لا نوصل المحرك بالـ Pi مباشرة؟</a:t>
            </a:r>
            <a:endParaRPr lang="ar-SA" sz="3200" dirty="0"/>
          </a:p>
        </p:txBody>
      </p:sp>
      <p:sp>
        <p:nvSpPr>
          <p:cNvPr id="5" name="anim-g1-535"/>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536"/>
          <p:cNvSpPr/>
          <p:nvPr/>
        </p:nvSpPr>
        <p:spPr>
          <a:xfrm>
            <a:off x="10527487" y="2267712"/>
            <a:ext cx="566928" cy="566928"/>
          </a:xfrm>
          <a:prstGeom prst="roundRect">
            <a:avLst>
              <a:gd name="adj" fmla="val 32258"/>
            </a:avLst>
          </a:prstGeom>
          <a:solidFill>
            <a:srgbClr val="F7E6BC"/>
          </a:solidFill>
          <a:ln/>
        </p:spPr>
      </p:sp>
      <p:sp>
        <p:nvSpPr>
          <p:cNvPr id="7" name="anim-g1-537"/>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538"/>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دبوس الـ Pi ضعيف</a:t>
            </a:r>
            <a:endParaRPr lang="ar-SA" sz="2200" dirty="0"/>
          </a:p>
        </p:txBody>
      </p:sp>
      <p:sp>
        <p:nvSpPr>
          <p:cNvPr id="9" name="anim-g1-539"/>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يعطي كهرباء قليلة جدًّا، تكفي لليد فقط</a:t>
            </a:r>
            <a:endParaRPr lang="ar-SA" sz="1900" dirty="0"/>
          </a:p>
        </p:txBody>
      </p:sp>
      <p:sp>
        <p:nvSpPr>
          <p:cNvPr id="10" name="anim-g2-540"/>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541"/>
          <p:cNvSpPr/>
          <p:nvPr/>
        </p:nvSpPr>
        <p:spPr>
          <a:xfrm>
            <a:off x="6920789" y="2267712"/>
            <a:ext cx="566928" cy="566928"/>
          </a:xfrm>
          <a:prstGeom prst="roundRect">
            <a:avLst>
              <a:gd name="adj" fmla="val 32258"/>
            </a:avLst>
          </a:prstGeom>
          <a:solidFill>
            <a:srgbClr val="F7E6BC"/>
          </a:solidFill>
          <a:ln/>
        </p:spPr>
      </p:sp>
      <p:sp>
        <p:nvSpPr>
          <p:cNvPr id="12" name="anim-g2-542"/>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543"/>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المحرك جائع!</a:t>
            </a:r>
            <a:endParaRPr lang="ar-SA" sz="2200" dirty="0"/>
          </a:p>
        </p:txBody>
      </p:sp>
      <p:sp>
        <p:nvSpPr>
          <p:cNvPr id="14" name="anim-g2-544"/>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يحتاج كهرباء أكثر بكثير، ولو أخذها من الـ Pi يحترق</a:t>
            </a:r>
            <a:endParaRPr lang="ar-SA" sz="1900" dirty="0"/>
          </a:p>
        </p:txBody>
      </p:sp>
      <p:sp>
        <p:nvSpPr>
          <p:cNvPr id="15" name="anim-g3-545"/>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546"/>
          <p:cNvSpPr/>
          <p:nvPr/>
        </p:nvSpPr>
        <p:spPr>
          <a:xfrm>
            <a:off x="3314090" y="2267712"/>
            <a:ext cx="566928" cy="566928"/>
          </a:xfrm>
          <a:prstGeom prst="roundRect">
            <a:avLst>
              <a:gd name="adj" fmla="val 32258"/>
            </a:avLst>
          </a:prstGeom>
          <a:solidFill>
            <a:srgbClr val="F7E6BC"/>
          </a:solidFill>
          <a:ln/>
        </p:spPr>
      </p:sp>
      <p:sp>
        <p:nvSpPr>
          <p:cNvPr id="17" name="anim-g3-547"/>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548"/>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الحل: العضلات</a:t>
            </a:r>
            <a:endParaRPr lang="ar-SA" sz="2200" dirty="0"/>
          </a:p>
        </p:txBody>
      </p:sp>
      <p:sp>
        <p:nvSpPr>
          <p:cNvPr id="19" name="anim-g3-549"/>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لوحة L298N تأخذ الأمر من الـ Pi، والكهرباء من البطارية</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يمشي  ·  ٨٦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Image 0" descr="/Users/mac/dev/younes-training/robot-pi/.pptx-cache/s8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735263" y="457200"/>
            <a:ext cx="2633472" cy="457200"/>
          </a:xfrm>
          <a:prstGeom prst="roundRect">
            <a:avLst>
              <a:gd name="adj" fmla="val 50000"/>
            </a:avLst>
          </a:prstGeom>
          <a:solidFill>
            <a:srgbClr val="F6EBCF"/>
          </a:solidFill>
          <a:ln/>
        </p:spPr>
      </p:sp>
      <p:sp>
        <p:nvSpPr>
          <p:cNvPr id="3" name="Text 1"/>
          <p:cNvSpPr/>
          <p:nvPr/>
        </p:nvSpPr>
        <p:spPr>
          <a:xfrm>
            <a:off x="8735263" y="457200"/>
            <a:ext cx="2633472"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سر الاتجاه</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كيف يغيّر المحرك اتجاهه؟</a:t>
            </a:r>
            <a:endParaRPr lang="ar-SA" sz="3800" dirty="0"/>
          </a:p>
        </p:txBody>
      </p:sp>
      <p:sp>
        <p:nvSpPr>
          <p:cNvPr id="5" name="anim-g1-550"/>
          <p:cNvSpPr/>
          <p:nvPr/>
        </p:nvSpPr>
        <p:spPr>
          <a:xfrm>
            <a:off x="6233008" y="2011680"/>
            <a:ext cx="5135728" cy="4023360"/>
          </a:xfrm>
          <a:prstGeom prst="roundRect">
            <a:avLst>
              <a:gd name="adj" fmla="val 4091"/>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551"/>
          <p:cNvSpPr/>
          <p:nvPr/>
        </p:nvSpPr>
        <p:spPr>
          <a:xfrm>
            <a:off x="10527487" y="2267712"/>
            <a:ext cx="566928" cy="566928"/>
          </a:xfrm>
          <a:prstGeom prst="roundRect">
            <a:avLst>
              <a:gd name="adj" fmla="val 32258"/>
            </a:avLst>
          </a:prstGeom>
          <a:solidFill>
            <a:srgbClr val="F7E6BC"/>
          </a:solidFill>
          <a:ln/>
        </p:spPr>
      </p:sp>
      <p:sp>
        <p:nvSpPr>
          <p:cNvPr id="7" name="anim-g1-552"/>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553"/>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IN1 = ١ و IN2 = ٠</a:t>
            </a:r>
            <a:endParaRPr lang="ar-SA" sz="2200" dirty="0"/>
          </a:p>
        </p:txBody>
      </p:sp>
      <p:sp>
        <p:nvSpPr>
          <p:cNvPr id="9" name="anim-g1-554"/>
          <p:cNvSpPr/>
          <p:nvPr/>
        </p:nvSpPr>
        <p:spPr>
          <a:xfrm>
            <a:off x="6507328" y="3493008"/>
            <a:ext cx="458708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الكهرباء تمر في اتجاه… فيدور المحرك للأمام</a:t>
            </a:r>
            <a:endParaRPr lang="ar-SA" sz="1900" dirty="0"/>
          </a:p>
        </p:txBody>
      </p:sp>
      <p:sp>
        <p:nvSpPr>
          <p:cNvPr id="10" name="anim-g2-555"/>
          <p:cNvSpPr/>
          <p:nvPr/>
        </p:nvSpPr>
        <p:spPr>
          <a:xfrm>
            <a:off x="822960" y="2011680"/>
            <a:ext cx="5135728" cy="4023360"/>
          </a:xfrm>
          <a:prstGeom prst="roundRect">
            <a:avLst>
              <a:gd name="adj" fmla="val 4091"/>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556"/>
          <p:cNvSpPr/>
          <p:nvPr/>
        </p:nvSpPr>
        <p:spPr>
          <a:xfrm>
            <a:off x="5117440" y="2267712"/>
            <a:ext cx="566928" cy="566928"/>
          </a:xfrm>
          <a:prstGeom prst="roundRect">
            <a:avLst>
              <a:gd name="adj" fmla="val 32258"/>
            </a:avLst>
          </a:prstGeom>
          <a:solidFill>
            <a:srgbClr val="F7E6BC"/>
          </a:solidFill>
          <a:ln/>
        </p:spPr>
      </p:sp>
      <p:sp>
        <p:nvSpPr>
          <p:cNvPr id="12" name="anim-g2-557"/>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558"/>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IN1 = ٠ و IN2 = ١</a:t>
            </a:r>
            <a:endParaRPr lang="ar-SA" sz="2200" dirty="0"/>
          </a:p>
        </p:txBody>
      </p:sp>
      <p:sp>
        <p:nvSpPr>
          <p:cNvPr id="14" name="anim-g2-559"/>
          <p:cNvSpPr/>
          <p:nvPr/>
        </p:nvSpPr>
        <p:spPr>
          <a:xfrm>
            <a:off x="1097280" y="3493008"/>
            <a:ext cx="458708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نعكس الكهرباء… فيدور المحرك للخلف</a:t>
            </a:r>
            <a:endParaRPr lang="ar-SA" sz="1900" dirty="0"/>
          </a:p>
        </p:txBody>
      </p:sp>
      <p:sp>
        <p:nvSpPr>
          <p:cNvPr id="15" name="Text 1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16" name="Text 1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يمشي  ·  ٨٨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Image 0" descr="/Users/mac/dev/younes-training/robot-pi/.pptx-cache/s8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Image 0" descr="/Users/mac/dev/younes-training/robot-pi/.pptx-cache/s90-0.jpg"/>
          <p:cNvPicPr>
            <a:picLocks noChangeAspect="1"/>
          </p:cNvPicPr>
          <p:nvPr/>
        </p:nvPicPr>
        <p:blipFill>
          <a:blip r:embed="rId3"/>
          <a:stretch>
            <a:fillRect/>
          </a:stretch>
        </p:blipFill>
        <p:spPr>
          <a:xfrm>
            <a:off x="0" y="0"/>
            <a:ext cx="12191695" cy="6858000"/>
          </a:xfrm>
          <a:prstGeom prst="rect">
            <a:avLst/>
          </a:prstGeom>
        </p:spPr>
      </p:pic>
      <p:pic>
        <p:nvPicPr>
          <p:cNvPr id="3" name="anim-g1-560" descr="/Users/mac/dev/younes-training/robot-pi/.pptx-cache/s90-1.jpg"/>
          <p:cNvPicPr>
            <a:picLocks noChangeAspect="1"/>
          </p:cNvPicPr>
          <p:nvPr/>
        </p:nvPicPr>
        <p:blipFill>
          <a:blip r:embed="rId4"/>
          <a:stretch>
            <a:fillRect/>
          </a:stretch>
        </p:blipFill>
        <p:spPr>
          <a:xfrm>
            <a:off x="0" y="0"/>
            <a:ext cx="12191695" cy="6858000"/>
          </a:xfrm>
          <a:prstGeom prst="rect">
            <a:avLst/>
          </a:prstGeom>
        </p:spPr>
      </p:pic>
      <p:pic>
        <p:nvPicPr>
          <p:cNvPr id="4" name="anim-g2-561" descr="/Users/mac/dev/younes-training/robot-pi/.pptx-cache/s90-2.jpg"/>
          <p:cNvPicPr>
            <a:picLocks noChangeAspect="1"/>
          </p:cNvPicPr>
          <p:nvPr/>
        </p:nvPicPr>
        <p:blipFill>
          <a:blip r:embed="rId5"/>
          <a:stretch>
            <a:fillRect/>
          </a:stretch>
        </p:blipFill>
        <p:spPr>
          <a:xfrm>
            <a:off x="0" y="0"/>
            <a:ext cx="12191695" cy="6858000"/>
          </a:xfrm>
          <a:prstGeom prst="rect">
            <a:avLst/>
          </a:prstGeom>
        </p:spPr>
      </p:pic>
      <p:pic>
        <p:nvPicPr>
          <p:cNvPr id="5" name="anim-g3-562" descr="/Users/mac/dev/younes-training/robot-pi/.pptx-cache/s90-3.jpg"/>
          <p:cNvPicPr>
            <a:picLocks noChangeAspect="1"/>
          </p:cNvPicPr>
          <p:nvPr/>
        </p:nvPicPr>
        <p:blipFill>
          <a:blip r:embed="rId6"/>
          <a:stretch>
            <a:fillRect/>
          </a:stretch>
        </p:blipFill>
        <p:spPr>
          <a:xfrm>
            <a:off x="0" y="0"/>
            <a:ext cx="12191695" cy="6858000"/>
          </a:xfrm>
          <a:prstGeom prst="rect">
            <a:avLst/>
          </a:prstGeom>
        </p:spPr>
      </p:pic>
      <p:pic>
        <p:nvPicPr>
          <p:cNvPr id="6" name="anim-g4-563" descr="/Users/mac/dev/younes-training/robot-pi/.pptx-cache/s90-4.jpg"/>
          <p:cNvPicPr>
            <a:picLocks noChangeAspect="1"/>
          </p:cNvPicPr>
          <p:nvPr/>
        </p:nvPicPr>
        <p:blipFill>
          <a:blip r:embed="rId7"/>
          <a:stretch>
            <a:fillRect/>
          </a:stretch>
        </p:blipFill>
        <p:spPr>
          <a:xfrm>
            <a:off x="0" y="0"/>
            <a:ext cx="12191695" cy="6858000"/>
          </a:xfrm>
          <a:prstGeom prst="rect">
            <a:avLst/>
          </a:prstGeom>
        </p:spPr>
      </p:pic>
      <p:pic>
        <p:nvPicPr>
          <p:cNvPr id="7" name="anim-g5-564" descr="/Users/mac/dev/younes-training/robot-pi/.pptx-cache/s90-5.jpg"/>
          <p:cNvPicPr>
            <a:picLocks noChangeAspect="1"/>
          </p:cNvPicPr>
          <p:nvPr/>
        </p:nvPicPr>
        <p:blipFill>
          <a:blip r:embed="rId8"/>
          <a:stretch>
            <a:fillRect/>
          </a:stretch>
        </p:blipFill>
        <p:spPr>
          <a:xfrm>
            <a:off x="0" y="0"/>
            <a:ext cx="12191695" cy="6858000"/>
          </a:xfrm>
          <a:prstGeom prst="rect">
            <a:avLst/>
          </a:prstGeom>
        </p:spPr>
      </p:pic>
      <p:pic>
        <p:nvPicPr>
          <p:cNvPr id="8" name="anim-g6-565" descr="/Users/mac/dev/younes-training/robot-pi/.pptx-cache/s90-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name="Slide 9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قبل أول تشغيل</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ثلاث قواعد للمحركات</a:t>
            </a:r>
            <a:endParaRPr lang="ar-SA" sz="3800" dirty="0"/>
          </a:p>
        </p:txBody>
      </p:sp>
      <p:sp>
        <p:nvSpPr>
          <p:cNvPr id="5" name="anim-g1-566"/>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567"/>
          <p:cNvSpPr/>
          <p:nvPr/>
        </p:nvSpPr>
        <p:spPr>
          <a:xfrm>
            <a:off x="10527487" y="2267712"/>
            <a:ext cx="566928" cy="566928"/>
          </a:xfrm>
          <a:prstGeom prst="roundRect">
            <a:avLst>
              <a:gd name="adj" fmla="val 32258"/>
            </a:avLst>
          </a:prstGeom>
          <a:solidFill>
            <a:srgbClr val="F7E6BC"/>
          </a:solidFill>
          <a:ln/>
        </p:spPr>
      </p:sp>
      <p:sp>
        <p:nvSpPr>
          <p:cNvPr id="7" name="anim-g1-568"/>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569"/>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ارفع نبيه</a:t>
            </a:r>
            <a:endParaRPr lang="ar-SA" sz="2200" dirty="0"/>
          </a:p>
        </p:txBody>
      </p:sp>
      <p:sp>
        <p:nvSpPr>
          <p:cNvPr id="9" name="anim-g1-570"/>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نضعه على علبة، فتدور العجلات في الهواء ولا يهرب من الطاولة</a:t>
            </a:r>
            <a:endParaRPr lang="ar-SA" sz="1900" dirty="0"/>
          </a:p>
        </p:txBody>
      </p:sp>
      <p:sp>
        <p:nvSpPr>
          <p:cNvPr id="10" name="anim-g2-571"/>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572"/>
          <p:cNvSpPr/>
          <p:nvPr/>
        </p:nvSpPr>
        <p:spPr>
          <a:xfrm>
            <a:off x="6920789" y="2267712"/>
            <a:ext cx="566928" cy="566928"/>
          </a:xfrm>
          <a:prstGeom prst="roundRect">
            <a:avLst>
              <a:gd name="adj" fmla="val 32258"/>
            </a:avLst>
          </a:prstGeom>
          <a:solidFill>
            <a:srgbClr val="F7E6BC"/>
          </a:solidFill>
          <a:ln/>
        </p:spPr>
      </p:sp>
      <p:sp>
        <p:nvSpPr>
          <p:cNvPr id="12" name="anim-g2-573"/>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574"/>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زر Stop جاهز</a:t>
            </a:r>
            <a:endParaRPr lang="ar-SA" sz="2200" dirty="0"/>
          </a:p>
        </p:txBody>
      </p:sp>
      <p:sp>
        <p:nvSpPr>
          <p:cNvPr id="14" name="anim-g2-575"/>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إصبع على زر Stop في Thonny، وإصبع على مفتاح البطارية</a:t>
            </a:r>
            <a:endParaRPr lang="ar-SA" sz="1900" dirty="0"/>
          </a:p>
        </p:txBody>
      </p:sp>
      <p:sp>
        <p:nvSpPr>
          <p:cNvPr id="15" name="anim-g3-576"/>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577"/>
          <p:cNvSpPr/>
          <p:nvPr/>
        </p:nvSpPr>
        <p:spPr>
          <a:xfrm>
            <a:off x="3314090" y="2267712"/>
            <a:ext cx="566928" cy="566928"/>
          </a:xfrm>
          <a:prstGeom prst="roundRect">
            <a:avLst>
              <a:gd name="adj" fmla="val 32258"/>
            </a:avLst>
          </a:prstGeom>
          <a:solidFill>
            <a:srgbClr val="F7E6BC"/>
          </a:solidFill>
          <a:ln/>
        </p:spPr>
      </p:sp>
      <p:sp>
        <p:nvSpPr>
          <p:cNvPr id="17" name="anim-g3-578"/>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579"/>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بطاريتان منفصلتان</a:t>
            </a:r>
            <a:endParaRPr lang="ar-SA" sz="2200" dirty="0"/>
          </a:p>
        </p:txBody>
      </p:sp>
      <p:sp>
        <p:nvSpPr>
          <p:cNvPr id="19" name="anim-g3-580"/>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الباور بانك للعقل، وبطارية الـ 18650 للعضلات</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يمشي  ·  ٩١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Image 0" descr="/Users/mac/dev/younes-training/robot-pi/.pptx-cache/s92-0.jpg"/>
          <p:cNvPicPr>
            <a:picLocks noChangeAspect="1"/>
          </p:cNvPicPr>
          <p:nvPr/>
        </p:nvPicPr>
        <p:blipFill>
          <a:blip r:embed="rId3"/>
          <a:stretch>
            <a:fillRect/>
          </a:stretch>
        </p:blipFill>
        <p:spPr>
          <a:xfrm>
            <a:off x="0" y="0"/>
            <a:ext cx="12191695" cy="6858000"/>
          </a:xfrm>
          <a:prstGeom prst="rect">
            <a:avLst/>
          </a:prstGeom>
        </p:spPr>
      </p:pic>
      <p:pic>
        <p:nvPicPr>
          <p:cNvPr id="3" name="anim-g1-581" descr="/Users/mac/dev/younes-training/robot-pi/.pptx-cache/s92-1.jpg"/>
          <p:cNvPicPr>
            <a:picLocks noChangeAspect="1"/>
          </p:cNvPicPr>
          <p:nvPr/>
        </p:nvPicPr>
        <p:blipFill>
          <a:blip r:embed="rId4"/>
          <a:stretch>
            <a:fillRect/>
          </a:stretch>
        </p:blipFill>
        <p:spPr>
          <a:xfrm>
            <a:off x="0" y="0"/>
            <a:ext cx="12191695" cy="6858000"/>
          </a:xfrm>
          <a:prstGeom prst="rect">
            <a:avLst/>
          </a:prstGeom>
        </p:spPr>
      </p:pic>
      <p:pic>
        <p:nvPicPr>
          <p:cNvPr id="4" name="anim-g2-582" descr="/Users/mac/dev/younes-training/robot-pi/.pptx-cache/s92-2.jpg"/>
          <p:cNvPicPr>
            <a:picLocks noChangeAspect="1"/>
          </p:cNvPicPr>
          <p:nvPr/>
        </p:nvPicPr>
        <p:blipFill>
          <a:blip r:embed="rId5"/>
          <a:stretch>
            <a:fillRect/>
          </a:stretch>
        </p:blipFill>
        <p:spPr>
          <a:xfrm>
            <a:off x="0" y="0"/>
            <a:ext cx="12191695" cy="6858000"/>
          </a:xfrm>
          <a:prstGeom prst="rect">
            <a:avLst/>
          </a:prstGeom>
        </p:spPr>
      </p:pic>
      <p:pic>
        <p:nvPicPr>
          <p:cNvPr id="5" name="anim-g3-583" descr="/Users/mac/dev/younes-training/robot-pi/.pptx-cache/s92-3.jpg"/>
          <p:cNvPicPr>
            <a:picLocks noChangeAspect="1"/>
          </p:cNvPicPr>
          <p:nvPr/>
        </p:nvPicPr>
        <p:blipFill>
          <a:blip r:embed="rId6"/>
          <a:stretch>
            <a:fillRect/>
          </a:stretch>
        </p:blipFill>
        <p:spPr>
          <a:xfrm>
            <a:off x="0" y="0"/>
            <a:ext cx="12191695" cy="6858000"/>
          </a:xfrm>
          <a:prstGeom prst="rect">
            <a:avLst/>
          </a:prstGeom>
        </p:spPr>
      </p:pic>
      <p:pic>
        <p:nvPicPr>
          <p:cNvPr id="6" name="anim-g4-584" descr="/Users/mac/dev/younes-training/robot-pi/.pptx-cache/s92-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Image 0" descr="/Users/mac/dev/younes-training/robot-pi/.pptx-cache/s93-0.jpg"/>
          <p:cNvPicPr>
            <a:picLocks noChangeAspect="1"/>
          </p:cNvPicPr>
          <p:nvPr/>
        </p:nvPicPr>
        <p:blipFill>
          <a:blip r:embed="rId3"/>
          <a:stretch>
            <a:fillRect/>
          </a:stretch>
        </p:blipFill>
        <p:spPr>
          <a:xfrm>
            <a:off x="0" y="0"/>
            <a:ext cx="12191695" cy="6858000"/>
          </a:xfrm>
          <a:prstGeom prst="rect">
            <a:avLst/>
          </a:prstGeom>
        </p:spPr>
      </p:pic>
      <p:pic>
        <p:nvPicPr>
          <p:cNvPr id="3" name="anim-g1-585" descr="/Users/mac/dev/younes-training/robot-pi/.pptx-cache/s93-1.jpg"/>
          <p:cNvPicPr>
            <a:picLocks noChangeAspect="1"/>
          </p:cNvPicPr>
          <p:nvPr/>
        </p:nvPicPr>
        <p:blipFill>
          <a:blip r:embed="rId4"/>
          <a:stretch>
            <a:fillRect/>
          </a:stretch>
        </p:blipFill>
        <p:spPr>
          <a:xfrm>
            <a:off x="0" y="0"/>
            <a:ext cx="12191695" cy="6858000"/>
          </a:xfrm>
          <a:prstGeom prst="rect">
            <a:avLst/>
          </a:prstGeom>
        </p:spPr>
      </p:pic>
      <p:pic>
        <p:nvPicPr>
          <p:cNvPr id="4" name="anim-g2-586" descr="/Users/mac/dev/younes-training/robot-pi/.pptx-cache/s93-2.jpg"/>
          <p:cNvPicPr>
            <a:picLocks noChangeAspect="1"/>
          </p:cNvPicPr>
          <p:nvPr/>
        </p:nvPicPr>
        <p:blipFill>
          <a:blip r:embed="rId5"/>
          <a:stretch>
            <a:fillRect/>
          </a:stretch>
        </p:blipFill>
        <p:spPr>
          <a:xfrm>
            <a:off x="0" y="0"/>
            <a:ext cx="12191695" cy="6858000"/>
          </a:xfrm>
          <a:prstGeom prst="rect">
            <a:avLst/>
          </a:prstGeom>
        </p:spPr>
      </p:pic>
      <p:pic>
        <p:nvPicPr>
          <p:cNvPr id="5" name="anim-g3-587" descr="/Users/mac/dev/younes-training/robot-pi/.pptx-cache/s93-3.jpg"/>
          <p:cNvPicPr>
            <a:picLocks noChangeAspect="1"/>
          </p:cNvPicPr>
          <p:nvPr/>
        </p:nvPicPr>
        <p:blipFill>
          <a:blip r:embed="rId6"/>
          <a:stretch>
            <a:fillRect/>
          </a:stretch>
        </p:blipFill>
        <p:spPr>
          <a:xfrm>
            <a:off x="0" y="0"/>
            <a:ext cx="12191695" cy="6858000"/>
          </a:xfrm>
          <a:prstGeom prst="rect">
            <a:avLst/>
          </a:prstGeom>
        </p:spPr>
      </p:pic>
      <p:pic>
        <p:nvPicPr>
          <p:cNvPr id="6" name="anim-g4-588" descr="/Users/mac/dev/younes-training/robot-pi/.pptx-cache/s93-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name="Slide 9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027871" y="457200"/>
            <a:ext cx="2340864" cy="457200"/>
          </a:xfrm>
          <a:prstGeom prst="roundRect">
            <a:avLst>
              <a:gd name="adj" fmla="val 50000"/>
            </a:avLst>
          </a:prstGeom>
          <a:solidFill>
            <a:srgbClr val="F6EBCF"/>
          </a:solidFill>
          <a:ln/>
        </p:spPr>
      </p:sp>
      <p:sp>
        <p:nvSpPr>
          <p:cNvPr id="3" name="Text 1"/>
          <p:cNvSpPr/>
          <p:nvPr/>
        </p:nvSpPr>
        <p:spPr>
          <a:xfrm>
            <a:off x="9027871" y="457200"/>
            <a:ext cx="234086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المعايرة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نبيه يلف أكثر من اللازم؟ نعايره!</a:t>
            </a:r>
            <a:endParaRPr lang="ar-SA" sz="3800" dirty="0"/>
          </a:p>
        </p:txBody>
      </p:sp>
      <p:sp>
        <p:nvSpPr>
          <p:cNvPr id="5" name="anim-g1-589"/>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590"/>
          <p:cNvSpPr/>
          <p:nvPr/>
        </p:nvSpPr>
        <p:spPr>
          <a:xfrm>
            <a:off x="10527487" y="2267712"/>
            <a:ext cx="566928" cy="566928"/>
          </a:xfrm>
          <a:prstGeom prst="roundRect">
            <a:avLst>
              <a:gd name="adj" fmla="val 32258"/>
            </a:avLst>
          </a:prstGeom>
          <a:solidFill>
            <a:srgbClr val="F7E6BC"/>
          </a:solidFill>
          <a:ln/>
        </p:spPr>
      </p:sp>
      <p:sp>
        <p:nvSpPr>
          <p:cNvPr id="7" name="anim-g1-591"/>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592"/>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STEP_TIME</a:t>
            </a:r>
            <a:endParaRPr lang="ar-SA" sz="2200" dirty="0"/>
          </a:p>
        </p:txBody>
      </p:sp>
      <p:sp>
        <p:nvSpPr>
          <p:cNvPr id="9" name="anim-g1-593"/>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كم ثانية يمشي في الخطوة الواحدة. نريدها ٢٠ سم تقريبًا</a:t>
            </a:r>
            <a:endParaRPr lang="ar-SA" sz="1900" dirty="0"/>
          </a:p>
        </p:txBody>
      </p:sp>
      <p:sp>
        <p:nvSpPr>
          <p:cNvPr id="10" name="anim-g2-594"/>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595"/>
          <p:cNvSpPr/>
          <p:nvPr/>
        </p:nvSpPr>
        <p:spPr>
          <a:xfrm>
            <a:off x="6920789" y="2267712"/>
            <a:ext cx="566928" cy="566928"/>
          </a:xfrm>
          <a:prstGeom prst="roundRect">
            <a:avLst>
              <a:gd name="adj" fmla="val 32258"/>
            </a:avLst>
          </a:prstGeom>
          <a:solidFill>
            <a:srgbClr val="F7E6BC"/>
          </a:solidFill>
          <a:ln/>
        </p:spPr>
      </p:sp>
      <p:sp>
        <p:nvSpPr>
          <p:cNvPr id="12" name="anim-g2-596"/>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597"/>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TURN_TIME</a:t>
            </a:r>
            <a:endParaRPr lang="ar-SA" sz="2200" dirty="0"/>
          </a:p>
        </p:txBody>
      </p:sp>
      <p:sp>
        <p:nvSpPr>
          <p:cNvPr id="14" name="anim-g2-598"/>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كم ثانية يحتاج ليلف ربع دائرة بالضبط</a:t>
            </a:r>
            <a:endParaRPr lang="ar-SA" sz="1900" dirty="0"/>
          </a:p>
        </p:txBody>
      </p:sp>
      <p:sp>
        <p:nvSpPr>
          <p:cNvPr id="15" name="anim-g3-599"/>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600"/>
          <p:cNvSpPr/>
          <p:nvPr/>
        </p:nvSpPr>
        <p:spPr>
          <a:xfrm>
            <a:off x="3314090" y="2267712"/>
            <a:ext cx="566928" cy="566928"/>
          </a:xfrm>
          <a:prstGeom prst="roundRect">
            <a:avLst>
              <a:gd name="adj" fmla="val 32258"/>
            </a:avLst>
          </a:prstGeom>
          <a:solidFill>
            <a:srgbClr val="F7E6BC"/>
          </a:solidFill>
          <a:ln/>
        </p:spPr>
      </p:sp>
      <p:sp>
        <p:nvSpPr>
          <p:cNvPr id="17" name="anim-g3-601"/>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602"/>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set_speed(5)</a:t>
            </a:r>
            <a:endParaRPr lang="ar-SA" sz="2200" dirty="0"/>
          </a:p>
        </p:txBody>
      </p:sp>
      <p:sp>
        <p:nvSpPr>
          <p:cNvPr id="19" name="anim-g3-603"/>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سرعة من ١ إلى ١٠. نبدأ بطيئًا، ثم نسرّع</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يمشي  ·  ٩٤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name="Slide 9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كيف يلف نبيه يمينًا وليس له مقود؟</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تدور العجلتان للأمام</a:t>
            </a:r>
            <a:endParaRPr lang="ar-SA" sz="2500" dirty="0"/>
          </a:p>
        </p:txBody>
      </p:sp>
      <p:sp>
        <p:nvSpPr>
          <p:cNvPr id="9" name="anim-g1-604"/>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605"/>
          <p:cNvSpPr/>
          <p:nvPr/>
        </p:nvSpPr>
        <p:spPr>
          <a:xfrm>
            <a:off x="10231831" y="2194560"/>
            <a:ext cx="954024" cy="954024"/>
          </a:xfrm>
          <a:prstGeom prst="roundRect">
            <a:avLst>
              <a:gd name="adj" fmla="val 11502"/>
            </a:avLst>
          </a:prstGeom>
          <a:solidFill>
            <a:srgbClr val="A3A9BA"/>
          </a:solidFill>
          <a:ln/>
        </p:spPr>
      </p:sp>
      <p:sp>
        <p:nvSpPr>
          <p:cNvPr id="11" name="anim-g1-606"/>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607"/>
          <p:cNvSpPr/>
          <p:nvPr/>
        </p:nvSpPr>
        <p:spPr>
          <a:xfrm>
            <a:off x="1097280" y="2093976"/>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تدور العجلتان للأمام</a:t>
            </a:r>
            <a:endParaRPr lang="ar-SA" sz="2400" dirty="0"/>
          </a:p>
        </p:txBody>
      </p:sp>
      <p:sp>
        <p:nvSpPr>
          <p:cNvPr id="13" name="anim-g1-608"/>
          <p:cNvSpPr/>
          <p:nvPr/>
        </p:nvSpPr>
        <p:spPr>
          <a:xfrm>
            <a:off x="1097280" y="2720706"/>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هكذا يمشي للأمام</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تتوقف العجلتان</a:t>
            </a:r>
            <a:endParaRPr lang="ar-SA" sz="2500" dirty="0"/>
          </a:p>
        </p:txBody>
      </p:sp>
      <p:sp>
        <p:nvSpPr>
          <p:cNvPr id="18" name="anim-g1-609"/>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610"/>
          <p:cNvSpPr/>
          <p:nvPr/>
        </p:nvSpPr>
        <p:spPr>
          <a:xfrm>
            <a:off x="10231831" y="3569208"/>
            <a:ext cx="954024" cy="954024"/>
          </a:xfrm>
          <a:prstGeom prst="roundRect">
            <a:avLst>
              <a:gd name="adj" fmla="val 11502"/>
            </a:avLst>
          </a:prstGeom>
          <a:solidFill>
            <a:srgbClr val="A3A9BA"/>
          </a:solidFill>
          <a:ln/>
        </p:spPr>
      </p:sp>
      <p:sp>
        <p:nvSpPr>
          <p:cNvPr id="20" name="anim-g1-611"/>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612"/>
          <p:cNvSpPr/>
          <p:nvPr/>
        </p:nvSpPr>
        <p:spPr>
          <a:xfrm>
            <a:off x="1097280" y="3468624"/>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تتوقف العجلتان</a:t>
            </a:r>
            <a:endParaRPr lang="ar-SA" sz="2400" dirty="0"/>
          </a:p>
        </p:txBody>
      </p:sp>
      <p:sp>
        <p:nvSpPr>
          <p:cNvPr id="22" name="anim-g1-613"/>
          <p:cNvSpPr/>
          <p:nvPr/>
        </p:nvSpPr>
        <p:spPr>
          <a:xfrm>
            <a:off x="1097280" y="4095354"/>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هكذا يقف مكانه</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اليسرى للأمام، واليمنى للخلف</a:t>
            </a:r>
            <a:endParaRPr lang="ar-SA" sz="2500" dirty="0"/>
          </a:p>
        </p:txBody>
      </p:sp>
      <p:sp>
        <p:nvSpPr>
          <p:cNvPr id="27" name="anim-g1-614"/>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615"/>
          <p:cNvSpPr/>
          <p:nvPr/>
        </p:nvSpPr>
        <p:spPr>
          <a:xfrm>
            <a:off x="10231831" y="4943856"/>
            <a:ext cx="954024" cy="954024"/>
          </a:xfrm>
          <a:prstGeom prst="roundRect">
            <a:avLst>
              <a:gd name="adj" fmla="val 11502"/>
            </a:avLst>
          </a:prstGeom>
          <a:solidFill>
            <a:srgbClr val="2E9E6B"/>
          </a:solidFill>
          <a:ln/>
        </p:spPr>
      </p:sp>
      <p:sp>
        <p:nvSpPr>
          <p:cNvPr id="29" name="anim-g1-616"/>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617"/>
          <p:cNvSpPr/>
          <p:nvPr/>
        </p:nvSpPr>
        <p:spPr>
          <a:xfrm>
            <a:off x="1097280" y="4843272"/>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131B34"/>
                </a:solidFill>
                <a:latin typeface="Cairo" pitchFamily="34" charset="0"/>
                <a:ea typeface="Cairo" pitchFamily="34" charset="-122"/>
                <a:cs typeface="Cairo" pitchFamily="34" charset="-120"/>
              </a:rPr>
              <a:t>اليسرى للأمام، واليمنى للخلف</a:t>
            </a:r>
            <a:endParaRPr lang="ar-SA" sz="2400" dirty="0"/>
          </a:p>
        </p:txBody>
      </p:sp>
      <p:sp>
        <p:nvSpPr>
          <p:cNvPr id="31" name="anim-g1-618"/>
          <p:cNvSpPr/>
          <p:nvPr/>
        </p:nvSpPr>
        <p:spPr>
          <a:xfrm>
            <a:off x="1097280" y="5470002"/>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1D5E40"/>
                </a:solidFill>
                <a:latin typeface="Cairo" pitchFamily="34" charset="0"/>
                <a:ea typeface="Cairo" pitchFamily="34" charset="-122"/>
                <a:cs typeface="Cairo" pitchFamily="34" charset="-120"/>
              </a:rPr>
              <a:t>صحيح! فيدور حول نفسه مثل الدبابة 🔄</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يمشي  ·  ٩٥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name="Slide 9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لماذا لا نوصل المحرك بدبوس الـ Pi مباشرة؟</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لأنه يحتاج كهرباء أكثر مما يعطيه الدبوس</a:t>
            </a:r>
            <a:endParaRPr lang="ar-SA" sz="2500" dirty="0"/>
          </a:p>
        </p:txBody>
      </p:sp>
      <p:sp>
        <p:nvSpPr>
          <p:cNvPr id="9" name="anim-g1-619"/>
          <p:cNvSpPr/>
          <p:nvPr/>
        </p:nvSpPr>
        <p:spPr>
          <a:xfrm>
            <a:off x="822960" y="2057400"/>
            <a:ext cx="10545775" cy="1228344"/>
          </a:xfrm>
          <a:prstGeom prst="roundRect">
            <a:avLst>
              <a:gd name="adj" fmla="val 11911"/>
            </a:avLst>
          </a:prstGeom>
          <a:solidFill>
            <a:srgbClr val="E6F4EC"/>
          </a:solidFill>
          <a:ln w="31750">
            <a:solidFill>
              <a:srgbClr val="2E9E6B"/>
            </a:solidFill>
            <a:prstDash val="solid"/>
          </a:ln>
        </p:spPr>
      </p:sp>
      <p:sp>
        <p:nvSpPr>
          <p:cNvPr id="10" name="anim-g1-620"/>
          <p:cNvSpPr/>
          <p:nvPr/>
        </p:nvSpPr>
        <p:spPr>
          <a:xfrm>
            <a:off x="10231831" y="2194560"/>
            <a:ext cx="954024" cy="954024"/>
          </a:xfrm>
          <a:prstGeom prst="roundRect">
            <a:avLst>
              <a:gd name="adj" fmla="val 11502"/>
            </a:avLst>
          </a:prstGeom>
          <a:solidFill>
            <a:srgbClr val="2E9E6B"/>
          </a:solidFill>
          <a:ln/>
        </p:spPr>
      </p:sp>
      <p:sp>
        <p:nvSpPr>
          <p:cNvPr id="11" name="anim-g1-621"/>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12" name="anim-g1-622"/>
          <p:cNvSpPr/>
          <p:nvPr/>
        </p:nvSpPr>
        <p:spPr>
          <a:xfrm>
            <a:off x="1097280" y="2093976"/>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131B34"/>
                </a:solidFill>
                <a:latin typeface="Cairo" pitchFamily="34" charset="0"/>
                <a:ea typeface="Cairo" pitchFamily="34" charset="-122"/>
                <a:cs typeface="Cairo" pitchFamily="34" charset="-120"/>
              </a:rPr>
              <a:t>لأنه يحتاج كهرباء أكثر مما يعطيه الدبوس</a:t>
            </a:r>
            <a:endParaRPr lang="ar-SA" sz="2400" dirty="0"/>
          </a:p>
        </p:txBody>
      </p:sp>
      <p:sp>
        <p:nvSpPr>
          <p:cNvPr id="13" name="anim-g1-623"/>
          <p:cNvSpPr/>
          <p:nvPr/>
        </p:nvSpPr>
        <p:spPr>
          <a:xfrm>
            <a:off x="1097280" y="2720706"/>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1D5E40"/>
                </a:solidFill>
                <a:latin typeface="Cairo" pitchFamily="34" charset="0"/>
                <a:ea typeface="Cairo" pitchFamily="34" charset="-122"/>
                <a:cs typeface="Cairo" pitchFamily="34" charset="-120"/>
              </a:rPr>
              <a:t>صحيح! لذلك نستعمل لوحة العضلات والبطارية 💪</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لأن المحرك لا يفهم Python</a:t>
            </a:r>
            <a:endParaRPr lang="ar-SA" sz="2500" dirty="0"/>
          </a:p>
        </p:txBody>
      </p:sp>
      <p:sp>
        <p:nvSpPr>
          <p:cNvPr id="18" name="anim-g1-624"/>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625"/>
          <p:cNvSpPr/>
          <p:nvPr/>
        </p:nvSpPr>
        <p:spPr>
          <a:xfrm>
            <a:off x="10231831" y="3569208"/>
            <a:ext cx="954024" cy="954024"/>
          </a:xfrm>
          <a:prstGeom prst="roundRect">
            <a:avLst>
              <a:gd name="adj" fmla="val 11502"/>
            </a:avLst>
          </a:prstGeom>
          <a:solidFill>
            <a:srgbClr val="A3A9BA"/>
          </a:solidFill>
          <a:ln/>
        </p:spPr>
      </p:sp>
      <p:sp>
        <p:nvSpPr>
          <p:cNvPr id="20" name="anim-g1-626"/>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627"/>
          <p:cNvSpPr/>
          <p:nvPr/>
        </p:nvSpPr>
        <p:spPr>
          <a:xfrm>
            <a:off x="1097280" y="3468624"/>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لأن المحرك لا يفهم Python</a:t>
            </a:r>
            <a:endParaRPr lang="ar-SA" sz="2400" dirty="0"/>
          </a:p>
        </p:txBody>
      </p:sp>
      <p:sp>
        <p:nvSpPr>
          <p:cNvPr id="22" name="anim-g1-628"/>
          <p:cNvSpPr/>
          <p:nvPr/>
        </p:nvSpPr>
        <p:spPr>
          <a:xfrm>
            <a:off x="1097280" y="4095354"/>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المحرك لا يفهم أي برمجة، بل يدور مع الكهرباء فقط</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لأن لونه مختلف</a:t>
            </a:r>
            <a:endParaRPr lang="ar-SA" sz="2500" dirty="0"/>
          </a:p>
        </p:txBody>
      </p:sp>
      <p:sp>
        <p:nvSpPr>
          <p:cNvPr id="27" name="anim-g1-629"/>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630"/>
          <p:cNvSpPr/>
          <p:nvPr/>
        </p:nvSpPr>
        <p:spPr>
          <a:xfrm>
            <a:off x="10231831" y="4943856"/>
            <a:ext cx="954024" cy="954024"/>
          </a:xfrm>
          <a:prstGeom prst="roundRect">
            <a:avLst>
              <a:gd name="adj" fmla="val 11502"/>
            </a:avLst>
          </a:prstGeom>
          <a:solidFill>
            <a:srgbClr val="A3A9BA"/>
          </a:solidFill>
          <a:ln/>
        </p:spPr>
      </p:sp>
      <p:sp>
        <p:nvSpPr>
          <p:cNvPr id="29" name="anim-g1-631"/>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632"/>
          <p:cNvSpPr/>
          <p:nvPr/>
        </p:nvSpPr>
        <p:spPr>
          <a:xfrm>
            <a:off x="1097280" y="4843272"/>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لأن لونه مختلف</a:t>
            </a:r>
            <a:endParaRPr lang="ar-SA" sz="2400" dirty="0"/>
          </a:p>
        </p:txBody>
      </p:sp>
      <p:sp>
        <p:nvSpPr>
          <p:cNvPr id="31" name="anim-g1-633"/>
          <p:cNvSpPr/>
          <p:nvPr/>
        </p:nvSpPr>
        <p:spPr>
          <a:xfrm>
            <a:off x="1097280" y="5470002"/>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اللون لا علاقة له</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يمشي  ·  ٩٦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Image 0" descr="/Users/mac/dev/younes-training/robot-pi/.pptx-cache/s9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979615" y="457200"/>
            <a:ext cx="438912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6979615" y="457200"/>
            <a:ext cx="438912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 تحدّي الفرق — ١٥ دقيقة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F0CC7A"/>
                </a:solidFill>
                <a:latin typeface="Cairo Black" pitchFamily="34" charset="0"/>
                <a:ea typeface="Cairo Black" pitchFamily="34" charset="-122"/>
                <a:cs typeface="Cairo Black" pitchFamily="34" charset="-120"/>
              </a:rPr>
              <a:t>رقصة الفريق!</a:t>
            </a:r>
            <a:endParaRPr lang="ar-SA" sz="3800" dirty="0"/>
          </a:p>
        </p:txBody>
      </p:sp>
      <p:sp>
        <p:nvSpPr>
          <p:cNvPr id="5" name="anim-g1-634"/>
          <p:cNvSpPr/>
          <p:nvPr/>
        </p:nvSpPr>
        <p:spPr>
          <a:xfrm>
            <a:off x="10637215" y="2286000"/>
            <a:ext cx="731520" cy="731520"/>
          </a:xfrm>
          <a:prstGeom prst="ellipse">
            <a:avLst/>
          </a:prstGeom>
          <a:solidFill>
            <a:srgbClr val="D9AE4B"/>
          </a:solidFill>
          <a:ln/>
        </p:spPr>
      </p:sp>
      <p:sp>
        <p:nvSpPr>
          <p:cNvPr id="6" name="anim-g1-635"/>
          <p:cNvSpPr/>
          <p:nvPr/>
        </p:nvSpPr>
        <p:spPr>
          <a:xfrm>
            <a:off x="10637215" y="228600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636"/>
          <p:cNvSpPr/>
          <p:nvPr/>
        </p:nvSpPr>
        <p:spPr>
          <a:xfrm>
            <a:off x="4023360" y="219456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صمّموا رقصة لنبيه تتكون من ١٠ حركات على الأقل</a:t>
            </a:r>
            <a:endParaRPr lang="ar-SA" sz="2200" dirty="0"/>
          </a:p>
        </p:txBody>
      </p:sp>
      <p:sp>
        <p:nvSpPr>
          <p:cNvPr id="8" name="anim-g2-637"/>
          <p:cNvSpPr/>
          <p:nvPr/>
        </p:nvSpPr>
        <p:spPr>
          <a:xfrm>
            <a:off x="10637215" y="3383280"/>
            <a:ext cx="731520" cy="731520"/>
          </a:xfrm>
          <a:prstGeom prst="ellipse">
            <a:avLst/>
          </a:prstGeom>
          <a:solidFill>
            <a:srgbClr val="D9AE4B"/>
          </a:solidFill>
          <a:ln/>
        </p:spPr>
      </p:sp>
      <p:sp>
        <p:nvSpPr>
          <p:cNvPr id="9" name="anim-g2-638"/>
          <p:cNvSpPr/>
          <p:nvPr/>
        </p:nvSpPr>
        <p:spPr>
          <a:xfrm>
            <a:off x="10637215" y="338328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639"/>
          <p:cNvSpPr/>
          <p:nvPr/>
        </p:nvSpPr>
        <p:spPr>
          <a:xfrm>
            <a:off x="4023360" y="329184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استعملوا for مرة واحدة على الأقل</a:t>
            </a:r>
            <a:endParaRPr lang="ar-SA" sz="2200" dirty="0"/>
          </a:p>
        </p:txBody>
      </p:sp>
      <p:sp>
        <p:nvSpPr>
          <p:cNvPr id="11" name="anim-g3-640"/>
          <p:cNvSpPr/>
          <p:nvPr/>
        </p:nvSpPr>
        <p:spPr>
          <a:xfrm>
            <a:off x="10637215" y="4480560"/>
            <a:ext cx="731520" cy="731520"/>
          </a:xfrm>
          <a:prstGeom prst="ellipse">
            <a:avLst/>
          </a:prstGeom>
          <a:solidFill>
            <a:srgbClr val="D9AE4B"/>
          </a:solidFill>
          <a:ln/>
        </p:spPr>
      </p:sp>
      <p:sp>
        <p:nvSpPr>
          <p:cNvPr id="12" name="anim-g3-641"/>
          <p:cNvSpPr/>
          <p:nvPr/>
        </p:nvSpPr>
        <p:spPr>
          <a:xfrm>
            <a:off x="10637215" y="448056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642"/>
          <p:cNvSpPr/>
          <p:nvPr/>
        </p:nvSpPr>
        <p:spPr>
          <a:xfrm>
            <a:off x="4023360" y="438912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اجعلوا نبيه يقول جملة في البداية والنهاية</a:t>
            </a:r>
            <a:endParaRPr lang="ar-SA" sz="2200" dirty="0"/>
          </a:p>
        </p:txBody>
      </p:sp>
      <p:sp>
        <p:nvSpPr>
          <p:cNvPr id="14" name="anim-g4-643"/>
          <p:cNvSpPr/>
          <p:nvPr/>
        </p:nvSpPr>
        <p:spPr>
          <a:xfrm>
            <a:off x="10637215" y="5577840"/>
            <a:ext cx="731520" cy="731520"/>
          </a:xfrm>
          <a:prstGeom prst="ellipse">
            <a:avLst/>
          </a:prstGeom>
          <a:solidFill>
            <a:srgbClr val="D9AE4B"/>
          </a:solidFill>
          <a:ln/>
        </p:spPr>
      </p:sp>
      <p:sp>
        <p:nvSpPr>
          <p:cNvPr id="15" name="anim-g4-644"/>
          <p:cNvSpPr/>
          <p:nvPr/>
        </p:nvSpPr>
        <p:spPr>
          <a:xfrm>
            <a:off x="10637215" y="557784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٤</a:t>
            </a:r>
            <a:endParaRPr lang="ar-SA" sz="2400" dirty="0"/>
          </a:p>
        </p:txBody>
      </p:sp>
      <p:sp>
        <p:nvSpPr>
          <p:cNvPr id="16" name="anim-g4-645"/>
          <p:cNvSpPr/>
          <p:nvPr/>
        </p:nvSpPr>
        <p:spPr>
          <a:xfrm>
            <a:off x="4023360" y="548640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اعرضوا الرقصة… والفصل يصوّت لأجمل رقصة 🏆</a:t>
            </a:r>
            <a:endParaRPr lang="ar-SA" sz="2200" dirty="0"/>
          </a:p>
        </p:txBody>
      </p:sp>
      <p:sp>
        <p:nvSpPr>
          <p:cNvPr id="17" name="Shape 15"/>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8" name="Text 16"/>
          <p:cNvSpPr/>
          <p:nvPr/>
        </p:nvSpPr>
        <p:spPr>
          <a:xfrm>
            <a:off x="822960" y="2834640"/>
            <a:ext cx="2834640" cy="1097280"/>
          </a:xfrm>
          <a:prstGeom prst="rect">
            <a:avLst/>
          </a:prstGeom>
          <a:noFill/>
          <a:ln/>
        </p:spPr>
        <p:txBody>
          <a:bodyPr wrap="square" lIns="0" tIns="0" rIns="0" bIns="0" rtlCol="0" anchor="ctr">
            <a:normAutofit/>
          </a:bodyPr>
          <a:lstStyle/>
          <a:p>
            <a:pPr marL="0" indent="0" algn="ctr">
              <a:buNone/>
            </a:pPr>
            <a:r>
              <a:rPr lang="ar-SA" altLang="en-US" sz="6000" dirty="0">
                <a:solidFill>
                  <a:srgbClr val="F0CC7A"/>
                </a:solidFill>
                <a:latin typeface="Cairo Black" pitchFamily="34" charset="0"/>
                <a:ea typeface="Cairo Black" pitchFamily="34" charset="-122"/>
                <a:cs typeface="Cairo Black" pitchFamily="34" charset="-120"/>
              </a:rPr>
              <a:t>15:00</a:t>
            </a:r>
            <a:endParaRPr lang="ar-SA" sz="6000" dirty="0"/>
          </a:p>
        </p:txBody>
      </p:sp>
      <p:sp>
        <p:nvSpPr>
          <p:cNvPr id="19" name="Text 17"/>
          <p:cNvSpPr/>
          <p:nvPr/>
        </p:nvSpPr>
        <p:spPr>
          <a:xfrm>
            <a:off x="822960" y="3840480"/>
            <a:ext cx="2834640" cy="457200"/>
          </a:xfrm>
          <a:prstGeom prst="rect">
            <a:avLst/>
          </a:prstGeom>
          <a:noFill/>
          <a:ln/>
        </p:spPr>
        <p:txBody>
          <a:bodyPr wrap="square" lIns="0" tIns="0" rIns="0" bIns="0" rtlCol="0" anchor="ctr">
            <a:normAutofit/>
          </a:bodyPr>
          <a:lstStyle/>
          <a:p>
            <a:pPr marL="0" indent="0" algn="ctr" rtl="1">
              <a:buNone/>
            </a:pPr>
            <a:r>
              <a:rPr lang="ar-SA" altLang="en-US" sz="1600" b="1" dirty="0">
                <a:solidFill>
                  <a:srgbClr val="C9CFE6"/>
                </a:solidFill>
                <a:latin typeface="Cairo" pitchFamily="34" charset="0"/>
                <a:ea typeface="Cairo" pitchFamily="34" charset="-122"/>
                <a:cs typeface="Cairo" pitchFamily="34" charset="-120"/>
              </a:rPr>
              <a:t>١٥ دقائق</a:t>
            </a:r>
            <a:endParaRPr lang="ar-SA" sz="16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نبيه يمشي  ·  ٩٨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Image 0" descr="/Users/mac/dev/younes-training/robot-pi/.pptx-cache/s9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marL="0" indent="0" algn="ctr" rtl="1">
              <a:buNone/>
            </a:pPr>
            <a:r>
              <a:rPr lang="ar-SA" altLang="en-US" sz="8000" dirty="0">
                <a:solidFill>
                  <a:srgbClr val="FFF3D6"/>
                </a:solidFill>
                <a:latin typeface="Cairo Black" pitchFamily="34" charset="0"/>
                <a:ea typeface="Cairo Black" pitchFamily="34" charset="-122"/>
                <a:cs typeface="Cairo Black" pitchFamily="34" charset="-120"/>
              </a:rPr>
              <a:t>نبيه يمشي! 🚗</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في الوحدة القادمة: نعطيه «حاسّة الخفاش» فلا يصطدم بالجدار 🦇</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C9CFE6"/>
                </a:solidFill>
                <a:latin typeface="Cairo" pitchFamily="34" charset="0"/>
                <a:ea typeface="Cairo" pitchFamily="34" charset="-122"/>
                <a:cs typeface="Cairo" pitchFamily="34" charset="-120"/>
              </a:rPr>
              <a:t>روبوتي الذكي · إعداد وتقديم: أ. محمد زيتون</a:t>
            </a:r>
            <a:endParaRPr lang="ar-SA" sz="18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marL="0" indent="0" algn="ctr" rtl="1">
              <a:buNone/>
            </a:pPr>
            <a:r>
              <a:rPr lang="ar-SA" altLang="en-US" sz="12000" dirty="0">
                <a:solidFill>
                  <a:srgbClr val="F0CC7A"/>
                </a:solidFill>
                <a:latin typeface="Cairo Black" pitchFamily="34" charset="0"/>
                <a:ea typeface="Cairo Black" pitchFamily="34" charset="-122"/>
                <a:cs typeface="Cairo Black" pitchFamily="34" charset="-120"/>
              </a:rPr>
              <a:t>٦</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marL="0" indent="0" algn="r" rtl="1">
              <a:buNone/>
            </a:pPr>
            <a:r>
              <a:rPr lang="ar-SA" altLang="en-US" sz="2000" b="1" dirty="0">
                <a:solidFill>
                  <a:srgbClr val="D9AE4B"/>
                </a:solidFill>
                <a:latin typeface="Cairo" pitchFamily="34" charset="0"/>
                <a:ea typeface="Cairo" pitchFamily="34" charset="-122"/>
                <a:cs typeface="Cairo" pitchFamily="34" charset="-120"/>
              </a:rPr>
              <a:t>الوحدة ٦</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marL="0" indent="0" algn="r" rtl="1">
              <a:buNone/>
            </a:pPr>
            <a:r>
              <a:rPr lang="ar-SA" altLang="en-US" sz="5600" dirty="0">
                <a:solidFill>
                  <a:srgbClr val="FFFFFF"/>
                </a:solidFill>
                <a:latin typeface="Cairo Black" pitchFamily="34" charset="0"/>
                <a:ea typeface="Cairo Black" pitchFamily="34" charset="-122"/>
                <a:cs typeface="Cairo Black" pitchFamily="34" charset="-120"/>
              </a:rPr>
              <a:t>نبيه يحس بالجدار</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marL="0" indent="0" algn="r" rtl="1">
              <a:buNone/>
            </a:pPr>
            <a:r>
              <a:rPr lang="ar-SA" altLang="en-US" sz="2200" b="1" dirty="0">
                <a:solidFill>
                  <a:srgbClr val="C9CFE6"/>
                </a:solidFill>
                <a:latin typeface="Cairo" pitchFamily="34" charset="0"/>
                <a:ea typeface="Cairo" pitchFamily="34" charset="-122"/>
                <a:cs typeface="Cairo" pitchFamily="34" charset="-120"/>
              </a:rPr>
              <a:t>نعطيه «حاسّة الخفاش»… فيتجول وحده دون أن يصطدم 🦇</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حاسّة الخفاش  ·  ١٠١</a:t>
            </a:r>
            <a:endParaRPr lang="ar-SA" sz="12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مهمتي اليوم</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بنهاية هذه الوحدة سأستطيع أن</a:t>
            </a:r>
            <a:endParaRPr lang="ar-SA" sz="3800" dirty="0"/>
          </a:p>
        </p:txBody>
      </p:sp>
      <p:sp>
        <p:nvSpPr>
          <p:cNvPr id="5" name="anim-g1-646"/>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647"/>
          <p:cNvSpPr/>
          <p:nvPr/>
        </p:nvSpPr>
        <p:spPr>
          <a:xfrm>
            <a:off x="10573207" y="2109978"/>
            <a:ext cx="566928" cy="566928"/>
          </a:xfrm>
          <a:prstGeom prst="ellipse">
            <a:avLst/>
          </a:prstGeom>
          <a:solidFill>
            <a:srgbClr val="D9AE4B"/>
          </a:solidFill>
          <a:ln/>
        </p:spPr>
      </p:sp>
      <p:sp>
        <p:nvSpPr>
          <p:cNvPr id="7" name="anim-g1-648"/>
          <p:cNvSpPr/>
          <p:nvPr/>
        </p:nvSpPr>
        <p:spPr>
          <a:xfrm>
            <a:off x="10573207" y="2109978"/>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649"/>
          <p:cNvSpPr/>
          <p:nvPr/>
        </p:nvSpPr>
        <p:spPr>
          <a:xfrm>
            <a:off x="1097280" y="1920240"/>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أشرح كيف يقيس الخفاش (ونبيه) المسافة بالصدى</a:t>
            </a:r>
            <a:endParaRPr lang="ar-SA" sz="2400" dirty="0"/>
          </a:p>
        </p:txBody>
      </p:sp>
      <p:sp>
        <p:nvSpPr>
          <p:cNvPr id="9" name="anim-g2-650"/>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651"/>
          <p:cNvSpPr/>
          <p:nvPr/>
        </p:nvSpPr>
        <p:spPr>
          <a:xfrm>
            <a:off x="10573207" y="3166110"/>
            <a:ext cx="566928" cy="566928"/>
          </a:xfrm>
          <a:prstGeom prst="ellipse">
            <a:avLst/>
          </a:prstGeom>
          <a:solidFill>
            <a:srgbClr val="D9AE4B"/>
          </a:solidFill>
          <a:ln/>
        </p:spPr>
      </p:sp>
      <p:sp>
        <p:nvSpPr>
          <p:cNvPr id="11" name="anim-g2-652"/>
          <p:cNvSpPr/>
          <p:nvPr/>
        </p:nvSpPr>
        <p:spPr>
          <a:xfrm>
            <a:off x="10573207" y="3166110"/>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653"/>
          <p:cNvSpPr/>
          <p:nvPr/>
        </p:nvSpPr>
        <p:spPr>
          <a:xfrm>
            <a:off x="1097280" y="2976372"/>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أحمي الـ Pi بمقسّم الجهد</a:t>
            </a:r>
            <a:endParaRPr lang="ar-SA" sz="2400" dirty="0"/>
          </a:p>
        </p:txBody>
      </p:sp>
      <p:sp>
        <p:nvSpPr>
          <p:cNvPr id="13" name="anim-g3-654"/>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655"/>
          <p:cNvSpPr/>
          <p:nvPr/>
        </p:nvSpPr>
        <p:spPr>
          <a:xfrm>
            <a:off x="10573207" y="4222242"/>
            <a:ext cx="566928" cy="566928"/>
          </a:xfrm>
          <a:prstGeom prst="ellipse">
            <a:avLst/>
          </a:prstGeom>
          <a:solidFill>
            <a:srgbClr val="D9AE4B"/>
          </a:solidFill>
          <a:ln/>
        </p:spPr>
      </p:sp>
      <p:sp>
        <p:nvSpPr>
          <p:cNvPr id="15" name="anim-g3-656"/>
          <p:cNvSpPr/>
          <p:nvPr/>
        </p:nvSpPr>
        <p:spPr>
          <a:xfrm>
            <a:off x="10573207" y="4222242"/>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657"/>
          <p:cNvSpPr/>
          <p:nvPr/>
        </p:nvSpPr>
        <p:spPr>
          <a:xfrm>
            <a:off x="1097280" y="4032504"/>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أقرأ المسافة بأمر nabeeh.distance()</a:t>
            </a:r>
            <a:endParaRPr lang="ar-SA" sz="2400" dirty="0"/>
          </a:p>
        </p:txBody>
      </p:sp>
      <p:sp>
        <p:nvSpPr>
          <p:cNvPr id="17" name="anim-g4-658"/>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659"/>
          <p:cNvSpPr/>
          <p:nvPr/>
        </p:nvSpPr>
        <p:spPr>
          <a:xfrm>
            <a:off x="10573207" y="5278374"/>
            <a:ext cx="566928" cy="566928"/>
          </a:xfrm>
          <a:prstGeom prst="ellipse">
            <a:avLst/>
          </a:prstGeom>
          <a:solidFill>
            <a:srgbClr val="D9AE4B"/>
          </a:solidFill>
          <a:ln/>
        </p:spPr>
      </p:sp>
      <p:sp>
        <p:nvSpPr>
          <p:cNvPr id="19" name="anim-g4-660"/>
          <p:cNvSpPr/>
          <p:nvPr/>
        </p:nvSpPr>
        <p:spPr>
          <a:xfrm>
            <a:off x="10573207" y="5278374"/>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661"/>
          <p:cNvSpPr/>
          <p:nvPr/>
        </p:nvSpPr>
        <p:spPr>
          <a:xfrm>
            <a:off x="1097280" y="5088636"/>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أجعل نبيه يتجول وحده دون أن يصطدم</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حاسّة الخفاش  ·  ١٠٢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name="Slide 10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735263" y="457200"/>
            <a:ext cx="2633472" cy="457200"/>
          </a:xfrm>
          <a:prstGeom prst="roundRect">
            <a:avLst>
              <a:gd name="adj" fmla="val 50000"/>
            </a:avLst>
          </a:prstGeom>
          <a:solidFill>
            <a:srgbClr val="F6EBCF"/>
          </a:solidFill>
          <a:ln/>
        </p:spPr>
      </p:sp>
      <p:sp>
        <p:nvSpPr>
          <p:cNvPr id="3" name="Text 1"/>
          <p:cNvSpPr/>
          <p:nvPr/>
        </p:nvSpPr>
        <p:spPr>
          <a:xfrm>
            <a:off x="8735263" y="457200"/>
            <a:ext cx="2633472"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من الطبيعة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كيف يطير الخفاش في الظلام؟</a:t>
            </a:r>
            <a:endParaRPr lang="ar-SA" sz="3800" dirty="0"/>
          </a:p>
        </p:txBody>
      </p:sp>
      <p:sp>
        <p:nvSpPr>
          <p:cNvPr id="5" name="anim-g1-662"/>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663"/>
          <p:cNvSpPr/>
          <p:nvPr/>
        </p:nvSpPr>
        <p:spPr>
          <a:xfrm>
            <a:off x="10527487" y="2267712"/>
            <a:ext cx="566928" cy="566928"/>
          </a:xfrm>
          <a:prstGeom prst="roundRect">
            <a:avLst>
              <a:gd name="adj" fmla="val 32258"/>
            </a:avLst>
          </a:prstGeom>
          <a:solidFill>
            <a:srgbClr val="F7E6BC"/>
          </a:solidFill>
          <a:ln/>
        </p:spPr>
      </p:sp>
      <p:sp>
        <p:nvSpPr>
          <p:cNvPr id="7" name="anim-g1-664"/>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665"/>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١. يصرخ</a:t>
            </a:r>
            <a:endParaRPr lang="ar-SA" sz="2200" dirty="0"/>
          </a:p>
        </p:txBody>
      </p:sp>
      <p:sp>
        <p:nvSpPr>
          <p:cNvPr id="9" name="anim-g1-666"/>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صرخة عالية جدًّا لا تسمعها آذاننا</a:t>
            </a:r>
            <a:endParaRPr lang="ar-SA" sz="1900" dirty="0"/>
          </a:p>
        </p:txBody>
      </p:sp>
      <p:sp>
        <p:nvSpPr>
          <p:cNvPr id="10" name="anim-g2-667"/>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668"/>
          <p:cNvSpPr/>
          <p:nvPr/>
        </p:nvSpPr>
        <p:spPr>
          <a:xfrm>
            <a:off x="6920789" y="2267712"/>
            <a:ext cx="566928" cy="566928"/>
          </a:xfrm>
          <a:prstGeom prst="roundRect">
            <a:avLst>
              <a:gd name="adj" fmla="val 32258"/>
            </a:avLst>
          </a:prstGeom>
          <a:solidFill>
            <a:srgbClr val="F7E6BC"/>
          </a:solidFill>
          <a:ln/>
        </p:spPr>
      </p:sp>
      <p:sp>
        <p:nvSpPr>
          <p:cNvPr id="12" name="anim-g2-669"/>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670"/>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٢. يرتد الصوت</a:t>
            </a:r>
            <a:endParaRPr lang="ar-SA" sz="2200" dirty="0"/>
          </a:p>
        </p:txBody>
      </p:sp>
      <p:sp>
        <p:nvSpPr>
          <p:cNvPr id="14" name="anim-g2-671"/>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يصطدم الصوت بالجدار، ويرجع صدى</a:t>
            </a:r>
            <a:endParaRPr lang="ar-SA" sz="1900" dirty="0"/>
          </a:p>
        </p:txBody>
      </p:sp>
      <p:sp>
        <p:nvSpPr>
          <p:cNvPr id="15" name="anim-g3-672"/>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673"/>
          <p:cNvSpPr/>
          <p:nvPr/>
        </p:nvSpPr>
        <p:spPr>
          <a:xfrm>
            <a:off x="3314090" y="2267712"/>
            <a:ext cx="566928" cy="566928"/>
          </a:xfrm>
          <a:prstGeom prst="roundRect">
            <a:avLst>
              <a:gd name="adj" fmla="val 32258"/>
            </a:avLst>
          </a:prstGeom>
          <a:solidFill>
            <a:srgbClr val="F7E6BC"/>
          </a:solidFill>
          <a:ln/>
        </p:spPr>
      </p:sp>
      <p:sp>
        <p:nvSpPr>
          <p:cNvPr id="17" name="anim-g3-674"/>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675"/>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٣. يسمع ويحسب</a:t>
            </a:r>
            <a:endParaRPr lang="ar-SA" sz="2200" dirty="0"/>
          </a:p>
        </p:txBody>
      </p:sp>
      <p:sp>
        <p:nvSpPr>
          <p:cNvPr id="19" name="anim-g3-676"/>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كلما رجع الصدى أسرع… كان الجدار أقرب</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حاسّة الخفاش  ·  ١٠٣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Image 0" descr="/Users/mac/dev/younes-training/robot-pi/.pptx-cache/s10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تشريح الحساس</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حساس HC-SR04 له «فم» و«أذن»</a:t>
            </a:r>
            <a:endParaRPr lang="ar-SA" sz="3800" dirty="0"/>
          </a:p>
        </p:txBody>
      </p:sp>
      <p:sp>
        <p:nvSpPr>
          <p:cNvPr id="5" name="anim-g1-677"/>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678"/>
          <p:cNvSpPr/>
          <p:nvPr/>
        </p:nvSpPr>
        <p:spPr>
          <a:xfrm>
            <a:off x="10527487" y="2267712"/>
            <a:ext cx="566928" cy="566928"/>
          </a:xfrm>
          <a:prstGeom prst="roundRect">
            <a:avLst>
              <a:gd name="adj" fmla="val 32258"/>
            </a:avLst>
          </a:prstGeom>
          <a:solidFill>
            <a:srgbClr val="F7E6BC"/>
          </a:solidFill>
          <a:ln/>
        </p:spPr>
      </p:sp>
      <p:sp>
        <p:nvSpPr>
          <p:cNvPr id="7" name="anim-g1-679"/>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680"/>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TRIG: الفم</a:t>
            </a:r>
            <a:endParaRPr lang="ar-SA" sz="2200" dirty="0"/>
          </a:p>
        </p:txBody>
      </p:sp>
      <p:sp>
        <p:nvSpPr>
          <p:cNvPr id="9" name="anim-g1-681"/>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الـ Pi يرسل نبضة قصيرة، فيصرخ الحساس صرخته</a:t>
            </a:r>
            <a:endParaRPr lang="ar-SA" sz="1900" dirty="0"/>
          </a:p>
        </p:txBody>
      </p:sp>
      <p:sp>
        <p:nvSpPr>
          <p:cNvPr id="10" name="anim-g2-682"/>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683"/>
          <p:cNvSpPr/>
          <p:nvPr/>
        </p:nvSpPr>
        <p:spPr>
          <a:xfrm>
            <a:off x="5117440" y="2267712"/>
            <a:ext cx="566928" cy="566928"/>
          </a:xfrm>
          <a:prstGeom prst="roundRect">
            <a:avLst>
              <a:gd name="adj" fmla="val 32258"/>
            </a:avLst>
          </a:prstGeom>
          <a:solidFill>
            <a:srgbClr val="F7E6BC"/>
          </a:solidFill>
          <a:ln/>
        </p:spPr>
      </p:sp>
      <p:sp>
        <p:nvSpPr>
          <p:cNvPr id="12" name="anim-g2-684"/>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685"/>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ECHO: الأذن</a:t>
            </a:r>
            <a:endParaRPr lang="ar-SA" sz="2200" dirty="0"/>
          </a:p>
        </p:txBody>
      </p:sp>
      <p:sp>
        <p:nvSpPr>
          <p:cNvPr id="14" name="anim-g2-686"/>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يرسل للـ Pi إشارة طولها بقدر زمن رجوع الصدى</a:t>
            </a:r>
            <a:endParaRPr lang="ar-SA" sz="1900" dirty="0"/>
          </a:p>
        </p:txBody>
      </p:sp>
      <p:sp>
        <p:nvSpPr>
          <p:cNvPr id="15" name="anim-g3-687"/>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688"/>
          <p:cNvSpPr/>
          <p:nvPr/>
        </p:nvSpPr>
        <p:spPr>
          <a:xfrm>
            <a:off x="10527487" y="4393692"/>
            <a:ext cx="566928" cy="566928"/>
          </a:xfrm>
          <a:prstGeom prst="roundRect">
            <a:avLst>
              <a:gd name="adj" fmla="val 32258"/>
            </a:avLst>
          </a:prstGeom>
          <a:solidFill>
            <a:srgbClr val="F7E6BC"/>
          </a:solidFill>
          <a:ln/>
        </p:spPr>
      </p:sp>
      <p:sp>
        <p:nvSpPr>
          <p:cNvPr id="17" name="anim-g3-689"/>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690"/>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VCC</a:t>
            </a:r>
            <a:endParaRPr lang="ar-SA" sz="2200" dirty="0"/>
          </a:p>
        </p:txBody>
      </p:sp>
      <p:sp>
        <p:nvSpPr>
          <p:cNvPr id="19" name="anim-g3-691"/>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كهرباء الحساس: ٥ فولت</a:t>
            </a:r>
            <a:endParaRPr lang="ar-SA" sz="1900" dirty="0"/>
          </a:p>
        </p:txBody>
      </p:sp>
      <p:sp>
        <p:nvSpPr>
          <p:cNvPr id="20" name="anim-g4-692"/>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693"/>
          <p:cNvSpPr/>
          <p:nvPr/>
        </p:nvSpPr>
        <p:spPr>
          <a:xfrm>
            <a:off x="5117440" y="4393692"/>
            <a:ext cx="566928" cy="566928"/>
          </a:xfrm>
          <a:prstGeom prst="roundRect">
            <a:avLst>
              <a:gd name="adj" fmla="val 32258"/>
            </a:avLst>
          </a:prstGeom>
          <a:solidFill>
            <a:srgbClr val="F7E6BC"/>
          </a:solidFill>
          <a:ln/>
        </p:spPr>
      </p:sp>
      <p:sp>
        <p:nvSpPr>
          <p:cNvPr id="22" name="anim-g4-694"/>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695"/>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GND</a:t>
            </a:r>
            <a:endParaRPr lang="ar-SA" sz="2200" dirty="0"/>
          </a:p>
        </p:txBody>
      </p:sp>
      <p:sp>
        <p:nvSpPr>
          <p:cNvPr id="24" name="anim-g4-696"/>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الأرضي</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حاسّة الخفاش  ·  ١٠٥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Image 0" descr="/Users/mac/dev/younes-training/robot-pi/.pptx-cache/s10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Image 0" descr="/Users/mac/dev/younes-training/robot-pi/.pptx-cache/s107-0.jpg"/>
          <p:cNvPicPr>
            <a:picLocks noChangeAspect="1"/>
          </p:cNvPicPr>
          <p:nvPr/>
        </p:nvPicPr>
        <p:blipFill>
          <a:blip r:embed="rId3"/>
          <a:stretch>
            <a:fillRect/>
          </a:stretch>
        </p:blipFill>
        <p:spPr>
          <a:xfrm>
            <a:off x="0" y="0"/>
            <a:ext cx="12191695" cy="6858000"/>
          </a:xfrm>
          <a:prstGeom prst="rect">
            <a:avLst/>
          </a:prstGeom>
        </p:spPr>
      </p:pic>
      <p:pic>
        <p:nvPicPr>
          <p:cNvPr id="3" name="anim-g1-697" descr="/Users/mac/dev/younes-training/robot-pi/.pptx-cache/s107-1.jpg"/>
          <p:cNvPicPr>
            <a:picLocks noChangeAspect="1"/>
          </p:cNvPicPr>
          <p:nvPr/>
        </p:nvPicPr>
        <p:blipFill>
          <a:blip r:embed="rId4"/>
          <a:stretch>
            <a:fillRect/>
          </a:stretch>
        </p:blipFill>
        <p:spPr>
          <a:xfrm>
            <a:off x="0" y="0"/>
            <a:ext cx="12191695" cy="6858000"/>
          </a:xfrm>
          <a:prstGeom prst="rect">
            <a:avLst/>
          </a:prstGeom>
        </p:spPr>
      </p:pic>
      <p:pic>
        <p:nvPicPr>
          <p:cNvPr id="4" name="anim-g2-698" descr="/Users/mac/dev/younes-training/robot-pi/.pptx-cache/s107-2.jpg"/>
          <p:cNvPicPr>
            <a:picLocks noChangeAspect="1"/>
          </p:cNvPicPr>
          <p:nvPr/>
        </p:nvPicPr>
        <p:blipFill>
          <a:blip r:embed="rId5"/>
          <a:stretch>
            <a:fillRect/>
          </a:stretch>
        </p:blipFill>
        <p:spPr>
          <a:xfrm>
            <a:off x="0" y="0"/>
            <a:ext cx="12191695" cy="6858000"/>
          </a:xfrm>
          <a:prstGeom prst="rect">
            <a:avLst/>
          </a:prstGeom>
        </p:spPr>
      </p:pic>
      <p:pic>
        <p:nvPicPr>
          <p:cNvPr id="5" name="anim-g3-699" descr="/Users/mac/dev/younes-training/robot-pi/.pptx-cache/s107-3.jpg"/>
          <p:cNvPicPr>
            <a:picLocks noChangeAspect="1"/>
          </p:cNvPicPr>
          <p:nvPr/>
        </p:nvPicPr>
        <p:blipFill>
          <a:blip r:embed="rId6"/>
          <a:stretch>
            <a:fillRect/>
          </a:stretch>
        </p:blipFill>
        <p:spPr>
          <a:xfrm>
            <a:off x="0" y="0"/>
            <a:ext cx="12191695" cy="6858000"/>
          </a:xfrm>
          <a:prstGeom prst="rect">
            <a:avLst/>
          </a:prstGeom>
        </p:spPr>
      </p:pic>
      <p:pic>
        <p:nvPicPr>
          <p:cNvPr id="6" name="anim-g4-700" descr="/Users/mac/dev/younes-training/robot-pi/.pptx-cache/s107-4.jpg"/>
          <p:cNvPicPr>
            <a:picLocks noChangeAspect="1"/>
          </p:cNvPicPr>
          <p:nvPr/>
        </p:nvPicPr>
        <p:blipFill>
          <a:blip r:embed="rId7"/>
          <a:stretch>
            <a:fillRect/>
          </a:stretch>
        </p:blipFill>
        <p:spPr>
          <a:xfrm>
            <a:off x="0" y="0"/>
            <a:ext cx="12191695" cy="6858000"/>
          </a:xfrm>
          <a:prstGeom prst="rect">
            <a:avLst/>
          </a:prstGeom>
        </p:spPr>
      </p:pic>
      <p:pic>
        <p:nvPicPr>
          <p:cNvPr id="7" name="anim-g5-701" descr="/Users/mac/dev/younes-training/robot-pi/.pptx-cache/s107-5.jpg"/>
          <p:cNvPicPr>
            <a:picLocks noChangeAspect="1"/>
          </p:cNvPicPr>
          <p:nvPr/>
        </p:nvPicPr>
        <p:blipFill>
          <a:blip r:embed="rId8"/>
          <a:stretch>
            <a:fillRect/>
          </a:stretch>
        </p:blipFill>
        <p:spPr>
          <a:xfrm>
            <a:off x="0" y="0"/>
            <a:ext cx="12191695" cy="6858000"/>
          </a:xfrm>
          <a:prstGeom prst="rect">
            <a:avLst/>
          </a:prstGeom>
        </p:spPr>
      </p:pic>
      <p:pic>
        <p:nvPicPr>
          <p:cNvPr id="8" name="anim-g6-702" descr="/Users/mac/dev/younes-training/robot-pi/.pptx-cache/s107-6.jpg"/>
          <p:cNvPicPr>
            <a:picLocks noChangeAspect="1"/>
          </p:cNvPicPr>
          <p:nvPr/>
        </p:nvPicPr>
        <p:blipFill>
          <a:blip r:embed="rId9"/>
          <a:stretch>
            <a:fillRect/>
          </a:stretch>
        </p:blipFill>
        <p:spPr>
          <a:xfrm>
            <a:off x="0" y="0"/>
            <a:ext cx="12191695" cy="6858000"/>
          </a:xfrm>
          <a:prstGeom prst="rect">
            <a:avLst/>
          </a:prstGeom>
        </p:spPr>
      </p:pic>
      <p:pic>
        <p:nvPicPr>
          <p:cNvPr id="9" name="anim-g7-703" descr="/Users/mac/dev/younes-training/robot-pi/.pptx-cache/s107-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Image 0" descr="/Users/mac/dev/younes-training/robot-pi/.pptx-cache/s108-0.jpg"/>
          <p:cNvPicPr>
            <a:picLocks noChangeAspect="1"/>
          </p:cNvPicPr>
          <p:nvPr/>
        </p:nvPicPr>
        <p:blipFill>
          <a:blip r:embed="rId3"/>
          <a:stretch>
            <a:fillRect/>
          </a:stretch>
        </p:blipFill>
        <p:spPr>
          <a:xfrm>
            <a:off x="0" y="0"/>
            <a:ext cx="12191695" cy="6858000"/>
          </a:xfrm>
          <a:prstGeom prst="rect">
            <a:avLst/>
          </a:prstGeom>
        </p:spPr>
      </p:pic>
      <p:pic>
        <p:nvPicPr>
          <p:cNvPr id="3" name="anim-g1-704" descr="/Users/mac/dev/younes-training/robot-pi/.pptx-cache/s108-1.jpg"/>
          <p:cNvPicPr>
            <a:picLocks noChangeAspect="1"/>
          </p:cNvPicPr>
          <p:nvPr/>
        </p:nvPicPr>
        <p:blipFill>
          <a:blip r:embed="rId4"/>
          <a:stretch>
            <a:fillRect/>
          </a:stretch>
        </p:blipFill>
        <p:spPr>
          <a:xfrm>
            <a:off x="0" y="0"/>
            <a:ext cx="12191695" cy="6858000"/>
          </a:xfrm>
          <a:prstGeom prst="rect">
            <a:avLst/>
          </a:prstGeom>
        </p:spPr>
      </p:pic>
      <p:pic>
        <p:nvPicPr>
          <p:cNvPr id="4" name="anim-g2-705" descr="/Users/mac/dev/younes-training/robot-pi/.pptx-cache/s108-2.jpg"/>
          <p:cNvPicPr>
            <a:picLocks noChangeAspect="1"/>
          </p:cNvPicPr>
          <p:nvPr/>
        </p:nvPicPr>
        <p:blipFill>
          <a:blip r:embed="rId5"/>
          <a:stretch>
            <a:fillRect/>
          </a:stretch>
        </p:blipFill>
        <p:spPr>
          <a:xfrm>
            <a:off x="0" y="0"/>
            <a:ext cx="12191695" cy="6858000"/>
          </a:xfrm>
          <a:prstGeom prst="rect">
            <a:avLst/>
          </a:prstGeom>
        </p:spPr>
      </p:pic>
      <p:pic>
        <p:nvPicPr>
          <p:cNvPr id="5" name="anim-g3-706" descr="/Users/mac/dev/younes-training/robot-pi/.pptx-cache/s108-3.jpg"/>
          <p:cNvPicPr>
            <a:picLocks noChangeAspect="1"/>
          </p:cNvPicPr>
          <p:nvPr/>
        </p:nvPicPr>
        <p:blipFill>
          <a:blip r:embed="rId6"/>
          <a:stretch>
            <a:fillRect/>
          </a:stretch>
        </p:blipFill>
        <p:spPr>
          <a:xfrm>
            <a:off x="0" y="0"/>
            <a:ext cx="12191695" cy="6858000"/>
          </a:xfrm>
          <a:prstGeom prst="rect">
            <a:avLst/>
          </a:prstGeom>
        </p:spPr>
      </p:pic>
      <p:pic>
        <p:nvPicPr>
          <p:cNvPr id="6" name="anim-g4-707" descr="/Users/mac/dev/younes-training/robot-pi/.pptx-cache/s108-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name="Slide 10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رجع الصدى بسرعة كبيرة جدًّا. ماذا يعني ذلك؟</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الجدار قريب جدًّا</a:t>
            </a:r>
            <a:endParaRPr lang="ar-SA" sz="2500" dirty="0"/>
          </a:p>
        </p:txBody>
      </p:sp>
      <p:sp>
        <p:nvSpPr>
          <p:cNvPr id="9" name="anim-g1-708"/>
          <p:cNvSpPr/>
          <p:nvPr/>
        </p:nvSpPr>
        <p:spPr>
          <a:xfrm>
            <a:off x="822960" y="2057400"/>
            <a:ext cx="10545775" cy="1228344"/>
          </a:xfrm>
          <a:prstGeom prst="roundRect">
            <a:avLst>
              <a:gd name="adj" fmla="val 11911"/>
            </a:avLst>
          </a:prstGeom>
          <a:solidFill>
            <a:srgbClr val="E6F4EC"/>
          </a:solidFill>
          <a:ln w="31750">
            <a:solidFill>
              <a:srgbClr val="2E9E6B"/>
            </a:solidFill>
            <a:prstDash val="solid"/>
          </a:ln>
        </p:spPr>
      </p:sp>
      <p:sp>
        <p:nvSpPr>
          <p:cNvPr id="10" name="anim-g1-709"/>
          <p:cNvSpPr/>
          <p:nvPr/>
        </p:nvSpPr>
        <p:spPr>
          <a:xfrm>
            <a:off x="10231831" y="2194560"/>
            <a:ext cx="954024" cy="954024"/>
          </a:xfrm>
          <a:prstGeom prst="roundRect">
            <a:avLst>
              <a:gd name="adj" fmla="val 11502"/>
            </a:avLst>
          </a:prstGeom>
          <a:solidFill>
            <a:srgbClr val="2E9E6B"/>
          </a:solidFill>
          <a:ln/>
        </p:spPr>
      </p:sp>
      <p:sp>
        <p:nvSpPr>
          <p:cNvPr id="11" name="anim-g1-710"/>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12" name="anim-g1-711"/>
          <p:cNvSpPr/>
          <p:nvPr/>
        </p:nvSpPr>
        <p:spPr>
          <a:xfrm>
            <a:off x="1097280" y="2093976"/>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131B34"/>
                </a:solidFill>
                <a:latin typeface="Cairo" pitchFamily="34" charset="0"/>
                <a:ea typeface="Cairo" pitchFamily="34" charset="-122"/>
                <a:cs typeface="Cairo" pitchFamily="34" charset="-120"/>
              </a:rPr>
              <a:t>الجدار قريب جدًّا</a:t>
            </a:r>
            <a:endParaRPr lang="ar-SA" sz="2400" dirty="0"/>
          </a:p>
        </p:txBody>
      </p:sp>
      <p:sp>
        <p:nvSpPr>
          <p:cNvPr id="13" name="anim-g1-712"/>
          <p:cNvSpPr/>
          <p:nvPr/>
        </p:nvSpPr>
        <p:spPr>
          <a:xfrm>
            <a:off x="1097280" y="2720706"/>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1D5E40"/>
                </a:solidFill>
                <a:latin typeface="Cairo" pitchFamily="34" charset="0"/>
                <a:ea typeface="Cairo" pitchFamily="34" charset="-122"/>
                <a:cs typeface="Cairo" pitchFamily="34" charset="-120"/>
              </a:rPr>
              <a:t>صحيح! المسافة قصيرة، فيرجع الصوت بسرعة 🦇</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الجدار بعيد جدًّا</a:t>
            </a:r>
            <a:endParaRPr lang="ar-SA" sz="2500" dirty="0"/>
          </a:p>
        </p:txBody>
      </p:sp>
      <p:sp>
        <p:nvSpPr>
          <p:cNvPr id="18" name="anim-g1-713"/>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714"/>
          <p:cNvSpPr/>
          <p:nvPr/>
        </p:nvSpPr>
        <p:spPr>
          <a:xfrm>
            <a:off x="10231831" y="3569208"/>
            <a:ext cx="954024" cy="954024"/>
          </a:xfrm>
          <a:prstGeom prst="roundRect">
            <a:avLst>
              <a:gd name="adj" fmla="val 11502"/>
            </a:avLst>
          </a:prstGeom>
          <a:solidFill>
            <a:srgbClr val="A3A9BA"/>
          </a:solidFill>
          <a:ln/>
        </p:spPr>
      </p:sp>
      <p:sp>
        <p:nvSpPr>
          <p:cNvPr id="20" name="anim-g1-715"/>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716"/>
          <p:cNvSpPr/>
          <p:nvPr/>
        </p:nvSpPr>
        <p:spPr>
          <a:xfrm>
            <a:off x="1097280" y="3468624"/>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الجدار بعيد جدًّا</a:t>
            </a:r>
            <a:endParaRPr lang="ar-SA" sz="2400" dirty="0"/>
          </a:p>
        </p:txBody>
      </p:sp>
      <p:sp>
        <p:nvSpPr>
          <p:cNvPr id="22" name="anim-g1-717"/>
          <p:cNvSpPr/>
          <p:nvPr/>
        </p:nvSpPr>
        <p:spPr>
          <a:xfrm>
            <a:off x="1097280" y="4095354"/>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لو كان بعيدًا لأخذ الصدى وقتًا أطول</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الحساس معطّل</a:t>
            </a:r>
            <a:endParaRPr lang="ar-SA" sz="2500" dirty="0"/>
          </a:p>
        </p:txBody>
      </p:sp>
      <p:sp>
        <p:nvSpPr>
          <p:cNvPr id="27" name="anim-g1-718"/>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719"/>
          <p:cNvSpPr/>
          <p:nvPr/>
        </p:nvSpPr>
        <p:spPr>
          <a:xfrm>
            <a:off x="10231831" y="4943856"/>
            <a:ext cx="954024" cy="954024"/>
          </a:xfrm>
          <a:prstGeom prst="roundRect">
            <a:avLst>
              <a:gd name="adj" fmla="val 11502"/>
            </a:avLst>
          </a:prstGeom>
          <a:solidFill>
            <a:srgbClr val="A3A9BA"/>
          </a:solidFill>
          <a:ln/>
        </p:spPr>
      </p:sp>
      <p:sp>
        <p:nvSpPr>
          <p:cNvPr id="29" name="anim-g1-720"/>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721"/>
          <p:cNvSpPr/>
          <p:nvPr/>
        </p:nvSpPr>
        <p:spPr>
          <a:xfrm>
            <a:off x="1097280" y="4843272"/>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الحساس معطّل</a:t>
            </a:r>
            <a:endParaRPr lang="ar-SA" sz="2400" dirty="0"/>
          </a:p>
        </p:txBody>
      </p:sp>
      <p:sp>
        <p:nvSpPr>
          <p:cNvPr id="31" name="anim-g1-722"/>
          <p:cNvSpPr/>
          <p:nvPr/>
        </p:nvSpPr>
        <p:spPr>
          <a:xfrm>
            <a:off x="1097280" y="5470002"/>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بل يعمل جيدًا، والجدار قريب</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حاسّة الخفاش  ·  ١٠٩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10.xml><?xml version="1.0" encoding="utf-8"?>
<p:sld xmlns:a="http://schemas.openxmlformats.org/drawingml/2006/main" xmlns:r="http://schemas.openxmlformats.org/officeDocument/2006/relationships" xmlns:p="http://schemas.openxmlformats.org/presentationml/2006/main">
  <p:cSld name="Slide 11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267048" y="1188720"/>
            <a:ext cx="365760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267048" y="1188720"/>
            <a:ext cx="365760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تذكّر الوحدة الثالثة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إذا اقترب الجدار…</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توقف وتراجع ولف. وإلّا… امشِ</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حاسّة الخفاش  ·  ١١٠</a:t>
            </a:r>
            <a:endParaRPr lang="ar-SA" sz="12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Image 0" descr="/Users/mac/dev/younes-training/robot-pi/.pptx-cache/s11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Image 0" descr="/Users/mac/dev/younes-training/robot-pi/.pptx-cache/s112-0.jpg"/>
          <p:cNvPicPr>
            <a:picLocks noChangeAspect="1"/>
          </p:cNvPicPr>
          <p:nvPr/>
        </p:nvPicPr>
        <p:blipFill>
          <a:blip r:embed="rId3"/>
          <a:stretch>
            <a:fillRect/>
          </a:stretch>
        </p:blipFill>
        <p:spPr>
          <a:xfrm>
            <a:off x="0" y="0"/>
            <a:ext cx="12191695" cy="6858000"/>
          </a:xfrm>
          <a:prstGeom prst="rect">
            <a:avLst/>
          </a:prstGeom>
        </p:spPr>
      </p:pic>
      <p:pic>
        <p:nvPicPr>
          <p:cNvPr id="3" name="anim-g1-723" descr="/Users/mac/dev/younes-training/robot-pi/.pptx-cache/s112-1.jpg"/>
          <p:cNvPicPr>
            <a:picLocks noChangeAspect="1"/>
          </p:cNvPicPr>
          <p:nvPr/>
        </p:nvPicPr>
        <p:blipFill>
          <a:blip r:embed="rId4"/>
          <a:stretch>
            <a:fillRect/>
          </a:stretch>
        </p:blipFill>
        <p:spPr>
          <a:xfrm>
            <a:off x="0" y="0"/>
            <a:ext cx="12191695" cy="6858000"/>
          </a:xfrm>
          <a:prstGeom prst="rect">
            <a:avLst/>
          </a:prstGeom>
        </p:spPr>
      </p:pic>
      <p:pic>
        <p:nvPicPr>
          <p:cNvPr id="4" name="anim-g2-724" descr="/Users/mac/dev/younes-training/robot-pi/.pptx-cache/s112-2.jpg"/>
          <p:cNvPicPr>
            <a:picLocks noChangeAspect="1"/>
          </p:cNvPicPr>
          <p:nvPr/>
        </p:nvPicPr>
        <p:blipFill>
          <a:blip r:embed="rId5"/>
          <a:stretch>
            <a:fillRect/>
          </a:stretch>
        </p:blipFill>
        <p:spPr>
          <a:xfrm>
            <a:off x="0" y="0"/>
            <a:ext cx="12191695" cy="6858000"/>
          </a:xfrm>
          <a:prstGeom prst="rect">
            <a:avLst/>
          </a:prstGeom>
        </p:spPr>
      </p:pic>
      <p:pic>
        <p:nvPicPr>
          <p:cNvPr id="5" name="anim-g3-725" descr="/Users/mac/dev/younes-training/robot-pi/.pptx-cache/s112-3.jpg"/>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name="Slide 11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272223" y="457200"/>
            <a:ext cx="4096512" cy="457200"/>
          </a:xfrm>
          <a:prstGeom prst="roundRect">
            <a:avLst>
              <a:gd name="adj" fmla="val 50000"/>
            </a:avLst>
          </a:prstGeom>
          <a:solidFill>
            <a:srgbClr val="F6EBCF"/>
          </a:solidFill>
          <a:ln/>
        </p:spPr>
      </p:sp>
      <p:sp>
        <p:nvSpPr>
          <p:cNvPr id="3" name="Text 1"/>
          <p:cNvSpPr/>
          <p:nvPr/>
        </p:nvSpPr>
        <p:spPr>
          <a:xfrm>
            <a:off x="7272223" y="457200"/>
            <a:ext cx="4096512"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حين لا يعمل كما نريد</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أسرار حساس المسافة</a:t>
            </a:r>
            <a:endParaRPr lang="ar-SA" sz="3800" dirty="0"/>
          </a:p>
        </p:txBody>
      </p:sp>
      <p:sp>
        <p:nvSpPr>
          <p:cNvPr id="5" name="anim-g1-726"/>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727"/>
          <p:cNvSpPr/>
          <p:nvPr/>
        </p:nvSpPr>
        <p:spPr>
          <a:xfrm>
            <a:off x="10527487" y="2267712"/>
            <a:ext cx="566928" cy="566928"/>
          </a:xfrm>
          <a:prstGeom prst="roundRect">
            <a:avLst>
              <a:gd name="adj" fmla="val 32258"/>
            </a:avLst>
          </a:prstGeom>
          <a:solidFill>
            <a:srgbClr val="F7E6BC"/>
          </a:solidFill>
          <a:ln/>
        </p:spPr>
      </p:sp>
      <p:sp>
        <p:nvSpPr>
          <p:cNvPr id="7" name="anim-g1-728"/>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729"/>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الأشياء الناعمة</a:t>
            </a:r>
            <a:endParaRPr lang="ar-SA" sz="2200" dirty="0"/>
          </a:p>
        </p:txBody>
      </p:sp>
      <p:sp>
        <p:nvSpPr>
          <p:cNvPr id="9" name="anim-g1-730"/>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الستارة والقماش يمتصان الصوت، فلا يرجع صدى قوي</a:t>
            </a:r>
            <a:endParaRPr lang="ar-SA" sz="1900" dirty="0"/>
          </a:p>
        </p:txBody>
      </p:sp>
      <p:sp>
        <p:nvSpPr>
          <p:cNvPr id="10" name="anim-g2-731"/>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732"/>
          <p:cNvSpPr/>
          <p:nvPr/>
        </p:nvSpPr>
        <p:spPr>
          <a:xfrm>
            <a:off x="6920789" y="2267712"/>
            <a:ext cx="566928" cy="566928"/>
          </a:xfrm>
          <a:prstGeom prst="roundRect">
            <a:avLst>
              <a:gd name="adj" fmla="val 32258"/>
            </a:avLst>
          </a:prstGeom>
          <a:solidFill>
            <a:srgbClr val="F7E6BC"/>
          </a:solidFill>
          <a:ln/>
        </p:spPr>
      </p:sp>
      <p:sp>
        <p:nvSpPr>
          <p:cNvPr id="12" name="anim-g2-733"/>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734"/>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الجدار المائل</a:t>
            </a:r>
            <a:endParaRPr lang="ar-SA" sz="2200" dirty="0"/>
          </a:p>
        </p:txBody>
      </p:sp>
      <p:sp>
        <p:nvSpPr>
          <p:cNvPr id="14" name="anim-g2-735"/>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يرتد الصوت إلى جهة أخرى، كالكرة على الحائط المائل</a:t>
            </a:r>
            <a:endParaRPr lang="ar-SA" sz="1900" dirty="0"/>
          </a:p>
        </p:txBody>
      </p:sp>
      <p:sp>
        <p:nvSpPr>
          <p:cNvPr id="15" name="anim-g3-736"/>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737"/>
          <p:cNvSpPr/>
          <p:nvPr/>
        </p:nvSpPr>
        <p:spPr>
          <a:xfrm>
            <a:off x="3314090" y="2267712"/>
            <a:ext cx="566928" cy="566928"/>
          </a:xfrm>
          <a:prstGeom prst="roundRect">
            <a:avLst>
              <a:gd name="adj" fmla="val 32258"/>
            </a:avLst>
          </a:prstGeom>
          <a:solidFill>
            <a:srgbClr val="F7E6BC"/>
          </a:solidFill>
          <a:ln/>
        </p:spPr>
      </p:sp>
      <p:sp>
        <p:nvSpPr>
          <p:cNvPr id="17" name="anim-g3-738"/>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739"/>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رقم ثابت غريب؟</a:t>
            </a:r>
            <a:endParaRPr lang="ar-SA" sz="2200" dirty="0"/>
          </a:p>
        </p:txBody>
      </p:sp>
      <p:sp>
        <p:nvSpPr>
          <p:cNvPr id="19" name="anim-g3-740"/>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افحص الأسلاك والمقاومتين، فغالبًا سلك ECHO غير موصول</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حاسّة الخفاش  ·  ١١٣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Image 0" descr="/Users/mac/dev/younes-training/robot-pi/.pptx-cache/s11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979615" y="457200"/>
            <a:ext cx="438912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6979615" y="457200"/>
            <a:ext cx="438912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 تحدّي الفرق — ١٥ دقيقة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F0CC7A"/>
                </a:solidFill>
                <a:latin typeface="Cairo Black" pitchFamily="34" charset="0"/>
                <a:ea typeface="Cairo Black" pitchFamily="34" charset="-122"/>
                <a:cs typeface="Cairo Black" pitchFamily="34" charset="-120"/>
              </a:rPr>
              <a:t>متاهة الصناديق</a:t>
            </a:r>
            <a:endParaRPr lang="ar-SA" sz="3800" dirty="0"/>
          </a:p>
        </p:txBody>
      </p:sp>
      <p:sp>
        <p:nvSpPr>
          <p:cNvPr id="5" name="anim-g1-741"/>
          <p:cNvSpPr/>
          <p:nvPr/>
        </p:nvSpPr>
        <p:spPr>
          <a:xfrm>
            <a:off x="10637215" y="2286000"/>
            <a:ext cx="731520" cy="731520"/>
          </a:xfrm>
          <a:prstGeom prst="ellipse">
            <a:avLst/>
          </a:prstGeom>
          <a:solidFill>
            <a:srgbClr val="D9AE4B"/>
          </a:solidFill>
          <a:ln/>
        </p:spPr>
      </p:sp>
      <p:sp>
        <p:nvSpPr>
          <p:cNvPr id="6" name="anim-g1-742"/>
          <p:cNvSpPr/>
          <p:nvPr/>
        </p:nvSpPr>
        <p:spPr>
          <a:xfrm>
            <a:off x="10637215" y="228600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743"/>
          <p:cNvSpPr/>
          <p:nvPr/>
        </p:nvSpPr>
        <p:spPr>
          <a:xfrm>
            <a:off x="4023360" y="219456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اصنعوا متاهة صغيرة بصناديق الكرتون على الأرض</a:t>
            </a:r>
            <a:endParaRPr lang="ar-SA" sz="2200" dirty="0"/>
          </a:p>
        </p:txBody>
      </p:sp>
      <p:sp>
        <p:nvSpPr>
          <p:cNvPr id="8" name="anim-g2-744"/>
          <p:cNvSpPr/>
          <p:nvPr/>
        </p:nvSpPr>
        <p:spPr>
          <a:xfrm>
            <a:off x="10637215" y="3383280"/>
            <a:ext cx="731520" cy="731520"/>
          </a:xfrm>
          <a:prstGeom prst="ellipse">
            <a:avLst/>
          </a:prstGeom>
          <a:solidFill>
            <a:srgbClr val="D9AE4B"/>
          </a:solidFill>
          <a:ln/>
        </p:spPr>
      </p:sp>
      <p:sp>
        <p:nvSpPr>
          <p:cNvPr id="9" name="anim-g2-745"/>
          <p:cNvSpPr/>
          <p:nvPr/>
        </p:nvSpPr>
        <p:spPr>
          <a:xfrm>
            <a:off x="10637215" y="338328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746"/>
          <p:cNvSpPr/>
          <p:nvPr/>
        </p:nvSpPr>
        <p:spPr>
          <a:xfrm>
            <a:off x="4023360" y="329184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ضعوا نبيه في أولها، وشغّلوا برنامج التجول</a:t>
            </a:r>
            <a:endParaRPr lang="ar-SA" sz="2200" dirty="0"/>
          </a:p>
        </p:txBody>
      </p:sp>
      <p:sp>
        <p:nvSpPr>
          <p:cNvPr id="11" name="anim-g3-747"/>
          <p:cNvSpPr/>
          <p:nvPr/>
        </p:nvSpPr>
        <p:spPr>
          <a:xfrm>
            <a:off x="10637215" y="4480560"/>
            <a:ext cx="731520" cy="731520"/>
          </a:xfrm>
          <a:prstGeom prst="ellipse">
            <a:avLst/>
          </a:prstGeom>
          <a:solidFill>
            <a:srgbClr val="D9AE4B"/>
          </a:solidFill>
          <a:ln/>
        </p:spPr>
      </p:sp>
      <p:sp>
        <p:nvSpPr>
          <p:cNvPr id="12" name="anim-g3-748"/>
          <p:cNvSpPr/>
          <p:nvPr/>
        </p:nvSpPr>
        <p:spPr>
          <a:xfrm>
            <a:off x="10637215" y="448056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749"/>
          <p:cNvSpPr/>
          <p:nvPr/>
        </p:nvSpPr>
        <p:spPr>
          <a:xfrm>
            <a:off x="4023360" y="438912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عدّلوا LIMIT واتجاه اللف حتى يخرج نبيه من المتاهة بأقل اصطدام</a:t>
            </a:r>
            <a:endParaRPr lang="ar-SA" sz="2200" dirty="0"/>
          </a:p>
        </p:txBody>
      </p:sp>
      <p:sp>
        <p:nvSpPr>
          <p:cNvPr id="14" name="anim-g4-750"/>
          <p:cNvSpPr/>
          <p:nvPr/>
        </p:nvSpPr>
        <p:spPr>
          <a:xfrm>
            <a:off x="10637215" y="5577840"/>
            <a:ext cx="731520" cy="731520"/>
          </a:xfrm>
          <a:prstGeom prst="ellipse">
            <a:avLst/>
          </a:prstGeom>
          <a:solidFill>
            <a:srgbClr val="D9AE4B"/>
          </a:solidFill>
          <a:ln/>
        </p:spPr>
      </p:sp>
      <p:sp>
        <p:nvSpPr>
          <p:cNvPr id="15" name="anim-g4-751"/>
          <p:cNvSpPr/>
          <p:nvPr/>
        </p:nvSpPr>
        <p:spPr>
          <a:xfrm>
            <a:off x="10637215" y="557784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٤</a:t>
            </a:r>
            <a:endParaRPr lang="ar-SA" sz="2400" dirty="0"/>
          </a:p>
        </p:txBody>
      </p:sp>
      <p:sp>
        <p:nvSpPr>
          <p:cNvPr id="16" name="anim-g4-752"/>
          <p:cNvSpPr/>
          <p:nvPr/>
        </p:nvSpPr>
        <p:spPr>
          <a:xfrm>
            <a:off x="4023360" y="548640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سجّلوا: كم ثانية احتاج نبيه؟ وكم مرة اصطدم؟</a:t>
            </a:r>
            <a:endParaRPr lang="ar-SA" sz="2200" dirty="0"/>
          </a:p>
        </p:txBody>
      </p:sp>
      <p:sp>
        <p:nvSpPr>
          <p:cNvPr id="17" name="Shape 15"/>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8" name="Text 16"/>
          <p:cNvSpPr/>
          <p:nvPr/>
        </p:nvSpPr>
        <p:spPr>
          <a:xfrm>
            <a:off x="822960" y="2834640"/>
            <a:ext cx="2834640" cy="1097280"/>
          </a:xfrm>
          <a:prstGeom prst="rect">
            <a:avLst/>
          </a:prstGeom>
          <a:noFill/>
          <a:ln/>
        </p:spPr>
        <p:txBody>
          <a:bodyPr wrap="square" lIns="0" tIns="0" rIns="0" bIns="0" rtlCol="0" anchor="ctr">
            <a:normAutofit/>
          </a:bodyPr>
          <a:lstStyle/>
          <a:p>
            <a:pPr marL="0" indent="0" algn="ctr">
              <a:buNone/>
            </a:pPr>
            <a:r>
              <a:rPr lang="ar-SA" altLang="en-US" sz="6000" dirty="0">
                <a:solidFill>
                  <a:srgbClr val="F0CC7A"/>
                </a:solidFill>
                <a:latin typeface="Cairo Black" pitchFamily="34" charset="0"/>
                <a:ea typeface="Cairo Black" pitchFamily="34" charset="-122"/>
                <a:cs typeface="Cairo Black" pitchFamily="34" charset="-120"/>
              </a:rPr>
              <a:t>15:00</a:t>
            </a:r>
            <a:endParaRPr lang="ar-SA" sz="6000" dirty="0"/>
          </a:p>
        </p:txBody>
      </p:sp>
      <p:sp>
        <p:nvSpPr>
          <p:cNvPr id="19" name="Text 17"/>
          <p:cNvSpPr/>
          <p:nvPr/>
        </p:nvSpPr>
        <p:spPr>
          <a:xfrm>
            <a:off x="822960" y="3840480"/>
            <a:ext cx="2834640" cy="457200"/>
          </a:xfrm>
          <a:prstGeom prst="rect">
            <a:avLst/>
          </a:prstGeom>
          <a:noFill/>
          <a:ln/>
        </p:spPr>
        <p:txBody>
          <a:bodyPr wrap="square" lIns="0" tIns="0" rIns="0" bIns="0" rtlCol="0" anchor="ctr">
            <a:normAutofit/>
          </a:bodyPr>
          <a:lstStyle/>
          <a:p>
            <a:pPr marL="0" indent="0" algn="ctr" rtl="1">
              <a:buNone/>
            </a:pPr>
            <a:r>
              <a:rPr lang="ar-SA" altLang="en-US" sz="1600" b="1" dirty="0">
                <a:solidFill>
                  <a:srgbClr val="C9CFE6"/>
                </a:solidFill>
                <a:latin typeface="Cairo" pitchFamily="34" charset="0"/>
                <a:ea typeface="Cairo" pitchFamily="34" charset="-122"/>
                <a:cs typeface="Cairo" pitchFamily="34" charset="-120"/>
              </a:rPr>
              <a:t>١٥ دقائق</a:t>
            </a:r>
            <a:endParaRPr lang="ar-SA" sz="16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حاسّة الخفاش  ·  ١١٥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Image 0" descr="/Users/mac/dev/younes-training/robot-pi/.pptx-cache/s11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marL="0" indent="0" algn="ctr" rtl="1">
              <a:buNone/>
            </a:pPr>
            <a:r>
              <a:rPr lang="ar-SA" altLang="en-US" sz="8000" dirty="0">
                <a:solidFill>
                  <a:srgbClr val="FFF3D6"/>
                </a:solidFill>
                <a:latin typeface="Cairo Black" pitchFamily="34" charset="0"/>
                <a:ea typeface="Cairo Black" pitchFamily="34" charset="-122"/>
                <a:cs typeface="Cairo Black" pitchFamily="34" charset="-120"/>
              </a:rPr>
              <a:t>نبيه يتجول وحده! 🦇</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في الوحدة القادمة: نفتح عينيه… ونعلّمه أن يلحق الكرة الملونة ⚽</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C9CFE6"/>
                </a:solidFill>
                <a:latin typeface="Cairo" pitchFamily="34" charset="0"/>
                <a:ea typeface="Cairo" pitchFamily="34" charset="-122"/>
                <a:cs typeface="Cairo" pitchFamily="34" charset="-120"/>
              </a:rPr>
              <a:t>روبوتي الذكي · إعداد وتقديم: أ. محمد زيتون</a:t>
            </a:r>
            <a:endParaRPr lang="ar-SA" sz="18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marL="0" indent="0" algn="ctr" rtl="1">
              <a:buNone/>
            </a:pPr>
            <a:r>
              <a:rPr lang="ar-SA" altLang="en-US" sz="12000" dirty="0">
                <a:solidFill>
                  <a:srgbClr val="F0CC7A"/>
                </a:solidFill>
                <a:latin typeface="Cairo Black" pitchFamily="34" charset="0"/>
                <a:ea typeface="Cairo Black" pitchFamily="34" charset="-122"/>
                <a:cs typeface="Cairo Black" pitchFamily="34" charset="-120"/>
              </a:rPr>
              <a:t>٧</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marL="0" indent="0" algn="r" rtl="1">
              <a:buNone/>
            </a:pPr>
            <a:r>
              <a:rPr lang="ar-SA" altLang="en-US" sz="2000" b="1" dirty="0">
                <a:solidFill>
                  <a:srgbClr val="D9AE4B"/>
                </a:solidFill>
                <a:latin typeface="Cairo" pitchFamily="34" charset="0"/>
                <a:ea typeface="Cairo" pitchFamily="34" charset="-122"/>
                <a:cs typeface="Cairo" pitchFamily="34" charset="-120"/>
              </a:rPr>
              <a:t>الوحدة ٧</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marL="0" indent="0" algn="r" rtl="1">
              <a:buNone/>
            </a:pPr>
            <a:r>
              <a:rPr lang="ar-SA" altLang="en-US" sz="5600" dirty="0">
                <a:solidFill>
                  <a:srgbClr val="FFFFFF"/>
                </a:solidFill>
                <a:latin typeface="Cairo Black" pitchFamily="34" charset="0"/>
                <a:ea typeface="Cairo Black" pitchFamily="34" charset="-122"/>
                <a:cs typeface="Cairo Black" pitchFamily="34" charset="-120"/>
              </a:rPr>
              <a:t>نبيه يرى!</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marL="0" indent="0" algn="r" rtl="1">
              <a:buNone/>
            </a:pPr>
            <a:r>
              <a:rPr lang="ar-SA" altLang="en-US" sz="2200" b="1" dirty="0">
                <a:solidFill>
                  <a:srgbClr val="C9CFE6"/>
                </a:solidFill>
                <a:latin typeface="Cairo" pitchFamily="34" charset="0"/>
                <a:ea typeface="Cairo" pitchFamily="34" charset="-122"/>
                <a:cs typeface="Cairo" pitchFamily="34" charset="-120"/>
              </a:rPr>
              <a:t>نفتح عينيه… ونعلّمه أن يجد الكرة الحمراء ويلحقها ⚽</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نبيه يلحق الكرة  ·  ١١٨</a:t>
            </a:r>
            <a:endParaRPr lang="ar-SA" sz="12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مهمتي اليوم</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بنهاية هذه الوحدة سأستطيع أن</a:t>
            </a:r>
            <a:endParaRPr lang="ar-SA" sz="3800" dirty="0"/>
          </a:p>
        </p:txBody>
      </p:sp>
      <p:sp>
        <p:nvSpPr>
          <p:cNvPr id="5" name="anim-g1-753"/>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754"/>
          <p:cNvSpPr/>
          <p:nvPr/>
        </p:nvSpPr>
        <p:spPr>
          <a:xfrm>
            <a:off x="10573207" y="2109978"/>
            <a:ext cx="566928" cy="566928"/>
          </a:xfrm>
          <a:prstGeom prst="ellipse">
            <a:avLst/>
          </a:prstGeom>
          <a:solidFill>
            <a:srgbClr val="D9AE4B"/>
          </a:solidFill>
          <a:ln/>
        </p:spPr>
      </p:sp>
      <p:sp>
        <p:nvSpPr>
          <p:cNvPr id="7" name="anim-g1-755"/>
          <p:cNvSpPr/>
          <p:nvPr/>
        </p:nvSpPr>
        <p:spPr>
          <a:xfrm>
            <a:off x="10573207" y="2109978"/>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756"/>
          <p:cNvSpPr/>
          <p:nvPr/>
        </p:nvSpPr>
        <p:spPr>
          <a:xfrm>
            <a:off x="1097280" y="1920240"/>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أشرح كيف يرى الكمبيوتر الصورة: أرقامًا!</a:t>
            </a:r>
            <a:endParaRPr lang="ar-SA" sz="2400" dirty="0"/>
          </a:p>
        </p:txBody>
      </p:sp>
      <p:sp>
        <p:nvSpPr>
          <p:cNvPr id="9" name="anim-g2-757"/>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758"/>
          <p:cNvSpPr/>
          <p:nvPr/>
        </p:nvSpPr>
        <p:spPr>
          <a:xfrm>
            <a:off x="10573207" y="3166110"/>
            <a:ext cx="566928" cy="566928"/>
          </a:xfrm>
          <a:prstGeom prst="ellipse">
            <a:avLst/>
          </a:prstGeom>
          <a:solidFill>
            <a:srgbClr val="D9AE4B"/>
          </a:solidFill>
          <a:ln/>
        </p:spPr>
      </p:sp>
      <p:sp>
        <p:nvSpPr>
          <p:cNvPr id="11" name="anim-g2-759"/>
          <p:cNvSpPr/>
          <p:nvPr/>
        </p:nvSpPr>
        <p:spPr>
          <a:xfrm>
            <a:off x="10573207" y="3166110"/>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760"/>
          <p:cNvSpPr/>
          <p:nvPr/>
        </p:nvSpPr>
        <p:spPr>
          <a:xfrm>
            <a:off x="1097280" y="2976372"/>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أجعل نبيه يلتقط صورة</a:t>
            </a:r>
            <a:endParaRPr lang="ar-SA" sz="2400" dirty="0"/>
          </a:p>
        </p:txBody>
      </p:sp>
      <p:sp>
        <p:nvSpPr>
          <p:cNvPr id="13" name="anim-g3-761"/>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762"/>
          <p:cNvSpPr/>
          <p:nvPr/>
        </p:nvSpPr>
        <p:spPr>
          <a:xfrm>
            <a:off x="10573207" y="4222242"/>
            <a:ext cx="566928" cy="566928"/>
          </a:xfrm>
          <a:prstGeom prst="ellipse">
            <a:avLst/>
          </a:prstGeom>
          <a:solidFill>
            <a:srgbClr val="D9AE4B"/>
          </a:solidFill>
          <a:ln/>
        </p:spPr>
      </p:sp>
      <p:sp>
        <p:nvSpPr>
          <p:cNvPr id="15" name="anim-g3-763"/>
          <p:cNvSpPr/>
          <p:nvPr/>
        </p:nvSpPr>
        <p:spPr>
          <a:xfrm>
            <a:off x="10573207" y="4222242"/>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764"/>
          <p:cNvSpPr/>
          <p:nvPr/>
        </p:nvSpPr>
        <p:spPr>
          <a:xfrm>
            <a:off x="1097280" y="4032504"/>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أجعله يبحث عن لون ويحدد مكانه</a:t>
            </a:r>
            <a:endParaRPr lang="ar-SA" sz="2400" dirty="0"/>
          </a:p>
        </p:txBody>
      </p:sp>
      <p:sp>
        <p:nvSpPr>
          <p:cNvPr id="17" name="anim-g4-765"/>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766"/>
          <p:cNvSpPr/>
          <p:nvPr/>
        </p:nvSpPr>
        <p:spPr>
          <a:xfrm>
            <a:off x="10573207" y="5278374"/>
            <a:ext cx="566928" cy="566928"/>
          </a:xfrm>
          <a:prstGeom prst="ellipse">
            <a:avLst/>
          </a:prstGeom>
          <a:solidFill>
            <a:srgbClr val="D9AE4B"/>
          </a:solidFill>
          <a:ln/>
        </p:spPr>
      </p:sp>
      <p:sp>
        <p:nvSpPr>
          <p:cNvPr id="19" name="anim-g4-767"/>
          <p:cNvSpPr/>
          <p:nvPr/>
        </p:nvSpPr>
        <p:spPr>
          <a:xfrm>
            <a:off x="10573207" y="5278374"/>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768"/>
          <p:cNvSpPr/>
          <p:nvPr/>
        </p:nvSpPr>
        <p:spPr>
          <a:xfrm>
            <a:off x="1097280" y="5088636"/>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أبرمجه ليلحق الكرة الحمراء</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يلحق الكرة  ·  ١١٩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name="Slide 12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سرّ الكاميرا</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الكاميرا لا ترى كرة…</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بل ترى ملايين الأرقام</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نبيه يلحق الكرة  ·  ١٢٠</a:t>
            </a:r>
            <a:endParaRPr lang="ar-SA" sz="12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Image 0" descr="/Users/mac/dev/younes-training/robot-pi/.pptx-cache/s12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ثلاثة أضواء</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كل الألوان من ثلاثة: أحمر وأخضر وأزرق</a:t>
            </a:r>
            <a:endParaRPr lang="ar-SA" sz="3200" dirty="0"/>
          </a:p>
        </p:txBody>
      </p:sp>
      <p:sp>
        <p:nvSpPr>
          <p:cNvPr id="5" name="anim-g1-769"/>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770"/>
          <p:cNvSpPr/>
          <p:nvPr/>
        </p:nvSpPr>
        <p:spPr>
          <a:xfrm>
            <a:off x="10527487" y="2267712"/>
            <a:ext cx="566928" cy="566928"/>
          </a:xfrm>
          <a:prstGeom prst="roundRect">
            <a:avLst>
              <a:gd name="adj" fmla="val 32258"/>
            </a:avLst>
          </a:prstGeom>
          <a:solidFill>
            <a:srgbClr val="F7E6BC"/>
          </a:solidFill>
          <a:ln/>
        </p:spPr>
      </p:sp>
      <p:sp>
        <p:nvSpPr>
          <p:cNvPr id="7" name="anim-g1-771"/>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772"/>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أحمر + أخضر</a:t>
            </a:r>
            <a:endParaRPr lang="ar-SA" sz="2200" dirty="0"/>
          </a:p>
        </p:txBody>
      </p:sp>
      <p:sp>
        <p:nvSpPr>
          <p:cNvPr id="9" name="anim-g1-773"/>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 أصفر 🟡</a:t>
            </a:r>
            <a:endParaRPr lang="ar-SA" sz="1900" dirty="0"/>
          </a:p>
        </p:txBody>
      </p:sp>
      <p:sp>
        <p:nvSpPr>
          <p:cNvPr id="10" name="anim-g2-774"/>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775"/>
          <p:cNvSpPr/>
          <p:nvPr/>
        </p:nvSpPr>
        <p:spPr>
          <a:xfrm>
            <a:off x="6920789" y="2267712"/>
            <a:ext cx="566928" cy="566928"/>
          </a:xfrm>
          <a:prstGeom prst="roundRect">
            <a:avLst>
              <a:gd name="adj" fmla="val 32258"/>
            </a:avLst>
          </a:prstGeom>
          <a:solidFill>
            <a:srgbClr val="F7E6BC"/>
          </a:solidFill>
          <a:ln/>
        </p:spPr>
      </p:sp>
      <p:sp>
        <p:nvSpPr>
          <p:cNvPr id="12" name="anim-g2-776"/>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777"/>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أخضر + أزرق</a:t>
            </a:r>
            <a:endParaRPr lang="ar-SA" sz="2200" dirty="0"/>
          </a:p>
        </p:txBody>
      </p:sp>
      <p:sp>
        <p:nvSpPr>
          <p:cNvPr id="14" name="anim-g2-778"/>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 سماوي 🩵</a:t>
            </a:r>
            <a:endParaRPr lang="ar-SA" sz="1900" dirty="0"/>
          </a:p>
        </p:txBody>
      </p:sp>
      <p:sp>
        <p:nvSpPr>
          <p:cNvPr id="15" name="anim-g3-779"/>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780"/>
          <p:cNvSpPr/>
          <p:nvPr/>
        </p:nvSpPr>
        <p:spPr>
          <a:xfrm>
            <a:off x="3314090" y="2267712"/>
            <a:ext cx="566928" cy="566928"/>
          </a:xfrm>
          <a:prstGeom prst="roundRect">
            <a:avLst>
              <a:gd name="adj" fmla="val 32258"/>
            </a:avLst>
          </a:prstGeom>
          <a:solidFill>
            <a:srgbClr val="F7E6BC"/>
          </a:solidFill>
          <a:ln/>
        </p:spPr>
      </p:sp>
      <p:sp>
        <p:nvSpPr>
          <p:cNvPr id="17" name="anim-g3-781"/>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782"/>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الثلاثة معًا</a:t>
            </a:r>
            <a:endParaRPr lang="ar-SA" sz="2200" dirty="0"/>
          </a:p>
        </p:txBody>
      </p:sp>
      <p:sp>
        <p:nvSpPr>
          <p:cNvPr id="19" name="anim-g3-783"/>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 أبيض! وصفر للجميع = أسود ⚫</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يلحق الكرة  ·  ١٢٢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Image 0" descr="/Users/mac/dev/younes-training/robot-pi/.pptx-cache/s123-0.jpg"/>
          <p:cNvPicPr>
            <a:picLocks noChangeAspect="1"/>
          </p:cNvPicPr>
          <p:nvPr/>
        </p:nvPicPr>
        <p:blipFill>
          <a:blip r:embed="rId3"/>
          <a:stretch>
            <a:fillRect/>
          </a:stretch>
        </p:blipFill>
        <p:spPr>
          <a:xfrm>
            <a:off x="0" y="0"/>
            <a:ext cx="12191695" cy="6858000"/>
          </a:xfrm>
          <a:prstGeom prst="rect">
            <a:avLst/>
          </a:prstGeom>
        </p:spPr>
      </p:pic>
      <p:pic>
        <p:nvPicPr>
          <p:cNvPr id="3" name="anim-g1-784" descr="/Users/mac/dev/younes-training/robot-pi/.pptx-cache/s123-1.jpg"/>
          <p:cNvPicPr>
            <a:picLocks noChangeAspect="1"/>
          </p:cNvPicPr>
          <p:nvPr/>
        </p:nvPicPr>
        <p:blipFill>
          <a:blip r:embed="rId4"/>
          <a:stretch>
            <a:fillRect/>
          </a:stretch>
        </p:blipFill>
        <p:spPr>
          <a:xfrm>
            <a:off x="0" y="0"/>
            <a:ext cx="12191695" cy="6858000"/>
          </a:xfrm>
          <a:prstGeom prst="rect">
            <a:avLst/>
          </a:prstGeom>
        </p:spPr>
      </p:pic>
      <p:pic>
        <p:nvPicPr>
          <p:cNvPr id="4" name="anim-g2-785" descr="/Users/mac/dev/younes-training/robot-pi/.pptx-cache/s123-2.jpg"/>
          <p:cNvPicPr>
            <a:picLocks noChangeAspect="1"/>
          </p:cNvPicPr>
          <p:nvPr/>
        </p:nvPicPr>
        <p:blipFill>
          <a:blip r:embed="rId5"/>
          <a:stretch>
            <a:fillRect/>
          </a:stretch>
        </p:blipFill>
        <p:spPr>
          <a:xfrm>
            <a:off x="0" y="0"/>
            <a:ext cx="12191695" cy="6858000"/>
          </a:xfrm>
          <a:prstGeom prst="rect">
            <a:avLst/>
          </a:prstGeom>
        </p:spPr>
      </p:pic>
      <p:pic>
        <p:nvPicPr>
          <p:cNvPr id="5" name="anim-g3-786" descr="/Users/mac/dev/younes-training/robot-pi/.pptx-cache/s123-3.jpg"/>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Image 0" descr="/Users/mac/dev/younes-training/robot-pi/.pptx-cache/s12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735263" y="457200"/>
            <a:ext cx="2633472" cy="457200"/>
          </a:xfrm>
          <a:prstGeom prst="roundRect">
            <a:avLst>
              <a:gd name="adj" fmla="val 50000"/>
            </a:avLst>
          </a:prstGeom>
          <a:solidFill>
            <a:srgbClr val="F6EBCF"/>
          </a:solidFill>
          <a:ln/>
        </p:spPr>
      </p:sp>
      <p:sp>
        <p:nvSpPr>
          <p:cNvPr id="3" name="Text 1"/>
          <p:cNvSpPr/>
          <p:nvPr/>
        </p:nvSpPr>
        <p:spPr>
          <a:xfrm>
            <a:off x="8735263" y="457200"/>
            <a:ext cx="2633472"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أين الكرة؟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find_color يرجع رقمين مهمّين</a:t>
            </a:r>
            <a:endParaRPr lang="ar-SA" sz="3800" dirty="0"/>
          </a:p>
        </p:txBody>
      </p:sp>
      <p:sp>
        <p:nvSpPr>
          <p:cNvPr id="5" name="anim-g1-787"/>
          <p:cNvSpPr/>
          <p:nvPr/>
        </p:nvSpPr>
        <p:spPr>
          <a:xfrm>
            <a:off x="6233008" y="2011680"/>
            <a:ext cx="5135728" cy="4023360"/>
          </a:xfrm>
          <a:prstGeom prst="roundRect">
            <a:avLst>
              <a:gd name="adj" fmla="val 4091"/>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788"/>
          <p:cNvSpPr/>
          <p:nvPr/>
        </p:nvSpPr>
        <p:spPr>
          <a:xfrm>
            <a:off x="10527487" y="2267712"/>
            <a:ext cx="566928" cy="566928"/>
          </a:xfrm>
          <a:prstGeom prst="roundRect">
            <a:avLst>
              <a:gd name="adj" fmla="val 32258"/>
            </a:avLst>
          </a:prstGeom>
          <a:solidFill>
            <a:srgbClr val="F7E6BC"/>
          </a:solidFill>
          <a:ln/>
        </p:spPr>
      </p:sp>
      <p:sp>
        <p:nvSpPr>
          <p:cNvPr id="7" name="anim-g1-789"/>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790"/>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x: يمين أم يسار؟</a:t>
            </a:r>
            <a:endParaRPr lang="ar-SA" sz="2200" dirty="0"/>
          </a:p>
        </p:txBody>
      </p:sp>
      <p:sp>
        <p:nvSpPr>
          <p:cNvPr id="9" name="anim-g1-791"/>
          <p:cNvSpPr/>
          <p:nvPr/>
        </p:nvSpPr>
        <p:spPr>
          <a:xfrm>
            <a:off x="6507328" y="3493008"/>
            <a:ext cx="458708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من -١٠٠ (أقصى اليسار) إلى ١٠٠ (أقصى اليمين)، والصفر هو الوسط</a:t>
            </a:r>
            <a:endParaRPr lang="ar-SA" sz="1900" dirty="0"/>
          </a:p>
        </p:txBody>
      </p:sp>
      <p:sp>
        <p:nvSpPr>
          <p:cNvPr id="10" name="anim-g2-792"/>
          <p:cNvSpPr/>
          <p:nvPr/>
        </p:nvSpPr>
        <p:spPr>
          <a:xfrm>
            <a:off x="822960" y="2011680"/>
            <a:ext cx="5135728" cy="4023360"/>
          </a:xfrm>
          <a:prstGeom prst="roundRect">
            <a:avLst>
              <a:gd name="adj" fmla="val 4091"/>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793"/>
          <p:cNvSpPr/>
          <p:nvPr/>
        </p:nvSpPr>
        <p:spPr>
          <a:xfrm>
            <a:off x="5117440" y="2267712"/>
            <a:ext cx="566928" cy="566928"/>
          </a:xfrm>
          <a:prstGeom prst="roundRect">
            <a:avLst>
              <a:gd name="adj" fmla="val 32258"/>
            </a:avLst>
          </a:prstGeom>
          <a:solidFill>
            <a:srgbClr val="F7E6BC"/>
          </a:solidFill>
          <a:ln/>
        </p:spPr>
      </p:sp>
      <p:sp>
        <p:nvSpPr>
          <p:cNvPr id="12" name="anim-g2-794"/>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795"/>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size: قريبة أم بعيدة؟</a:t>
            </a:r>
            <a:endParaRPr lang="ar-SA" sz="2200" dirty="0"/>
          </a:p>
        </p:txBody>
      </p:sp>
      <p:sp>
        <p:nvSpPr>
          <p:cNvPr id="14" name="anim-g2-796"/>
          <p:cNvSpPr/>
          <p:nvPr/>
        </p:nvSpPr>
        <p:spPr>
          <a:xfrm>
            <a:off x="1097280" y="3493008"/>
            <a:ext cx="458708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حجم الكرة في الصورة: كلما كبر الرقم كانت الكرة أقرب</a:t>
            </a:r>
            <a:endParaRPr lang="ar-SA" sz="1900" dirty="0"/>
          </a:p>
        </p:txBody>
      </p:sp>
      <p:sp>
        <p:nvSpPr>
          <p:cNvPr id="15" name="Text 1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16" name="Text 1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يلحق الكرة  ·  ١٢٥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Image 0" descr="/Users/mac/dev/younes-training/robot-pi/.pptx-cache/s126-0.jpg"/>
          <p:cNvPicPr>
            <a:picLocks noChangeAspect="1"/>
          </p:cNvPicPr>
          <p:nvPr/>
        </p:nvPicPr>
        <p:blipFill>
          <a:blip r:embed="rId3"/>
          <a:stretch>
            <a:fillRect/>
          </a:stretch>
        </p:blipFill>
        <p:spPr>
          <a:xfrm>
            <a:off x="0" y="0"/>
            <a:ext cx="12191695" cy="6858000"/>
          </a:xfrm>
          <a:prstGeom prst="rect">
            <a:avLst/>
          </a:prstGeom>
        </p:spPr>
      </p:pic>
      <p:pic>
        <p:nvPicPr>
          <p:cNvPr id="3" name="anim-g1-797" descr="/Users/mac/dev/younes-training/robot-pi/.pptx-cache/s126-1.jpg"/>
          <p:cNvPicPr>
            <a:picLocks noChangeAspect="1"/>
          </p:cNvPicPr>
          <p:nvPr/>
        </p:nvPicPr>
        <p:blipFill>
          <a:blip r:embed="rId4"/>
          <a:stretch>
            <a:fillRect/>
          </a:stretch>
        </p:blipFill>
        <p:spPr>
          <a:xfrm>
            <a:off x="0" y="0"/>
            <a:ext cx="12191695" cy="6858000"/>
          </a:xfrm>
          <a:prstGeom prst="rect">
            <a:avLst/>
          </a:prstGeom>
        </p:spPr>
      </p:pic>
      <p:pic>
        <p:nvPicPr>
          <p:cNvPr id="4" name="anim-g2-798" descr="/Users/mac/dev/younes-training/robot-pi/.pptx-cache/s126-2.jpg"/>
          <p:cNvPicPr>
            <a:picLocks noChangeAspect="1"/>
          </p:cNvPicPr>
          <p:nvPr/>
        </p:nvPicPr>
        <p:blipFill>
          <a:blip r:embed="rId5"/>
          <a:stretch>
            <a:fillRect/>
          </a:stretch>
        </p:blipFill>
        <p:spPr>
          <a:xfrm>
            <a:off x="0" y="0"/>
            <a:ext cx="12191695" cy="6858000"/>
          </a:xfrm>
          <a:prstGeom prst="rect">
            <a:avLst/>
          </a:prstGeom>
        </p:spPr>
      </p:pic>
      <p:pic>
        <p:nvPicPr>
          <p:cNvPr id="5" name="anim-g3-799" descr="/Users/mac/dev/younes-training/robot-pi/.pptx-cache/s126-3.jpg"/>
          <p:cNvPicPr>
            <a:picLocks noChangeAspect="1"/>
          </p:cNvPicPr>
          <p:nvPr/>
        </p:nvPicPr>
        <p:blipFill>
          <a:blip r:embed="rId6"/>
          <a:stretch>
            <a:fillRect/>
          </a:stretch>
        </p:blipFill>
        <p:spPr>
          <a:xfrm>
            <a:off x="0" y="0"/>
            <a:ext cx="12191695" cy="6858000"/>
          </a:xfrm>
          <a:prstGeom prst="rect">
            <a:avLst/>
          </a:prstGeom>
        </p:spPr>
      </p:pic>
      <p:pic>
        <p:nvPicPr>
          <p:cNvPr id="6" name="anim-g4-800" descr="/Users/mac/dev/younes-training/robot-pi/.pptx-cache/s126-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Image 0" descr="/Users/mac/dev/younes-training/robot-pi/.pptx-cache/s12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Image 0" descr="/Users/mac/dev/younes-training/robot-pi/.pptx-cache/s128-0.jpg"/>
          <p:cNvPicPr>
            <a:picLocks noChangeAspect="1"/>
          </p:cNvPicPr>
          <p:nvPr/>
        </p:nvPicPr>
        <p:blipFill>
          <a:blip r:embed="rId3"/>
          <a:stretch>
            <a:fillRect/>
          </a:stretch>
        </p:blipFill>
        <p:spPr>
          <a:xfrm>
            <a:off x="0" y="0"/>
            <a:ext cx="12191695" cy="6858000"/>
          </a:xfrm>
          <a:prstGeom prst="rect">
            <a:avLst/>
          </a:prstGeom>
        </p:spPr>
      </p:pic>
      <p:pic>
        <p:nvPicPr>
          <p:cNvPr id="3" name="anim-g1-801" descr="/Users/mac/dev/younes-training/robot-pi/.pptx-cache/s128-1.jpg"/>
          <p:cNvPicPr>
            <a:picLocks noChangeAspect="1"/>
          </p:cNvPicPr>
          <p:nvPr/>
        </p:nvPicPr>
        <p:blipFill>
          <a:blip r:embed="rId4"/>
          <a:stretch>
            <a:fillRect/>
          </a:stretch>
        </p:blipFill>
        <p:spPr>
          <a:xfrm>
            <a:off x="0" y="0"/>
            <a:ext cx="12191695" cy="6858000"/>
          </a:xfrm>
          <a:prstGeom prst="rect">
            <a:avLst/>
          </a:prstGeom>
        </p:spPr>
      </p:pic>
      <p:pic>
        <p:nvPicPr>
          <p:cNvPr id="4" name="anim-g2-802" descr="/Users/mac/dev/younes-training/robot-pi/.pptx-cache/s128-2.jpg"/>
          <p:cNvPicPr>
            <a:picLocks noChangeAspect="1"/>
          </p:cNvPicPr>
          <p:nvPr/>
        </p:nvPicPr>
        <p:blipFill>
          <a:blip r:embed="rId5"/>
          <a:stretch>
            <a:fillRect/>
          </a:stretch>
        </p:blipFill>
        <p:spPr>
          <a:xfrm>
            <a:off x="0" y="0"/>
            <a:ext cx="12191695" cy="6858000"/>
          </a:xfrm>
          <a:prstGeom prst="rect">
            <a:avLst/>
          </a:prstGeom>
        </p:spPr>
      </p:pic>
      <p:pic>
        <p:nvPicPr>
          <p:cNvPr id="5" name="anim-g3-803" descr="/Users/mac/dev/younes-training/robot-pi/.pptx-cache/s128-3.jpg"/>
          <p:cNvPicPr>
            <a:picLocks noChangeAspect="1"/>
          </p:cNvPicPr>
          <p:nvPr/>
        </p:nvPicPr>
        <p:blipFill>
          <a:blip r:embed="rId6"/>
          <a:stretch>
            <a:fillRect/>
          </a:stretch>
        </p:blipFill>
        <p:spPr>
          <a:xfrm>
            <a:off x="0" y="0"/>
            <a:ext cx="12191695" cy="6858000"/>
          </a:xfrm>
          <a:prstGeom prst="rect">
            <a:avLst/>
          </a:prstGeom>
        </p:spPr>
      </p:pic>
      <p:pic>
        <p:nvPicPr>
          <p:cNvPr id="6" name="anim-g4-804" descr="/Users/mac/dev/younes-training/robot-pi/.pptx-cache/s128-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name="Slide 12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find_color أرجعت: Ball(x=-70, size=10). أين الكرة؟</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قريبة وفي الوسط</a:t>
            </a:r>
            <a:endParaRPr lang="ar-SA" sz="2500" dirty="0"/>
          </a:p>
        </p:txBody>
      </p:sp>
      <p:sp>
        <p:nvSpPr>
          <p:cNvPr id="9" name="anim-g1-805"/>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806"/>
          <p:cNvSpPr/>
          <p:nvPr/>
        </p:nvSpPr>
        <p:spPr>
          <a:xfrm>
            <a:off x="10231831" y="2194560"/>
            <a:ext cx="954024" cy="954024"/>
          </a:xfrm>
          <a:prstGeom prst="roundRect">
            <a:avLst>
              <a:gd name="adj" fmla="val 11502"/>
            </a:avLst>
          </a:prstGeom>
          <a:solidFill>
            <a:srgbClr val="A3A9BA"/>
          </a:solidFill>
          <a:ln/>
        </p:spPr>
      </p:sp>
      <p:sp>
        <p:nvSpPr>
          <p:cNvPr id="11" name="anim-g1-807"/>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808"/>
          <p:cNvSpPr/>
          <p:nvPr/>
        </p:nvSpPr>
        <p:spPr>
          <a:xfrm>
            <a:off x="1097280" y="2093976"/>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قريبة وفي الوسط</a:t>
            </a:r>
            <a:endParaRPr lang="ar-SA" sz="2400" dirty="0"/>
          </a:p>
        </p:txBody>
      </p:sp>
      <p:sp>
        <p:nvSpPr>
          <p:cNvPr id="13" name="anim-g1-809"/>
          <p:cNvSpPr/>
          <p:nvPr/>
        </p:nvSpPr>
        <p:spPr>
          <a:xfrm>
            <a:off x="1097280" y="2720706"/>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x = -٧٠ ليست الوسط</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بعيدة وعلى اليسار</a:t>
            </a:r>
            <a:endParaRPr lang="ar-SA" sz="2500" dirty="0"/>
          </a:p>
        </p:txBody>
      </p:sp>
      <p:sp>
        <p:nvSpPr>
          <p:cNvPr id="18" name="anim-g1-810"/>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811"/>
          <p:cNvSpPr/>
          <p:nvPr/>
        </p:nvSpPr>
        <p:spPr>
          <a:xfrm>
            <a:off x="10231831" y="3569208"/>
            <a:ext cx="954024" cy="954024"/>
          </a:xfrm>
          <a:prstGeom prst="roundRect">
            <a:avLst>
              <a:gd name="adj" fmla="val 11502"/>
            </a:avLst>
          </a:prstGeom>
          <a:solidFill>
            <a:srgbClr val="2E9E6B"/>
          </a:solidFill>
          <a:ln/>
        </p:spPr>
      </p:sp>
      <p:sp>
        <p:nvSpPr>
          <p:cNvPr id="20" name="anim-g1-812"/>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813"/>
          <p:cNvSpPr/>
          <p:nvPr/>
        </p:nvSpPr>
        <p:spPr>
          <a:xfrm>
            <a:off x="1097280" y="3468624"/>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131B34"/>
                </a:solidFill>
                <a:latin typeface="Cairo" pitchFamily="34" charset="0"/>
                <a:ea typeface="Cairo" pitchFamily="34" charset="-122"/>
                <a:cs typeface="Cairo" pitchFamily="34" charset="-120"/>
              </a:rPr>
              <a:t>بعيدة وعلى اليسار</a:t>
            </a:r>
            <a:endParaRPr lang="ar-SA" sz="2400" dirty="0"/>
          </a:p>
        </p:txBody>
      </p:sp>
      <p:sp>
        <p:nvSpPr>
          <p:cNvPr id="22" name="anim-g1-814"/>
          <p:cNvSpPr/>
          <p:nvPr/>
        </p:nvSpPr>
        <p:spPr>
          <a:xfrm>
            <a:off x="1097280" y="4095354"/>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1D5E40"/>
                </a:solidFill>
                <a:latin typeface="Cairo" pitchFamily="34" charset="0"/>
                <a:ea typeface="Cairo" pitchFamily="34" charset="-122"/>
                <a:cs typeface="Cairo" pitchFamily="34" charset="-120"/>
              </a:rPr>
              <a:t>صحيح! x سالبة كبيرة = يسار، والحجم صغير = بعيدة ⚽</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قريبة وعلى اليمين</a:t>
            </a:r>
            <a:endParaRPr lang="ar-SA" sz="2500" dirty="0"/>
          </a:p>
        </p:txBody>
      </p:sp>
      <p:sp>
        <p:nvSpPr>
          <p:cNvPr id="27" name="anim-g1-815"/>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816"/>
          <p:cNvSpPr/>
          <p:nvPr/>
        </p:nvSpPr>
        <p:spPr>
          <a:xfrm>
            <a:off x="10231831" y="4943856"/>
            <a:ext cx="954024" cy="954024"/>
          </a:xfrm>
          <a:prstGeom prst="roundRect">
            <a:avLst>
              <a:gd name="adj" fmla="val 11502"/>
            </a:avLst>
          </a:prstGeom>
          <a:solidFill>
            <a:srgbClr val="A3A9BA"/>
          </a:solidFill>
          <a:ln/>
        </p:spPr>
      </p:sp>
      <p:sp>
        <p:nvSpPr>
          <p:cNvPr id="29" name="anim-g1-817"/>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818"/>
          <p:cNvSpPr/>
          <p:nvPr/>
        </p:nvSpPr>
        <p:spPr>
          <a:xfrm>
            <a:off x="1097280" y="4843272"/>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قريبة وعلى اليمين</a:t>
            </a:r>
            <a:endParaRPr lang="ar-SA" sz="2400" dirty="0"/>
          </a:p>
        </p:txBody>
      </p:sp>
      <p:sp>
        <p:nvSpPr>
          <p:cNvPr id="31" name="anim-g1-819"/>
          <p:cNvSpPr/>
          <p:nvPr/>
        </p:nvSpPr>
        <p:spPr>
          <a:xfrm>
            <a:off x="1097280" y="5470002"/>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x السالبة تعني اليسار</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يلحق الكرة  ·  ١٢٩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name="Slide 13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نبيه لا يجد الكرة الحمراء في الفصل المظلم. ما الحل؟</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نشغّل إضاءة الفصل</a:t>
            </a:r>
            <a:endParaRPr lang="ar-SA" sz="2500" dirty="0"/>
          </a:p>
        </p:txBody>
      </p:sp>
      <p:sp>
        <p:nvSpPr>
          <p:cNvPr id="9" name="anim-g1-820"/>
          <p:cNvSpPr/>
          <p:nvPr/>
        </p:nvSpPr>
        <p:spPr>
          <a:xfrm>
            <a:off x="822960" y="2057400"/>
            <a:ext cx="10545775" cy="1228344"/>
          </a:xfrm>
          <a:prstGeom prst="roundRect">
            <a:avLst>
              <a:gd name="adj" fmla="val 11911"/>
            </a:avLst>
          </a:prstGeom>
          <a:solidFill>
            <a:srgbClr val="E6F4EC"/>
          </a:solidFill>
          <a:ln w="31750">
            <a:solidFill>
              <a:srgbClr val="2E9E6B"/>
            </a:solidFill>
            <a:prstDash val="solid"/>
          </a:ln>
        </p:spPr>
      </p:sp>
      <p:sp>
        <p:nvSpPr>
          <p:cNvPr id="10" name="anim-g1-821"/>
          <p:cNvSpPr/>
          <p:nvPr/>
        </p:nvSpPr>
        <p:spPr>
          <a:xfrm>
            <a:off x="10231831" y="2194560"/>
            <a:ext cx="954024" cy="954024"/>
          </a:xfrm>
          <a:prstGeom prst="roundRect">
            <a:avLst>
              <a:gd name="adj" fmla="val 11502"/>
            </a:avLst>
          </a:prstGeom>
          <a:solidFill>
            <a:srgbClr val="2E9E6B"/>
          </a:solidFill>
          <a:ln/>
        </p:spPr>
      </p:sp>
      <p:sp>
        <p:nvSpPr>
          <p:cNvPr id="11" name="anim-g1-822"/>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12" name="anim-g1-823"/>
          <p:cNvSpPr/>
          <p:nvPr/>
        </p:nvSpPr>
        <p:spPr>
          <a:xfrm>
            <a:off x="1097280" y="2093976"/>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131B34"/>
                </a:solidFill>
                <a:latin typeface="Cairo" pitchFamily="34" charset="0"/>
                <a:ea typeface="Cairo" pitchFamily="34" charset="-122"/>
                <a:cs typeface="Cairo" pitchFamily="34" charset="-120"/>
              </a:rPr>
              <a:t>نشغّل إضاءة الفصل</a:t>
            </a:r>
            <a:endParaRPr lang="ar-SA" sz="2400" dirty="0"/>
          </a:p>
        </p:txBody>
      </p:sp>
      <p:sp>
        <p:nvSpPr>
          <p:cNvPr id="13" name="anim-g1-824"/>
          <p:cNvSpPr/>
          <p:nvPr/>
        </p:nvSpPr>
        <p:spPr>
          <a:xfrm>
            <a:off x="1097280" y="2720706"/>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1D5E40"/>
                </a:solidFill>
                <a:latin typeface="Cairo" pitchFamily="34" charset="0"/>
                <a:ea typeface="Cairo" pitchFamily="34" charset="-122"/>
                <a:cs typeface="Cairo" pitchFamily="34" charset="-120"/>
              </a:rPr>
              <a:t>صحيح! الكاميرا تحتاج ضوءًا كافيًا لترى الألوان 💡</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نغيّر لون نبيه</a:t>
            </a:r>
            <a:endParaRPr lang="ar-SA" sz="2500" dirty="0"/>
          </a:p>
        </p:txBody>
      </p:sp>
      <p:sp>
        <p:nvSpPr>
          <p:cNvPr id="18" name="anim-g1-825"/>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826"/>
          <p:cNvSpPr/>
          <p:nvPr/>
        </p:nvSpPr>
        <p:spPr>
          <a:xfrm>
            <a:off x="10231831" y="3569208"/>
            <a:ext cx="954024" cy="954024"/>
          </a:xfrm>
          <a:prstGeom prst="roundRect">
            <a:avLst>
              <a:gd name="adj" fmla="val 11502"/>
            </a:avLst>
          </a:prstGeom>
          <a:solidFill>
            <a:srgbClr val="A3A9BA"/>
          </a:solidFill>
          <a:ln/>
        </p:spPr>
      </p:sp>
      <p:sp>
        <p:nvSpPr>
          <p:cNvPr id="20" name="anim-g1-827"/>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828"/>
          <p:cNvSpPr/>
          <p:nvPr/>
        </p:nvSpPr>
        <p:spPr>
          <a:xfrm>
            <a:off x="1097280" y="3468624"/>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نغيّر لون نبيه</a:t>
            </a:r>
            <a:endParaRPr lang="ar-SA" sz="2400" dirty="0"/>
          </a:p>
        </p:txBody>
      </p:sp>
      <p:sp>
        <p:nvSpPr>
          <p:cNvPr id="22" name="anim-g1-829"/>
          <p:cNvSpPr/>
          <p:nvPr/>
        </p:nvSpPr>
        <p:spPr>
          <a:xfrm>
            <a:off x="1097280" y="4095354"/>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لون نبيه لا يهم الكاميرا</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نسرّع المحركات</a:t>
            </a:r>
            <a:endParaRPr lang="ar-SA" sz="2500" dirty="0"/>
          </a:p>
        </p:txBody>
      </p:sp>
      <p:sp>
        <p:nvSpPr>
          <p:cNvPr id="27" name="anim-g1-830"/>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831"/>
          <p:cNvSpPr/>
          <p:nvPr/>
        </p:nvSpPr>
        <p:spPr>
          <a:xfrm>
            <a:off x="10231831" y="4943856"/>
            <a:ext cx="954024" cy="954024"/>
          </a:xfrm>
          <a:prstGeom prst="roundRect">
            <a:avLst>
              <a:gd name="adj" fmla="val 11502"/>
            </a:avLst>
          </a:prstGeom>
          <a:solidFill>
            <a:srgbClr val="A3A9BA"/>
          </a:solidFill>
          <a:ln/>
        </p:spPr>
      </p:sp>
      <p:sp>
        <p:nvSpPr>
          <p:cNvPr id="29" name="anim-g1-832"/>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833"/>
          <p:cNvSpPr/>
          <p:nvPr/>
        </p:nvSpPr>
        <p:spPr>
          <a:xfrm>
            <a:off x="1097280" y="4843272"/>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نسرّع المحركات</a:t>
            </a:r>
            <a:endParaRPr lang="ar-SA" sz="2400" dirty="0"/>
          </a:p>
        </p:txBody>
      </p:sp>
      <p:sp>
        <p:nvSpPr>
          <p:cNvPr id="31" name="anim-g1-834"/>
          <p:cNvSpPr/>
          <p:nvPr/>
        </p:nvSpPr>
        <p:spPr>
          <a:xfrm>
            <a:off x="1097280" y="5470002"/>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السرعة لا تساعد الكاميرا على الرؤية</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يلحق الكرة  ·  ١٣٠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Image 0" descr="/Users/mac/dev/younes-training/robot-pi/.pptx-cache/s13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979615" y="457200"/>
            <a:ext cx="438912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6979615" y="457200"/>
            <a:ext cx="438912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 تحدّي الفرق — ١٥ دقيقة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F0CC7A"/>
                </a:solidFill>
                <a:latin typeface="Cairo Black" pitchFamily="34" charset="0"/>
                <a:ea typeface="Cairo Black" pitchFamily="34" charset="-122"/>
                <a:cs typeface="Cairo Black" pitchFamily="34" charset="-120"/>
              </a:rPr>
              <a:t>ملعب نبيه ⚽</a:t>
            </a:r>
            <a:endParaRPr lang="ar-SA" sz="3800" dirty="0"/>
          </a:p>
        </p:txBody>
      </p:sp>
      <p:sp>
        <p:nvSpPr>
          <p:cNvPr id="5" name="anim-g1-835"/>
          <p:cNvSpPr/>
          <p:nvPr/>
        </p:nvSpPr>
        <p:spPr>
          <a:xfrm>
            <a:off x="10637215" y="2286000"/>
            <a:ext cx="731520" cy="731520"/>
          </a:xfrm>
          <a:prstGeom prst="ellipse">
            <a:avLst/>
          </a:prstGeom>
          <a:solidFill>
            <a:srgbClr val="D9AE4B"/>
          </a:solidFill>
          <a:ln/>
        </p:spPr>
      </p:sp>
      <p:sp>
        <p:nvSpPr>
          <p:cNvPr id="6" name="anim-g1-836"/>
          <p:cNvSpPr/>
          <p:nvPr/>
        </p:nvSpPr>
        <p:spPr>
          <a:xfrm>
            <a:off x="10637215" y="228600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837"/>
          <p:cNvSpPr/>
          <p:nvPr/>
        </p:nvSpPr>
        <p:spPr>
          <a:xfrm>
            <a:off x="4023360" y="219456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ضعوا الكرة في مكان مختلف من الفصل كل مرة</a:t>
            </a:r>
            <a:endParaRPr lang="ar-SA" sz="2200" dirty="0"/>
          </a:p>
        </p:txBody>
      </p:sp>
      <p:sp>
        <p:nvSpPr>
          <p:cNvPr id="8" name="anim-g2-838"/>
          <p:cNvSpPr/>
          <p:nvPr/>
        </p:nvSpPr>
        <p:spPr>
          <a:xfrm>
            <a:off x="10637215" y="3383280"/>
            <a:ext cx="731520" cy="731520"/>
          </a:xfrm>
          <a:prstGeom prst="ellipse">
            <a:avLst/>
          </a:prstGeom>
          <a:solidFill>
            <a:srgbClr val="D9AE4B"/>
          </a:solidFill>
          <a:ln/>
        </p:spPr>
      </p:sp>
      <p:sp>
        <p:nvSpPr>
          <p:cNvPr id="9" name="anim-g2-839"/>
          <p:cNvSpPr/>
          <p:nvPr/>
        </p:nvSpPr>
        <p:spPr>
          <a:xfrm>
            <a:off x="10637215" y="338328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840"/>
          <p:cNvSpPr/>
          <p:nvPr/>
        </p:nvSpPr>
        <p:spPr>
          <a:xfrm>
            <a:off x="4023360" y="329184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شغّلوا برنامج اللحاق: كم ثانية يحتاج نبيه ليصل؟</a:t>
            </a:r>
            <a:endParaRPr lang="ar-SA" sz="2200" dirty="0"/>
          </a:p>
        </p:txBody>
      </p:sp>
      <p:sp>
        <p:nvSpPr>
          <p:cNvPr id="11" name="anim-g3-841"/>
          <p:cNvSpPr/>
          <p:nvPr/>
        </p:nvSpPr>
        <p:spPr>
          <a:xfrm>
            <a:off x="10637215" y="4480560"/>
            <a:ext cx="731520" cy="731520"/>
          </a:xfrm>
          <a:prstGeom prst="ellipse">
            <a:avLst/>
          </a:prstGeom>
          <a:solidFill>
            <a:srgbClr val="D9AE4B"/>
          </a:solidFill>
          <a:ln/>
        </p:spPr>
      </p:sp>
      <p:sp>
        <p:nvSpPr>
          <p:cNvPr id="12" name="anim-g3-842"/>
          <p:cNvSpPr/>
          <p:nvPr/>
        </p:nvSpPr>
        <p:spPr>
          <a:xfrm>
            <a:off x="10637215" y="448056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843"/>
          <p:cNvSpPr/>
          <p:nvPr/>
        </p:nvSpPr>
        <p:spPr>
          <a:xfrm>
            <a:off x="4023360" y="438912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جرّبوا لونًا آخر: غيّروا "red" إلى لون كرة أخرى</a:t>
            </a:r>
            <a:endParaRPr lang="ar-SA" sz="2200" dirty="0"/>
          </a:p>
        </p:txBody>
      </p:sp>
      <p:sp>
        <p:nvSpPr>
          <p:cNvPr id="14" name="anim-g4-844"/>
          <p:cNvSpPr/>
          <p:nvPr/>
        </p:nvSpPr>
        <p:spPr>
          <a:xfrm>
            <a:off x="10637215" y="5577840"/>
            <a:ext cx="731520" cy="731520"/>
          </a:xfrm>
          <a:prstGeom prst="ellipse">
            <a:avLst/>
          </a:prstGeom>
          <a:solidFill>
            <a:srgbClr val="D9AE4B"/>
          </a:solidFill>
          <a:ln/>
        </p:spPr>
      </p:sp>
      <p:sp>
        <p:nvSpPr>
          <p:cNvPr id="15" name="anim-g4-845"/>
          <p:cNvSpPr/>
          <p:nvPr/>
        </p:nvSpPr>
        <p:spPr>
          <a:xfrm>
            <a:off x="10637215" y="557784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٤</a:t>
            </a:r>
            <a:endParaRPr lang="ar-SA" sz="2400" dirty="0"/>
          </a:p>
        </p:txBody>
      </p:sp>
      <p:sp>
        <p:nvSpPr>
          <p:cNvPr id="16" name="anim-g4-846"/>
          <p:cNvSpPr/>
          <p:nvPr/>
        </p:nvSpPr>
        <p:spPr>
          <a:xfrm>
            <a:off x="4023360" y="548640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تحدٍّ: اجعلوا نبيه يقول «وجدتها!» حين يصل</a:t>
            </a:r>
            <a:endParaRPr lang="ar-SA" sz="2200" dirty="0"/>
          </a:p>
        </p:txBody>
      </p:sp>
      <p:sp>
        <p:nvSpPr>
          <p:cNvPr id="17" name="Shape 15"/>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8" name="Text 16"/>
          <p:cNvSpPr/>
          <p:nvPr/>
        </p:nvSpPr>
        <p:spPr>
          <a:xfrm>
            <a:off x="822960" y="2834640"/>
            <a:ext cx="2834640" cy="1097280"/>
          </a:xfrm>
          <a:prstGeom prst="rect">
            <a:avLst/>
          </a:prstGeom>
          <a:noFill/>
          <a:ln/>
        </p:spPr>
        <p:txBody>
          <a:bodyPr wrap="square" lIns="0" tIns="0" rIns="0" bIns="0" rtlCol="0" anchor="ctr">
            <a:normAutofit/>
          </a:bodyPr>
          <a:lstStyle/>
          <a:p>
            <a:pPr marL="0" indent="0" algn="ctr">
              <a:buNone/>
            </a:pPr>
            <a:r>
              <a:rPr lang="ar-SA" altLang="en-US" sz="6000" dirty="0">
                <a:solidFill>
                  <a:srgbClr val="F0CC7A"/>
                </a:solidFill>
                <a:latin typeface="Cairo Black" pitchFamily="34" charset="0"/>
                <a:ea typeface="Cairo Black" pitchFamily="34" charset="-122"/>
                <a:cs typeface="Cairo Black" pitchFamily="34" charset="-120"/>
              </a:rPr>
              <a:t>15:00</a:t>
            </a:r>
            <a:endParaRPr lang="ar-SA" sz="6000" dirty="0"/>
          </a:p>
        </p:txBody>
      </p:sp>
      <p:sp>
        <p:nvSpPr>
          <p:cNvPr id="19" name="Text 17"/>
          <p:cNvSpPr/>
          <p:nvPr/>
        </p:nvSpPr>
        <p:spPr>
          <a:xfrm>
            <a:off x="822960" y="3840480"/>
            <a:ext cx="2834640" cy="457200"/>
          </a:xfrm>
          <a:prstGeom prst="rect">
            <a:avLst/>
          </a:prstGeom>
          <a:noFill/>
          <a:ln/>
        </p:spPr>
        <p:txBody>
          <a:bodyPr wrap="square" lIns="0" tIns="0" rIns="0" bIns="0" rtlCol="0" anchor="ctr">
            <a:normAutofit/>
          </a:bodyPr>
          <a:lstStyle/>
          <a:p>
            <a:pPr marL="0" indent="0" algn="ctr" rtl="1">
              <a:buNone/>
            </a:pPr>
            <a:r>
              <a:rPr lang="ar-SA" altLang="en-US" sz="1600" b="1" dirty="0">
                <a:solidFill>
                  <a:srgbClr val="C9CFE6"/>
                </a:solidFill>
                <a:latin typeface="Cairo" pitchFamily="34" charset="0"/>
                <a:ea typeface="Cairo" pitchFamily="34" charset="-122"/>
                <a:cs typeface="Cairo" pitchFamily="34" charset="-120"/>
              </a:rPr>
              <a:t>١٥ دقائق</a:t>
            </a:r>
            <a:endParaRPr lang="ar-SA" sz="16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نبيه يلحق الكرة  ·  ١٣٢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Image 0" descr="/Users/mac/dev/younes-training/robot-pi/.pptx-cache/s133.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marL="0" indent="0" algn="ctr" rtl="1">
              <a:buNone/>
            </a:pPr>
            <a:r>
              <a:rPr lang="ar-SA" altLang="en-US" sz="8000" dirty="0">
                <a:solidFill>
                  <a:srgbClr val="FFF3D6"/>
                </a:solidFill>
                <a:latin typeface="Cairo Black" pitchFamily="34" charset="0"/>
                <a:ea typeface="Cairo Black" pitchFamily="34" charset="-122"/>
                <a:cs typeface="Cairo Black" pitchFamily="34" charset="-120"/>
              </a:rPr>
              <a:t>نبيه يرى! 👁️</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في الوحدة القادمة: يتعرف على وجوه أصحابه ويسلّم عليهم بأسمائهم 😊</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C9CFE6"/>
                </a:solidFill>
                <a:latin typeface="Cairo" pitchFamily="34" charset="0"/>
                <a:ea typeface="Cairo" pitchFamily="34" charset="-122"/>
                <a:cs typeface="Cairo" pitchFamily="34" charset="-120"/>
              </a:rPr>
              <a:t>روبوتي الذكي · إعداد وتقديم: أ. محمد زيتون</a:t>
            </a:r>
            <a:endParaRPr lang="ar-SA" sz="18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marL="0" indent="0" algn="ctr" rtl="1">
              <a:buNone/>
            </a:pPr>
            <a:r>
              <a:rPr lang="ar-SA" altLang="en-US" sz="12000" dirty="0">
                <a:solidFill>
                  <a:srgbClr val="F0CC7A"/>
                </a:solidFill>
                <a:latin typeface="Cairo Black" pitchFamily="34" charset="0"/>
                <a:ea typeface="Cairo Black" pitchFamily="34" charset="-122"/>
                <a:cs typeface="Cairo Black" pitchFamily="34" charset="-120"/>
              </a:rPr>
              <a:t>٨</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marL="0" indent="0" algn="r" rtl="1">
              <a:buNone/>
            </a:pPr>
            <a:r>
              <a:rPr lang="ar-SA" altLang="en-US" sz="2000" b="1" dirty="0">
                <a:solidFill>
                  <a:srgbClr val="D9AE4B"/>
                </a:solidFill>
                <a:latin typeface="Cairo" pitchFamily="34" charset="0"/>
                <a:ea typeface="Cairo" pitchFamily="34" charset="-122"/>
                <a:cs typeface="Cairo" pitchFamily="34" charset="-120"/>
              </a:rPr>
              <a:t>الوحدة ٨</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marL="0" indent="0" algn="r" rtl="1">
              <a:buNone/>
            </a:pPr>
            <a:r>
              <a:rPr lang="ar-SA" altLang="en-US" sz="5600" dirty="0">
                <a:solidFill>
                  <a:srgbClr val="FFFFFF"/>
                </a:solidFill>
                <a:latin typeface="Cairo Black" pitchFamily="34" charset="0"/>
                <a:ea typeface="Cairo Black" pitchFamily="34" charset="-122"/>
                <a:cs typeface="Cairo Black" pitchFamily="34" charset="-120"/>
              </a:rPr>
              <a:t>نبيه يعرف أصحابه</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marL="0" indent="0" algn="r" rtl="1">
              <a:buNone/>
            </a:pPr>
            <a:r>
              <a:rPr lang="ar-SA" altLang="en-US" sz="2200" b="1" dirty="0">
                <a:solidFill>
                  <a:srgbClr val="C9CFE6"/>
                </a:solidFill>
                <a:latin typeface="Cairo" pitchFamily="34" charset="0"/>
                <a:ea typeface="Cairo" pitchFamily="34" charset="-122"/>
                <a:cs typeface="Cairo" pitchFamily="34" charset="-120"/>
              </a:rPr>
              <a:t>يرى وجهك… ويسلّم عليك باسمك 😊</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نبيه يعرف أصحابه  ·  ١٣٥</a:t>
            </a:r>
            <a:endParaRPr lang="ar-SA" sz="12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مهمتي اليوم</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بنهاية هذه الوحدة سأستطيع أن</a:t>
            </a:r>
            <a:endParaRPr lang="ar-SA" sz="3800" dirty="0"/>
          </a:p>
        </p:txBody>
      </p:sp>
      <p:sp>
        <p:nvSpPr>
          <p:cNvPr id="5" name="anim-g1-847"/>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848"/>
          <p:cNvSpPr/>
          <p:nvPr/>
        </p:nvSpPr>
        <p:spPr>
          <a:xfrm>
            <a:off x="10573207" y="2109978"/>
            <a:ext cx="566928" cy="566928"/>
          </a:xfrm>
          <a:prstGeom prst="ellipse">
            <a:avLst/>
          </a:prstGeom>
          <a:solidFill>
            <a:srgbClr val="D9AE4B"/>
          </a:solidFill>
          <a:ln/>
        </p:spPr>
      </p:sp>
      <p:sp>
        <p:nvSpPr>
          <p:cNvPr id="7" name="anim-g1-849"/>
          <p:cNvSpPr/>
          <p:nvPr/>
        </p:nvSpPr>
        <p:spPr>
          <a:xfrm>
            <a:off x="10573207" y="2109978"/>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850"/>
          <p:cNvSpPr/>
          <p:nvPr/>
        </p:nvSpPr>
        <p:spPr>
          <a:xfrm>
            <a:off x="1097280" y="1920240"/>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أشرح كيف يعرف الكمبيوتر الوجوه في ٣ خطوات</a:t>
            </a:r>
            <a:endParaRPr lang="ar-SA" sz="2400" dirty="0"/>
          </a:p>
        </p:txBody>
      </p:sp>
      <p:sp>
        <p:nvSpPr>
          <p:cNvPr id="9" name="anim-g2-851"/>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852"/>
          <p:cNvSpPr/>
          <p:nvPr/>
        </p:nvSpPr>
        <p:spPr>
          <a:xfrm>
            <a:off x="10573207" y="3166110"/>
            <a:ext cx="566928" cy="566928"/>
          </a:xfrm>
          <a:prstGeom prst="ellipse">
            <a:avLst/>
          </a:prstGeom>
          <a:solidFill>
            <a:srgbClr val="D9AE4B"/>
          </a:solidFill>
          <a:ln/>
        </p:spPr>
      </p:sp>
      <p:sp>
        <p:nvSpPr>
          <p:cNvPr id="11" name="anim-g2-853"/>
          <p:cNvSpPr/>
          <p:nvPr/>
        </p:nvSpPr>
        <p:spPr>
          <a:xfrm>
            <a:off x="10573207" y="3166110"/>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854"/>
          <p:cNvSpPr/>
          <p:nvPr/>
        </p:nvSpPr>
        <p:spPr>
          <a:xfrm>
            <a:off x="1097280" y="2976372"/>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أعرف ما «بصمة الوجه»، وكيف نقارن بصمتين</a:t>
            </a:r>
            <a:endParaRPr lang="ar-SA" sz="2400" dirty="0"/>
          </a:p>
        </p:txBody>
      </p:sp>
      <p:sp>
        <p:nvSpPr>
          <p:cNvPr id="13" name="anim-g3-855"/>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856"/>
          <p:cNvSpPr/>
          <p:nvPr/>
        </p:nvSpPr>
        <p:spPr>
          <a:xfrm>
            <a:off x="10573207" y="4222242"/>
            <a:ext cx="566928" cy="566928"/>
          </a:xfrm>
          <a:prstGeom prst="ellipse">
            <a:avLst/>
          </a:prstGeom>
          <a:solidFill>
            <a:srgbClr val="D9AE4B"/>
          </a:solidFill>
          <a:ln/>
        </p:spPr>
      </p:sp>
      <p:sp>
        <p:nvSpPr>
          <p:cNvPr id="15" name="anim-g3-857"/>
          <p:cNvSpPr/>
          <p:nvPr/>
        </p:nvSpPr>
        <p:spPr>
          <a:xfrm>
            <a:off x="10573207" y="4222242"/>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858"/>
          <p:cNvSpPr/>
          <p:nvPr/>
        </p:nvSpPr>
        <p:spPr>
          <a:xfrm>
            <a:off x="1097280" y="4032504"/>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أحفظ وجه صديق في نبيه… بإذنه</a:t>
            </a:r>
            <a:endParaRPr lang="ar-SA" sz="2400" dirty="0"/>
          </a:p>
        </p:txBody>
      </p:sp>
      <p:sp>
        <p:nvSpPr>
          <p:cNvPr id="17" name="anim-g4-859"/>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860"/>
          <p:cNvSpPr/>
          <p:nvPr/>
        </p:nvSpPr>
        <p:spPr>
          <a:xfrm>
            <a:off x="10573207" y="5278374"/>
            <a:ext cx="566928" cy="566928"/>
          </a:xfrm>
          <a:prstGeom prst="ellipse">
            <a:avLst/>
          </a:prstGeom>
          <a:solidFill>
            <a:srgbClr val="D9AE4B"/>
          </a:solidFill>
          <a:ln/>
        </p:spPr>
      </p:sp>
      <p:sp>
        <p:nvSpPr>
          <p:cNvPr id="19" name="anim-g4-861"/>
          <p:cNvSpPr/>
          <p:nvPr/>
        </p:nvSpPr>
        <p:spPr>
          <a:xfrm>
            <a:off x="10573207" y="5278374"/>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862"/>
          <p:cNvSpPr/>
          <p:nvPr/>
        </p:nvSpPr>
        <p:spPr>
          <a:xfrm>
            <a:off x="1097280" y="5088636"/>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أبرمج نبيه ليسلّم على أصحابه بأسمائهم</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يعرف أصحابه  ·  ١٣٦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name="Slide 13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613087" y="457200"/>
            <a:ext cx="1755648" cy="457200"/>
          </a:xfrm>
          <a:prstGeom prst="roundRect">
            <a:avLst>
              <a:gd name="adj" fmla="val 50000"/>
            </a:avLst>
          </a:prstGeom>
          <a:solidFill>
            <a:srgbClr val="F6EBCF"/>
          </a:solidFill>
          <a:ln/>
        </p:spPr>
      </p:sp>
      <p:sp>
        <p:nvSpPr>
          <p:cNvPr id="3" name="Text 1"/>
          <p:cNvSpPr/>
          <p:nvPr/>
        </p:nvSpPr>
        <p:spPr>
          <a:xfrm>
            <a:off x="9613087" y="457200"/>
            <a:ext cx="175564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سؤال</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كيف تعرف صديقك من بعيد؟</a:t>
            </a:r>
            <a:endParaRPr lang="ar-SA" sz="3800" dirty="0"/>
          </a:p>
        </p:txBody>
      </p:sp>
      <p:sp>
        <p:nvSpPr>
          <p:cNvPr id="5" name="anim-g1-863"/>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864"/>
          <p:cNvSpPr/>
          <p:nvPr/>
        </p:nvSpPr>
        <p:spPr>
          <a:xfrm>
            <a:off x="10527487" y="2267712"/>
            <a:ext cx="566928" cy="566928"/>
          </a:xfrm>
          <a:prstGeom prst="roundRect">
            <a:avLst>
              <a:gd name="adj" fmla="val 32258"/>
            </a:avLst>
          </a:prstGeom>
          <a:solidFill>
            <a:srgbClr val="F7E6BC"/>
          </a:solidFill>
          <a:ln/>
        </p:spPr>
      </p:sp>
      <p:sp>
        <p:nvSpPr>
          <p:cNvPr id="7" name="anim-g1-865"/>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866"/>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أولًا: ترى وجهًا</a:t>
            </a:r>
            <a:endParaRPr lang="ar-SA" sz="2200" dirty="0"/>
          </a:p>
        </p:txBody>
      </p:sp>
      <p:sp>
        <p:nvSpPr>
          <p:cNvPr id="9" name="anim-g1-867"/>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تعرف أن هناك شخصًا، قبل أن تعرف من هو</a:t>
            </a:r>
            <a:endParaRPr lang="ar-SA" sz="1900" dirty="0"/>
          </a:p>
        </p:txBody>
      </p:sp>
      <p:sp>
        <p:nvSpPr>
          <p:cNvPr id="10" name="anim-g2-868"/>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869"/>
          <p:cNvSpPr/>
          <p:nvPr/>
        </p:nvSpPr>
        <p:spPr>
          <a:xfrm>
            <a:off x="6920789" y="2267712"/>
            <a:ext cx="566928" cy="566928"/>
          </a:xfrm>
          <a:prstGeom prst="roundRect">
            <a:avLst>
              <a:gd name="adj" fmla="val 32258"/>
            </a:avLst>
          </a:prstGeom>
          <a:solidFill>
            <a:srgbClr val="F7E6BC"/>
          </a:solidFill>
          <a:ln/>
        </p:spPr>
      </p:sp>
      <p:sp>
        <p:nvSpPr>
          <p:cNvPr id="12" name="anim-g2-870"/>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871"/>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ثانيًا: تلاحظ ملامحه</a:t>
            </a:r>
            <a:endParaRPr lang="ar-SA" sz="2200" dirty="0"/>
          </a:p>
        </p:txBody>
      </p:sp>
      <p:sp>
        <p:nvSpPr>
          <p:cNvPr id="14" name="anim-g2-872"/>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شكل العينين، والأنف، والمسافة بينهما</a:t>
            </a:r>
            <a:endParaRPr lang="ar-SA" sz="1900" dirty="0"/>
          </a:p>
        </p:txBody>
      </p:sp>
      <p:sp>
        <p:nvSpPr>
          <p:cNvPr id="15" name="anim-g3-873"/>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874"/>
          <p:cNvSpPr/>
          <p:nvPr/>
        </p:nvSpPr>
        <p:spPr>
          <a:xfrm>
            <a:off x="3314090" y="2267712"/>
            <a:ext cx="566928" cy="566928"/>
          </a:xfrm>
          <a:prstGeom prst="roundRect">
            <a:avLst>
              <a:gd name="adj" fmla="val 32258"/>
            </a:avLst>
          </a:prstGeom>
          <a:solidFill>
            <a:srgbClr val="F7E6BC"/>
          </a:solidFill>
          <a:ln/>
        </p:spPr>
      </p:sp>
      <p:sp>
        <p:nvSpPr>
          <p:cNvPr id="17" name="anim-g3-875"/>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876"/>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ثالثًا: تتذكر</a:t>
            </a:r>
            <a:endParaRPr lang="ar-SA" sz="2200" dirty="0"/>
          </a:p>
        </p:txBody>
      </p:sp>
      <p:sp>
        <p:nvSpPr>
          <p:cNvPr id="19" name="anim-g3-877"/>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تقارن بمن تعرفهم… «هذا عمر!»</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يعرف أصحابه  ·  ١٣٧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Image 0" descr="/Users/mac/dev/younes-training/robot-pi/.pptx-cache/s13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998568" y="1188720"/>
            <a:ext cx="219456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998568" y="1188720"/>
            <a:ext cx="219456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بصمة الوجه</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كما لكل إنسان بصمة إصبع…</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لكل وجه بصمة من الأرقام</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نبيه يعرف أصحابه  ·  ١٣٩</a:t>
            </a:r>
            <a:endParaRPr lang="ar-SA" sz="12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مهم جدًّا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وجهك أمانة: قواعد الخصوصية</a:t>
            </a:r>
            <a:endParaRPr lang="ar-SA" sz="3800" dirty="0"/>
          </a:p>
        </p:txBody>
      </p:sp>
      <p:sp>
        <p:nvSpPr>
          <p:cNvPr id="5" name="anim-g1-878"/>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879"/>
          <p:cNvSpPr/>
          <p:nvPr/>
        </p:nvSpPr>
        <p:spPr>
          <a:xfrm>
            <a:off x="10527487" y="2267712"/>
            <a:ext cx="566928" cy="566928"/>
          </a:xfrm>
          <a:prstGeom prst="roundRect">
            <a:avLst>
              <a:gd name="adj" fmla="val 32258"/>
            </a:avLst>
          </a:prstGeom>
          <a:solidFill>
            <a:srgbClr val="F7E6BC"/>
          </a:solidFill>
          <a:ln/>
        </p:spPr>
      </p:sp>
      <p:sp>
        <p:nvSpPr>
          <p:cNvPr id="7" name="anim-g1-880"/>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881"/>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بإذن فقط</a:t>
            </a:r>
            <a:endParaRPr lang="ar-SA" sz="2200" dirty="0"/>
          </a:p>
        </p:txBody>
      </p:sp>
      <p:sp>
        <p:nvSpPr>
          <p:cNvPr id="9" name="anim-g1-882"/>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لا نحفظ وجه أحد إلا بإذنه، وإذن ولي أمره</a:t>
            </a:r>
            <a:endParaRPr lang="ar-SA" sz="1900" dirty="0"/>
          </a:p>
        </p:txBody>
      </p:sp>
      <p:sp>
        <p:nvSpPr>
          <p:cNvPr id="10" name="anim-g2-883"/>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884"/>
          <p:cNvSpPr/>
          <p:nvPr/>
        </p:nvSpPr>
        <p:spPr>
          <a:xfrm>
            <a:off x="5117440" y="2267712"/>
            <a:ext cx="566928" cy="566928"/>
          </a:xfrm>
          <a:prstGeom prst="roundRect">
            <a:avLst>
              <a:gd name="adj" fmla="val 32258"/>
            </a:avLst>
          </a:prstGeom>
          <a:solidFill>
            <a:srgbClr val="F7E6BC"/>
          </a:solidFill>
          <a:ln/>
        </p:spPr>
      </p:sp>
      <p:sp>
        <p:nvSpPr>
          <p:cNvPr id="12" name="anim-g2-885"/>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886"/>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يبقى في نبيه</a:t>
            </a:r>
            <a:endParaRPr lang="ar-SA" sz="2200" dirty="0"/>
          </a:p>
        </p:txBody>
      </p:sp>
      <p:sp>
        <p:nvSpPr>
          <p:cNvPr id="14" name="anim-g2-887"/>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الصور والبصمات على الـ Pi فقط، ولا تُرسل للإنترنت أبدًا</a:t>
            </a:r>
            <a:endParaRPr lang="ar-SA" sz="1900" dirty="0"/>
          </a:p>
        </p:txBody>
      </p:sp>
      <p:sp>
        <p:nvSpPr>
          <p:cNvPr id="15" name="anim-g3-888"/>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889"/>
          <p:cNvSpPr/>
          <p:nvPr/>
        </p:nvSpPr>
        <p:spPr>
          <a:xfrm>
            <a:off x="10527487" y="4393692"/>
            <a:ext cx="566928" cy="566928"/>
          </a:xfrm>
          <a:prstGeom prst="roundRect">
            <a:avLst>
              <a:gd name="adj" fmla="val 32258"/>
            </a:avLst>
          </a:prstGeom>
          <a:solidFill>
            <a:srgbClr val="F7E6BC"/>
          </a:solidFill>
          <a:ln/>
        </p:spPr>
      </p:sp>
      <p:sp>
        <p:nvSpPr>
          <p:cNvPr id="17" name="anim-g3-890"/>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891"/>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نحذفه متى طلبت</a:t>
            </a:r>
            <a:endParaRPr lang="ar-SA" sz="2200" dirty="0"/>
          </a:p>
        </p:txBody>
      </p:sp>
      <p:sp>
        <p:nvSpPr>
          <p:cNvPr id="19" name="anim-g3-892"/>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أمر forget_friend يمسح وجهك من نبيه</a:t>
            </a:r>
            <a:endParaRPr lang="ar-SA" sz="1900" dirty="0"/>
          </a:p>
        </p:txBody>
      </p:sp>
      <p:sp>
        <p:nvSpPr>
          <p:cNvPr id="20" name="anim-g4-893"/>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894"/>
          <p:cNvSpPr/>
          <p:nvPr/>
        </p:nvSpPr>
        <p:spPr>
          <a:xfrm>
            <a:off x="5117440" y="4393692"/>
            <a:ext cx="566928" cy="566928"/>
          </a:xfrm>
          <a:prstGeom prst="roundRect">
            <a:avLst>
              <a:gd name="adj" fmla="val 32258"/>
            </a:avLst>
          </a:prstGeom>
          <a:solidFill>
            <a:srgbClr val="F7E6BC"/>
          </a:solidFill>
          <a:ln/>
        </p:spPr>
      </p:sp>
      <p:sp>
        <p:nvSpPr>
          <p:cNvPr id="22" name="anim-g4-895"/>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896"/>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لا تجسس</a:t>
            </a:r>
            <a:endParaRPr lang="ar-SA" sz="2200" dirty="0"/>
          </a:p>
        </p:txBody>
      </p:sp>
      <p:sp>
        <p:nvSpPr>
          <p:cNvPr id="24" name="anim-g4-897"/>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لا نصوّر أحدًا دون علمه، ولا نستعمل الوجوه للمزاح</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يعرف أصحابه  ·  ١٤٠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Image 0" descr="/Users/mac/dev/younes-training/robot-pi/.pptx-cache/s141-0.jpg"/>
          <p:cNvPicPr>
            <a:picLocks noChangeAspect="1"/>
          </p:cNvPicPr>
          <p:nvPr/>
        </p:nvPicPr>
        <p:blipFill>
          <a:blip r:embed="rId3"/>
          <a:stretch>
            <a:fillRect/>
          </a:stretch>
        </p:blipFill>
        <p:spPr>
          <a:xfrm>
            <a:off x="0" y="0"/>
            <a:ext cx="12191695" cy="6858000"/>
          </a:xfrm>
          <a:prstGeom prst="rect">
            <a:avLst/>
          </a:prstGeom>
        </p:spPr>
      </p:pic>
      <p:pic>
        <p:nvPicPr>
          <p:cNvPr id="3" name="anim-g1-898" descr="/Users/mac/dev/younes-training/robot-pi/.pptx-cache/s141-1.jpg"/>
          <p:cNvPicPr>
            <a:picLocks noChangeAspect="1"/>
          </p:cNvPicPr>
          <p:nvPr/>
        </p:nvPicPr>
        <p:blipFill>
          <a:blip r:embed="rId4"/>
          <a:stretch>
            <a:fillRect/>
          </a:stretch>
        </p:blipFill>
        <p:spPr>
          <a:xfrm>
            <a:off x="0" y="0"/>
            <a:ext cx="12191695" cy="6858000"/>
          </a:xfrm>
          <a:prstGeom prst="rect">
            <a:avLst/>
          </a:prstGeom>
        </p:spPr>
      </p:pic>
      <p:pic>
        <p:nvPicPr>
          <p:cNvPr id="4" name="anim-g2-899" descr="/Users/mac/dev/younes-training/robot-pi/.pptx-cache/s141-2.jpg"/>
          <p:cNvPicPr>
            <a:picLocks noChangeAspect="1"/>
          </p:cNvPicPr>
          <p:nvPr/>
        </p:nvPicPr>
        <p:blipFill>
          <a:blip r:embed="rId5"/>
          <a:stretch>
            <a:fillRect/>
          </a:stretch>
        </p:blipFill>
        <p:spPr>
          <a:xfrm>
            <a:off x="0" y="0"/>
            <a:ext cx="12191695" cy="6858000"/>
          </a:xfrm>
          <a:prstGeom prst="rect">
            <a:avLst/>
          </a:prstGeom>
        </p:spPr>
      </p:pic>
      <p:pic>
        <p:nvPicPr>
          <p:cNvPr id="5" name="anim-g3-900" descr="/Users/mac/dev/younes-training/robot-pi/.pptx-cache/s141-3.jpg"/>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Image 0" descr="/Users/mac/dev/younes-training/robot-pi/.pptx-cache/s142-0.jpg"/>
          <p:cNvPicPr>
            <a:picLocks noChangeAspect="1"/>
          </p:cNvPicPr>
          <p:nvPr/>
        </p:nvPicPr>
        <p:blipFill>
          <a:blip r:embed="rId3"/>
          <a:stretch>
            <a:fillRect/>
          </a:stretch>
        </p:blipFill>
        <p:spPr>
          <a:xfrm>
            <a:off x="0" y="0"/>
            <a:ext cx="12191695" cy="6858000"/>
          </a:xfrm>
          <a:prstGeom prst="rect">
            <a:avLst/>
          </a:prstGeom>
        </p:spPr>
      </p:pic>
      <p:pic>
        <p:nvPicPr>
          <p:cNvPr id="3" name="anim-g1-901" descr="/Users/mac/dev/younes-training/robot-pi/.pptx-cache/s142-1.jpg"/>
          <p:cNvPicPr>
            <a:picLocks noChangeAspect="1"/>
          </p:cNvPicPr>
          <p:nvPr/>
        </p:nvPicPr>
        <p:blipFill>
          <a:blip r:embed="rId4"/>
          <a:stretch>
            <a:fillRect/>
          </a:stretch>
        </p:blipFill>
        <p:spPr>
          <a:xfrm>
            <a:off x="0" y="0"/>
            <a:ext cx="12191695" cy="6858000"/>
          </a:xfrm>
          <a:prstGeom prst="rect">
            <a:avLst/>
          </a:prstGeom>
        </p:spPr>
      </p:pic>
      <p:pic>
        <p:nvPicPr>
          <p:cNvPr id="4" name="anim-g2-902" descr="/Users/mac/dev/younes-training/robot-pi/.pptx-cache/s142-2.jpg"/>
          <p:cNvPicPr>
            <a:picLocks noChangeAspect="1"/>
          </p:cNvPicPr>
          <p:nvPr/>
        </p:nvPicPr>
        <p:blipFill>
          <a:blip r:embed="rId5"/>
          <a:stretch>
            <a:fillRect/>
          </a:stretch>
        </p:blipFill>
        <p:spPr>
          <a:xfrm>
            <a:off x="0" y="0"/>
            <a:ext cx="12191695" cy="6858000"/>
          </a:xfrm>
          <a:prstGeom prst="rect">
            <a:avLst/>
          </a:prstGeom>
        </p:spPr>
      </p:pic>
      <p:pic>
        <p:nvPicPr>
          <p:cNvPr id="5" name="anim-g3-903" descr="/Users/mac/dev/younes-training/robot-pi/.pptx-cache/s142-3.jpg"/>
          <p:cNvPicPr>
            <a:picLocks noChangeAspect="1"/>
          </p:cNvPicPr>
          <p:nvPr/>
        </p:nvPicPr>
        <p:blipFill>
          <a:blip r:embed="rId6"/>
          <a:stretch>
            <a:fillRect/>
          </a:stretch>
        </p:blipFill>
        <p:spPr>
          <a:xfrm>
            <a:off x="0" y="0"/>
            <a:ext cx="12191695" cy="6858000"/>
          </a:xfrm>
          <a:prstGeom prst="rect">
            <a:avLst/>
          </a:prstGeom>
        </p:spPr>
      </p:pic>
      <p:pic>
        <p:nvPicPr>
          <p:cNvPr id="6" name="anim-g4-904" descr="/Users/mac/dev/younes-training/robot-pi/.pptx-cache/s142-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3.xml><?xml version="1.0" encoding="utf-8"?>
<p:sld xmlns:a="http://schemas.openxmlformats.org/drawingml/2006/main" xmlns:r="http://schemas.openxmlformats.org/officeDocument/2006/relationships" xmlns:p="http://schemas.openxmlformats.org/presentationml/2006/main">
  <p:cSld name="Slide 14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لماذا قد لا يعرف نبيه صديقًا بنظارة شمسية؟</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لأن نبيه يكره النظارات</a:t>
            </a:r>
            <a:endParaRPr lang="ar-SA" sz="2500" dirty="0"/>
          </a:p>
        </p:txBody>
      </p:sp>
      <p:sp>
        <p:nvSpPr>
          <p:cNvPr id="9" name="anim-g1-905"/>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906"/>
          <p:cNvSpPr/>
          <p:nvPr/>
        </p:nvSpPr>
        <p:spPr>
          <a:xfrm>
            <a:off x="10231831" y="2194560"/>
            <a:ext cx="954024" cy="954024"/>
          </a:xfrm>
          <a:prstGeom prst="roundRect">
            <a:avLst>
              <a:gd name="adj" fmla="val 11502"/>
            </a:avLst>
          </a:prstGeom>
          <a:solidFill>
            <a:srgbClr val="A3A9BA"/>
          </a:solidFill>
          <a:ln/>
        </p:spPr>
      </p:sp>
      <p:sp>
        <p:nvSpPr>
          <p:cNvPr id="11" name="anim-g1-907"/>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908"/>
          <p:cNvSpPr/>
          <p:nvPr/>
        </p:nvSpPr>
        <p:spPr>
          <a:xfrm>
            <a:off x="1097280" y="2093976"/>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لأن نبيه يكره النظارات</a:t>
            </a:r>
            <a:endParaRPr lang="ar-SA" sz="2400" dirty="0"/>
          </a:p>
        </p:txBody>
      </p:sp>
      <p:sp>
        <p:nvSpPr>
          <p:cNvPr id="13" name="anim-g1-909"/>
          <p:cNvSpPr/>
          <p:nvPr/>
        </p:nvSpPr>
        <p:spPr>
          <a:xfrm>
            <a:off x="1097280" y="2720706"/>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نبيه لا يكره شيئًا، هو أرقام فقط</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لأن النظارة تغطي ملامح العينين، فتتغير البصمة كثيرًا</a:t>
            </a:r>
            <a:endParaRPr lang="ar-SA" sz="2500" dirty="0"/>
          </a:p>
        </p:txBody>
      </p:sp>
      <p:sp>
        <p:nvSpPr>
          <p:cNvPr id="18" name="anim-g1-910"/>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911"/>
          <p:cNvSpPr/>
          <p:nvPr/>
        </p:nvSpPr>
        <p:spPr>
          <a:xfrm>
            <a:off x="10231831" y="3569208"/>
            <a:ext cx="954024" cy="954024"/>
          </a:xfrm>
          <a:prstGeom prst="roundRect">
            <a:avLst>
              <a:gd name="adj" fmla="val 11502"/>
            </a:avLst>
          </a:prstGeom>
          <a:solidFill>
            <a:srgbClr val="2E9E6B"/>
          </a:solidFill>
          <a:ln/>
        </p:spPr>
      </p:sp>
      <p:sp>
        <p:nvSpPr>
          <p:cNvPr id="20" name="anim-g1-912"/>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913"/>
          <p:cNvSpPr/>
          <p:nvPr/>
        </p:nvSpPr>
        <p:spPr>
          <a:xfrm>
            <a:off x="1097280" y="3468624"/>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131B34"/>
                </a:solidFill>
                <a:latin typeface="Cairo" pitchFamily="34" charset="0"/>
                <a:ea typeface="Cairo" pitchFamily="34" charset="-122"/>
                <a:cs typeface="Cairo" pitchFamily="34" charset="-120"/>
              </a:rPr>
              <a:t>لأن النظارة تغطي ملامح العينين، فتتغير البصمة كثيرًا</a:t>
            </a:r>
            <a:endParaRPr lang="ar-SA" sz="2400" dirty="0"/>
          </a:p>
        </p:txBody>
      </p:sp>
      <p:sp>
        <p:nvSpPr>
          <p:cNvPr id="22" name="anim-g1-914"/>
          <p:cNvSpPr/>
          <p:nvPr/>
        </p:nvSpPr>
        <p:spPr>
          <a:xfrm>
            <a:off x="1097280" y="4095354"/>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1D5E40"/>
                </a:solidFill>
                <a:latin typeface="Cairo" pitchFamily="34" charset="0"/>
                <a:ea typeface="Cairo" pitchFamily="34" charset="-122"/>
                <a:cs typeface="Cairo" pitchFamily="34" charset="-120"/>
              </a:rPr>
              <a:t>صحيح! العينان من أهم أجزاء البصمة 🕶️</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لأن الكاميرا انطفأت</a:t>
            </a:r>
            <a:endParaRPr lang="ar-SA" sz="2500" dirty="0"/>
          </a:p>
        </p:txBody>
      </p:sp>
      <p:sp>
        <p:nvSpPr>
          <p:cNvPr id="27" name="anim-g1-915"/>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916"/>
          <p:cNvSpPr/>
          <p:nvPr/>
        </p:nvSpPr>
        <p:spPr>
          <a:xfrm>
            <a:off x="10231831" y="4943856"/>
            <a:ext cx="954024" cy="954024"/>
          </a:xfrm>
          <a:prstGeom prst="roundRect">
            <a:avLst>
              <a:gd name="adj" fmla="val 11502"/>
            </a:avLst>
          </a:prstGeom>
          <a:solidFill>
            <a:srgbClr val="A3A9BA"/>
          </a:solidFill>
          <a:ln/>
        </p:spPr>
      </p:sp>
      <p:sp>
        <p:nvSpPr>
          <p:cNvPr id="29" name="anim-g1-917"/>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918"/>
          <p:cNvSpPr/>
          <p:nvPr/>
        </p:nvSpPr>
        <p:spPr>
          <a:xfrm>
            <a:off x="1097280" y="4843272"/>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لأن الكاميرا انطفأت</a:t>
            </a:r>
            <a:endParaRPr lang="ar-SA" sz="2400" dirty="0"/>
          </a:p>
        </p:txBody>
      </p:sp>
      <p:sp>
        <p:nvSpPr>
          <p:cNvPr id="31" name="anim-g1-919"/>
          <p:cNvSpPr/>
          <p:nvPr/>
        </p:nvSpPr>
        <p:spPr>
          <a:xfrm>
            <a:off x="1097280" y="5470002"/>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الكاميرا تعمل، لكن الملامح مخفية</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يعرف أصحابه  ·  ١٤٣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name="Slide 14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زميلك يريد حفظ وجه أخيه في نبيه للمزاح. ماذا تفعل؟</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أحفظه بسرعة</a:t>
            </a:r>
            <a:endParaRPr lang="ar-SA" sz="2500" dirty="0"/>
          </a:p>
        </p:txBody>
      </p:sp>
      <p:sp>
        <p:nvSpPr>
          <p:cNvPr id="9" name="anim-g1-920"/>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921"/>
          <p:cNvSpPr/>
          <p:nvPr/>
        </p:nvSpPr>
        <p:spPr>
          <a:xfrm>
            <a:off x="10231831" y="2194560"/>
            <a:ext cx="954024" cy="954024"/>
          </a:xfrm>
          <a:prstGeom prst="roundRect">
            <a:avLst>
              <a:gd name="adj" fmla="val 11502"/>
            </a:avLst>
          </a:prstGeom>
          <a:solidFill>
            <a:srgbClr val="A3A9BA"/>
          </a:solidFill>
          <a:ln/>
        </p:spPr>
      </p:sp>
      <p:sp>
        <p:nvSpPr>
          <p:cNvPr id="11" name="anim-g1-922"/>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923"/>
          <p:cNvSpPr/>
          <p:nvPr/>
        </p:nvSpPr>
        <p:spPr>
          <a:xfrm>
            <a:off x="1097280" y="2093976"/>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أحفظه بسرعة</a:t>
            </a:r>
            <a:endParaRPr lang="ar-SA" sz="2400" dirty="0"/>
          </a:p>
        </p:txBody>
      </p:sp>
      <p:sp>
        <p:nvSpPr>
          <p:cNvPr id="13" name="anim-g1-924"/>
          <p:cNvSpPr/>
          <p:nvPr/>
        </p:nvSpPr>
        <p:spPr>
          <a:xfrm>
            <a:off x="1097280" y="2720706"/>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لا نحفظ وجه أحد دون إذن</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أحفظه ولا أخبر أحدًا</a:t>
            </a:r>
            <a:endParaRPr lang="ar-SA" sz="2500" dirty="0"/>
          </a:p>
        </p:txBody>
      </p:sp>
      <p:sp>
        <p:nvSpPr>
          <p:cNvPr id="18" name="anim-g1-925"/>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926"/>
          <p:cNvSpPr/>
          <p:nvPr/>
        </p:nvSpPr>
        <p:spPr>
          <a:xfrm>
            <a:off x="10231831" y="3569208"/>
            <a:ext cx="954024" cy="954024"/>
          </a:xfrm>
          <a:prstGeom prst="roundRect">
            <a:avLst>
              <a:gd name="adj" fmla="val 11502"/>
            </a:avLst>
          </a:prstGeom>
          <a:solidFill>
            <a:srgbClr val="A3A9BA"/>
          </a:solidFill>
          <a:ln/>
        </p:spPr>
      </p:sp>
      <p:sp>
        <p:nvSpPr>
          <p:cNvPr id="20" name="anim-g1-927"/>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928"/>
          <p:cNvSpPr/>
          <p:nvPr/>
        </p:nvSpPr>
        <p:spPr>
          <a:xfrm>
            <a:off x="1097280" y="3468624"/>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أحفظه ولا أخبر أحدًا</a:t>
            </a:r>
            <a:endParaRPr lang="ar-SA" sz="2400" dirty="0"/>
          </a:p>
        </p:txBody>
      </p:sp>
      <p:sp>
        <p:nvSpPr>
          <p:cNvPr id="22" name="anim-g1-929"/>
          <p:cNvSpPr/>
          <p:nvPr/>
        </p:nvSpPr>
        <p:spPr>
          <a:xfrm>
            <a:off x="1097280" y="4095354"/>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هذا أسوأ: نخفي الخطأ</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أرفض بلطف: نحتاج إذنه وإذن أهله</a:t>
            </a:r>
            <a:endParaRPr lang="ar-SA" sz="2500" dirty="0"/>
          </a:p>
        </p:txBody>
      </p:sp>
      <p:sp>
        <p:nvSpPr>
          <p:cNvPr id="27" name="anim-g1-930"/>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931"/>
          <p:cNvSpPr/>
          <p:nvPr/>
        </p:nvSpPr>
        <p:spPr>
          <a:xfrm>
            <a:off x="10231831" y="4943856"/>
            <a:ext cx="954024" cy="954024"/>
          </a:xfrm>
          <a:prstGeom prst="roundRect">
            <a:avLst>
              <a:gd name="adj" fmla="val 11502"/>
            </a:avLst>
          </a:prstGeom>
          <a:solidFill>
            <a:srgbClr val="2E9E6B"/>
          </a:solidFill>
          <a:ln/>
        </p:spPr>
      </p:sp>
      <p:sp>
        <p:nvSpPr>
          <p:cNvPr id="29" name="anim-g1-932"/>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933"/>
          <p:cNvSpPr/>
          <p:nvPr/>
        </p:nvSpPr>
        <p:spPr>
          <a:xfrm>
            <a:off x="1097280" y="4843272"/>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131B34"/>
                </a:solidFill>
                <a:latin typeface="Cairo" pitchFamily="34" charset="0"/>
                <a:ea typeface="Cairo" pitchFamily="34" charset="-122"/>
                <a:cs typeface="Cairo" pitchFamily="34" charset="-120"/>
              </a:rPr>
              <a:t>أرفض بلطف: نحتاج إذنه وإذن أهله</a:t>
            </a:r>
            <a:endParaRPr lang="ar-SA" sz="2400" dirty="0"/>
          </a:p>
        </p:txBody>
      </p:sp>
      <p:sp>
        <p:nvSpPr>
          <p:cNvPr id="31" name="anim-g1-934"/>
          <p:cNvSpPr/>
          <p:nvPr/>
        </p:nvSpPr>
        <p:spPr>
          <a:xfrm>
            <a:off x="1097280" y="5470002"/>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1D5E40"/>
                </a:solidFill>
                <a:latin typeface="Cairo" pitchFamily="34" charset="0"/>
                <a:ea typeface="Cairo" pitchFamily="34" charset="-122"/>
                <a:cs typeface="Cairo" pitchFamily="34" charset="-120"/>
              </a:rPr>
              <a:t>صحيح! الوجه أمانة 🔒</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يعرف أصحابه  ·  ١٤٤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Image 0" descr="/Users/mac/dev/younes-training/robot-pi/.pptx-cache/s145.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979615" y="457200"/>
            <a:ext cx="438912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6979615" y="457200"/>
            <a:ext cx="438912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 تحدّي الفرق — ١٥ دقيقة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F0CC7A"/>
                </a:solidFill>
                <a:latin typeface="Cairo Black" pitchFamily="34" charset="0"/>
                <a:ea typeface="Cairo Black" pitchFamily="34" charset="-122"/>
                <a:cs typeface="Cairo Black" pitchFamily="34" charset="-120"/>
              </a:rPr>
              <a:t>حارس الفصل الودود</a:t>
            </a:r>
            <a:endParaRPr lang="ar-SA" sz="3800" dirty="0"/>
          </a:p>
        </p:txBody>
      </p:sp>
      <p:sp>
        <p:nvSpPr>
          <p:cNvPr id="5" name="anim-g1-935"/>
          <p:cNvSpPr/>
          <p:nvPr/>
        </p:nvSpPr>
        <p:spPr>
          <a:xfrm>
            <a:off x="10637215" y="2286000"/>
            <a:ext cx="731520" cy="731520"/>
          </a:xfrm>
          <a:prstGeom prst="ellipse">
            <a:avLst/>
          </a:prstGeom>
          <a:solidFill>
            <a:srgbClr val="D9AE4B"/>
          </a:solidFill>
          <a:ln/>
        </p:spPr>
      </p:sp>
      <p:sp>
        <p:nvSpPr>
          <p:cNvPr id="6" name="anim-g1-936"/>
          <p:cNvSpPr/>
          <p:nvPr/>
        </p:nvSpPr>
        <p:spPr>
          <a:xfrm>
            <a:off x="10637215" y="228600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937"/>
          <p:cNvSpPr/>
          <p:nvPr/>
        </p:nvSpPr>
        <p:spPr>
          <a:xfrm>
            <a:off x="4023360" y="219456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احفظوا وجوه أعضاء الفريق (بالإذن)</a:t>
            </a:r>
            <a:endParaRPr lang="ar-SA" sz="2200" dirty="0"/>
          </a:p>
        </p:txBody>
      </p:sp>
      <p:sp>
        <p:nvSpPr>
          <p:cNvPr id="8" name="anim-g2-938"/>
          <p:cNvSpPr/>
          <p:nvPr/>
        </p:nvSpPr>
        <p:spPr>
          <a:xfrm>
            <a:off x="10637215" y="3383280"/>
            <a:ext cx="731520" cy="731520"/>
          </a:xfrm>
          <a:prstGeom prst="ellipse">
            <a:avLst/>
          </a:prstGeom>
          <a:solidFill>
            <a:srgbClr val="D9AE4B"/>
          </a:solidFill>
          <a:ln/>
        </p:spPr>
      </p:sp>
      <p:sp>
        <p:nvSpPr>
          <p:cNvPr id="9" name="anim-g2-939"/>
          <p:cNvSpPr/>
          <p:nvPr/>
        </p:nvSpPr>
        <p:spPr>
          <a:xfrm>
            <a:off x="10637215" y="338328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940"/>
          <p:cNvSpPr/>
          <p:nvPr/>
        </p:nvSpPr>
        <p:spPr>
          <a:xfrm>
            <a:off x="4023360" y="329184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غيّروا السلام: لكل صديق جملة خاصة به</a:t>
            </a:r>
            <a:endParaRPr lang="ar-SA" sz="2200" dirty="0"/>
          </a:p>
        </p:txBody>
      </p:sp>
      <p:sp>
        <p:nvSpPr>
          <p:cNvPr id="11" name="anim-g3-941"/>
          <p:cNvSpPr/>
          <p:nvPr/>
        </p:nvSpPr>
        <p:spPr>
          <a:xfrm>
            <a:off x="10637215" y="4480560"/>
            <a:ext cx="731520" cy="731520"/>
          </a:xfrm>
          <a:prstGeom prst="ellipse">
            <a:avLst/>
          </a:prstGeom>
          <a:solidFill>
            <a:srgbClr val="D9AE4B"/>
          </a:solidFill>
          <a:ln/>
        </p:spPr>
      </p:sp>
      <p:sp>
        <p:nvSpPr>
          <p:cNvPr id="12" name="anim-g3-942"/>
          <p:cNvSpPr/>
          <p:nvPr/>
        </p:nvSpPr>
        <p:spPr>
          <a:xfrm>
            <a:off x="10637215" y="448056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943"/>
          <p:cNvSpPr/>
          <p:nvPr/>
        </p:nvSpPr>
        <p:spPr>
          <a:xfrm>
            <a:off x="4023360" y="438912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تلميح: if name == "عمر": ثم جملة عمر</a:t>
            </a:r>
            <a:endParaRPr lang="ar-SA" sz="2200" dirty="0"/>
          </a:p>
        </p:txBody>
      </p:sp>
      <p:sp>
        <p:nvSpPr>
          <p:cNvPr id="14" name="anim-g4-944"/>
          <p:cNvSpPr/>
          <p:nvPr/>
        </p:nvSpPr>
        <p:spPr>
          <a:xfrm>
            <a:off x="10637215" y="5577840"/>
            <a:ext cx="731520" cy="731520"/>
          </a:xfrm>
          <a:prstGeom prst="ellipse">
            <a:avLst/>
          </a:prstGeom>
          <a:solidFill>
            <a:srgbClr val="D9AE4B"/>
          </a:solidFill>
          <a:ln/>
        </p:spPr>
      </p:sp>
      <p:sp>
        <p:nvSpPr>
          <p:cNvPr id="15" name="anim-g4-945"/>
          <p:cNvSpPr/>
          <p:nvPr/>
        </p:nvSpPr>
        <p:spPr>
          <a:xfrm>
            <a:off x="10637215" y="557784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٤</a:t>
            </a:r>
            <a:endParaRPr lang="ar-SA" sz="2400" dirty="0"/>
          </a:p>
        </p:txBody>
      </p:sp>
      <p:sp>
        <p:nvSpPr>
          <p:cNvPr id="16" name="anim-g4-946"/>
          <p:cNvSpPr/>
          <p:nvPr/>
        </p:nvSpPr>
        <p:spPr>
          <a:xfrm>
            <a:off x="4023360" y="548640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اختبروا: هل يعرفكم نبيه من بعيد؟ ومن الجانب؟ وفي الظل؟</a:t>
            </a:r>
            <a:endParaRPr lang="ar-SA" sz="2200" dirty="0"/>
          </a:p>
        </p:txBody>
      </p:sp>
      <p:sp>
        <p:nvSpPr>
          <p:cNvPr id="17" name="Shape 15"/>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8" name="Text 16"/>
          <p:cNvSpPr/>
          <p:nvPr/>
        </p:nvSpPr>
        <p:spPr>
          <a:xfrm>
            <a:off x="822960" y="2834640"/>
            <a:ext cx="2834640" cy="1097280"/>
          </a:xfrm>
          <a:prstGeom prst="rect">
            <a:avLst/>
          </a:prstGeom>
          <a:noFill/>
          <a:ln/>
        </p:spPr>
        <p:txBody>
          <a:bodyPr wrap="square" lIns="0" tIns="0" rIns="0" bIns="0" rtlCol="0" anchor="ctr">
            <a:normAutofit/>
          </a:bodyPr>
          <a:lstStyle/>
          <a:p>
            <a:pPr marL="0" indent="0" algn="ctr">
              <a:buNone/>
            </a:pPr>
            <a:r>
              <a:rPr lang="ar-SA" altLang="en-US" sz="6000" dirty="0">
                <a:solidFill>
                  <a:srgbClr val="F0CC7A"/>
                </a:solidFill>
                <a:latin typeface="Cairo Black" pitchFamily="34" charset="0"/>
                <a:ea typeface="Cairo Black" pitchFamily="34" charset="-122"/>
                <a:cs typeface="Cairo Black" pitchFamily="34" charset="-120"/>
              </a:rPr>
              <a:t>15:00</a:t>
            </a:r>
            <a:endParaRPr lang="ar-SA" sz="6000" dirty="0"/>
          </a:p>
        </p:txBody>
      </p:sp>
      <p:sp>
        <p:nvSpPr>
          <p:cNvPr id="19" name="Text 17"/>
          <p:cNvSpPr/>
          <p:nvPr/>
        </p:nvSpPr>
        <p:spPr>
          <a:xfrm>
            <a:off x="822960" y="3840480"/>
            <a:ext cx="2834640" cy="457200"/>
          </a:xfrm>
          <a:prstGeom prst="rect">
            <a:avLst/>
          </a:prstGeom>
          <a:noFill/>
          <a:ln/>
        </p:spPr>
        <p:txBody>
          <a:bodyPr wrap="square" lIns="0" tIns="0" rIns="0" bIns="0" rtlCol="0" anchor="ctr">
            <a:normAutofit/>
          </a:bodyPr>
          <a:lstStyle/>
          <a:p>
            <a:pPr marL="0" indent="0" algn="ctr" rtl="1">
              <a:buNone/>
            </a:pPr>
            <a:r>
              <a:rPr lang="ar-SA" altLang="en-US" sz="1600" b="1" dirty="0">
                <a:solidFill>
                  <a:srgbClr val="C9CFE6"/>
                </a:solidFill>
                <a:latin typeface="Cairo" pitchFamily="34" charset="0"/>
                <a:ea typeface="Cairo" pitchFamily="34" charset="-122"/>
                <a:cs typeface="Cairo" pitchFamily="34" charset="-120"/>
              </a:rPr>
              <a:t>١٥ دقائق</a:t>
            </a:r>
            <a:endParaRPr lang="ar-SA" sz="16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نبيه يعرف أصحابه  ·  ١٤٦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Image 0" descr="/Users/mac/dev/younes-training/robot-pi/.pptx-cache/s14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marL="0" indent="0" algn="ctr" rtl="1">
              <a:buNone/>
            </a:pPr>
            <a:r>
              <a:rPr lang="ar-SA" altLang="en-US" sz="8000" dirty="0">
                <a:solidFill>
                  <a:srgbClr val="FFF3D6"/>
                </a:solidFill>
                <a:latin typeface="Cairo Black" pitchFamily="34" charset="0"/>
                <a:ea typeface="Cairo Black" pitchFamily="34" charset="-122"/>
                <a:cs typeface="Cairo Black" pitchFamily="34" charset="-120"/>
              </a:rPr>
              <a:t>نبيه يعرف أصحابه! 😊</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في الوحدة القادمة: يتكلم ويسمع… ويجيب عن أسئلتكم بالعربي 🗣️</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C9CFE6"/>
                </a:solidFill>
                <a:latin typeface="Cairo" pitchFamily="34" charset="0"/>
                <a:ea typeface="Cairo" pitchFamily="34" charset="-122"/>
                <a:cs typeface="Cairo" pitchFamily="34" charset="-120"/>
              </a:rPr>
              <a:t>روبوتي الذكي · إعداد وتقديم: أ. محمد زيتون</a:t>
            </a:r>
            <a:endParaRPr lang="ar-SA" sz="18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marL="0" indent="0" algn="ctr" rtl="1">
              <a:buNone/>
            </a:pPr>
            <a:r>
              <a:rPr lang="ar-SA" altLang="en-US" sz="12000" dirty="0">
                <a:solidFill>
                  <a:srgbClr val="F0CC7A"/>
                </a:solidFill>
                <a:latin typeface="Cairo Black" pitchFamily="34" charset="0"/>
                <a:ea typeface="Cairo Black" pitchFamily="34" charset="-122"/>
                <a:cs typeface="Cairo Black" pitchFamily="34" charset="-120"/>
              </a:rPr>
              <a:t>٩</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marL="0" indent="0" algn="r" rtl="1">
              <a:buNone/>
            </a:pPr>
            <a:r>
              <a:rPr lang="ar-SA" altLang="en-US" sz="2000" b="1" dirty="0">
                <a:solidFill>
                  <a:srgbClr val="D9AE4B"/>
                </a:solidFill>
                <a:latin typeface="Cairo" pitchFamily="34" charset="0"/>
                <a:ea typeface="Cairo" pitchFamily="34" charset="-122"/>
                <a:cs typeface="Cairo" pitchFamily="34" charset="-120"/>
              </a:rPr>
              <a:t>الوحدة ٩</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marL="0" indent="0" algn="r" rtl="1">
              <a:buNone/>
            </a:pPr>
            <a:r>
              <a:rPr lang="ar-SA" altLang="en-US" sz="5600" dirty="0">
                <a:solidFill>
                  <a:srgbClr val="FFFFFF"/>
                </a:solidFill>
                <a:latin typeface="Cairo Black" pitchFamily="34" charset="0"/>
                <a:ea typeface="Cairo Black" pitchFamily="34" charset="-122"/>
                <a:cs typeface="Cairo Black" pitchFamily="34" charset="-120"/>
              </a:rPr>
              <a:t>نبيه يتكلم ويسمع</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marL="0" indent="0" algn="r" rtl="1">
              <a:buNone/>
            </a:pPr>
            <a:r>
              <a:rPr lang="ar-SA" altLang="en-US" sz="2200" b="1" dirty="0">
                <a:solidFill>
                  <a:srgbClr val="C9CFE6"/>
                </a:solidFill>
                <a:latin typeface="Cairo" pitchFamily="34" charset="0"/>
                <a:ea typeface="Cairo" pitchFamily="34" charset="-122"/>
                <a:cs typeface="Cairo" pitchFamily="34" charset="-120"/>
              </a:rPr>
              <a:t>تسأله بصوتك… فيفكر ويجيبك بالعربي 🗣️</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نبيه يتكلم ويسمع  ·  ١٤٩</a:t>
            </a:r>
            <a:endParaRPr lang="ar-SA" sz="12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مهمتي اليوم</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بنهاية هذه الوحدة سأستطيع أن</a:t>
            </a:r>
            <a:endParaRPr lang="ar-SA" sz="3800" dirty="0"/>
          </a:p>
        </p:txBody>
      </p:sp>
      <p:sp>
        <p:nvSpPr>
          <p:cNvPr id="5" name="anim-g1-947"/>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948"/>
          <p:cNvSpPr/>
          <p:nvPr/>
        </p:nvSpPr>
        <p:spPr>
          <a:xfrm>
            <a:off x="10573207" y="2109978"/>
            <a:ext cx="566928" cy="566928"/>
          </a:xfrm>
          <a:prstGeom prst="ellipse">
            <a:avLst/>
          </a:prstGeom>
          <a:solidFill>
            <a:srgbClr val="D9AE4B"/>
          </a:solidFill>
          <a:ln/>
        </p:spPr>
      </p:sp>
      <p:sp>
        <p:nvSpPr>
          <p:cNvPr id="7" name="anim-g1-949"/>
          <p:cNvSpPr/>
          <p:nvPr/>
        </p:nvSpPr>
        <p:spPr>
          <a:xfrm>
            <a:off x="10573207" y="2109978"/>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950"/>
          <p:cNvSpPr/>
          <p:nvPr/>
        </p:nvSpPr>
        <p:spPr>
          <a:xfrm>
            <a:off x="1097280" y="1920240"/>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أجعل نبيه يقول أي جملة بصوت عربي</a:t>
            </a:r>
            <a:endParaRPr lang="ar-SA" sz="2400" dirty="0"/>
          </a:p>
        </p:txBody>
      </p:sp>
      <p:sp>
        <p:nvSpPr>
          <p:cNvPr id="9" name="anim-g2-951"/>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952"/>
          <p:cNvSpPr/>
          <p:nvPr/>
        </p:nvSpPr>
        <p:spPr>
          <a:xfrm>
            <a:off x="10573207" y="3166110"/>
            <a:ext cx="566928" cy="566928"/>
          </a:xfrm>
          <a:prstGeom prst="ellipse">
            <a:avLst/>
          </a:prstGeom>
          <a:solidFill>
            <a:srgbClr val="D9AE4B"/>
          </a:solidFill>
          <a:ln/>
        </p:spPr>
      </p:sp>
      <p:sp>
        <p:nvSpPr>
          <p:cNvPr id="11" name="anim-g2-953"/>
          <p:cNvSpPr/>
          <p:nvPr/>
        </p:nvSpPr>
        <p:spPr>
          <a:xfrm>
            <a:off x="10573207" y="3166110"/>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954"/>
          <p:cNvSpPr/>
          <p:nvPr/>
        </p:nvSpPr>
        <p:spPr>
          <a:xfrm>
            <a:off x="1097280" y="2976372"/>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أشرح رحلة السؤال: من صوتي إلى جواب نبيه</a:t>
            </a:r>
            <a:endParaRPr lang="ar-SA" sz="2400" dirty="0"/>
          </a:p>
        </p:txBody>
      </p:sp>
      <p:sp>
        <p:nvSpPr>
          <p:cNvPr id="13" name="anim-g3-955"/>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956"/>
          <p:cNvSpPr/>
          <p:nvPr/>
        </p:nvSpPr>
        <p:spPr>
          <a:xfrm>
            <a:off x="10573207" y="4222242"/>
            <a:ext cx="566928" cy="566928"/>
          </a:xfrm>
          <a:prstGeom prst="ellipse">
            <a:avLst/>
          </a:prstGeom>
          <a:solidFill>
            <a:srgbClr val="D9AE4B"/>
          </a:solidFill>
          <a:ln/>
        </p:spPr>
      </p:sp>
      <p:sp>
        <p:nvSpPr>
          <p:cNvPr id="15" name="anim-g3-957"/>
          <p:cNvSpPr/>
          <p:nvPr/>
        </p:nvSpPr>
        <p:spPr>
          <a:xfrm>
            <a:off x="10573207" y="4222242"/>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958"/>
          <p:cNvSpPr/>
          <p:nvPr/>
        </p:nvSpPr>
        <p:spPr>
          <a:xfrm>
            <a:off x="1097280" y="4032504"/>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أبرمج حوارًا كاملًا مع نبيه</a:t>
            </a:r>
            <a:endParaRPr lang="ar-SA" sz="2400" dirty="0"/>
          </a:p>
        </p:txBody>
      </p:sp>
      <p:sp>
        <p:nvSpPr>
          <p:cNvPr id="17" name="anim-g4-959"/>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960"/>
          <p:cNvSpPr/>
          <p:nvPr/>
        </p:nvSpPr>
        <p:spPr>
          <a:xfrm>
            <a:off x="10573207" y="5278374"/>
            <a:ext cx="566928" cy="566928"/>
          </a:xfrm>
          <a:prstGeom prst="ellipse">
            <a:avLst/>
          </a:prstGeom>
          <a:solidFill>
            <a:srgbClr val="D9AE4B"/>
          </a:solidFill>
          <a:ln/>
        </p:spPr>
      </p:sp>
      <p:sp>
        <p:nvSpPr>
          <p:cNvPr id="19" name="anim-g4-961"/>
          <p:cNvSpPr/>
          <p:nvPr/>
        </p:nvSpPr>
        <p:spPr>
          <a:xfrm>
            <a:off x="10573207" y="5278374"/>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962"/>
          <p:cNvSpPr/>
          <p:nvPr/>
        </p:nvSpPr>
        <p:spPr>
          <a:xfrm>
            <a:off x="1097280" y="5088636"/>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أستعمل الذكاء الاصطناعي بمسؤولية</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يتكلم ويسمع  ·  ١٥٠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name="Slide 15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ثلاثة أجزاء</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كيف يتحاور نبيه معك؟</a:t>
            </a:r>
            <a:endParaRPr lang="ar-SA" sz="3800" dirty="0"/>
          </a:p>
        </p:txBody>
      </p:sp>
      <p:sp>
        <p:nvSpPr>
          <p:cNvPr id="5" name="anim-g1-963"/>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964"/>
          <p:cNvSpPr/>
          <p:nvPr/>
        </p:nvSpPr>
        <p:spPr>
          <a:xfrm>
            <a:off x="10527487" y="2267712"/>
            <a:ext cx="566928" cy="566928"/>
          </a:xfrm>
          <a:prstGeom prst="roundRect">
            <a:avLst>
              <a:gd name="adj" fmla="val 32258"/>
            </a:avLst>
          </a:prstGeom>
          <a:solidFill>
            <a:srgbClr val="F7E6BC"/>
          </a:solidFill>
          <a:ln/>
        </p:spPr>
      </p:sp>
      <p:sp>
        <p:nvSpPr>
          <p:cNvPr id="7" name="anim-g1-965"/>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966"/>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الأذن: listen</a:t>
            </a:r>
            <a:endParaRPr lang="ar-SA" sz="2200" dirty="0"/>
          </a:p>
        </p:txBody>
      </p:sp>
      <p:sp>
        <p:nvSpPr>
          <p:cNvPr id="9" name="anim-g1-967"/>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تسمع صوتك، وتحوّله إلى كلمات مكتوبة</a:t>
            </a:r>
            <a:endParaRPr lang="ar-SA" sz="1900" dirty="0"/>
          </a:p>
        </p:txBody>
      </p:sp>
      <p:sp>
        <p:nvSpPr>
          <p:cNvPr id="10" name="anim-g2-968"/>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969"/>
          <p:cNvSpPr/>
          <p:nvPr/>
        </p:nvSpPr>
        <p:spPr>
          <a:xfrm>
            <a:off x="6920789" y="2267712"/>
            <a:ext cx="566928" cy="566928"/>
          </a:xfrm>
          <a:prstGeom prst="roundRect">
            <a:avLst>
              <a:gd name="adj" fmla="val 32258"/>
            </a:avLst>
          </a:prstGeom>
          <a:solidFill>
            <a:srgbClr val="F7E6BC"/>
          </a:solidFill>
          <a:ln/>
        </p:spPr>
      </p:sp>
      <p:sp>
        <p:nvSpPr>
          <p:cNvPr id="12" name="anim-g2-970"/>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971"/>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العقل السحابي: ask</a:t>
            </a:r>
            <a:endParaRPr lang="ar-SA" sz="2200" dirty="0"/>
          </a:p>
        </p:txBody>
      </p:sp>
      <p:sp>
        <p:nvSpPr>
          <p:cNvPr id="14" name="anim-g2-972"/>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عقل كبير على الإنترنت يفهم السؤال ويكتب الجواب</a:t>
            </a:r>
            <a:endParaRPr lang="ar-SA" sz="1900" dirty="0"/>
          </a:p>
        </p:txBody>
      </p:sp>
      <p:sp>
        <p:nvSpPr>
          <p:cNvPr id="15" name="anim-g3-973"/>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974"/>
          <p:cNvSpPr/>
          <p:nvPr/>
        </p:nvSpPr>
        <p:spPr>
          <a:xfrm>
            <a:off x="3314090" y="2267712"/>
            <a:ext cx="566928" cy="566928"/>
          </a:xfrm>
          <a:prstGeom prst="roundRect">
            <a:avLst>
              <a:gd name="adj" fmla="val 32258"/>
            </a:avLst>
          </a:prstGeom>
          <a:solidFill>
            <a:srgbClr val="F7E6BC"/>
          </a:solidFill>
          <a:ln/>
        </p:spPr>
      </p:sp>
      <p:sp>
        <p:nvSpPr>
          <p:cNvPr id="17" name="anim-g3-975"/>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976"/>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الفم: say</a:t>
            </a:r>
            <a:endParaRPr lang="ar-SA" sz="2200" dirty="0"/>
          </a:p>
        </p:txBody>
      </p:sp>
      <p:sp>
        <p:nvSpPr>
          <p:cNvPr id="19" name="anim-g3-977"/>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يحوّل الكلمات المكتوبة إلى صوت عربي</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يتكلم ويسمع  ·  ١٥١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Image 0" descr="/Users/mac/dev/younes-training/robot-pi/.pptx-cache/s15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Image 0" descr="/Users/mac/dev/younes-training/robot-pi/.pptx-cache/s153-0.jpg"/>
          <p:cNvPicPr>
            <a:picLocks noChangeAspect="1"/>
          </p:cNvPicPr>
          <p:nvPr/>
        </p:nvPicPr>
        <p:blipFill>
          <a:blip r:embed="rId3"/>
          <a:stretch>
            <a:fillRect/>
          </a:stretch>
        </p:blipFill>
        <p:spPr>
          <a:xfrm>
            <a:off x="0" y="0"/>
            <a:ext cx="12191695" cy="6858000"/>
          </a:xfrm>
          <a:prstGeom prst="rect">
            <a:avLst/>
          </a:prstGeom>
        </p:spPr>
      </p:pic>
      <p:pic>
        <p:nvPicPr>
          <p:cNvPr id="3" name="anim-g1-978" descr="/Users/mac/dev/younes-training/robot-pi/.pptx-cache/s153-1.jpg"/>
          <p:cNvPicPr>
            <a:picLocks noChangeAspect="1"/>
          </p:cNvPicPr>
          <p:nvPr/>
        </p:nvPicPr>
        <p:blipFill>
          <a:blip r:embed="rId4"/>
          <a:stretch>
            <a:fillRect/>
          </a:stretch>
        </p:blipFill>
        <p:spPr>
          <a:xfrm>
            <a:off x="0" y="0"/>
            <a:ext cx="12191695" cy="6858000"/>
          </a:xfrm>
          <a:prstGeom prst="rect">
            <a:avLst/>
          </a:prstGeom>
        </p:spPr>
      </p:pic>
      <p:pic>
        <p:nvPicPr>
          <p:cNvPr id="4" name="anim-g2-979" descr="/Users/mac/dev/younes-training/robot-pi/.pptx-cache/s153-2.jpg"/>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Image 0" descr="/Users/mac/dev/younes-training/robot-pi/.pptx-cache/s15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Image 0" descr="/Users/mac/dev/younes-training/robot-pi/.pptx-cache/s155-0.jpg"/>
          <p:cNvPicPr>
            <a:picLocks noChangeAspect="1"/>
          </p:cNvPicPr>
          <p:nvPr/>
        </p:nvPicPr>
        <p:blipFill>
          <a:blip r:embed="rId3"/>
          <a:stretch>
            <a:fillRect/>
          </a:stretch>
        </p:blipFill>
        <p:spPr>
          <a:xfrm>
            <a:off x="0" y="0"/>
            <a:ext cx="12191695" cy="6858000"/>
          </a:xfrm>
          <a:prstGeom prst="rect">
            <a:avLst/>
          </a:prstGeom>
        </p:spPr>
      </p:pic>
      <p:pic>
        <p:nvPicPr>
          <p:cNvPr id="3" name="anim-g1-980" descr="/Users/mac/dev/younes-training/robot-pi/.pptx-cache/s155-1.jpg"/>
          <p:cNvPicPr>
            <a:picLocks noChangeAspect="1"/>
          </p:cNvPicPr>
          <p:nvPr/>
        </p:nvPicPr>
        <p:blipFill>
          <a:blip r:embed="rId4"/>
          <a:stretch>
            <a:fillRect/>
          </a:stretch>
        </p:blipFill>
        <p:spPr>
          <a:xfrm>
            <a:off x="0" y="0"/>
            <a:ext cx="12191695" cy="6858000"/>
          </a:xfrm>
          <a:prstGeom prst="rect">
            <a:avLst/>
          </a:prstGeom>
        </p:spPr>
      </p:pic>
      <p:pic>
        <p:nvPicPr>
          <p:cNvPr id="4" name="anim-g2-981" descr="/Users/mac/dev/younes-training/robot-pi/.pptx-cache/s155-2.jpg"/>
          <p:cNvPicPr>
            <a:picLocks noChangeAspect="1"/>
          </p:cNvPicPr>
          <p:nvPr/>
        </p:nvPicPr>
        <p:blipFill>
          <a:blip r:embed="rId5"/>
          <a:stretch>
            <a:fillRect/>
          </a:stretch>
        </p:blipFill>
        <p:spPr>
          <a:xfrm>
            <a:off x="0" y="0"/>
            <a:ext cx="12191695" cy="6858000"/>
          </a:xfrm>
          <a:prstGeom prst="rect">
            <a:avLst/>
          </a:prstGeom>
        </p:spPr>
      </p:pic>
      <p:pic>
        <p:nvPicPr>
          <p:cNvPr id="5" name="anim-g3-982" descr="/Users/mac/dev/younes-training/robot-pi/.pptx-cache/s155-3.jpg"/>
          <p:cNvPicPr>
            <a:picLocks noChangeAspect="1"/>
          </p:cNvPicPr>
          <p:nvPr/>
        </p:nvPicPr>
        <p:blipFill>
          <a:blip r:embed="rId6"/>
          <a:stretch>
            <a:fillRect/>
          </a:stretch>
        </p:blipFill>
        <p:spPr>
          <a:xfrm>
            <a:off x="0" y="0"/>
            <a:ext cx="12191695" cy="6858000"/>
          </a:xfrm>
          <a:prstGeom prst="rect">
            <a:avLst/>
          </a:prstGeom>
        </p:spPr>
      </p:pic>
      <p:pic>
        <p:nvPicPr>
          <p:cNvPr id="6" name="anim-g4-983" descr="/Users/mac/dev/younes-training/robot-pi/.pptx-cache/s155-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6.xml><?xml version="1.0" encoding="utf-8"?>
<p:sld xmlns:a="http://schemas.openxmlformats.org/drawingml/2006/main" xmlns:r="http://schemas.openxmlformats.org/officeDocument/2006/relationships" xmlns:p="http://schemas.openxmlformats.org/presentationml/2006/main">
  <p:cSld name="Slide 15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101791" y="457200"/>
            <a:ext cx="5266944" cy="457200"/>
          </a:xfrm>
          <a:prstGeom prst="roundRect">
            <a:avLst>
              <a:gd name="adj" fmla="val 50000"/>
            </a:avLst>
          </a:prstGeom>
          <a:solidFill>
            <a:srgbClr val="F6EBCF"/>
          </a:solidFill>
          <a:ln/>
        </p:spPr>
      </p:sp>
      <p:sp>
        <p:nvSpPr>
          <p:cNvPr id="3" name="Text 1"/>
          <p:cNvSpPr/>
          <p:nvPr/>
        </p:nvSpPr>
        <p:spPr>
          <a:xfrm>
            <a:off x="6101791" y="457200"/>
            <a:ext cx="526694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الذكاء الاصطناعي صديق… بشروط</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قواعد الاستعمال المسؤول</a:t>
            </a:r>
            <a:endParaRPr lang="ar-SA" sz="3800" dirty="0"/>
          </a:p>
        </p:txBody>
      </p:sp>
      <p:sp>
        <p:nvSpPr>
          <p:cNvPr id="5" name="anim-g1-984"/>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985"/>
          <p:cNvSpPr/>
          <p:nvPr/>
        </p:nvSpPr>
        <p:spPr>
          <a:xfrm>
            <a:off x="10527487" y="2267712"/>
            <a:ext cx="566928" cy="566928"/>
          </a:xfrm>
          <a:prstGeom prst="roundRect">
            <a:avLst>
              <a:gd name="adj" fmla="val 32258"/>
            </a:avLst>
          </a:prstGeom>
          <a:solidFill>
            <a:srgbClr val="F7E6BC"/>
          </a:solidFill>
          <a:ln/>
        </p:spPr>
      </p:sp>
      <p:sp>
        <p:nvSpPr>
          <p:cNvPr id="7" name="anim-g1-986"/>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987"/>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قد يخطئ!</a:t>
            </a:r>
            <a:endParaRPr lang="ar-SA" sz="2200" dirty="0"/>
          </a:p>
        </p:txBody>
      </p:sp>
      <p:sp>
        <p:nvSpPr>
          <p:cNvPr id="9" name="anim-g1-988"/>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الذكاء الاصطناعي ذكي، لكنه ليس معصومًا. نتحقق من المعلومات المهمة من كتاب أو معلم</a:t>
            </a:r>
            <a:endParaRPr lang="ar-SA" sz="1900" dirty="0"/>
          </a:p>
        </p:txBody>
      </p:sp>
      <p:sp>
        <p:nvSpPr>
          <p:cNvPr id="10" name="anim-g2-989"/>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990"/>
          <p:cNvSpPr/>
          <p:nvPr/>
        </p:nvSpPr>
        <p:spPr>
          <a:xfrm>
            <a:off x="5117440" y="2267712"/>
            <a:ext cx="566928" cy="566928"/>
          </a:xfrm>
          <a:prstGeom prst="roundRect">
            <a:avLst>
              <a:gd name="adj" fmla="val 32258"/>
            </a:avLst>
          </a:prstGeom>
          <a:solidFill>
            <a:srgbClr val="F7E6BC"/>
          </a:solidFill>
          <a:ln/>
        </p:spPr>
      </p:sp>
      <p:sp>
        <p:nvSpPr>
          <p:cNvPr id="12" name="anim-g2-991"/>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992"/>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أسرارك لك</a:t>
            </a:r>
            <a:endParaRPr lang="ar-SA" sz="2200" dirty="0"/>
          </a:p>
        </p:txBody>
      </p:sp>
      <p:sp>
        <p:nvSpPr>
          <p:cNvPr id="14" name="anim-g2-993"/>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لا نخبره باسمنا الكامل، ولا عنواننا، ولا كلمات المرور</a:t>
            </a:r>
            <a:endParaRPr lang="ar-SA" sz="1900" dirty="0"/>
          </a:p>
        </p:txBody>
      </p:sp>
      <p:sp>
        <p:nvSpPr>
          <p:cNvPr id="15" name="anim-g3-994"/>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995"/>
          <p:cNvSpPr/>
          <p:nvPr/>
        </p:nvSpPr>
        <p:spPr>
          <a:xfrm>
            <a:off x="10527487" y="4393692"/>
            <a:ext cx="566928" cy="566928"/>
          </a:xfrm>
          <a:prstGeom prst="roundRect">
            <a:avLst>
              <a:gd name="adj" fmla="val 32258"/>
            </a:avLst>
          </a:prstGeom>
          <a:solidFill>
            <a:srgbClr val="F7E6BC"/>
          </a:solidFill>
          <a:ln/>
        </p:spPr>
      </p:sp>
      <p:sp>
        <p:nvSpPr>
          <p:cNvPr id="17" name="anim-g3-996"/>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997"/>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يساعد ولا يحل عنك</a:t>
            </a:r>
            <a:endParaRPr lang="ar-SA" sz="2200" dirty="0"/>
          </a:p>
        </p:txBody>
      </p:sp>
      <p:sp>
        <p:nvSpPr>
          <p:cNvPr id="19" name="anim-g3-998"/>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نستعمله لنفهم، لا لنسلّم واجبنا كما كتبه هو</a:t>
            </a:r>
            <a:endParaRPr lang="ar-SA" sz="1900" dirty="0"/>
          </a:p>
        </p:txBody>
      </p:sp>
      <p:sp>
        <p:nvSpPr>
          <p:cNvPr id="20" name="anim-g4-999"/>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1000"/>
          <p:cNvSpPr/>
          <p:nvPr/>
        </p:nvSpPr>
        <p:spPr>
          <a:xfrm>
            <a:off x="5117440" y="4393692"/>
            <a:ext cx="566928" cy="566928"/>
          </a:xfrm>
          <a:prstGeom prst="roundRect">
            <a:avLst>
              <a:gd name="adj" fmla="val 32258"/>
            </a:avLst>
          </a:prstGeom>
          <a:solidFill>
            <a:srgbClr val="F7E6BC"/>
          </a:solidFill>
          <a:ln/>
        </p:spPr>
      </p:sp>
      <p:sp>
        <p:nvSpPr>
          <p:cNvPr id="22" name="anim-g4-1001"/>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002"/>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المعلم أولًا</a:t>
            </a:r>
            <a:endParaRPr lang="ar-SA" sz="2200" dirty="0"/>
          </a:p>
        </p:txBody>
      </p:sp>
      <p:sp>
        <p:nvSpPr>
          <p:cNvPr id="24" name="anim-g4-1003"/>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إذا قال شيئًا غريبًا أو مزعجًا، نخبر المعلم فورًا</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يتكلم ويسمع  ·  ١٥٦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name="Slide 15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أجاب نبيه بمعلومة لست متأكدًا منها. ماذا تفعل؟</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أصدّقها دائمًا، فهو ذكي</a:t>
            </a:r>
            <a:endParaRPr lang="ar-SA" sz="2500" dirty="0"/>
          </a:p>
        </p:txBody>
      </p:sp>
      <p:sp>
        <p:nvSpPr>
          <p:cNvPr id="9" name="anim-g1-1004"/>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1005"/>
          <p:cNvSpPr/>
          <p:nvPr/>
        </p:nvSpPr>
        <p:spPr>
          <a:xfrm>
            <a:off x="10231831" y="2194560"/>
            <a:ext cx="954024" cy="954024"/>
          </a:xfrm>
          <a:prstGeom prst="roundRect">
            <a:avLst>
              <a:gd name="adj" fmla="val 11502"/>
            </a:avLst>
          </a:prstGeom>
          <a:solidFill>
            <a:srgbClr val="A3A9BA"/>
          </a:solidFill>
          <a:ln/>
        </p:spPr>
      </p:sp>
      <p:sp>
        <p:nvSpPr>
          <p:cNvPr id="11" name="anim-g1-1006"/>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1007"/>
          <p:cNvSpPr/>
          <p:nvPr/>
        </p:nvSpPr>
        <p:spPr>
          <a:xfrm>
            <a:off x="1097280" y="2093976"/>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أصدّقها دائمًا، فهو ذكي</a:t>
            </a:r>
            <a:endParaRPr lang="ar-SA" sz="2400" dirty="0"/>
          </a:p>
        </p:txBody>
      </p:sp>
      <p:sp>
        <p:nvSpPr>
          <p:cNvPr id="13" name="anim-g1-1008"/>
          <p:cNvSpPr/>
          <p:nvPr/>
        </p:nvSpPr>
        <p:spPr>
          <a:xfrm>
            <a:off x="1097280" y="2720706"/>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حتى الذكاء الاصطناعي يخطئ أحيانًا</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أتحقق منها من مصدر موثوق أو أسأل المعلم</a:t>
            </a:r>
            <a:endParaRPr lang="ar-SA" sz="2500" dirty="0"/>
          </a:p>
        </p:txBody>
      </p:sp>
      <p:sp>
        <p:nvSpPr>
          <p:cNvPr id="18" name="anim-g1-1009"/>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1010"/>
          <p:cNvSpPr/>
          <p:nvPr/>
        </p:nvSpPr>
        <p:spPr>
          <a:xfrm>
            <a:off x="10231831" y="3569208"/>
            <a:ext cx="954024" cy="954024"/>
          </a:xfrm>
          <a:prstGeom prst="roundRect">
            <a:avLst>
              <a:gd name="adj" fmla="val 11502"/>
            </a:avLst>
          </a:prstGeom>
          <a:solidFill>
            <a:srgbClr val="2E9E6B"/>
          </a:solidFill>
          <a:ln/>
        </p:spPr>
      </p:sp>
      <p:sp>
        <p:nvSpPr>
          <p:cNvPr id="20" name="anim-g1-1011"/>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1012"/>
          <p:cNvSpPr/>
          <p:nvPr/>
        </p:nvSpPr>
        <p:spPr>
          <a:xfrm>
            <a:off x="1097280" y="3468624"/>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131B34"/>
                </a:solidFill>
                <a:latin typeface="Cairo" pitchFamily="34" charset="0"/>
                <a:ea typeface="Cairo" pitchFamily="34" charset="-122"/>
                <a:cs typeface="Cairo" pitchFamily="34" charset="-120"/>
              </a:rPr>
              <a:t>أتحقق منها من مصدر موثوق أو أسأل المعلم</a:t>
            </a:r>
            <a:endParaRPr lang="ar-SA" sz="2400" dirty="0"/>
          </a:p>
        </p:txBody>
      </p:sp>
      <p:sp>
        <p:nvSpPr>
          <p:cNvPr id="22" name="anim-g1-1013"/>
          <p:cNvSpPr/>
          <p:nvPr/>
        </p:nvSpPr>
        <p:spPr>
          <a:xfrm>
            <a:off x="1097280" y="4095354"/>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1D5E40"/>
                </a:solidFill>
                <a:latin typeface="Cairo" pitchFamily="34" charset="0"/>
                <a:ea typeface="Cairo" pitchFamily="34" charset="-122"/>
                <a:cs typeface="Cairo" pitchFamily="34" charset="-120"/>
              </a:rPr>
              <a:t>صحيح! هكذا يفكر العالِم 🔍</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أغضب من نبيه</a:t>
            </a:r>
            <a:endParaRPr lang="ar-SA" sz="2500" dirty="0"/>
          </a:p>
        </p:txBody>
      </p:sp>
      <p:sp>
        <p:nvSpPr>
          <p:cNvPr id="27" name="anim-g1-1014"/>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1015"/>
          <p:cNvSpPr/>
          <p:nvPr/>
        </p:nvSpPr>
        <p:spPr>
          <a:xfrm>
            <a:off x="10231831" y="4943856"/>
            <a:ext cx="954024" cy="954024"/>
          </a:xfrm>
          <a:prstGeom prst="roundRect">
            <a:avLst>
              <a:gd name="adj" fmla="val 11502"/>
            </a:avLst>
          </a:prstGeom>
          <a:solidFill>
            <a:srgbClr val="A3A9BA"/>
          </a:solidFill>
          <a:ln/>
        </p:spPr>
      </p:sp>
      <p:sp>
        <p:nvSpPr>
          <p:cNvPr id="29" name="anim-g1-1016"/>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1017"/>
          <p:cNvSpPr/>
          <p:nvPr/>
        </p:nvSpPr>
        <p:spPr>
          <a:xfrm>
            <a:off x="1097280" y="4843272"/>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أغضب من نبيه</a:t>
            </a:r>
            <a:endParaRPr lang="ar-SA" sz="2400" dirty="0"/>
          </a:p>
        </p:txBody>
      </p:sp>
      <p:sp>
        <p:nvSpPr>
          <p:cNvPr id="31" name="anim-g1-1018"/>
          <p:cNvSpPr/>
          <p:nvPr/>
        </p:nvSpPr>
        <p:spPr>
          <a:xfrm>
            <a:off x="1097280" y="5470002"/>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نبيه لا يقصد الخطأ، وهو مجرد برنامج</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يتكلم ويسمع  ·  ١٥٧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name="Slide 15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أي جزء من نبيه يحتاج الإنترنت دائمًا؟</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المحركات</a:t>
            </a:r>
            <a:endParaRPr lang="ar-SA" sz="2500" dirty="0"/>
          </a:p>
        </p:txBody>
      </p:sp>
      <p:sp>
        <p:nvSpPr>
          <p:cNvPr id="9" name="anim-g1-1019"/>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1020"/>
          <p:cNvSpPr/>
          <p:nvPr/>
        </p:nvSpPr>
        <p:spPr>
          <a:xfrm>
            <a:off x="10231831" y="2194560"/>
            <a:ext cx="954024" cy="954024"/>
          </a:xfrm>
          <a:prstGeom prst="roundRect">
            <a:avLst>
              <a:gd name="adj" fmla="val 11502"/>
            </a:avLst>
          </a:prstGeom>
          <a:solidFill>
            <a:srgbClr val="A3A9BA"/>
          </a:solidFill>
          <a:ln/>
        </p:spPr>
      </p:sp>
      <p:sp>
        <p:nvSpPr>
          <p:cNvPr id="11" name="anim-g1-1021"/>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1022"/>
          <p:cNvSpPr/>
          <p:nvPr/>
        </p:nvSpPr>
        <p:spPr>
          <a:xfrm>
            <a:off x="1097280" y="2093976"/>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المحركات</a:t>
            </a:r>
            <a:endParaRPr lang="ar-SA" sz="2400" dirty="0"/>
          </a:p>
        </p:txBody>
      </p:sp>
      <p:sp>
        <p:nvSpPr>
          <p:cNvPr id="13" name="anim-g1-1023"/>
          <p:cNvSpPr/>
          <p:nvPr/>
        </p:nvSpPr>
        <p:spPr>
          <a:xfrm>
            <a:off x="1097280" y="2720706"/>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المحركات لا تحتاج إنترنت أبدًا</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التعرف على الوجوه</a:t>
            </a:r>
            <a:endParaRPr lang="ar-SA" sz="2500" dirty="0"/>
          </a:p>
        </p:txBody>
      </p:sp>
      <p:sp>
        <p:nvSpPr>
          <p:cNvPr id="18" name="anim-g1-1024"/>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1025"/>
          <p:cNvSpPr/>
          <p:nvPr/>
        </p:nvSpPr>
        <p:spPr>
          <a:xfrm>
            <a:off x="10231831" y="3569208"/>
            <a:ext cx="954024" cy="954024"/>
          </a:xfrm>
          <a:prstGeom prst="roundRect">
            <a:avLst>
              <a:gd name="adj" fmla="val 11502"/>
            </a:avLst>
          </a:prstGeom>
          <a:solidFill>
            <a:srgbClr val="A3A9BA"/>
          </a:solidFill>
          <a:ln/>
        </p:spPr>
      </p:sp>
      <p:sp>
        <p:nvSpPr>
          <p:cNvPr id="20" name="anim-g1-1026"/>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1027"/>
          <p:cNvSpPr/>
          <p:nvPr/>
        </p:nvSpPr>
        <p:spPr>
          <a:xfrm>
            <a:off x="1097280" y="3468624"/>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التعرف على الوجوه</a:t>
            </a:r>
            <a:endParaRPr lang="ar-SA" sz="2400" dirty="0"/>
          </a:p>
        </p:txBody>
      </p:sp>
      <p:sp>
        <p:nvSpPr>
          <p:cNvPr id="22" name="anim-g1-1028"/>
          <p:cNvSpPr/>
          <p:nvPr/>
        </p:nvSpPr>
        <p:spPr>
          <a:xfrm>
            <a:off x="1097280" y="4095354"/>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الوجوه تعمل داخل نبيه دون إنترنت</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العقل السحابي ask</a:t>
            </a:r>
            <a:endParaRPr lang="ar-SA" sz="2500" dirty="0"/>
          </a:p>
        </p:txBody>
      </p:sp>
      <p:sp>
        <p:nvSpPr>
          <p:cNvPr id="27" name="anim-g1-1029"/>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1030"/>
          <p:cNvSpPr/>
          <p:nvPr/>
        </p:nvSpPr>
        <p:spPr>
          <a:xfrm>
            <a:off x="10231831" y="4943856"/>
            <a:ext cx="954024" cy="954024"/>
          </a:xfrm>
          <a:prstGeom prst="roundRect">
            <a:avLst>
              <a:gd name="adj" fmla="val 11502"/>
            </a:avLst>
          </a:prstGeom>
          <a:solidFill>
            <a:srgbClr val="2E9E6B"/>
          </a:solidFill>
          <a:ln/>
        </p:spPr>
      </p:sp>
      <p:sp>
        <p:nvSpPr>
          <p:cNvPr id="29" name="anim-g1-1031"/>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1032"/>
          <p:cNvSpPr/>
          <p:nvPr/>
        </p:nvSpPr>
        <p:spPr>
          <a:xfrm>
            <a:off x="1097280" y="4843272"/>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131B34"/>
                </a:solidFill>
                <a:latin typeface="Cairo" pitchFamily="34" charset="0"/>
                <a:ea typeface="Cairo" pitchFamily="34" charset="-122"/>
                <a:cs typeface="Cairo" pitchFamily="34" charset="-120"/>
              </a:rPr>
              <a:t>العقل السحابي ask</a:t>
            </a:r>
            <a:endParaRPr lang="ar-SA" sz="2400" dirty="0"/>
          </a:p>
        </p:txBody>
      </p:sp>
      <p:sp>
        <p:nvSpPr>
          <p:cNvPr id="31" name="anim-g1-1033"/>
          <p:cNvSpPr/>
          <p:nvPr/>
        </p:nvSpPr>
        <p:spPr>
          <a:xfrm>
            <a:off x="1097280" y="5470002"/>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1D5E40"/>
                </a:solidFill>
                <a:latin typeface="Cairo" pitchFamily="34" charset="0"/>
                <a:ea typeface="Cairo" pitchFamily="34" charset="-122"/>
                <a:cs typeface="Cairo" pitchFamily="34" charset="-120"/>
              </a:rPr>
              <a:t>صحيح! هو على حواسيب ضخمة بعيدة ☁️</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يتكلم ويسمع  ·  ١٥٨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Image 0" descr="/Users/mac/dev/younes-training/robot-pi/.pptx-cache/s15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979615" y="457200"/>
            <a:ext cx="438912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6979615" y="457200"/>
            <a:ext cx="438912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 تحدّي الفرق — ١٥ دقيقة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F0CC7A"/>
                </a:solidFill>
                <a:latin typeface="Cairo Black" pitchFamily="34" charset="0"/>
                <a:ea typeface="Cairo Black" pitchFamily="34" charset="-122"/>
                <a:cs typeface="Cairo Black" pitchFamily="34" charset="-120"/>
              </a:rPr>
              <a:t>نبيه المرشد</a:t>
            </a:r>
            <a:endParaRPr lang="ar-SA" sz="3800" dirty="0"/>
          </a:p>
        </p:txBody>
      </p:sp>
      <p:sp>
        <p:nvSpPr>
          <p:cNvPr id="5" name="anim-g1-1034"/>
          <p:cNvSpPr/>
          <p:nvPr/>
        </p:nvSpPr>
        <p:spPr>
          <a:xfrm>
            <a:off x="10637215" y="2286000"/>
            <a:ext cx="731520" cy="731520"/>
          </a:xfrm>
          <a:prstGeom prst="ellipse">
            <a:avLst/>
          </a:prstGeom>
          <a:solidFill>
            <a:srgbClr val="D9AE4B"/>
          </a:solidFill>
          <a:ln/>
        </p:spPr>
      </p:sp>
      <p:sp>
        <p:nvSpPr>
          <p:cNvPr id="6" name="anim-g1-1035"/>
          <p:cNvSpPr/>
          <p:nvPr/>
        </p:nvSpPr>
        <p:spPr>
          <a:xfrm>
            <a:off x="10637215" y="228600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1036"/>
          <p:cNvSpPr/>
          <p:nvPr/>
        </p:nvSpPr>
        <p:spPr>
          <a:xfrm>
            <a:off x="4023360" y="219456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اختاروا موضوعًا تحبونه: الفضاء، أو الحيوانات، أو تاريخ الرياض</a:t>
            </a:r>
            <a:endParaRPr lang="ar-SA" sz="2200" dirty="0"/>
          </a:p>
        </p:txBody>
      </p:sp>
      <p:sp>
        <p:nvSpPr>
          <p:cNvPr id="8" name="anim-g2-1037"/>
          <p:cNvSpPr/>
          <p:nvPr/>
        </p:nvSpPr>
        <p:spPr>
          <a:xfrm>
            <a:off x="10637215" y="3383280"/>
            <a:ext cx="731520" cy="731520"/>
          </a:xfrm>
          <a:prstGeom prst="ellipse">
            <a:avLst/>
          </a:prstGeom>
          <a:solidFill>
            <a:srgbClr val="D9AE4B"/>
          </a:solidFill>
          <a:ln/>
        </p:spPr>
      </p:sp>
      <p:sp>
        <p:nvSpPr>
          <p:cNvPr id="9" name="anim-g2-1038"/>
          <p:cNvSpPr/>
          <p:nvPr/>
        </p:nvSpPr>
        <p:spPr>
          <a:xfrm>
            <a:off x="10637215" y="338328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1039"/>
          <p:cNvSpPr/>
          <p:nvPr/>
        </p:nvSpPr>
        <p:spPr>
          <a:xfrm>
            <a:off x="4023360" y="329184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كل عضو يكتب سؤالًا واحدًا عن الموضوع</a:t>
            </a:r>
            <a:endParaRPr lang="ar-SA" sz="2200" dirty="0"/>
          </a:p>
        </p:txBody>
      </p:sp>
      <p:sp>
        <p:nvSpPr>
          <p:cNvPr id="11" name="anim-g3-1040"/>
          <p:cNvSpPr/>
          <p:nvPr/>
        </p:nvSpPr>
        <p:spPr>
          <a:xfrm>
            <a:off x="10637215" y="4480560"/>
            <a:ext cx="731520" cy="731520"/>
          </a:xfrm>
          <a:prstGeom prst="ellipse">
            <a:avLst/>
          </a:prstGeom>
          <a:solidFill>
            <a:srgbClr val="D9AE4B"/>
          </a:solidFill>
          <a:ln/>
        </p:spPr>
      </p:sp>
      <p:sp>
        <p:nvSpPr>
          <p:cNvPr id="12" name="anim-g3-1041"/>
          <p:cNvSpPr/>
          <p:nvPr/>
        </p:nvSpPr>
        <p:spPr>
          <a:xfrm>
            <a:off x="10637215" y="448056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1042"/>
          <p:cNvSpPr/>
          <p:nvPr/>
        </p:nvSpPr>
        <p:spPr>
          <a:xfrm>
            <a:off x="4023360" y="438912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اسألوا نبيه بأصواتكم، وسجّلوا إجاباته على ورقة</a:t>
            </a:r>
            <a:endParaRPr lang="ar-SA" sz="2200" dirty="0"/>
          </a:p>
        </p:txBody>
      </p:sp>
      <p:sp>
        <p:nvSpPr>
          <p:cNvPr id="14" name="anim-g4-1043"/>
          <p:cNvSpPr/>
          <p:nvPr/>
        </p:nvSpPr>
        <p:spPr>
          <a:xfrm>
            <a:off x="10637215" y="5577840"/>
            <a:ext cx="731520" cy="731520"/>
          </a:xfrm>
          <a:prstGeom prst="ellipse">
            <a:avLst/>
          </a:prstGeom>
          <a:solidFill>
            <a:srgbClr val="D9AE4B"/>
          </a:solidFill>
          <a:ln/>
        </p:spPr>
      </p:sp>
      <p:sp>
        <p:nvSpPr>
          <p:cNvPr id="15" name="anim-g4-1044"/>
          <p:cNvSpPr/>
          <p:nvPr/>
        </p:nvSpPr>
        <p:spPr>
          <a:xfrm>
            <a:off x="10637215" y="557784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٤</a:t>
            </a:r>
            <a:endParaRPr lang="ar-SA" sz="2400" dirty="0"/>
          </a:p>
        </p:txBody>
      </p:sp>
      <p:sp>
        <p:nvSpPr>
          <p:cNvPr id="16" name="anim-g4-1045"/>
          <p:cNvSpPr/>
          <p:nvPr/>
        </p:nvSpPr>
        <p:spPr>
          <a:xfrm>
            <a:off x="4023360" y="548640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تحققوا من إجابة واحدة على الأقل من كتاب أو من المعلم: هل كانت صحيحة؟</a:t>
            </a:r>
            <a:endParaRPr lang="ar-SA" sz="2200" dirty="0"/>
          </a:p>
        </p:txBody>
      </p:sp>
      <p:sp>
        <p:nvSpPr>
          <p:cNvPr id="17" name="Shape 15"/>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8" name="Text 16"/>
          <p:cNvSpPr/>
          <p:nvPr/>
        </p:nvSpPr>
        <p:spPr>
          <a:xfrm>
            <a:off x="822960" y="2834640"/>
            <a:ext cx="2834640" cy="1097280"/>
          </a:xfrm>
          <a:prstGeom prst="rect">
            <a:avLst/>
          </a:prstGeom>
          <a:noFill/>
          <a:ln/>
        </p:spPr>
        <p:txBody>
          <a:bodyPr wrap="square" lIns="0" tIns="0" rIns="0" bIns="0" rtlCol="0" anchor="ctr">
            <a:normAutofit/>
          </a:bodyPr>
          <a:lstStyle/>
          <a:p>
            <a:pPr marL="0" indent="0" algn="ctr">
              <a:buNone/>
            </a:pPr>
            <a:r>
              <a:rPr lang="ar-SA" altLang="en-US" sz="6000" dirty="0">
                <a:solidFill>
                  <a:srgbClr val="F0CC7A"/>
                </a:solidFill>
                <a:latin typeface="Cairo Black" pitchFamily="34" charset="0"/>
                <a:ea typeface="Cairo Black" pitchFamily="34" charset="-122"/>
                <a:cs typeface="Cairo Black" pitchFamily="34" charset="-120"/>
              </a:rPr>
              <a:t>15:00</a:t>
            </a:r>
            <a:endParaRPr lang="ar-SA" sz="6000" dirty="0"/>
          </a:p>
        </p:txBody>
      </p:sp>
      <p:sp>
        <p:nvSpPr>
          <p:cNvPr id="19" name="Text 17"/>
          <p:cNvSpPr/>
          <p:nvPr/>
        </p:nvSpPr>
        <p:spPr>
          <a:xfrm>
            <a:off x="822960" y="3840480"/>
            <a:ext cx="2834640" cy="457200"/>
          </a:xfrm>
          <a:prstGeom prst="rect">
            <a:avLst/>
          </a:prstGeom>
          <a:noFill/>
          <a:ln/>
        </p:spPr>
        <p:txBody>
          <a:bodyPr wrap="square" lIns="0" tIns="0" rIns="0" bIns="0" rtlCol="0" anchor="ctr">
            <a:normAutofit/>
          </a:bodyPr>
          <a:lstStyle/>
          <a:p>
            <a:pPr marL="0" indent="0" algn="ctr" rtl="1">
              <a:buNone/>
            </a:pPr>
            <a:r>
              <a:rPr lang="ar-SA" altLang="en-US" sz="1600" b="1" dirty="0">
                <a:solidFill>
                  <a:srgbClr val="C9CFE6"/>
                </a:solidFill>
                <a:latin typeface="Cairo" pitchFamily="34" charset="0"/>
                <a:ea typeface="Cairo" pitchFamily="34" charset="-122"/>
                <a:cs typeface="Cairo" pitchFamily="34" charset="-120"/>
              </a:rPr>
              <a:t>١٥ دقائق</a:t>
            </a:r>
            <a:endParaRPr lang="ar-SA" sz="16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نبيه يتكلم ويسمع  ·  ١٦٠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Image 0" descr="/Users/mac/dev/younes-training/robot-pi/.pptx-cache/s16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marL="0" indent="0" algn="ctr" rtl="1">
              <a:buNone/>
            </a:pPr>
            <a:r>
              <a:rPr lang="ar-SA" altLang="en-US" sz="8000" dirty="0">
                <a:solidFill>
                  <a:srgbClr val="FFF3D6"/>
                </a:solidFill>
                <a:latin typeface="Cairo Black" pitchFamily="34" charset="0"/>
                <a:ea typeface="Cairo Black" pitchFamily="34" charset="-122"/>
                <a:cs typeface="Cairo Black" pitchFamily="34" charset="-120"/>
              </a:rPr>
              <a:t>نبيه يتكلم! 🗣️</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في الوحدة القادمة: نجمع كل قواه في عقل واحد… بثلاثة أوضاع 🧠</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C9CFE6"/>
                </a:solidFill>
                <a:latin typeface="Cairo" pitchFamily="34" charset="0"/>
                <a:ea typeface="Cairo" pitchFamily="34" charset="-122"/>
                <a:cs typeface="Cairo" pitchFamily="34" charset="-120"/>
              </a:rPr>
              <a:t>روبوتي الذكي · إعداد وتقديم: أ. محمد زيتون</a:t>
            </a:r>
            <a:endParaRPr lang="ar-SA" sz="18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marL="0" indent="0" algn="ctr" rtl="1">
              <a:buNone/>
            </a:pPr>
            <a:r>
              <a:rPr lang="ar-SA" altLang="en-US" sz="12000" dirty="0">
                <a:solidFill>
                  <a:srgbClr val="F0CC7A"/>
                </a:solidFill>
                <a:latin typeface="Cairo Black" pitchFamily="34" charset="0"/>
                <a:ea typeface="Cairo Black" pitchFamily="34" charset="-122"/>
                <a:cs typeface="Cairo Black" pitchFamily="34" charset="-120"/>
              </a:rPr>
              <a:t>١٠</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marL="0" indent="0" algn="r" rtl="1">
              <a:buNone/>
            </a:pPr>
            <a:r>
              <a:rPr lang="ar-SA" altLang="en-US" sz="2000" b="1" dirty="0">
                <a:solidFill>
                  <a:srgbClr val="D9AE4B"/>
                </a:solidFill>
                <a:latin typeface="Cairo" pitchFamily="34" charset="0"/>
                <a:ea typeface="Cairo" pitchFamily="34" charset="-122"/>
                <a:cs typeface="Cairo" pitchFamily="34" charset="-120"/>
              </a:rPr>
              <a:t>الوحدة ١٠</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marL="0" indent="0" algn="r" rtl="1">
              <a:buNone/>
            </a:pPr>
            <a:r>
              <a:rPr lang="ar-SA" altLang="en-US" sz="5600" dirty="0">
                <a:solidFill>
                  <a:srgbClr val="FFFFFF"/>
                </a:solidFill>
                <a:latin typeface="Cairo Black" pitchFamily="34" charset="0"/>
                <a:ea typeface="Cairo Black" pitchFamily="34" charset="-122"/>
                <a:cs typeface="Cairo Black" pitchFamily="34" charset="-120"/>
              </a:rPr>
              <a:t>عقل نبيه</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marL="0" indent="0" algn="r" rtl="1">
              <a:buNone/>
            </a:pPr>
            <a:r>
              <a:rPr lang="ar-SA" altLang="en-US" sz="2200" b="1" dirty="0">
                <a:solidFill>
                  <a:srgbClr val="C9CFE6"/>
                </a:solidFill>
                <a:latin typeface="Cairo" pitchFamily="34" charset="0"/>
                <a:ea typeface="Cairo" pitchFamily="34" charset="-122"/>
                <a:cs typeface="Cairo" pitchFamily="34" charset="-120"/>
              </a:rPr>
              <a:t>نجمع كل قواه في برنامج واحد… بثلاثة أوضاع 🧠</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عقل نبيه  ·  ١٦٣</a:t>
            </a:r>
            <a:endParaRPr lang="ar-SA" sz="12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مهمتي اليوم</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بنهاية هذه الوحدة سأستطيع أن</a:t>
            </a:r>
            <a:endParaRPr lang="ar-SA" sz="3800" dirty="0"/>
          </a:p>
        </p:txBody>
      </p:sp>
      <p:sp>
        <p:nvSpPr>
          <p:cNvPr id="5" name="anim-g1-1046"/>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1047"/>
          <p:cNvSpPr/>
          <p:nvPr/>
        </p:nvSpPr>
        <p:spPr>
          <a:xfrm>
            <a:off x="10573207" y="2109978"/>
            <a:ext cx="566928" cy="566928"/>
          </a:xfrm>
          <a:prstGeom prst="ellipse">
            <a:avLst/>
          </a:prstGeom>
          <a:solidFill>
            <a:srgbClr val="D9AE4B"/>
          </a:solidFill>
          <a:ln/>
        </p:spPr>
      </p:sp>
      <p:sp>
        <p:nvSpPr>
          <p:cNvPr id="7" name="anim-g1-1048"/>
          <p:cNvSpPr/>
          <p:nvPr/>
        </p:nvSpPr>
        <p:spPr>
          <a:xfrm>
            <a:off x="10573207" y="2109978"/>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1049"/>
          <p:cNvSpPr/>
          <p:nvPr/>
        </p:nvSpPr>
        <p:spPr>
          <a:xfrm>
            <a:off x="1097280" y="1920240"/>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أشرح «حلقة الروبوت»: يحس، يفكر، يتحرك</a:t>
            </a:r>
            <a:endParaRPr lang="ar-SA" sz="2400" dirty="0"/>
          </a:p>
        </p:txBody>
      </p:sp>
      <p:sp>
        <p:nvSpPr>
          <p:cNvPr id="9" name="anim-g2-1050"/>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1051"/>
          <p:cNvSpPr/>
          <p:nvPr/>
        </p:nvSpPr>
        <p:spPr>
          <a:xfrm>
            <a:off x="10573207" y="3166110"/>
            <a:ext cx="566928" cy="566928"/>
          </a:xfrm>
          <a:prstGeom prst="ellipse">
            <a:avLst/>
          </a:prstGeom>
          <a:solidFill>
            <a:srgbClr val="D9AE4B"/>
          </a:solidFill>
          <a:ln/>
        </p:spPr>
      </p:sp>
      <p:sp>
        <p:nvSpPr>
          <p:cNvPr id="11" name="anim-g2-1052"/>
          <p:cNvSpPr/>
          <p:nvPr/>
        </p:nvSpPr>
        <p:spPr>
          <a:xfrm>
            <a:off x="10573207" y="3166110"/>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1053"/>
          <p:cNvSpPr/>
          <p:nvPr/>
        </p:nvSpPr>
        <p:spPr>
          <a:xfrm>
            <a:off x="1097280" y="2976372"/>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أصنع أوامري الخاصة بـ def</a:t>
            </a:r>
            <a:endParaRPr lang="ar-SA" sz="2400" dirty="0"/>
          </a:p>
        </p:txBody>
      </p:sp>
      <p:sp>
        <p:nvSpPr>
          <p:cNvPr id="13" name="anim-g3-1054"/>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1055"/>
          <p:cNvSpPr/>
          <p:nvPr/>
        </p:nvSpPr>
        <p:spPr>
          <a:xfrm>
            <a:off x="10573207" y="4222242"/>
            <a:ext cx="566928" cy="566928"/>
          </a:xfrm>
          <a:prstGeom prst="ellipse">
            <a:avLst/>
          </a:prstGeom>
          <a:solidFill>
            <a:srgbClr val="D9AE4B"/>
          </a:solidFill>
          <a:ln/>
        </p:spPr>
      </p:sp>
      <p:sp>
        <p:nvSpPr>
          <p:cNvPr id="15" name="anim-g3-1056"/>
          <p:cNvSpPr/>
          <p:nvPr/>
        </p:nvSpPr>
        <p:spPr>
          <a:xfrm>
            <a:off x="10573207" y="4222242"/>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1057"/>
          <p:cNvSpPr/>
          <p:nvPr/>
        </p:nvSpPr>
        <p:spPr>
          <a:xfrm>
            <a:off x="1097280" y="4032504"/>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أشغّل نبيه في ثلاثة أوضاع: مستكشف، وحارس، وغميضة</a:t>
            </a:r>
            <a:endParaRPr lang="ar-SA" sz="2400" dirty="0"/>
          </a:p>
        </p:txBody>
      </p:sp>
      <p:sp>
        <p:nvSpPr>
          <p:cNvPr id="17" name="anim-g4-1058"/>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1059"/>
          <p:cNvSpPr/>
          <p:nvPr/>
        </p:nvSpPr>
        <p:spPr>
          <a:xfrm>
            <a:off x="10573207" y="5278374"/>
            <a:ext cx="566928" cy="566928"/>
          </a:xfrm>
          <a:prstGeom prst="ellipse">
            <a:avLst/>
          </a:prstGeom>
          <a:solidFill>
            <a:srgbClr val="D9AE4B"/>
          </a:solidFill>
          <a:ln/>
        </p:spPr>
      </p:sp>
      <p:sp>
        <p:nvSpPr>
          <p:cNvPr id="19" name="anim-g4-1060"/>
          <p:cNvSpPr/>
          <p:nvPr/>
        </p:nvSpPr>
        <p:spPr>
          <a:xfrm>
            <a:off x="10573207" y="5278374"/>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1061"/>
          <p:cNvSpPr/>
          <p:nvPr/>
        </p:nvSpPr>
        <p:spPr>
          <a:xfrm>
            <a:off x="1097280" y="5088636"/>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أصمم وضعًا جديدًا من خيالي!</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عقل نبيه  ·  ١٦٤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Image 0" descr="/Users/mac/dev/younes-training/robot-pi/.pptx-cache/s165.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735263" y="457200"/>
            <a:ext cx="2633472" cy="457200"/>
          </a:xfrm>
          <a:prstGeom prst="roundRect">
            <a:avLst>
              <a:gd name="adj" fmla="val 50000"/>
            </a:avLst>
          </a:prstGeom>
          <a:solidFill>
            <a:srgbClr val="F6EBCF"/>
          </a:solidFill>
          <a:ln/>
        </p:spPr>
      </p:sp>
      <p:sp>
        <p:nvSpPr>
          <p:cNvPr id="3" name="Text 1"/>
          <p:cNvSpPr/>
          <p:nvPr/>
        </p:nvSpPr>
        <p:spPr>
          <a:xfrm>
            <a:off x="8735263" y="457200"/>
            <a:ext cx="2633472"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فكرة جديدة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def: نصنع أوامرنا الخاصة</a:t>
            </a:r>
            <a:endParaRPr lang="ar-SA" sz="3800" dirty="0"/>
          </a:p>
        </p:txBody>
      </p:sp>
      <p:sp>
        <p:nvSpPr>
          <p:cNvPr id="5" name="anim-g1-1062"/>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1063"/>
          <p:cNvSpPr/>
          <p:nvPr/>
        </p:nvSpPr>
        <p:spPr>
          <a:xfrm>
            <a:off x="10527487" y="2267712"/>
            <a:ext cx="566928" cy="566928"/>
          </a:xfrm>
          <a:prstGeom prst="roundRect">
            <a:avLst>
              <a:gd name="adj" fmla="val 32258"/>
            </a:avLst>
          </a:prstGeom>
          <a:solidFill>
            <a:srgbClr val="F7E6BC"/>
          </a:solidFill>
          <a:ln/>
        </p:spPr>
      </p:sp>
      <p:sp>
        <p:nvSpPr>
          <p:cNvPr id="7" name="anim-g1-1064"/>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065"/>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نجمع الأوامر</a:t>
            </a:r>
            <a:endParaRPr lang="ar-SA" sz="2200" dirty="0"/>
          </a:p>
        </p:txBody>
      </p:sp>
      <p:sp>
        <p:nvSpPr>
          <p:cNvPr id="9" name="anim-g1-1066"/>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نضع عدة أوامر تحت اسم واحد، مثل explore</a:t>
            </a:r>
            <a:endParaRPr lang="ar-SA" sz="1900" dirty="0"/>
          </a:p>
        </p:txBody>
      </p:sp>
      <p:sp>
        <p:nvSpPr>
          <p:cNvPr id="10" name="anim-g2-1067"/>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1068"/>
          <p:cNvSpPr/>
          <p:nvPr/>
        </p:nvSpPr>
        <p:spPr>
          <a:xfrm>
            <a:off x="6920789" y="2267712"/>
            <a:ext cx="566928" cy="566928"/>
          </a:xfrm>
          <a:prstGeom prst="roundRect">
            <a:avLst>
              <a:gd name="adj" fmla="val 32258"/>
            </a:avLst>
          </a:prstGeom>
          <a:solidFill>
            <a:srgbClr val="F7E6BC"/>
          </a:solidFill>
          <a:ln/>
        </p:spPr>
      </p:sp>
      <p:sp>
        <p:nvSpPr>
          <p:cNvPr id="12" name="anim-g2-1069"/>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070"/>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نسمّيها</a:t>
            </a:r>
            <a:endParaRPr lang="ar-SA" sz="2200" dirty="0"/>
          </a:p>
        </p:txBody>
      </p:sp>
      <p:sp>
        <p:nvSpPr>
          <p:cNvPr id="14" name="anim-g2-1071"/>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def explore(): معناها «اصنع أمرًا اسمه explore»</a:t>
            </a:r>
            <a:endParaRPr lang="ar-SA" sz="1900" dirty="0"/>
          </a:p>
        </p:txBody>
      </p:sp>
      <p:sp>
        <p:nvSpPr>
          <p:cNvPr id="15" name="anim-g3-1072"/>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073"/>
          <p:cNvSpPr/>
          <p:nvPr/>
        </p:nvSpPr>
        <p:spPr>
          <a:xfrm>
            <a:off x="3314090" y="2267712"/>
            <a:ext cx="566928" cy="566928"/>
          </a:xfrm>
          <a:prstGeom prst="roundRect">
            <a:avLst>
              <a:gd name="adj" fmla="val 32258"/>
            </a:avLst>
          </a:prstGeom>
          <a:solidFill>
            <a:srgbClr val="F7E6BC"/>
          </a:solidFill>
          <a:ln/>
        </p:spPr>
      </p:sp>
      <p:sp>
        <p:nvSpPr>
          <p:cNvPr id="17" name="anim-g3-1074"/>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075"/>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نستعملها كثيرًا</a:t>
            </a:r>
            <a:endParaRPr lang="ar-SA" sz="2200" dirty="0"/>
          </a:p>
        </p:txBody>
      </p:sp>
      <p:sp>
        <p:nvSpPr>
          <p:cNvPr id="19" name="anim-g3-1076"/>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نكتب explore() فتعمل كل الأوامر التي بداخلها</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عقل نبيه  ·  ١٦٦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67.xml><?xml version="1.0" encoding="utf-8"?>
<p:sld xmlns:a="http://schemas.openxmlformats.org/drawingml/2006/main" xmlns:r="http://schemas.openxmlformats.org/officeDocument/2006/relationships" xmlns:p="http://schemas.openxmlformats.org/presentationml/2006/main">
  <p:cSld name="Slide 16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ثلاث شخصيات</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نبيه بثلاثة أوضاع</a:t>
            </a:r>
            <a:endParaRPr lang="ar-SA" sz="3800" dirty="0"/>
          </a:p>
        </p:txBody>
      </p:sp>
      <p:sp>
        <p:nvSpPr>
          <p:cNvPr id="5" name="anim-g1-1077"/>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1078"/>
          <p:cNvSpPr/>
          <p:nvPr/>
        </p:nvSpPr>
        <p:spPr>
          <a:xfrm>
            <a:off x="10527487" y="2267712"/>
            <a:ext cx="566928" cy="566928"/>
          </a:xfrm>
          <a:prstGeom prst="roundRect">
            <a:avLst>
              <a:gd name="adj" fmla="val 32258"/>
            </a:avLst>
          </a:prstGeom>
          <a:solidFill>
            <a:srgbClr val="F7E6BC"/>
          </a:solidFill>
          <a:ln/>
        </p:spPr>
      </p:sp>
      <p:sp>
        <p:nvSpPr>
          <p:cNvPr id="7" name="anim-g1-1079"/>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080"/>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المستكشف</a:t>
            </a:r>
            <a:endParaRPr lang="ar-SA" sz="2200" dirty="0"/>
          </a:p>
        </p:txBody>
      </p:sp>
      <p:sp>
        <p:nvSpPr>
          <p:cNvPr id="9" name="anim-g1-1081"/>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يتجول دون اصطدام، ويخبرنا إذا وجد شيئًا أحمر</a:t>
            </a:r>
            <a:endParaRPr lang="ar-SA" sz="1900" dirty="0"/>
          </a:p>
        </p:txBody>
      </p:sp>
      <p:sp>
        <p:nvSpPr>
          <p:cNvPr id="10" name="anim-g2-1082"/>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1083"/>
          <p:cNvSpPr/>
          <p:nvPr/>
        </p:nvSpPr>
        <p:spPr>
          <a:xfrm>
            <a:off x="6920789" y="2267712"/>
            <a:ext cx="566928" cy="566928"/>
          </a:xfrm>
          <a:prstGeom prst="roundRect">
            <a:avLst>
              <a:gd name="adj" fmla="val 32258"/>
            </a:avLst>
          </a:prstGeom>
          <a:solidFill>
            <a:srgbClr val="F7E6BC"/>
          </a:solidFill>
          <a:ln/>
        </p:spPr>
      </p:sp>
      <p:sp>
        <p:nvSpPr>
          <p:cNvPr id="12" name="anim-g2-1084"/>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085"/>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الحارس</a:t>
            </a:r>
            <a:endParaRPr lang="ar-SA" sz="2200" dirty="0"/>
          </a:p>
        </p:txBody>
      </p:sp>
      <p:sp>
        <p:nvSpPr>
          <p:cNvPr id="14" name="anim-g2-1086"/>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يقف مكانه، يرحّب بالأصدقاء، وينبّه إذا رأى غريبًا</a:t>
            </a:r>
            <a:endParaRPr lang="ar-SA" sz="1900" dirty="0"/>
          </a:p>
        </p:txBody>
      </p:sp>
      <p:sp>
        <p:nvSpPr>
          <p:cNvPr id="15" name="anim-g3-1087"/>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088"/>
          <p:cNvSpPr/>
          <p:nvPr/>
        </p:nvSpPr>
        <p:spPr>
          <a:xfrm>
            <a:off x="3314090" y="2267712"/>
            <a:ext cx="566928" cy="566928"/>
          </a:xfrm>
          <a:prstGeom prst="roundRect">
            <a:avLst>
              <a:gd name="adj" fmla="val 32258"/>
            </a:avLst>
          </a:prstGeom>
          <a:solidFill>
            <a:srgbClr val="F7E6BC"/>
          </a:solidFill>
          <a:ln/>
        </p:spPr>
      </p:sp>
      <p:sp>
        <p:nvSpPr>
          <p:cNvPr id="17" name="anim-g3-1089"/>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090"/>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الغميضة</a:t>
            </a:r>
            <a:endParaRPr lang="ar-SA" sz="2200" dirty="0"/>
          </a:p>
        </p:txBody>
      </p:sp>
      <p:sp>
        <p:nvSpPr>
          <p:cNvPr id="19" name="anim-g3-1091"/>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يدور ويبحث عن صديقه… ويفرح إذا وجده!</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عقل نبيه  ·  ١٦٧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Image 0" descr="/Users/mac/dev/younes-training/robot-pi/.pptx-cache/s16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Image 0" descr="/Users/mac/dev/younes-training/robot-pi/.pptx-cache/s169-0.jpg"/>
          <p:cNvPicPr>
            <a:picLocks noChangeAspect="1"/>
          </p:cNvPicPr>
          <p:nvPr/>
        </p:nvPicPr>
        <p:blipFill>
          <a:blip r:embed="rId3"/>
          <a:stretch>
            <a:fillRect/>
          </a:stretch>
        </p:blipFill>
        <p:spPr>
          <a:xfrm>
            <a:off x="0" y="0"/>
            <a:ext cx="12191695" cy="6858000"/>
          </a:xfrm>
          <a:prstGeom prst="rect">
            <a:avLst/>
          </a:prstGeom>
        </p:spPr>
      </p:pic>
      <p:pic>
        <p:nvPicPr>
          <p:cNvPr id="3" name="anim-g1-1092" descr="/Users/mac/dev/younes-training/robot-pi/.pptx-cache/s169-1.jpg"/>
          <p:cNvPicPr>
            <a:picLocks noChangeAspect="1"/>
          </p:cNvPicPr>
          <p:nvPr/>
        </p:nvPicPr>
        <p:blipFill>
          <a:blip r:embed="rId4"/>
          <a:stretch>
            <a:fillRect/>
          </a:stretch>
        </p:blipFill>
        <p:spPr>
          <a:xfrm>
            <a:off x="0" y="0"/>
            <a:ext cx="12191695" cy="6858000"/>
          </a:xfrm>
          <a:prstGeom prst="rect">
            <a:avLst/>
          </a:prstGeom>
        </p:spPr>
      </p:pic>
      <p:pic>
        <p:nvPicPr>
          <p:cNvPr id="4" name="anim-g2-1093" descr="/Users/mac/dev/younes-training/robot-pi/.pptx-cache/s169-2.jpg"/>
          <p:cNvPicPr>
            <a:picLocks noChangeAspect="1"/>
          </p:cNvPicPr>
          <p:nvPr/>
        </p:nvPicPr>
        <p:blipFill>
          <a:blip r:embed="rId5"/>
          <a:stretch>
            <a:fillRect/>
          </a:stretch>
        </p:blipFill>
        <p:spPr>
          <a:xfrm>
            <a:off x="0" y="0"/>
            <a:ext cx="12191695" cy="6858000"/>
          </a:xfrm>
          <a:prstGeom prst="rect">
            <a:avLst/>
          </a:prstGeom>
        </p:spPr>
      </p:pic>
      <p:pic>
        <p:nvPicPr>
          <p:cNvPr id="5" name="anim-g3-1094" descr="/Users/mac/dev/younes-training/robot-pi/.pptx-cache/s169-3.jpg"/>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0.xml><?xml version="1.0" encoding="utf-8"?>
<p:sld xmlns:a="http://schemas.openxmlformats.org/drawingml/2006/main" xmlns:r="http://schemas.openxmlformats.org/officeDocument/2006/relationships" xmlns:p="http://schemas.openxmlformats.org/presentationml/2006/main">
  <p:cSld name="Slide 17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نبيه في وضع «الحارس»، ورأى كرة حمراء. ماذا يفعل؟</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يقول: وجدت شيئًا أحمر!</a:t>
            </a:r>
            <a:endParaRPr lang="ar-SA" sz="2500" dirty="0"/>
          </a:p>
        </p:txBody>
      </p:sp>
      <p:sp>
        <p:nvSpPr>
          <p:cNvPr id="9" name="anim-g1-1095"/>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1096"/>
          <p:cNvSpPr/>
          <p:nvPr/>
        </p:nvSpPr>
        <p:spPr>
          <a:xfrm>
            <a:off x="10231831" y="2194560"/>
            <a:ext cx="954024" cy="954024"/>
          </a:xfrm>
          <a:prstGeom prst="roundRect">
            <a:avLst>
              <a:gd name="adj" fmla="val 11502"/>
            </a:avLst>
          </a:prstGeom>
          <a:solidFill>
            <a:srgbClr val="A3A9BA"/>
          </a:solidFill>
          <a:ln/>
        </p:spPr>
      </p:sp>
      <p:sp>
        <p:nvSpPr>
          <p:cNvPr id="11" name="anim-g1-1097"/>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1098"/>
          <p:cNvSpPr/>
          <p:nvPr/>
        </p:nvSpPr>
        <p:spPr>
          <a:xfrm>
            <a:off x="1097280" y="2093976"/>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يقول: وجدت شيئًا أحمر!</a:t>
            </a:r>
            <a:endParaRPr lang="ar-SA" sz="2400" dirty="0"/>
          </a:p>
        </p:txBody>
      </p:sp>
      <p:sp>
        <p:nvSpPr>
          <p:cNvPr id="13" name="anim-g1-1099"/>
          <p:cNvSpPr/>
          <p:nvPr/>
        </p:nvSpPr>
        <p:spPr>
          <a:xfrm>
            <a:off x="1097280" y="2720706"/>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هذا يفعله المستكشف</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يلحق الكرة</a:t>
            </a:r>
            <a:endParaRPr lang="ar-SA" sz="2500" dirty="0"/>
          </a:p>
        </p:txBody>
      </p:sp>
      <p:sp>
        <p:nvSpPr>
          <p:cNvPr id="18" name="anim-g1-1100"/>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1101"/>
          <p:cNvSpPr/>
          <p:nvPr/>
        </p:nvSpPr>
        <p:spPr>
          <a:xfrm>
            <a:off x="10231831" y="3569208"/>
            <a:ext cx="954024" cy="954024"/>
          </a:xfrm>
          <a:prstGeom prst="roundRect">
            <a:avLst>
              <a:gd name="adj" fmla="val 11502"/>
            </a:avLst>
          </a:prstGeom>
          <a:solidFill>
            <a:srgbClr val="A3A9BA"/>
          </a:solidFill>
          <a:ln/>
        </p:spPr>
      </p:sp>
      <p:sp>
        <p:nvSpPr>
          <p:cNvPr id="20" name="anim-g1-1102"/>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1103"/>
          <p:cNvSpPr/>
          <p:nvPr/>
        </p:nvSpPr>
        <p:spPr>
          <a:xfrm>
            <a:off x="1097280" y="3468624"/>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يلحق الكرة</a:t>
            </a:r>
            <a:endParaRPr lang="ar-SA" sz="2400" dirty="0"/>
          </a:p>
        </p:txBody>
      </p:sp>
      <p:sp>
        <p:nvSpPr>
          <p:cNvPr id="22" name="anim-g1-1104"/>
          <p:cNvSpPr/>
          <p:nvPr/>
        </p:nvSpPr>
        <p:spPr>
          <a:xfrm>
            <a:off x="1097280" y="4095354"/>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لم نكتب ذلك في أي وضع</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يبقى مكانه، فالحارس لا يبحث عن الألوان</a:t>
            </a:r>
            <a:endParaRPr lang="ar-SA" sz="2500" dirty="0"/>
          </a:p>
        </p:txBody>
      </p:sp>
      <p:sp>
        <p:nvSpPr>
          <p:cNvPr id="27" name="anim-g1-1105"/>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1106"/>
          <p:cNvSpPr/>
          <p:nvPr/>
        </p:nvSpPr>
        <p:spPr>
          <a:xfrm>
            <a:off x="10231831" y="4943856"/>
            <a:ext cx="954024" cy="954024"/>
          </a:xfrm>
          <a:prstGeom prst="roundRect">
            <a:avLst>
              <a:gd name="adj" fmla="val 11502"/>
            </a:avLst>
          </a:prstGeom>
          <a:solidFill>
            <a:srgbClr val="2E9E6B"/>
          </a:solidFill>
          <a:ln/>
        </p:spPr>
      </p:sp>
      <p:sp>
        <p:nvSpPr>
          <p:cNvPr id="29" name="anim-g1-1107"/>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1108"/>
          <p:cNvSpPr/>
          <p:nvPr/>
        </p:nvSpPr>
        <p:spPr>
          <a:xfrm>
            <a:off x="1097280" y="4843272"/>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131B34"/>
                </a:solidFill>
                <a:latin typeface="Cairo" pitchFamily="34" charset="0"/>
                <a:ea typeface="Cairo" pitchFamily="34" charset="-122"/>
                <a:cs typeface="Cairo" pitchFamily="34" charset="-120"/>
              </a:rPr>
              <a:t>يبقى مكانه، فالحارس لا يبحث عن الألوان</a:t>
            </a:r>
            <a:endParaRPr lang="ar-SA" sz="2400" dirty="0"/>
          </a:p>
        </p:txBody>
      </p:sp>
      <p:sp>
        <p:nvSpPr>
          <p:cNvPr id="31" name="anim-g1-1109"/>
          <p:cNvSpPr/>
          <p:nvPr/>
        </p:nvSpPr>
        <p:spPr>
          <a:xfrm>
            <a:off x="1097280" y="5470002"/>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1D5E40"/>
                </a:solidFill>
                <a:latin typeface="Cairo" pitchFamily="34" charset="0"/>
                <a:ea typeface="Cairo" pitchFamily="34" charset="-122"/>
                <a:cs typeface="Cairo" pitchFamily="34" charset="-120"/>
              </a:rPr>
              <a:t>صحيح! كل وضع له قواعده 🛡️</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عقل نبيه  ·  ١٧٠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71.xml><?xml version="1.0" encoding="utf-8"?>
<p:sld xmlns:a="http://schemas.openxmlformats.org/drawingml/2006/main" xmlns:r="http://schemas.openxmlformats.org/officeDocument/2006/relationships" xmlns:p="http://schemas.openxmlformats.org/presentationml/2006/main">
  <p:cSld name="Slide 17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في «حلقة الروبوت»، أين يقع الأمر if؟</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يحس</a:t>
            </a:r>
            <a:endParaRPr lang="ar-SA" sz="2500" dirty="0"/>
          </a:p>
        </p:txBody>
      </p:sp>
      <p:sp>
        <p:nvSpPr>
          <p:cNvPr id="9" name="anim-g1-1110"/>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1111"/>
          <p:cNvSpPr/>
          <p:nvPr/>
        </p:nvSpPr>
        <p:spPr>
          <a:xfrm>
            <a:off x="10231831" y="2194560"/>
            <a:ext cx="954024" cy="954024"/>
          </a:xfrm>
          <a:prstGeom prst="roundRect">
            <a:avLst>
              <a:gd name="adj" fmla="val 11502"/>
            </a:avLst>
          </a:prstGeom>
          <a:solidFill>
            <a:srgbClr val="A3A9BA"/>
          </a:solidFill>
          <a:ln/>
        </p:spPr>
      </p:sp>
      <p:sp>
        <p:nvSpPr>
          <p:cNvPr id="11" name="anim-g1-1112"/>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1113"/>
          <p:cNvSpPr/>
          <p:nvPr/>
        </p:nvSpPr>
        <p:spPr>
          <a:xfrm>
            <a:off x="1097280" y="2093976"/>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يحس</a:t>
            </a:r>
            <a:endParaRPr lang="ar-SA" sz="2400" dirty="0"/>
          </a:p>
        </p:txBody>
      </p:sp>
      <p:sp>
        <p:nvSpPr>
          <p:cNvPr id="13" name="anim-g1-1114"/>
          <p:cNvSpPr/>
          <p:nvPr/>
        </p:nvSpPr>
        <p:spPr>
          <a:xfrm>
            <a:off x="1097280" y="2720706"/>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الإحساس هو قراءة الحساسات مثل distance()</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يفكر</a:t>
            </a:r>
            <a:endParaRPr lang="ar-SA" sz="2500" dirty="0"/>
          </a:p>
        </p:txBody>
      </p:sp>
      <p:sp>
        <p:nvSpPr>
          <p:cNvPr id="18" name="anim-g1-1115"/>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1116"/>
          <p:cNvSpPr/>
          <p:nvPr/>
        </p:nvSpPr>
        <p:spPr>
          <a:xfrm>
            <a:off x="10231831" y="3569208"/>
            <a:ext cx="954024" cy="954024"/>
          </a:xfrm>
          <a:prstGeom prst="roundRect">
            <a:avLst>
              <a:gd name="adj" fmla="val 11502"/>
            </a:avLst>
          </a:prstGeom>
          <a:solidFill>
            <a:srgbClr val="2E9E6B"/>
          </a:solidFill>
          <a:ln/>
        </p:spPr>
      </p:sp>
      <p:sp>
        <p:nvSpPr>
          <p:cNvPr id="20" name="anim-g1-1117"/>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1118"/>
          <p:cNvSpPr/>
          <p:nvPr/>
        </p:nvSpPr>
        <p:spPr>
          <a:xfrm>
            <a:off x="1097280" y="3468624"/>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131B34"/>
                </a:solidFill>
                <a:latin typeface="Cairo" pitchFamily="34" charset="0"/>
                <a:ea typeface="Cairo" pitchFamily="34" charset="-122"/>
                <a:cs typeface="Cairo" pitchFamily="34" charset="-120"/>
              </a:rPr>
              <a:t>يفكر</a:t>
            </a:r>
            <a:endParaRPr lang="ar-SA" sz="2400" dirty="0"/>
          </a:p>
        </p:txBody>
      </p:sp>
      <p:sp>
        <p:nvSpPr>
          <p:cNvPr id="22" name="anim-g1-1119"/>
          <p:cNvSpPr/>
          <p:nvPr/>
        </p:nvSpPr>
        <p:spPr>
          <a:xfrm>
            <a:off x="1097280" y="4095354"/>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1D5E40"/>
                </a:solidFill>
                <a:latin typeface="Cairo" pitchFamily="34" charset="0"/>
                <a:ea typeface="Cairo" pitchFamily="34" charset="-122"/>
                <a:cs typeface="Cairo" pitchFamily="34" charset="-120"/>
              </a:rPr>
              <a:t>صحيح! الشرط هو طريقة نبيه في التفكير 🧠</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يتحرك</a:t>
            </a:r>
            <a:endParaRPr lang="ar-SA" sz="2500" dirty="0"/>
          </a:p>
        </p:txBody>
      </p:sp>
      <p:sp>
        <p:nvSpPr>
          <p:cNvPr id="27" name="anim-g1-1120"/>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1121"/>
          <p:cNvSpPr/>
          <p:nvPr/>
        </p:nvSpPr>
        <p:spPr>
          <a:xfrm>
            <a:off x="10231831" y="4943856"/>
            <a:ext cx="954024" cy="954024"/>
          </a:xfrm>
          <a:prstGeom prst="roundRect">
            <a:avLst>
              <a:gd name="adj" fmla="val 11502"/>
            </a:avLst>
          </a:prstGeom>
          <a:solidFill>
            <a:srgbClr val="A3A9BA"/>
          </a:solidFill>
          <a:ln/>
        </p:spPr>
      </p:sp>
      <p:sp>
        <p:nvSpPr>
          <p:cNvPr id="29" name="anim-g1-1122"/>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1123"/>
          <p:cNvSpPr/>
          <p:nvPr/>
        </p:nvSpPr>
        <p:spPr>
          <a:xfrm>
            <a:off x="1097280" y="4843272"/>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يتحرك</a:t>
            </a:r>
            <a:endParaRPr lang="ar-SA" sz="2400" dirty="0"/>
          </a:p>
        </p:txBody>
      </p:sp>
      <p:sp>
        <p:nvSpPr>
          <p:cNvPr id="31" name="anim-g1-1124"/>
          <p:cNvSpPr/>
          <p:nvPr/>
        </p:nvSpPr>
        <p:spPr>
          <a:xfrm>
            <a:off x="1097280" y="5470002"/>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الحركة هي التنفيذ مثل forward()</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عقل نبيه  ·  ١٧١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Image 0" descr="/Users/mac/dev/younes-training/robot-pi/.pptx-cache/s17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979615" y="457200"/>
            <a:ext cx="438912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6979615" y="457200"/>
            <a:ext cx="438912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 تحدّي الفرق — ٢٠ دقيقة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F0CC7A"/>
                </a:solidFill>
                <a:latin typeface="Cairo Black" pitchFamily="34" charset="0"/>
                <a:ea typeface="Cairo Black" pitchFamily="34" charset="-122"/>
                <a:cs typeface="Cairo Black" pitchFamily="34" charset="-120"/>
              </a:rPr>
              <a:t>اخترع وضعًا جديدًا!</a:t>
            </a:r>
            <a:endParaRPr lang="ar-SA" sz="3800" dirty="0"/>
          </a:p>
        </p:txBody>
      </p:sp>
      <p:sp>
        <p:nvSpPr>
          <p:cNvPr id="5" name="anim-g1-1125"/>
          <p:cNvSpPr/>
          <p:nvPr/>
        </p:nvSpPr>
        <p:spPr>
          <a:xfrm>
            <a:off x="10637215" y="2286000"/>
            <a:ext cx="731520" cy="731520"/>
          </a:xfrm>
          <a:prstGeom prst="ellipse">
            <a:avLst/>
          </a:prstGeom>
          <a:solidFill>
            <a:srgbClr val="D9AE4B"/>
          </a:solidFill>
          <a:ln/>
        </p:spPr>
      </p:sp>
      <p:sp>
        <p:nvSpPr>
          <p:cNvPr id="6" name="anim-g1-1126"/>
          <p:cNvSpPr/>
          <p:nvPr/>
        </p:nvSpPr>
        <p:spPr>
          <a:xfrm>
            <a:off x="10637215" y="228600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1127"/>
          <p:cNvSpPr/>
          <p:nvPr/>
        </p:nvSpPr>
        <p:spPr>
          <a:xfrm>
            <a:off x="4023360" y="219456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اختاروا اسمًا للوضع: مثل «الرياضي» أو «المرشد» أو «الراقص»</a:t>
            </a:r>
            <a:endParaRPr lang="ar-SA" sz="2200" dirty="0"/>
          </a:p>
        </p:txBody>
      </p:sp>
      <p:sp>
        <p:nvSpPr>
          <p:cNvPr id="8" name="anim-g2-1128"/>
          <p:cNvSpPr/>
          <p:nvPr/>
        </p:nvSpPr>
        <p:spPr>
          <a:xfrm>
            <a:off x="10637215" y="3383280"/>
            <a:ext cx="731520" cy="731520"/>
          </a:xfrm>
          <a:prstGeom prst="ellipse">
            <a:avLst/>
          </a:prstGeom>
          <a:solidFill>
            <a:srgbClr val="D9AE4B"/>
          </a:solidFill>
          <a:ln/>
        </p:spPr>
      </p:sp>
      <p:sp>
        <p:nvSpPr>
          <p:cNvPr id="9" name="anim-g2-1129"/>
          <p:cNvSpPr/>
          <p:nvPr/>
        </p:nvSpPr>
        <p:spPr>
          <a:xfrm>
            <a:off x="10637215" y="338328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1130"/>
          <p:cNvSpPr/>
          <p:nvPr/>
        </p:nvSpPr>
        <p:spPr>
          <a:xfrm>
            <a:off x="4023360" y="329184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اكتبوا على ورقة: ماذا يحس؟ وكيف يفكر؟ وكيف يتحرك؟</a:t>
            </a:r>
            <a:endParaRPr lang="ar-SA" sz="2200" dirty="0"/>
          </a:p>
        </p:txBody>
      </p:sp>
      <p:sp>
        <p:nvSpPr>
          <p:cNvPr id="11" name="anim-g3-1131"/>
          <p:cNvSpPr/>
          <p:nvPr/>
        </p:nvSpPr>
        <p:spPr>
          <a:xfrm>
            <a:off x="10637215" y="4480560"/>
            <a:ext cx="731520" cy="731520"/>
          </a:xfrm>
          <a:prstGeom prst="ellipse">
            <a:avLst/>
          </a:prstGeom>
          <a:solidFill>
            <a:srgbClr val="D9AE4B"/>
          </a:solidFill>
          <a:ln/>
        </p:spPr>
      </p:sp>
      <p:sp>
        <p:nvSpPr>
          <p:cNvPr id="12" name="anim-g3-1132"/>
          <p:cNvSpPr/>
          <p:nvPr/>
        </p:nvSpPr>
        <p:spPr>
          <a:xfrm>
            <a:off x="10637215" y="448056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1133"/>
          <p:cNvSpPr/>
          <p:nvPr/>
        </p:nvSpPr>
        <p:spPr>
          <a:xfrm>
            <a:off x="4023360" y="438912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اكتبوا الدالة بـ def، وأضيفوها إلى البرنامج</a:t>
            </a:r>
            <a:endParaRPr lang="ar-SA" sz="2200" dirty="0"/>
          </a:p>
        </p:txBody>
      </p:sp>
      <p:sp>
        <p:nvSpPr>
          <p:cNvPr id="14" name="anim-g4-1134"/>
          <p:cNvSpPr/>
          <p:nvPr/>
        </p:nvSpPr>
        <p:spPr>
          <a:xfrm>
            <a:off x="10637215" y="5577840"/>
            <a:ext cx="731520" cy="731520"/>
          </a:xfrm>
          <a:prstGeom prst="ellipse">
            <a:avLst/>
          </a:prstGeom>
          <a:solidFill>
            <a:srgbClr val="D9AE4B"/>
          </a:solidFill>
          <a:ln/>
        </p:spPr>
      </p:sp>
      <p:sp>
        <p:nvSpPr>
          <p:cNvPr id="15" name="anim-g4-1135"/>
          <p:cNvSpPr/>
          <p:nvPr/>
        </p:nvSpPr>
        <p:spPr>
          <a:xfrm>
            <a:off x="10637215" y="557784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٤</a:t>
            </a:r>
            <a:endParaRPr lang="ar-SA" sz="2400" dirty="0"/>
          </a:p>
        </p:txBody>
      </p:sp>
      <p:sp>
        <p:nvSpPr>
          <p:cNvPr id="16" name="anim-g4-1136"/>
          <p:cNvSpPr/>
          <p:nvPr/>
        </p:nvSpPr>
        <p:spPr>
          <a:xfrm>
            <a:off x="4023360" y="548640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اعرضوا وضعكم الجديد على الفصل 🎤</a:t>
            </a:r>
            <a:endParaRPr lang="ar-SA" sz="2200" dirty="0"/>
          </a:p>
        </p:txBody>
      </p:sp>
      <p:sp>
        <p:nvSpPr>
          <p:cNvPr id="17" name="Shape 15"/>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8" name="Text 16"/>
          <p:cNvSpPr/>
          <p:nvPr/>
        </p:nvSpPr>
        <p:spPr>
          <a:xfrm>
            <a:off x="822960" y="2834640"/>
            <a:ext cx="2834640" cy="1097280"/>
          </a:xfrm>
          <a:prstGeom prst="rect">
            <a:avLst/>
          </a:prstGeom>
          <a:noFill/>
          <a:ln/>
        </p:spPr>
        <p:txBody>
          <a:bodyPr wrap="square" lIns="0" tIns="0" rIns="0" bIns="0" rtlCol="0" anchor="ctr">
            <a:normAutofit/>
          </a:bodyPr>
          <a:lstStyle/>
          <a:p>
            <a:pPr marL="0" indent="0" algn="ctr">
              <a:buNone/>
            </a:pPr>
            <a:r>
              <a:rPr lang="ar-SA" altLang="en-US" sz="6000" dirty="0">
                <a:solidFill>
                  <a:srgbClr val="F0CC7A"/>
                </a:solidFill>
                <a:latin typeface="Cairo Black" pitchFamily="34" charset="0"/>
                <a:ea typeface="Cairo Black" pitchFamily="34" charset="-122"/>
                <a:cs typeface="Cairo Black" pitchFamily="34" charset="-120"/>
              </a:rPr>
              <a:t>20:00</a:t>
            </a:r>
            <a:endParaRPr lang="ar-SA" sz="6000" dirty="0"/>
          </a:p>
        </p:txBody>
      </p:sp>
      <p:sp>
        <p:nvSpPr>
          <p:cNvPr id="19" name="Text 17"/>
          <p:cNvSpPr/>
          <p:nvPr/>
        </p:nvSpPr>
        <p:spPr>
          <a:xfrm>
            <a:off x="822960" y="3840480"/>
            <a:ext cx="2834640" cy="457200"/>
          </a:xfrm>
          <a:prstGeom prst="rect">
            <a:avLst/>
          </a:prstGeom>
          <a:noFill/>
          <a:ln/>
        </p:spPr>
        <p:txBody>
          <a:bodyPr wrap="square" lIns="0" tIns="0" rIns="0" bIns="0" rtlCol="0" anchor="ctr">
            <a:normAutofit/>
          </a:bodyPr>
          <a:lstStyle/>
          <a:p>
            <a:pPr marL="0" indent="0" algn="ctr" rtl="1">
              <a:buNone/>
            </a:pPr>
            <a:r>
              <a:rPr lang="ar-SA" altLang="en-US" sz="1600" b="1" dirty="0">
                <a:solidFill>
                  <a:srgbClr val="C9CFE6"/>
                </a:solidFill>
                <a:latin typeface="Cairo" pitchFamily="34" charset="0"/>
                <a:ea typeface="Cairo" pitchFamily="34" charset="-122"/>
                <a:cs typeface="Cairo" pitchFamily="34" charset="-120"/>
              </a:rPr>
              <a:t>٢٠ دقائق</a:t>
            </a:r>
            <a:endParaRPr lang="ar-SA" sz="16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عقل نبيه  ·  ١٧٣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Image 0" descr="/Users/mac/dev/younes-training/robot-pi/.pptx-cache/s17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marL="0" indent="0" algn="ctr" rtl="1">
              <a:buNone/>
            </a:pPr>
            <a:r>
              <a:rPr lang="ar-SA" altLang="en-US" sz="8000" dirty="0">
                <a:solidFill>
                  <a:srgbClr val="FFF3D6"/>
                </a:solidFill>
                <a:latin typeface="Cairo Black" pitchFamily="34" charset="0"/>
                <a:ea typeface="Cairo Black" pitchFamily="34" charset="-122"/>
                <a:cs typeface="Cairo Black" pitchFamily="34" charset="-120"/>
              </a:rPr>
              <a:t>نبيه صار ذكيًّا! 🧠</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في الوحدة الأخيرة: نتحكم به من الجوال… ونعرضه على المدرسة كلها 🎓</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C9CFE6"/>
                </a:solidFill>
                <a:latin typeface="Cairo" pitchFamily="34" charset="0"/>
                <a:ea typeface="Cairo" pitchFamily="34" charset="-122"/>
                <a:cs typeface="Cairo" pitchFamily="34" charset="-120"/>
              </a:rPr>
              <a:t>روبوتي الذكي · إعداد وتقديم: أ. محمد زيتون</a:t>
            </a:r>
            <a:endParaRPr lang="ar-SA" sz="18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marL="0" indent="0" algn="ctr" rtl="1">
              <a:buNone/>
            </a:pPr>
            <a:r>
              <a:rPr lang="ar-SA" altLang="en-US" sz="12000" dirty="0">
                <a:solidFill>
                  <a:srgbClr val="F0CC7A"/>
                </a:solidFill>
                <a:latin typeface="Cairo Black" pitchFamily="34" charset="0"/>
                <a:ea typeface="Cairo Black" pitchFamily="34" charset="-122"/>
                <a:cs typeface="Cairo Black" pitchFamily="34" charset="-120"/>
              </a:rPr>
              <a:t>١١</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marL="0" indent="0" algn="r" rtl="1">
              <a:buNone/>
            </a:pPr>
            <a:r>
              <a:rPr lang="ar-SA" altLang="en-US" sz="2000" b="1" dirty="0">
                <a:solidFill>
                  <a:srgbClr val="D9AE4B"/>
                </a:solidFill>
                <a:latin typeface="Cairo" pitchFamily="34" charset="0"/>
                <a:ea typeface="Cairo" pitchFamily="34" charset="-122"/>
                <a:cs typeface="Cairo" pitchFamily="34" charset="-120"/>
              </a:rPr>
              <a:t>الوحدة ١١</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marL="0" indent="0" algn="r" rtl="1">
              <a:buNone/>
            </a:pPr>
            <a:r>
              <a:rPr lang="ar-SA" altLang="en-US" sz="5600" dirty="0">
                <a:solidFill>
                  <a:srgbClr val="FFFFFF"/>
                </a:solidFill>
                <a:latin typeface="Cairo Black" pitchFamily="34" charset="0"/>
                <a:ea typeface="Cairo Black" pitchFamily="34" charset="-122"/>
                <a:cs typeface="Cairo Black" pitchFamily="34" charset="-120"/>
              </a:rPr>
              <a:t>نبيه في الجوال</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marL="0" indent="0" algn="r" rtl="1">
              <a:buNone/>
            </a:pPr>
            <a:r>
              <a:rPr lang="ar-SA" altLang="en-US" sz="2200" b="1" dirty="0">
                <a:solidFill>
                  <a:srgbClr val="C9CFE6"/>
                </a:solidFill>
                <a:latin typeface="Cairo" pitchFamily="34" charset="0"/>
                <a:ea typeface="Cairo" pitchFamily="34" charset="-122"/>
                <a:cs typeface="Cairo" pitchFamily="34" charset="-120"/>
              </a:rPr>
              <a:t>نتحكم به من أي جوال، ونرى ما تراه عينه… ثم نحتفل! 🎓</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نبيه في الجوال  ·  ١٧٦</a:t>
            </a:r>
            <a:endParaRPr lang="ar-SA" sz="12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مهمتي اليوم</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بنهاية هذه الوحدة سأستطيع أن</a:t>
            </a:r>
            <a:endParaRPr lang="ar-SA" sz="3800" dirty="0"/>
          </a:p>
        </p:txBody>
      </p:sp>
      <p:sp>
        <p:nvSpPr>
          <p:cNvPr id="5" name="anim-g1-1137"/>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1138"/>
          <p:cNvSpPr/>
          <p:nvPr/>
        </p:nvSpPr>
        <p:spPr>
          <a:xfrm>
            <a:off x="10573207" y="2109978"/>
            <a:ext cx="566928" cy="566928"/>
          </a:xfrm>
          <a:prstGeom prst="ellipse">
            <a:avLst/>
          </a:prstGeom>
          <a:solidFill>
            <a:srgbClr val="D9AE4B"/>
          </a:solidFill>
          <a:ln/>
        </p:spPr>
      </p:sp>
      <p:sp>
        <p:nvSpPr>
          <p:cNvPr id="7" name="anim-g1-1139"/>
          <p:cNvSpPr/>
          <p:nvPr/>
        </p:nvSpPr>
        <p:spPr>
          <a:xfrm>
            <a:off x="10573207" y="2109978"/>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1140"/>
          <p:cNvSpPr/>
          <p:nvPr/>
        </p:nvSpPr>
        <p:spPr>
          <a:xfrm>
            <a:off x="1097280" y="1920240"/>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أشرح كيف يتكلم الجوال مع نبيه عبر الواي فاي</a:t>
            </a:r>
            <a:endParaRPr lang="ar-SA" sz="2400" dirty="0"/>
          </a:p>
        </p:txBody>
      </p:sp>
      <p:sp>
        <p:nvSpPr>
          <p:cNvPr id="9" name="anim-g2-1141"/>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1142"/>
          <p:cNvSpPr/>
          <p:nvPr/>
        </p:nvSpPr>
        <p:spPr>
          <a:xfrm>
            <a:off x="10573207" y="3166110"/>
            <a:ext cx="566928" cy="566928"/>
          </a:xfrm>
          <a:prstGeom prst="ellipse">
            <a:avLst/>
          </a:prstGeom>
          <a:solidFill>
            <a:srgbClr val="D9AE4B"/>
          </a:solidFill>
          <a:ln/>
        </p:spPr>
      </p:sp>
      <p:sp>
        <p:nvSpPr>
          <p:cNvPr id="11" name="anim-g2-1143"/>
          <p:cNvSpPr/>
          <p:nvPr/>
        </p:nvSpPr>
        <p:spPr>
          <a:xfrm>
            <a:off x="10573207" y="3166110"/>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1144"/>
          <p:cNvSpPr/>
          <p:nvPr/>
        </p:nvSpPr>
        <p:spPr>
          <a:xfrm>
            <a:off x="1097280" y="2976372"/>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أتحكم بنبيه من الجوال وأرى بثًّا مباشرًا من عينه</a:t>
            </a:r>
            <a:endParaRPr lang="ar-SA" sz="2400" dirty="0"/>
          </a:p>
        </p:txBody>
      </p:sp>
      <p:sp>
        <p:nvSpPr>
          <p:cNvPr id="13" name="anim-g3-1145"/>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1146"/>
          <p:cNvSpPr/>
          <p:nvPr/>
        </p:nvSpPr>
        <p:spPr>
          <a:xfrm>
            <a:off x="10573207" y="4222242"/>
            <a:ext cx="566928" cy="566928"/>
          </a:xfrm>
          <a:prstGeom prst="ellipse">
            <a:avLst/>
          </a:prstGeom>
          <a:solidFill>
            <a:srgbClr val="D9AE4B"/>
          </a:solidFill>
          <a:ln/>
        </p:spPr>
      </p:sp>
      <p:sp>
        <p:nvSpPr>
          <p:cNvPr id="15" name="anim-g3-1147"/>
          <p:cNvSpPr/>
          <p:nvPr/>
        </p:nvSpPr>
        <p:spPr>
          <a:xfrm>
            <a:off x="10573207" y="4222242"/>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1148"/>
          <p:cNvSpPr/>
          <p:nvPr/>
        </p:nvSpPr>
        <p:spPr>
          <a:xfrm>
            <a:off x="1097280" y="4032504"/>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أخطط مشروع تخرج مع فريقي</a:t>
            </a:r>
            <a:endParaRPr lang="ar-SA" sz="2400" dirty="0"/>
          </a:p>
        </p:txBody>
      </p:sp>
      <p:sp>
        <p:nvSpPr>
          <p:cNvPr id="17" name="anim-g4-1149"/>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1150"/>
          <p:cNvSpPr/>
          <p:nvPr/>
        </p:nvSpPr>
        <p:spPr>
          <a:xfrm>
            <a:off x="10573207" y="5278374"/>
            <a:ext cx="566928" cy="566928"/>
          </a:xfrm>
          <a:prstGeom prst="ellipse">
            <a:avLst/>
          </a:prstGeom>
          <a:solidFill>
            <a:srgbClr val="D9AE4B"/>
          </a:solidFill>
          <a:ln/>
        </p:spPr>
      </p:sp>
      <p:sp>
        <p:nvSpPr>
          <p:cNvPr id="19" name="anim-g4-1151"/>
          <p:cNvSpPr/>
          <p:nvPr/>
        </p:nvSpPr>
        <p:spPr>
          <a:xfrm>
            <a:off x="10573207" y="5278374"/>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1152"/>
          <p:cNvSpPr/>
          <p:nvPr/>
        </p:nvSpPr>
        <p:spPr>
          <a:xfrm>
            <a:off x="1097280" y="5088636"/>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أعرض نبيه أمام المدرسة بثقة</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في الجوال  ·  ١٧٧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78.xml><?xml version="1.0" encoding="utf-8"?>
<p:sld xmlns:a="http://schemas.openxmlformats.org/drawingml/2006/main" xmlns:r="http://schemas.openxmlformats.org/officeDocument/2006/relationships" xmlns:p="http://schemas.openxmlformats.org/presentationml/2006/main">
  <p:cSld name="Slide 17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كيف يتواصلان؟</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نبيه يصنع صفحة إنترنت صغيرة!</a:t>
            </a:r>
            <a:endParaRPr lang="ar-SA" sz="3800" dirty="0"/>
          </a:p>
        </p:txBody>
      </p:sp>
      <p:sp>
        <p:nvSpPr>
          <p:cNvPr id="5" name="anim-g1-1153"/>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1154"/>
          <p:cNvSpPr/>
          <p:nvPr/>
        </p:nvSpPr>
        <p:spPr>
          <a:xfrm>
            <a:off x="10527487" y="2267712"/>
            <a:ext cx="566928" cy="566928"/>
          </a:xfrm>
          <a:prstGeom prst="roundRect">
            <a:avLst>
              <a:gd name="adj" fmla="val 32258"/>
            </a:avLst>
          </a:prstGeom>
          <a:solidFill>
            <a:srgbClr val="F7E6BC"/>
          </a:solidFill>
          <a:ln/>
        </p:spPr>
      </p:sp>
      <p:sp>
        <p:nvSpPr>
          <p:cNvPr id="7" name="anim-g1-1155"/>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156"/>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نبيه خادم</a:t>
            </a:r>
            <a:endParaRPr lang="ar-SA" sz="2200" dirty="0"/>
          </a:p>
        </p:txBody>
      </p:sp>
      <p:sp>
        <p:nvSpPr>
          <p:cNvPr id="9" name="anim-g1-1157"/>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برنامج 11_remote.py يجعل نبيه «موقعًا» صغيرًا على شبكة المدرسة</a:t>
            </a:r>
            <a:endParaRPr lang="ar-SA" sz="1900" dirty="0"/>
          </a:p>
        </p:txBody>
      </p:sp>
      <p:sp>
        <p:nvSpPr>
          <p:cNvPr id="10" name="anim-g2-1158"/>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1159"/>
          <p:cNvSpPr/>
          <p:nvPr/>
        </p:nvSpPr>
        <p:spPr>
          <a:xfrm>
            <a:off x="6920789" y="2267712"/>
            <a:ext cx="566928" cy="566928"/>
          </a:xfrm>
          <a:prstGeom prst="roundRect">
            <a:avLst>
              <a:gd name="adj" fmla="val 32258"/>
            </a:avLst>
          </a:prstGeom>
          <a:solidFill>
            <a:srgbClr val="F7E6BC"/>
          </a:solidFill>
          <a:ln/>
        </p:spPr>
      </p:sp>
      <p:sp>
        <p:nvSpPr>
          <p:cNvPr id="12" name="anim-g2-1160"/>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161"/>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الجوال زائر</a:t>
            </a:r>
            <a:endParaRPr lang="ar-SA" sz="2200" dirty="0"/>
          </a:p>
        </p:txBody>
      </p:sp>
      <p:sp>
        <p:nvSpPr>
          <p:cNvPr id="14" name="anim-g2-1162"/>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نفتح المتصفح ونكتب: nabeeh.local:5000</a:t>
            </a:r>
            <a:endParaRPr lang="ar-SA" sz="1900" dirty="0"/>
          </a:p>
        </p:txBody>
      </p:sp>
      <p:sp>
        <p:nvSpPr>
          <p:cNvPr id="15" name="anim-g3-1163"/>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164"/>
          <p:cNvSpPr/>
          <p:nvPr/>
        </p:nvSpPr>
        <p:spPr>
          <a:xfrm>
            <a:off x="3314090" y="2267712"/>
            <a:ext cx="566928" cy="566928"/>
          </a:xfrm>
          <a:prstGeom prst="roundRect">
            <a:avLst>
              <a:gd name="adj" fmla="val 32258"/>
            </a:avLst>
          </a:prstGeom>
          <a:solidFill>
            <a:srgbClr val="F7E6BC"/>
          </a:solidFill>
          <a:ln/>
        </p:spPr>
      </p:sp>
      <p:sp>
        <p:nvSpPr>
          <p:cNvPr id="17" name="anim-g3-1165"/>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166"/>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رسائل سريعة</a:t>
            </a:r>
            <a:endParaRPr lang="ar-SA" sz="2200" dirty="0"/>
          </a:p>
        </p:txBody>
      </p:sp>
      <p:sp>
        <p:nvSpPr>
          <p:cNvPr id="19" name="anim-g3-1167"/>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كل زر في الجوال يرسل رسالة: «امشِ»، «قف»، «قل…»</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في الجوال  ·  ١٧٨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Image 0" descr="/Users/mac/dev/younes-training/robot-pi/.pptx-cache/s17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الأمان أولًا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حارس الأمان في برنامج الجوال</a:t>
            </a:r>
            <a:endParaRPr lang="ar-SA" sz="3800" dirty="0"/>
          </a:p>
        </p:txBody>
      </p:sp>
      <p:sp>
        <p:nvSpPr>
          <p:cNvPr id="5" name="anim-g1-1168"/>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1169"/>
          <p:cNvSpPr/>
          <p:nvPr/>
        </p:nvSpPr>
        <p:spPr>
          <a:xfrm>
            <a:off x="10527487" y="2267712"/>
            <a:ext cx="566928" cy="566928"/>
          </a:xfrm>
          <a:prstGeom prst="roundRect">
            <a:avLst>
              <a:gd name="adj" fmla="val 32258"/>
            </a:avLst>
          </a:prstGeom>
          <a:solidFill>
            <a:srgbClr val="F7E6BC"/>
          </a:solidFill>
          <a:ln/>
        </p:spPr>
      </p:sp>
      <p:sp>
        <p:nvSpPr>
          <p:cNvPr id="7" name="anim-g1-1170"/>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171"/>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اضغط واستمر</a:t>
            </a:r>
            <a:endParaRPr lang="ar-SA" sz="2200" dirty="0"/>
          </a:p>
        </p:txBody>
      </p:sp>
      <p:sp>
        <p:nvSpPr>
          <p:cNvPr id="9" name="anim-g1-1172"/>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نبيه يتحرك ما دام إصبعك على الزر فقط</a:t>
            </a:r>
            <a:endParaRPr lang="ar-SA" sz="1900" dirty="0"/>
          </a:p>
        </p:txBody>
      </p:sp>
      <p:sp>
        <p:nvSpPr>
          <p:cNvPr id="10" name="anim-g2-1173"/>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1174"/>
          <p:cNvSpPr/>
          <p:nvPr/>
        </p:nvSpPr>
        <p:spPr>
          <a:xfrm>
            <a:off x="6920789" y="2267712"/>
            <a:ext cx="566928" cy="566928"/>
          </a:xfrm>
          <a:prstGeom prst="roundRect">
            <a:avLst>
              <a:gd name="adj" fmla="val 32258"/>
            </a:avLst>
          </a:prstGeom>
          <a:solidFill>
            <a:srgbClr val="F7E6BC"/>
          </a:solidFill>
          <a:ln/>
        </p:spPr>
      </p:sp>
      <p:sp>
        <p:nvSpPr>
          <p:cNvPr id="12" name="anim-g2-1175"/>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176"/>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انقطع الاتصال؟</a:t>
            </a:r>
            <a:endParaRPr lang="ar-SA" sz="2200" dirty="0"/>
          </a:p>
        </p:txBody>
      </p:sp>
      <p:sp>
        <p:nvSpPr>
          <p:cNvPr id="14" name="anim-g2-1177"/>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إذا لم تصل رسالة لمدة ثانية، يتوقف نبيه وحده</a:t>
            </a:r>
            <a:endParaRPr lang="ar-SA" sz="1900" dirty="0"/>
          </a:p>
        </p:txBody>
      </p:sp>
      <p:sp>
        <p:nvSpPr>
          <p:cNvPr id="15" name="anim-g3-1178"/>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179"/>
          <p:cNvSpPr/>
          <p:nvPr/>
        </p:nvSpPr>
        <p:spPr>
          <a:xfrm>
            <a:off x="3314090" y="2267712"/>
            <a:ext cx="566928" cy="566928"/>
          </a:xfrm>
          <a:prstGeom prst="roundRect">
            <a:avLst>
              <a:gd name="adj" fmla="val 32258"/>
            </a:avLst>
          </a:prstGeom>
          <a:solidFill>
            <a:srgbClr val="F7E6BC"/>
          </a:solidFill>
          <a:ln/>
        </p:spPr>
      </p:sp>
      <p:sp>
        <p:nvSpPr>
          <p:cNvPr id="17" name="anim-g3-1180"/>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181"/>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شبكة المدرسة فقط</a:t>
            </a:r>
            <a:endParaRPr lang="ar-SA" sz="2200" dirty="0"/>
          </a:p>
        </p:txBody>
      </p:sp>
      <p:sp>
        <p:nvSpPr>
          <p:cNvPr id="19" name="anim-g3-1182"/>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لا يستطيع أحد خارج الشبكة التحكم بنبيه</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في الجوال  ·  ١٨٠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Image 0" descr="/Users/mac/dev/younes-training/robot-pi/.pptx-cache/s181-0.jpg"/>
          <p:cNvPicPr>
            <a:picLocks noChangeAspect="1"/>
          </p:cNvPicPr>
          <p:nvPr/>
        </p:nvPicPr>
        <p:blipFill>
          <a:blip r:embed="rId3"/>
          <a:stretch>
            <a:fillRect/>
          </a:stretch>
        </p:blipFill>
        <p:spPr>
          <a:xfrm>
            <a:off x="0" y="0"/>
            <a:ext cx="12191695" cy="6858000"/>
          </a:xfrm>
          <a:prstGeom prst="rect">
            <a:avLst/>
          </a:prstGeom>
        </p:spPr>
      </p:pic>
      <p:pic>
        <p:nvPicPr>
          <p:cNvPr id="3" name="anim-g1-1183" descr="/Users/mac/dev/younes-training/robot-pi/.pptx-cache/s181-1.jpg"/>
          <p:cNvPicPr>
            <a:picLocks noChangeAspect="1"/>
          </p:cNvPicPr>
          <p:nvPr/>
        </p:nvPicPr>
        <p:blipFill>
          <a:blip r:embed="rId4"/>
          <a:stretch>
            <a:fillRect/>
          </a:stretch>
        </p:blipFill>
        <p:spPr>
          <a:xfrm>
            <a:off x="0" y="0"/>
            <a:ext cx="12191695" cy="6858000"/>
          </a:xfrm>
          <a:prstGeom prst="rect">
            <a:avLst/>
          </a:prstGeom>
        </p:spPr>
      </p:pic>
      <p:pic>
        <p:nvPicPr>
          <p:cNvPr id="4" name="anim-g2-1184" descr="/Users/mac/dev/younes-training/robot-pi/.pptx-cache/s181-2.jpg"/>
          <p:cNvPicPr>
            <a:picLocks noChangeAspect="1"/>
          </p:cNvPicPr>
          <p:nvPr/>
        </p:nvPicPr>
        <p:blipFill>
          <a:blip r:embed="rId5"/>
          <a:stretch>
            <a:fillRect/>
          </a:stretch>
        </p:blipFill>
        <p:spPr>
          <a:xfrm>
            <a:off x="0" y="0"/>
            <a:ext cx="12191695" cy="6858000"/>
          </a:xfrm>
          <a:prstGeom prst="rect">
            <a:avLst/>
          </a:prstGeom>
        </p:spPr>
      </p:pic>
      <p:pic>
        <p:nvPicPr>
          <p:cNvPr id="5" name="anim-g3-1185" descr="/Users/mac/dev/younes-training/robot-pi/.pptx-cache/s181-3.jpg"/>
          <p:cNvPicPr>
            <a:picLocks noChangeAspect="1"/>
          </p:cNvPicPr>
          <p:nvPr/>
        </p:nvPicPr>
        <p:blipFill>
          <a:blip r:embed="rId6"/>
          <a:stretch>
            <a:fillRect/>
          </a:stretch>
        </p:blipFill>
        <p:spPr>
          <a:xfrm>
            <a:off x="0" y="0"/>
            <a:ext cx="12191695" cy="6858000"/>
          </a:xfrm>
          <a:prstGeom prst="rect">
            <a:avLst/>
          </a:prstGeom>
        </p:spPr>
      </p:pic>
      <p:pic>
        <p:nvPicPr>
          <p:cNvPr id="6" name="anim-g4-1186" descr="/Users/mac/dev/younes-training/robot-pi/.pptx-cache/s181-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2.xml><?xml version="1.0" encoding="utf-8"?>
<p:sld xmlns:a="http://schemas.openxmlformats.org/drawingml/2006/main" xmlns:r="http://schemas.openxmlformats.org/officeDocument/2006/relationships" xmlns:p="http://schemas.openxmlformats.org/presentationml/2006/main">
  <p:cSld name="Slide 18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320479" y="457200"/>
            <a:ext cx="2048256" cy="457200"/>
          </a:xfrm>
          <a:prstGeom prst="roundRect">
            <a:avLst>
              <a:gd name="adj" fmla="val 50000"/>
            </a:avLst>
          </a:prstGeom>
          <a:solidFill>
            <a:srgbClr val="F6EBCF"/>
          </a:solidFill>
          <a:ln/>
        </p:spPr>
      </p:sp>
      <p:sp>
        <p:nvSpPr>
          <p:cNvPr id="3" name="Text 1"/>
          <p:cNvSpPr/>
          <p:nvPr/>
        </p:nvSpPr>
        <p:spPr>
          <a:xfrm>
            <a:off x="9320479" y="457200"/>
            <a:ext cx="2048256"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رحلتنا</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انظروا ماذا صنعتم!</a:t>
            </a:r>
            <a:endParaRPr lang="ar-SA" sz="3800" dirty="0"/>
          </a:p>
        </p:txBody>
      </p:sp>
      <p:sp>
        <p:nvSpPr>
          <p:cNvPr id="5" name="Shape 3"/>
          <p:cNvSpPr/>
          <p:nvPr/>
        </p:nvSpPr>
        <p:spPr>
          <a:xfrm>
            <a:off x="8903741" y="1965960"/>
            <a:ext cx="2464994" cy="960120"/>
          </a:xfrm>
          <a:prstGeom prst="roundRect">
            <a:avLst>
              <a:gd name="adj" fmla="val 17143"/>
            </a:avLst>
          </a:prstGeom>
          <a:solidFill>
            <a:srgbClr val="FFFFFF"/>
          </a:solidFill>
          <a:ln w="12700">
            <a:solidFill>
              <a:srgbClr val="E4DCC8"/>
            </a:solidFill>
            <a:prstDash val="solid"/>
          </a:ln>
        </p:spPr>
      </p:sp>
      <p:sp>
        <p:nvSpPr>
          <p:cNvPr id="6" name="Shape 4"/>
          <p:cNvSpPr/>
          <p:nvPr/>
        </p:nvSpPr>
        <p:spPr>
          <a:xfrm>
            <a:off x="10564063" y="2125980"/>
            <a:ext cx="640080" cy="640080"/>
          </a:xfrm>
          <a:prstGeom prst="roundRect">
            <a:avLst>
              <a:gd name="adj" fmla="val 22857"/>
            </a:avLst>
          </a:prstGeom>
          <a:solidFill>
            <a:srgbClr val="101B45"/>
          </a:solidFill>
          <a:ln/>
        </p:spPr>
      </p:sp>
      <p:sp>
        <p:nvSpPr>
          <p:cNvPr id="7" name="Text 5"/>
          <p:cNvSpPr/>
          <p:nvPr/>
        </p:nvSpPr>
        <p:spPr>
          <a:xfrm>
            <a:off x="10564063" y="2125980"/>
            <a:ext cx="640080" cy="640080"/>
          </a:xfrm>
          <a:prstGeom prst="rect">
            <a:avLst/>
          </a:prstGeom>
          <a:noFill/>
          <a:ln/>
        </p:spPr>
        <p:txBody>
          <a:bodyPr wrap="square" lIns="0" tIns="0" rIns="0" bIns="0" rtlCol="0" anchor="ctr">
            <a:normAutofit/>
          </a:bodyPr>
          <a:lstStyle/>
          <a:p>
            <a:pPr marL="0" indent="0" algn="ctr" rtl="1">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8" name="Text 6"/>
          <p:cNvSpPr/>
          <p:nvPr/>
        </p:nvSpPr>
        <p:spPr>
          <a:xfrm>
            <a:off x="9040901" y="2057400"/>
            <a:ext cx="1413434" cy="292608"/>
          </a:xfrm>
          <a:prstGeom prst="rect">
            <a:avLst/>
          </a:prstGeom>
          <a:noFill/>
          <a:ln/>
        </p:spPr>
        <p:txBody>
          <a:bodyPr wrap="square" lIns="0" tIns="0" rIns="0" bIns="0" rtlCol="0" anchor="ctr">
            <a:normAutofit/>
          </a:bodyPr>
          <a:lstStyle/>
          <a:p>
            <a:pPr marL="0" indent="0" algn="r" rtl="1">
              <a:buNone/>
            </a:pPr>
            <a:r>
              <a:rPr lang="ar-SA" altLang="en-US" sz="1400" b="1" dirty="0">
                <a:solidFill>
                  <a:srgbClr val="B08A2E"/>
                </a:solidFill>
                <a:latin typeface="Cairo" pitchFamily="34" charset="0"/>
                <a:ea typeface="Cairo" pitchFamily="34" charset="-122"/>
                <a:cs typeface="Cairo" pitchFamily="34" charset="-120"/>
              </a:rPr>
              <a:t>الوحدة ٠</a:t>
            </a:r>
            <a:endParaRPr lang="ar-SA" sz="1400" dirty="0"/>
          </a:p>
        </p:txBody>
      </p:sp>
      <p:sp>
        <p:nvSpPr>
          <p:cNvPr id="9" name="Text 7"/>
          <p:cNvSpPr/>
          <p:nvPr/>
        </p:nvSpPr>
        <p:spPr>
          <a:xfrm>
            <a:off x="9040901" y="2331720"/>
            <a:ext cx="1413434" cy="521208"/>
          </a:xfrm>
          <a:prstGeom prst="rect">
            <a:avLst/>
          </a:prstGeom>
          <a:noFill/>
          <a:ln/>
        </p:spPr>
        <p:txBody>
          <a:bodyPr wrap="square" lIns="0" tIns="0" rIns="0" bIns="0" rtlCol="0" anchor="ctr">
            <a:normAutofit/>
          </a:bodyPr>
          <a:lstStyle/>
          <a:p>
            <a:pPr marL="0" indent="0" algn="r" rtl="1">
              <a:buNone/>
            </a:pPr>
            <a:r>
              <a:rPr lang="ar-SA" altLang="en-US" sz="1800" dirty="0">
                <a:solidFill>
                  <a:srgbClr val="101B45"/>
                </a:solidFill>
                <a:latin typeface="Cairo Black" pitchFamily="34" charset="0"/>
                <a:ea typeface="Cairo Black" pitchFamily="34" charset="-122"/>
                <a:cs typeface="Cairo Black" pitchFamily="34" charset="-120"/>
              </a:rPr>
              <a:t>تعرّفنا على نبيه</a:t>
            </a:r>
            <a:endParaRPr lang="ar-SA" sz="1800" dirty="0"/>
          </a:p>
        </p:txBody>
      </p:sp>
      <p:sp>
        <p:nvSpPr>
          <p:cNvPr id="10" name="Shape 8"/>
          <p:cNvSpPr/>
          <p:nvPr/>
        </p:nvSpPr>
        <p:spPr>
          <a:xfrm>
            <a:off x="6210148" y="1965960"/>
            <a:ext cx="2464994" cy="960120"/>
          </a:xfrm>
          <a:prstGeom prst="roundRect">
            <a:avLst>
              <a:gd name="adj" fmla="val 17143"/>
            </a:avLst>
          </a:prstGeom>
          <a:solidFill>
            <a:srgbClr val="FFFFFF"/>
          </a:solidFill>
          <a:ln w="12700">
            <a:solidFill>
              <a:srgbClr val="E4DCC8"/>
            </a:solidFill>
            <a:prstDash val="solid"/>
          </a:ln>
        </p:spPr>
      </p:sp>
      <p:sp>
        <p:nvSpPr>
          <p:cNvPr id="11" name="Shape 9"/>
          <p:cNvSpPr/>
          <p:nvPr/>
        </p:nvSpPr>
        <p:spPr>
          <a:xfrm>
            <a:off x="7870469" y="2125980"/>
            <a:ext cx="640080" cy="640080"/>
          </a:xfrm>
          <a:prstGeom prst="roundRect">
            <a:avLst>
              <a:gd name="adj" fmla="val 22857"/>
            </a:avLst>
          </a:prstGeom>
          <a:solidFill>
            <a:srgbClr val="101B45"/>
          </a:solidFill>
          <a:ln/>
        </p:spPr>
      </p:sp>
      <p:sp>
        <p:nvSpPr>
          <p:cNvPr id="12" name="Text 10"/>
          <p:cNvSpPr/>
          <p:nvPr/>
        </p:nvSpPr>
        <p:spPr>
          <a:xfrm>
            <a:off x="7870469" y="2125980"/>
            <a:ext cx="640080" cy="640080"/>
          </a:xfrm>
          <a:prstGeom prst="rect">
            <a:avLst/>
          </a:prstGeom>
          <a:noFill/>
          <a:ln/>
        </p:spPr>
        <p:txBody>
          <a:bodyPr wrap="square" lIns="0" tIns="0" rIns="0" bIns="0" rtlCol="0" anchor="ctr">
            <a:normAutofit/>
          </a:bodyPr>
          <a:lstStyle/>
          <a:p>
            <a:pPr marL="0" indent="0" algn="ctr" rtl="1">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13" name="Text 11"/>
          <p:cNvSpPr/>
          <p:nvPr/>
        </p:nvSpPr>
        <p:spPr>
          <a:xfrm>
            <a:off x="6347308" y="2057400"/>
            <a:ext cx="1413434" cy="292608"/>
          </a:xfrm>
          <a:prstGeom prst="rect">
            <a:avLst/>
          </a:prstGeom>
          <a:noFill/>
          <a:ln/>
        </p:spPr>
        <p:txBody>
          <a:bodyPr wrap="square" lIns="0" tIns="0" rIns="0" bIns="0" rtlCol="0" anchor="ctr">
            <a:normAutofit/>
          </a:bodyPr>
          <a:lstStyle/>
          <a:p>
            <a:pPr marL="0" indent="0" algn="r" rtl="1">
              <a:buNone/>
            </a:pPr>
            <a:r>
              <a:rPr lang="ar-SA" altLang="en-US" sz="1400" b="1" dirty="0">
                <a:solidFill>
                  <a:srgbClr val="B08A2E"/>
                </a:solidFill>
                <a:latin typeface="Cairo" pitchFamily="34" charset="0"/>
                <a:ea typeface="Cairo" pitchFamily="34" charset="-122"/>
                <a:cs typeface="Cairo" pitchFamily="34" charset="-120"/>
              </a:rPr>
              <a:t>الوحدة ١</a:t>
            </a:r>
            <a:endParaRPr lang="ar-SA" sz="1400" dirty="0"/>
          </a:p>
        </p:txBody>
      </p:sp>
      <p:sp>
        <p:nvSpPr>
          <p:cNvPr id="14" name="Text 12"/>
          <p:cNvSpPr/>
          <p:nvPr/>
        </p:nvSpPr>
        <p:spPr>
          <a:xfrm>
            <a:off x="6347308" y="2331720"/>
            <a:ext cx="1413434" cy="521208"/>
          </a:xfrm>
          <a:prstGeom prst="rect">
            <a:avLst/>
          </a:prstGeom>
          <a:noFill/>
          <a:ln/>
        </p:spPr>
        <p:txBody>
          <a:bodyPr wrap="square" lIns="0" tIns="0" rIns="0" bIns="0" rtlCol="0" anchor="ctr">
            <a:normAutofit/>
          </a:bodyPr>
          <a:lstStyle/>
          <a:p>
            <a:pPr marL="0" indent="0" algn="r" rtl="1">
              <a:buNone/>
            </a:pPr>
            <a:r>
              <a:rPr lang="ar-SA" altLang="en-US" sz="1800" dirty="0">
                <a:solidFill>
                  <a:srgbClr val="101B45"/>
                </a:solidFill>
                <a:latin typeface="Cairo Black" pitchFamily="34" charset="0"/>
                <a:ea typeface="Cairo Black" pitchFamily="34" charset="-122"/>
                <a:cs typeface="Cairo Black" pitchFamily="34" charset="-120"/>
              </a:rPr>
              <a:t>عرفنا عقله</a:t>
            </a:r>
            <a:endParaRPr lang="ar-SA" sz="1800" dirty="0"/>
          </a:p>
        </p:txBody>
      </p:sp>
      <p:sp>
        <p:nvSpPr>
          <p:cNvPr id="15" name="Shape 13"/>
          <p:cNvSpPr/>
          <p:nvPr/>
        </p:nvSpPr>
        <p:spPr>
          <a:xfrm>
            <a:off x="3516554" y="1965960"/>
            <a:ext cx="2464994" cy="960120"/>
          </a:xfrm>
          <a:prstGeom prst="roundRect">
            <a:avLst>
              <a:gd name="adj" fmla="val 17143"/>
            </a:avLst>
          </a:prstGeom>
          <a:solidFill>
            <a:srgbClr val="FFFFFF"/>
          </a:solidFill>
          <a:ln w="12700">
            <a:solidFill>
              <a:srgbClr val="E4DCC8"/>
            </a:solidFill>
            <a:prstDash val="solid"/>
          </a:ln>
        </p:spPr>
      </p:sp>
      <p:sp>
        <p:nvSpPr>
          <p:cNvPr id="16" name="Shape 14"/>
          <p:cNvSpPr/>
          <p:nvPr/>
        </p:nvSpPr>
        <p:spPr>
          <a:xfrm>
            <a:off x="5176876" y="2125980"/>
            <a:ext cx="640080" cy="640080"/>
          </a:xfrm>
          <a:prstGeom prst="roundRect">
            <a:avLst>
              <a:gd name="adj" fmla="val 22857"/>
            </a:avLst>
          </a:prstGeom>
          <a:solidFill>
            <a:srgbClr val="101B45"/>
          </a:solidFill>
          <a:ln/>
        </p:spPr>
      </p:sp>
      <p:sp>
        <p:nvSpPr>
          <p:cNvPr id="17" name="Text 15"/>
          <p:cNvSpPr/>
          <p:nvPr/>
        </p:nvSpPr>
        <p:spPr>
          <a:xfrm>
            <a:off x="5176876" y="2125980"/>
            <a:ext cx="640080" cy="640080"/>
          </a:xfrm>
          <a:prstGeom prst="rect">
            <a:avLst/>
          </a:prstGeom>
          <a:noFill/>
          <a:ln/>
        </p:spPr>
        <p:txBody>
          <a:bodyPr wrap="square" lIns="0" tIns="0" rIns="0" bIns="0" rtlCol="0" anchor="ctr">
            <a:normAutofit/>
          </a:bodyPr>
          <a:lstStyle/>
          <a:p>
            <a:pPr marL="0" indent="0" algn="ctr" rtl="1">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18" name="Text 16"/>
          <p:cNvSpPr/>
          <p:nvPr/>
        </p:nvSpPr>
        <p:spPr>
          <a:xfrm>
            <a:off x="3653714" y="2057400"/>
            <a:ext cx="1413434" cy="292608"/>
          </a:xfrm>
          <a:prstGeom prst="rect">
            <a:avLst/>
          </a:prstGeom>
          <a:noFill/>
          <a:ln/>
        </p:spPr>
        <p:txBody>
          <a:bodyPr wrap="square" lIns="0" tIns="0" rIns="0" bIns="0" rtlCol="0" anchor="ctr">
            <a:normAutofit/>
          </a:bodyPr>
          <a:lstStyle/>
          <a:p>
            <a:pPr marL="0" indent="0" algn="r" rtl="1">
              <a:buNone/>
            </a:pPr>
            <a:r>
              <a:rPr lang="ar-SA" altLang="en-US" sz="1400" b="1" dirty="0">
                <a:solidFill>
                  <a:srgbClr val="B08A2E"/>
                </a:solidFill>
                <a:latin typeface="Cairo" pitchFamily="34" charset="0"/>
                <a:ea typeface="Cairo" pitchFamily="34" charset="-122"/>
                <a:cs typeface="Cairo" pitchFamily="34" charset="-120"/>
              </a:rPr>
              <a:t>الوحدة ٢</a:t>
            </a:r>
            <a:endParaRPr lang="ar-SA" sz="1400" dirty="0"/>
          </a:p>
        </p:txBody>
      </p:sp>
      <p:sp>
        <p:nvSpPr>
          <p:cNvPr id="19" name="Text 17"/>
          <p:cNvSpPr/>
          <p:nvPr/>
        </p:nvSpPr>
        <p:spPr>
          <a:xfrm>
            <a:off x="3653714" y="2331720"/>
            <a:ext cx="1413434" cy="521208"/>
          </a:xfrm>
          <a:prstGeom prst="rect">
            <a:avLst/>
          </a:prstGeom>
          <a:noFill/>
          <a:ln/>
        </p:spPr>
        <p:txBody>
          <a:bodyPr wrap="square" lIns="0" tIns="0" rIns="0" bIns="0" rtlCol="0" anchor="ctr">
            <a:normAutofit/>
          </a:bodyPr>
          <a:lstStyle/>
          <a:p>
            <a:pPr marL="0" indent="0" algn="r" rtl="1">
              <a:buNone/>
            </a:pPr>
            <a:r>
              <a:rPr lang="ar-SA" altLang="en-US" sz="1800" dirty="0">
                <a:solidFill>
                  <a:srgbClr val="101B45"/>
                </a:solidFill>
                <a:latin typeface="Cairo Black" pitchFamily="34" charset="0"/>
                <a:ea typeface="Cairo Black" pitchFamily="34" charset="-122"/>
                <a:cs typeface="Cairo Black" pitchFamily="34" charset="-120"/>
              </a:rPr>
              <a:t>أيقظناه</a:t>
            </a:r>
            <a:endParaRPr lang="ar-SA" sz="1800" dirty="0"/>
          </a:p>
        </p:txBody>
      </p:sp>
      <p:sp>
        <p:nvSpPr>
          <p:cNvPr id="20" name="Shape 18"/>
          <p:cNvSpPr/>
          <p:nvPr/>
        </p:nvSpPr>
        <p:spPr>
          <a:xfrm>
            <a:off x="822960" y="1965960"/>
            <a:ext cx="2464994" cy="960120"/>
          </a:xfrm>
          <a:prstGeom prst="roundRect">
            <a:avLst>
              <a:gd name="adj" fmla="val 17143"/>
            </a:avLst>
          </a:prstGeom>
          <a:solidFill>
            <a:srgbClr val="FFFFFF"/>
          </a:solidFill>
          <a:ln w="12700">
            <a:solidFill>
              <a:srgbClr val="E4DCC8"/>
            </a:solidFill>
            <a:prstDash val="solid"/>
          </a:ln>
        </p:spPr>
      </p:sp>
      <p:sp>
        <p:nvSpPr>
          <p:cNvPr id="21" name="Shape 19"/>
          <p:cNvSpPr/>
          <p:nvPr/>
        </p:nvSpPr>
        <p:spPr>
          <a:xfrm>
            <a:off x="2483282" y="2125980"/>
            <a:ext cx="640080" cy="640080"/>
          </a:xfrm>
          <a:prstGeom prst="roundRect">
            <a:avLst>
              <a:gd name="adj" fmla="val 22857"/>
            </a:avLst>
          </a:prstGeom>
          <a:solidFill>
            <a:srgbClr val="101B45"/>
          </a:solidFill>
          <a:ln/>
        </p:spPr>
      </p:sp>
      <p:sp>
        <p:nvSpPr>
          <p:cNvPr id="22" name="Text 20"/>
          <p:cNvSpPr/>
          <p:nvPr/>
        </p:nvSpPr>
        <p:spPr>
          <a:xfrm>
            <a:off x="2483282" y="2125980"/>
            <a:ext cx="640080" cy="640080"/>
          </a:xfrm>
          <a:prstGeom prst="rect">
            <a:avLst/>
          </a:prstGeom>
          <a:noFill/>
          <a:ln/>
        </p:spPr>
        <p:txBody>
          <a:bodyPr wrap="square" lIns="0" tIns="0" rIns="0" bIns="0" rtlCol="0" anchor="ctr">
            <a:normAutofit/>
          </a:bodyPr>
          <a:lstStyle/>
          <a:p>
            <a:pPr marL="0" indent="0" algn="ctr" rtl="1">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23" name="Text 21"/>
          <p:cNvSpPr/>
          <p:nvPr/>
        </p:nvSpPr>
        <p:spPr>
          <a:xfrm>
            <a:off x="960120" y="2057400"/>
            <a:ext cx="1413434" cy="292608"/>
          </a:xfrm>
          <a:prstGeom prst="rect">
            <a:avLst/>
          </a:prstGeom>
          <a:noFill/>
          <a:ln/>
        </p:spPr>
        <p:txBody>
          <a:bodyPr wrap="square" lIns="0" tIns="0" rIns="0" bIns="0" rtlCol="0" anchor="ctr">
            <a:normAutofit/>
          </a:bodyPr>
          <a:lstStyle/>
          <a:p>
            <a:pPr marL="0" indent="0" algn="r" rtl="1">
              <a:buNone/>
            </a:pPr>
            <a:r>
              <a:rPr lang="ar-SA" altLang="en-US" sz="1400" b="1" dirty="0">
                <a:solidFill>
                  <a:srgbClr val="B08A2E"/>
                </a:solidFill>
                <a:latin typeface="Cairo" pitchFamily="34" charset="0"/>
                <a:ea typeface="Cairo" pitchFamily="34" charset="-122"/>
                <a:cs typeface="Cairo" pitchFamily="34" charset="-120"/>
              </a:rPr>
              <a:t>الوحدة ٣</a:t>
            </a:r>
            <a:endParaRPr lang="ar-SA" sz="1400" dirty="0"/>
          </a:p>
        </p:txBody>
      </p:sp>
      <p:sp>
        <p:nvSpPr>
          <p:cNvPr id="24" name="Text 22"/>
          <p:cNvSpPr/>
          <p:nvPr/>
        </p:nvSpPr>
        <p:spPr>
          <a:xfrm>
            <a:off x="960120" y="2331720"/>
            <a:ext cx="1413434" cy="521208"/>
          </a:xfrm>
          <a:prstGeom prst="rect">
            <a:avLst/>
          </a:prstGeom>
          <a:noFill/>
          <a:ln/>
        </p:spPr>
        <p:txBody>
          <a:bodyPr wrap="square" lIns="0" tIns="0" rIns="0" bIns="0" rtlCol="0" anchor="ctr">
            <a:normAutofit/>
          </a:bodyPr>
          <a:lstStyle/>
          <a:p>
            <a:pPr marL="0" indent="0" algn="r" rtl="1">
              <a:buNone/>
            </a:pPr>
            <a:r>
              <a:rPr lang="ar-SA" altLang="en-US" sz="1800" dirty="0">
                <a:solidFill>
                  <a:srgbClr val="101B45"/>
                </a:solidFill>
                <a:latin typeface="Cairo Black" pitchFamily="34" charset="0"/>
                <a:ea typeface="Cairo Black" pitchFamily="34" charset="-122"/>
                <a:cs typeface="Cairo Black" pitchFamily="34" charset="-120"/>
              </a:rPr>
              <a:t>تعلّمنا Python</a:t>
            </a:r>
            <a:endParaRPr lang="ar-SA" sz="1800" dirty="0"/>
          </a:p>
        </p:txBody>
      </p:sp>
      <p:sp>
        <p:nvSpPr>
          <p:cNvPr id="25" name="Shape 23"/>
          <p:cNvSpPr/>
          <p:nvPr/>
        </p:nvSpPr>
        <p:spPr>
          <a:xfrm>
            <a:off x="8903741" y="3090672"/>
            <a:ext cx="2464994" cy="960120"/>
          </a:xfrm>
          <a:prstGeom prst="roundRect">
            <a:avLst>
              <a:gd name="adj" fmla="val 17143"/>
            </a:avLst>
          </a:prstGeom>
          <a:solidFill>
            <a:srgbClr val="FFFFFF"/>
          </a:solidFill>
          <a:ln w="12700">
            <a:solidFill>
              <a:srgbClr val="E4DCC8"/>
            </a:solidFill>
            <a:prstDash val="solid"/>
          </a:ln>
        </p:spPr>
      </p:sp>
      <p:sp>
        <p:nvSpPr>
          <p:cNvPr id="26" name="Shape 24"/>
          <p:cNvSpPr/>
          <p:nvPr/>
        </p:nvSpPr>
        <p:spPr>
          <a:xfrm>
            <a:off x="10564063" y="3250692"/>
            <a:ext cx="640080" cy="640080"/>
          </a:xfrm>
          <a:prstGeom prst="roundRect">
            <a:avLst>
              <a:gd name="adj" fmla="val 22857"/>
            </a:avLst>
          </a:prstGeom>
          <a:solidFill>
            <a:srgbClr val="101B45"/>
          </a:solidFill>
          <a:ln/>
        </p:spPr>
      </p:sp>
      <p:sp>
        <p:nvSpPr>
          <p:cNvPr id="27" name="Text 25"/>
          <p:cNvSpPr/>
          <p:nvPr/>
        </p:nvSpPr>
        <p:spPr>
          <a:xfrm>
            <a:off x="10564063" y="3250692"/>
            <a:ext cx="640080" cy="640080"/>
          </a:xfrm>
          <a:prstGeom prst="rect">
            <a:avLst/>
          </a:prstGeom>
          <a:noFill/>
          <a:ln/>
        </p:spPr>
        <p:txBody>
          <a:bodyPr wrap="square" lIns="0" tIns="0" rIns="0" bIns="0" rtlCol="0" anchor="ctr">
            <a:normAutofit/>
          </a:bodyPr>
          <a:lstStyle/>
          <a:p>
            <a:pPr marL="0" indent="0" algn="ctr" rtl="1">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28" name="Text 26"/>
          <p:cNvSpPr/>
          <p:nvPr/>
        </p:nvSpPr>
        <p:spPr>
          <a:xfrm>
            <a:off x="9040901" y="3182112"/>
            <a:ext cx="1413434" cy="292608"/>
          </a:xfrm>
          <a:prstGeom prst="rect">
            <a:avLst/>
          </a:prstGeom>
          <a:noFill/>
          <a:ln/>
        </p:spPr>
        <p:txBody>
          <a:bodyPr wrap="square" lIns="0" tIns="0" rIns="0" bIns="0" rtlCol="0" anchor="ctr">
            <a:normAutofit/>
          </a:bodyPr>
          <a:lstStyle/>
          <a:p>
            <a:pPr marL="0" indent="0" algn="r" rtl="1">
              <a:buNone/>
            </a:pPr>
            <a:r>
              <a:rPr lang="ar-SA" altLang="en-US" sz="1400" b="1" dirty="0">
                <a:solidFill>
                  <a:srgbClr val="B08A2E"/>
                </a:solidFill>
                <a:latin typeface="Cairo" pitchFamily="34" charset="0"/>
                <a:ea typeface="Cairo" pitchFamily="34" charset="-122"/>
                <a:cs typeface="Cairo" pitchFamily="34" charset="-120"/>
              </a:rPr>
              <a:t>الوحدة ٤</a:t>
            </a:r>
            <a:endParaRPr lang="ar-SA" sz="1400" dirty="0"/>
          </a:p>
        </p:txBody>
      </p:sp>
      <p:sp>
        <p:nvSpPr>
          <p:cNvPr id="29" name="Text 27"/>
          <p:cNvSpPr/>
          <p:nvPr/>
        </p:nvSpPr>
        <p:spPr>
          <a:xfrm>
            <a:off x="9040901" y="3456432"/>
            <a:ext cx="1413434" cy="521208"/>
          </a:xfrm>
          <a:prstGeom prst="rect">
            <a:avLst/>
          </a:prstGeom>
          <a:noFill/>
          <a:ln/>
        </p:spPr>
        <p:txBody>
          <a:bodyPr wrap="square" lIns="0" tIns="0" rIns="0" bIns="0" rtlCol="0" anchor="ctr">
            <a:normAutofit/>
          </a:bodyPr>
          <a:lstStyle/>
          <a:p>
            <a:pPr marL="0" indent="0" algn="r" rtl="1">
              <a:buNone/>
            </a:pPr>
            <a:r>
              <a:rPr lang="ar-SA" altLang="en-US" sz="1800" dirty="0">
                <a:solidFill>
                  <a:srgbClr val="101B45"/>
                </a:solidFill>
                <a:latin typeface="Cairo Black" pitchFamily="34" charset="0"/>
                <a:ea typeface="Cairo Black" pitchFamily="34" charset="-122"/>
                <a:cs typeface="Cairo Black" pitchFamily="34" charset="-120"/>
              </a:rPr>
              <a:t>أضأنا الليد</a:t>
            </a:r>
            <a:endParaRPr lang="ar-SA" sz="1800" dirty="0"/>
          </a:p>
        </p:txBody>
      </p:sp>
      <p:sp>
        <p:nvSpPr>
          <p:cNvPr id="30" name="Shape 28"/>
          <p:cNvSpPr/>
          <p:nvPr/>
        </p:nvSpPr>
        <p:spPr>
          <a:xfrm>
            <a:off x="6210148" y="3090672"/>
            <a:ext cx="2464994" cy="960120"/>
          </a:xfrm>
          <a:prstGeom prst="roundRect">
            <a:avLst>
              <a:gd name="adj" fmla="val 17143"/>
            </a:avLst>
          </a:prstGeom>
          <a:solidFill>
            <a:srgbClr val="FFFFFF"/>
          </a:solidFill>
          <a:ln w="12700">
            <a:solidFill>
              <a:srgbClr val="E4DCC8"/>
            </a:solidFill>
            <a:prstDash val="solid"/>
          </a:ln>
        </p:spPr>
      </p:sp>
      <p:sp>
        <p:nvSpPr>
          <p:cNvPr id="31" name="Shape 29"/>
          <p:cNvSpPr/>
          <p:nvPr/>
        </p:nvSpPr>
        <p:spPr>
          <a:xfrm>
            <a:off x="7870469" y="3250692"/>
            <a:ext cx="640080" cy="640080"/>
          </a:xfrm>
          <a:prstGeom prst="roundRect">
            <a:avLst>
              <a:gd name="adj" fmla="val 22857"/>
            </a:avLst>
          </a:prstGeom>
          <a:solidFill>
            <a:srgbClr val="101B45"/>
          </a:solidFill>
          <a:ln/>
        </p:spPr>
      </p:sp>
      <p:sp>
        <p:nvSpPr>
          <p:cNvPr id="32" name="Text 30"/>
          <p:cNvSpPr/>
          <p:nvPr/>
        </p:nvSpPr>
        <p:spPr>
          <a:xfrm>
            <a:off x="7870469" y="3250692"/>
            <a:ext cx="640080" cy="640080"/>
          </a:xfrm>
          <a:prstGeom prst="rect">
            <a:avLst/>
          </a:prstGeom>
          <a:noFill/>
          <a:ln/>
        </p:spPr>
        <p:txBody>
          <a:bodyPr wrap="square" lIns="0" tIns="0" rIns="0" bIns="0" rtlCol="0" anchor="ctr">
            <a:normAutofit/>
          </a:bodyPr>
          <a:lstStyle/>
          <a:p>
            <a:pPr marL="0" indent="0" algn="ctr" rtl="1">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33" name="Text 31"/>
          <p:cNvSpPr/>
          <p:nvPr/>
        </p:nvSpPr>
        <p:spPr>
          <a:xfrm>
            <a:off x="6347308" y="3182112"/>
            <a:ext cx="1413434" cy="292608"/>
          </a:xfrm>
          <a:prstGeom prst="rect">
            <a:avLst/>
          </a:prstGeom>
          <a:noFill/>
          <a:ln/>
        </p:spPr>
        <p:txBody>
          <a:bodyPr wrap="square" lIns="0" tIns="0" rIns="0" bIns="0" rtlCol="0" anchor="ctr">
            <a:normAutofit/>
          </a:bodyPr>
          <a:lstStyle/>
          <a:p>
            <a:pPr marL="0" indent="0" algn="r" rtl="1">
              <a:buNone/>
            </a:pPr>
            <a:r>
              <a:rPr lang="ar-SA" altLang="en-US" sz="1400" b="1" dirty="0">
                <a:solidFill>
                  <a:srgbClr val="B08A2E"/>
                </a:solidFill>
                <a:latin typeface="Cairo" pitchFamily="34" charset="0"/>
                <a:ea typeface="Cairo" pitchFamily="34" charset="-122"/>
                <a:cs typeface="Cairo" pitchFamily="34" charset="-120"/>
              </a:rPr>
              <a:t>الوحدة ٥</a:t>
            </a:r>
            <a:endParaRPr lang="ar-SA" sz="1400" dirty="0"/>
          </a:p>
        </p:txBody>
      </p:sp>
      <p:sp>
        <p:nvSpPr>
          <p:cNvPr id="34" name="Text 32"/>
          <p:cNvSpPr/>
          <p:nvPr/>
        </p:nvSpPr>
        <p:spPr>
          <a:xfrm>
            <a:off x="6347308" y="3456432"/>
            <a:ext cx="1413434" cy="521208"/>
          </a:xfrm>
          <a:prstGeom prst="rect">
            <a:avLst/>
          </a:prstGeom>
          <a:noFill/>
          <a:ln/>
        </p:spPr>
        <p:txBody>
          <a:bodyPr wrap="square" lIns="0" tIns="0" rIns="0" bIns="0" rtlCol="0" anchor="ctr">
            <a:normAutofit/>
          </a:bodyPr>
          <a:lstStyle/>
          <a:p>
            <a:pPr marL="0" indent="0" algn="r" rtl="1">
              <a:buNone/>
            </a:pPr>
            <a:r>
              <a:rPr lang="ar-SA" altLang="en-US" sz="1800" dirty="0">
                <a:solidFill>
                  <a:srgbClr val="101B45"/>
                </a:solidFill>
                <a:latin typeface="Cairo Black" pitchFamily="34" charset="0"/>
                <a:ea typeface="Cairo Black" pitchFamily="34" charset="-122"/>
                <a:cs typeface="Cairo Black" pitchFamily="34" charset="-120"/>
              </a:rPr>
              <a:t>جعلناه يمشي</a:t>
            </a:r>
            <a:endParaRPr lang="ar-SA" sz="1800" dirty="0"/>
          </a:p>
        </p:txBody>
      </p:sp>
      <p:sp>
        <p:nvSpPr>
          <p:cNvPr id="35" name="Shape 33"/>
          <p:cNvSpPr/>
          <p:nvPr/>
        </p:nvSpPr>
        <p:spPr>
          <a:xfrm>
            <a:off x="3516554" y="3090672"/>
            <a:ext cx="2464994" cy="960120"/>
          </a:xfrm>
          <a:prstGeom prst="roundRect">
            <a:avLst>
              <a:gd name="adj" fmla="val 17143"/>
            </a:avLst>
          </a:prstGeom>
          <a:solidFill>
            <a:srgbClr val="FFFFFF"/>
          </a:solidFill>
          <a:ln w="12700">
            <a:solidFill>
              <a:srgbClr val="E4DCC8"/>
            </a:solidFill>
            <a:prstDash val="solid"/>
          </a:ln>
        </p:spPr>
      </p:sp>
      <p:sp>
        <p:nvSpPr>
          <p:cNvPr id="36" name="Shape 34"/>
          <p:cNvSpPr/>
          <p:nvPr/>
        </p:nvSpPr>
        <p:spPr>
          <a:xfrm>
            <a:off x="5176876" y="3250692"/>
            <a:ext cx="640080" cy="640080"/>
          </a:xfrm>
          <a:prstGeom prst="roundRect">
            <a:avLst>
              <a:gd name="adj" fmla="val 22857"/>
            </a:avLst>
          </a:prstGeom>
          <a:solidFill>
            <a:srgbClr val="101B45"/>
          </a:solidFill>
          <a:ln/>
        </p:spPr>
      </p:sp>
      <p:sp>
        <p:nvSpPr>
          <p:cNvPr id="37" name="Text 35"/>
          <p:cNvSpPr/>
          <p:nvPr/>
        </p:nvSpPr>
        <p:spPr>
          <a:xfrm>
            <a:off x="5176876" y="3250692"/>
            <a:ext cx="640080" cy="640080"/>
          </a:xfrm>
          <a:prstGeom prst="rect">
            <a:avLst/>
          </a:prstGeom>
          <a:noFill/>
          <a:ln/>
        </p:spPr>
        <p:txBody>
          <a:bodyPr wrap="square" lIns="0" tIns="0" rIns="0" bIns="0" rtlCol="0" anchor="ctr">
            <a:normAutofit/>
          </a:bodyPr>
          <a:lstStyle/>
          <a:p>
            <a:pPr marL="0" indent="0" algn="ctr" rtl="1">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38" name="Text 36"/>
          <p:cNvSpPr/>
          <p:nvPr/>
        </p:nvSpPr>
        <p:spPr>
          <a:xfrm>
            <a:off x="3653714" y="3182112"/>
            <a:ext cx="1413434" cy="292608"/>
          </a:xfrm>
          <a:prstGeom prst="rect">
            <a:avLst/>
          </a:prstGeom>
          <a:noFill/>
          <a:ln/>
        </p:spPr>
        <p:txBody>
          <a:bodyPr wrap="square" lIns="0" tIns="0" rIns="0" bIns="0" rtlCol="0" anchor="ctr">
            <a:normAutofit/>
          </a:bodyPr>
          <a:lstStyle/>
          <a:p>
            <a:pPr marL="0" indent="0" algn="r" rtl="1">
              <a:buNone/>
            </a:pPr>
            <a:r>
              <a:rPr lang="ar-SA" altLang="en-US" sz="1400" b="1" dirty="0">
                <a:solidFill>
                  <a:srgbClr val="B08A2E"/>
                </a:solidFill>
                <a:latin typeface="Cairo" pitchFamily="34" charset="0"/>
                <a:ea typeface="Cairo" pitchFamily="34" charset="-122"/>
                <a:cs typeface="Cairo" pitchFamily="34" charset="-120"/>
              </a:rPr>
              <a:t>الوحدة ٦</a:t>
            </a:r>
            <a:endParaRPr lang="ar-SA" sz="1400" dirty="0"/>
          </a:p>
        </p:txBody>
      </p:sp>
      <p:sp>
        <p:nvSpPr>
          <p:cNvPr id="39" name="Text 37"/>
          <p:cNvSpPr/>
          <p:nvPr/>
        </p:nvSpPr>
        <p:spPr>
          <a:xfrm>
            <a:off x="3653714" y="3456432"/>
            <a:ext cx="1413434" cy="521208"/>
          </a:xfrm>
          <a:prstGeom prst="rect">
            <a:avLst/>
          </a:prstGeom>
          <a:noFill/>
          <a:ln/>
        </p:spPr>
        <p:txBody>
          <a:bodyPr wrap="square" lIns="0" tIns="0" rIns="0" bIns="0" rtlCol="0" anchor="ctr">
            <a:normAutofit/>
          </a:bodyPr>
          <a:lstStyle/>
          <a:p>
            <a:pPr marL="0" indent="0" algn="r" rtl="1">
              <a:buNone/>
            </a:pPr>
            <a:r>
              <a:rPr lang="ar-SA" altLang="en-US" sz="1800" dirty="0">
                <a:solidFill>
                  <a:srgbClr val="101B45"/>
                </a:solidFill>
                <a:latin typeface="Cairo Black" pitchFamily="34" charset="0"/>
                <a:ea typeface="Cairo Black" pitchFamily="34" charset="-122"/>
                <a:cs typeface="Cairo Black" pitchFamily="34" charset="-120"/>
              </a:rPr>
              <a:t>أعطيناه حاسّة الخفاش</a:t>
            </a:r>
            <a:endParaRPr lang="ar-SA" sz="1800" dirty="0"/>
          </a:p>
        </p:txBody>
      </p:sp>
      <p:sp>
        <p:nvSpPr>
          <p:cNvPr id="40" name="Shape 38"/>
          <p:cNvSpPr/>
          <p:nvPr/>
        </p:nvSpPr>
        <p:spPr>
          <a:xfrm>
            <a:off x="822960" y="3090672"/>
            <a:ext cx="2464994" cy="960120"/>
          </a:xfrm>
          <a:prstGeom prst="roundRect">
            <a:avLst>
              <a:gd name="adj" fmla="val 17143"/>
            </a:avLst>
          </a:prstGeom>
          <a:solidFill>
            <a:srgbClr val="FFFFFF"/>
          </a:solidFill>
          <a:ln w="12700">
            <a:solidFill>
              <a:srgbClr val="E4DCC8"/>
            </a:solidFill>
            <a:prstDash val="solid"/>
          </a:ln>
        </p:spPr>
      </p:sp>
      <p:sp>
        <p:nvSpPr>
          <p:cNvPr id="41" name="Shape 39"/>
          <p:cNvSpPr/>
          <p:nvPr/>
        </p:nvSpPr>
        <p:spPr>
          <a:xfrm>
            <a:off x="2483282" y="3250692"/>
            <a:ext cx="640080" cy="640080"/>
          </a:xfrm>
          <a:prstGeom prst="roundRect">
            <a:avLst>
              <a:gd name="adj" fmla="val 22857"/>
            </a:avLst>
          </a:prstGeom>
          <a:solidFill>
            <a:srgbClr val="101B45"/>
          </a:solidFill>
          <a:ln/>
        </p:spPr>
      </p:sp>
      <p:sp>
        <p:nvSpPr>
          <p:cNvPr id="42" name="Text 40"/>
          <p:cNvSpPr/>
          <p:nvPr/>
        </p:nvSpPr>
        <p:spPr>
          <a:xfrm>
            <a:off x="2483282" y="3250692"/>
            <a:ext cx="640080" cy="640080"/>
          </a:xfrm>
          <a:prstGeom prst="rect">
            <a:avLst/>
          </a:prstGeom>
          <a:noFill/>
          <a:ln/>
        </p:spPr>
        <p:txBody>
          <a:bodyPr wrap="square" lIns="0" tIns="0" rIns="0" bIns="0" rtlCol="0" anchor="ctr">
            <a:normAutofit/>
          </a:bodyPr>
          <a:lstStyle/>
          <a:p>
            <a:pPr marL="0" indent="0" algn="ctr" rtl="1">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43" name="Text 41"/>
          <p:cNvSpPr/>
          <p:nvPr/>
        </p:nvSpPr>
        <p:spPr>
          <a:xfrm>
            <a:off x="960120" y="3182112"/>
            <a:ext cx="1413434" cy="292608"/>
          </a:xfrm>
          <a:prstGeom prst="rect">
            <a:avLst/>
          </a:prstGeom>
          <a:noFill/>
          <a:ln/>
        </p:spPr>
        <p:txBody>
          <a:bodyPr wrap="square" lIns="0" tIns="0" rIns="0" bIns="0" rtlCol="0" anchor="ctr">
            <a:normAutofit/>
          </a:bodyPr>
          <a:lstStyle/>
          <a:p>
            <a:pPr marL="0" indent="0" algn="r" rtl="1">
              <a:buNone/>
            </a:pPr>
            <a:r>
              <a:rPr lang="ar-SA" altLang="en-US" sz="1400" b="1" dirty="0">
                <a:solidFill>
                  <a:srgbClr val="B08A2E"/>
                </a:solidFill>
                <a:latin typeface="Cairo" pitchFamily="34" charset="0"/>
                <a:ea typeface="Cairo" pitchFamily="34" charset="-122"/>
                <a:cs typeface="Cairo" pitchFamily="34" charset="-120"/>
              </a:rPr>
              <a:t>الوحدة ٧</a:t>
            </a:r>
            <a:endParaRPr lang="ar-SA" sz="1400" dirty="0"/>
          </a:p>
        </p:txBody>
      </p:sp>
      <p:sp>
        <p:nvSpPr>
          <p:cNvPr id="44" name="Text 42"/>
          <p:cNvSpPr/>
          <p:nvPr/>
        </p:nvSpPr>
        <p:spPr>
          <a:xfrm>
            <a:off x="960120" y="3456432"/>
            <a:ext cx="1413434" cy="521208"/>
          </a:xfrm>
          <a:prstGeom prst="rect">
            <a:avLst/>
          </a:prstGeom>
          <a:noFill/>
          <a:ln/>
        </p:spPr>
        <p:txBody>
          <a:bodyPr wrap="square" lIns="0" tIns="0" rIns="0" bIns="0" rtlCol="0" anchor="ctr">
            <a:normAutofit/>
          </a:bodyPr>
          <a:lstStyle/>
          <a:p>
            <a:pPr marL="0" indent="0" algn="r" rtl="1">
              <a:buNone/>
            </a:pPr>
            <a:r>
              <a:rPr lang="ar-SA" altLang="en-US" sz="1800" dirty="0">
                <a:solidFill>
                  <a:srgbClr val="101B45"/>
                </a:solidFill>
                <a:latin typeface="Cairo Black" pitchFamily="34" charset="0"/>
                <a:ea typeface="Cairo Black" pitchFamily="34" charset="-122"/>
                <a:cs typeface="Cairo Black" pitchFamily="34" charset="-120"/>
              </a:rPr>
              <a:t>علّمناه لحاق الكرة</a:t>
            </a:r>
            <a:endParaRPr lang="ar-SA" sz="1800" dirty="0"/>
          </a:p>
        </p:txBody>
      </p:sp>
      <p:sp>
        <p:nvSpPr>
          <p:cNvPr id="45" name="Shape 43"/>
          <p:cNvSpPr/>
          <p:nvPr/>
        </p:nvSpPr>
        <p:spPr>
          <a:xfrm>
            <a:off x="8903741" y="4215384"/>
            <a:ext cx="2464994" cy="960120"/>
          </a:xfrm>
          <a:prstGeom prst="roundRect">
            <a:avLst>
              <a:gd name="adj" fmla="val 17143"/>
            </a:avLst>
          </a:prstGeom>
          <a:solidFill>
            <a:srgbClr val="FFFFFF"/>
          </a:solidFill>
          <a:ln w="12700">
            <a:solidFill>
              <a:srgbClr val="E4DCC8"/>
            </a:solidFill>
            <a:prstDash val="solid"/>
          </a:ln>
        </p:spPr>
      </p:sp>
      <p:sp>
        <p:nvSpPr>
          <p:cNvPr id="46" name="Shape 44"/>
          <p:cNvSpPr/>
          <p:nvPr/>
        </p:nvSpPr>
        <p:spPr>
          <a:xfrm>
            <a:off x="10564063" y="4375404"/>
            <a:ext cx="640080" cy="640080"/>
          </a:xfrm>
          <a:prstGeom prst="roundRect">
            <a:avLst>
              <a:gd name="adj" fmla="val 22857"/>
            </a:avLst>
          </a:prstGeom>
          <a:solidFill>
            <a:srgbClr val="101B45"/>
          </a:solidFill>
          <a:ln/>
        </p:spPr>
      </p:sp>
      <p:sp>
        <p:nvSpPr>
          <p:cNvPr id="47" name="Text 45"/>
          <p:cNvSpPr/>
          <p:nvPr/>
        </p:nvSpPr>
        <p:spPr>
          <a:xfrm>
            <a:off x="10564063" y="4375404"/>
            <a:ext cx="640080" cy="640080"/>
          </a:xfrm>
          <a:prstGeom prst="rect">
            <a:avLst/>
          </a:prstGeom>
          <a:noFill/>
          <a:ln/>
        </p:spPr>
        <p:txBody>
          <a:bodyPr wrap="square" lIns="0" tIns="0" rIns="0" bIns="0" rtlCol="0" anchor="ctr">
            <a:normAutofit/>
          </a:bodyPr>
          <a:lstStyle/>
          <a:p>
            <a:pPr marL="0" indent="0" algn="ctr" rtl="1">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48" name="Text 46"/>
          <p:cNvSpPr/>
          <p:nvPr/>
        </p:nvSpPr>
        <p:spPr>
          <a:xfrm>
            <a:off x="9040901" y="4306824"/>
            <a:ext cx="1413434" cy="292608"/>
          </a:xfrm>
          <a:prstGeom prst="rect">
            <a:avLst/>
          </a:prstGeom>
          <a:noFill/>
          <a:ln/>
        </p:spPr>
        <p:txBody>
          <a:bodyPr wrap="square" lIns="0" tIns="0" rIns="0" bIns="0" rtlCol="0" anchor="ctr">
            <a:normAutofit/>
          </a:bodyPr>
          <a:lstStyle/>
          <a:p>
            <a:pPr marL="0" indent="0" algn="r" rtl="1">
              <a:buNone/>
            </a:pPr>
            <a:r>
              <a:rPr lang="ar-SA" altLang="en-US" sz="1400" b="1" dirty="0">
                <a:solidFill>
                  <a:srgbClr val="B08A2E"/>
                </a:solidFill>
                <a:latin typeface="Cairo" pitchFamily="34" charset="0"/>
                <a:ea typeface="Cairo" pitchFamily="34" charset="-122"/>
                <a:cs typeface="Cairo" pitchFamily="34" charset="-120"/>
              </a:rPr>
              <a:t>الوحدة ٨</a:t>
            </a:r>
            <a:endParaRPr lang="ar-SA" sz="1400" dirty="0"/>
          </a:p>
        </p:txBody>
      </p:sp>
      <p:sp>
        <p:nvSpPr>
          <p:cNvPr id="49" name="Text 47"/>
          <p:cNvSpPr/>
          <p:nvPr/>
        </p:nvSpPr>
        <p:spPr>
          <a:xfrm>
            <a:off x="9040901" y="4581144"/>
            <a:ext cx="1413434" cy="521208"/>
          </a:xfrm>
          <a:prstGeom prst="rect">
            <a:avLst/>
          </a:prstGeom>
          <a:noFill/>
          <a:ln/>
        </p:spPr>
        <p:txBody>
          <a:bodyPr wrap="square" lIns="0" tIns="0" rIns="0" bIns="0" rtlCol="0" anchor="ctr">
            <a:normAutofit/>
          </a:bodyPr>
          <a:lstStyle/>
          <a:p>
            <a:pPr marL="0" indent="0" algn="r" rtl="1">
              <a:buNone/>
            </a:pPr>
            <a:r>
              <a:rPr lang="ar-SA" altLang="en-US" sz="1800" dirty="0">
                <a:solidFill>
                  <a:srgbClr val="101B45"/>
                </a:solidFill>
                <a:latin typeface="Cairo Black" pitchFamily="34" charset="0"/>
                <a:ea typeface="Cairo Black" pitchFamily="34" charset="-122"/>
                <a:cs typeface="Cairo Black" pitchFamily="34" charset="-120"/>
              </a:rPr>
              <a:t>عرّفناه بأصحابه</a:t>
            </a:r>
            <a:endParaRPr lang="ar-SA" sz="1800" dirty="0"/>
          </a:p>
        </p:txBody>
      </p:sp>
      <p:sp>
        <p:nvSpPr>
          <p:cNvPr id="50" name="Shape 48"/>
          <p:cNvSpPr/>
          <p:nvPr/>
        </p:nvSpPr>
        <p:spPr>
          <a:xfrm>
            <a:off x="6210148" y="4215384"/>
            <a:ext cx="2464994" cy="960120"/>
          </a:xfrm>
          <a:prstGeom prst="roundRect">
            <a:avLst>
              <a:gd name="adj" fmla="val 17143"/>
            </a:avLst>
          </a:prstGeom>
          <a:solidFill>
            <a:srgbClr val="FFFFFF"/>
          </a:solidFill>
          <a:ln w="12700">
            <a:solidFill>
              <a:srgbClr val="E4DCC8"/>
            </a:solidFill>
            <a:prstDash val="solid"/>
          </a:ln>
        </p:spPr>
      </p:sp>
      <p:sp>
        <p:nvSpPr>
          <p:cNvPr id="51" name="Shape 49"/>
          <p:cNvSpPr/>
          <p:nvPr/>
        </p:nvSpPr>
        <p:spPr>
          <a:xfrm>
            <a:off x="7870469" y="4375404"/>
            <a:ext cx="640080" cy="640080"/>
          </a:xfrm>
          <a:prstGeom prst="roundRect">
            <a:avLst>
              <a:gd name="adj" fmla="val 22857"/>
            </a:avLst>
          </a:prstGeom>
          <a:solidFill>
            <a:srgbClr val="101B45"/>
          </a:solidFill>
          <a:ln/>
        </p:spPr>
      </p:sp>
      <p:sp>
        <p:nvSpPr>
          <p:cNvPr id="52" name="Text 50"/>
          <p:cNvSpPr/>
          <p:nvPr/>
        </p:nvSpPr>
        <p:spPr>
          <a:xfrm>
            <a:off x="7870469" y="4375404"/>
            <a:ext cx="640080" cy="640080"/>
          </a:xfrm>
          <a:prstGeom prst="rect">
            <a:avLst/>
          </a:prstGeom>
          <a:noFill/>
          <a:ln/>
        </p:spPr>
        <p:txBody>
          <a:bodyPr wrap="square" lIns="0" tIns="0" rIns="0" bIns="0" rtlCol="0" anchor="ctr">
            <a:normAutofit/>
          </a:bodyPr>
          <a:lstStyle/>
          <a:p>
            <a:pPr marL="0" indent="0" algn="ctr" rtl="1">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53" name="Text 51"/>
          <p:cNvSpPr/>
          <p:nvPr/>
        </p:nvSpPr>
        <p:spPr>
          <a:xfrm>
            <a:off x="6347308" y="4306824"/>
            <a:ext cx="1413434" cy="292608"/>
          </a:xfrm>
          <a:prstGeom prst="rect">
            <a:avLst/>
          </a:prstGeom>
          <a:noFill/>
          <a:ln/>
        </p:spPr>
        <p:txBody>
          <a:bodyPr wrap="square" lIns="0" tIns="0" rIns="0" bIns="0" rtlCol="0" anchor="ctr">
            <a:normAutofit/>
          </a:bodyPr>
          <a:lstStyle/>
          <a:p>
            <a:pPr marL="0" indent="0" algn="r" rtl="1">
              <a:buNone/>
            </a:pPr>
            <a:r>
              <a:rPr lang="ar-SA" altLang="en-US" sz="1400" b="1" dirty="0">
                <a:solidFill>
                  <a:srgbClr val="B08A2E"/>
                </a:solidFill>
                <a:latin typeface="Cairo" pitchFamily="34" charset="0"/>
                <a:ea typeface="Cairo" pitchFamily="34" charset="-122"/>
                <a:cs typeface="Cairo" pitchFamily="34" charset="-120"/>
              </a:rPr>
              <a:t>الوحدة ٩</a:t>
            </a:r>
            <a:endParaRPr lang="ar-SA" sz="1400" dirty="0"/>
          </a:p>
        </p:txBody>
      </p:sp>
      <p:sp>
        <p:nvSpPr>
          <p:cNvPr id="54" name="Text 52"/>
          <p:cNvSpPr/>
          <p:nvPr/>
        </p:nvSpPr>
        <p:spPr>
          <a:xfrm>
            <a:off x="6347308" y="4581144"/>
            <a:ext cx="1413434" cy="521208"/>
          </a:xfrm>
          <a:prstGeom prst="rect">
            <a:avLst/>
          </a:prstGeom>
          <a:noFill/>
          <a:ln/>
        </p:spPr>
        <p:txBody>
          <a:bodyPr wrap="square" lIns="0" tIns="0" rIns="0" bIns="0" rtlCol="0" anchor="ctr">
            <a:normAutofit/>
          </a:bodyPr>
          <a:lstStyle/>
          <a:p>
            <a:pPr marL="0" indent="0" algn="r" rtl="1">
              <a:buNone/>
            </a:pPr>
            <a:r>
              <a:rPr lang="ar-SA" altLang="en-US" sz="1800" dirty="0">
                <a:solidFill>
                  <a:srgbClr val="101B45"/>
                </a:solidFill>
                <a:latin typeface="Cairo Black" pitchFamily="34" charset="0"/>
                <a:ea typeface="Cairo Black" pitchFamily="34" charset="-122"/>
                <a:cs typeface="Cairo Black" pitchFamily="34" charset="-120"/>
              </a:rPr>
              <a:t>جعلناه يتكلم</a:t>
            </a:r>
            <a:endParaRPr lang="ar-SA" sz="1800" dirty="0"/>
          </a:p>
        </p:txBody>
      </p:sp>
      <p:sp>
        <p:nvSpPr>
          <p:cNvPr id="55" name="Shape 53"/>
          <p:cNvSpPr/>
          <p:nvPr/>
        </p:nvSpPr>
        <p:spPr>
          <a:xfrm>
            <a:off x="3516554" y="4215384"/>
            <a:ext cx="2464994" cy="960120"/>
          </a:xfrm>
          <a:prstGeom prst="roundRect">
            <a:avLst>
              <a:gd name="adj" fmla="val 17143"/>
            </a:avLst>
          </a:prstGeom>
          <a:solidFill>
            <a:srgbClr val="FFFFFF"/>
          </a:solidFill>
          <a:ln w="12700">
            <a:solidFill>
              <a:srgbClr val="E4DCC8"/>
            </a:solidFill>
            <a:prstDash val="solid"/>
          </a:ln>
        </p:spPr>
      </p:sp>
      <p:sp>
        <p:nvSpPr>
          <p:cNvPr id="56" name="Shape 54"/>
          <p:cNvSpPr/>
          <p:nvPr/>
        </p:nvSpPr>
        <p:spPr>
          <a:xfrm>
            <a:off x="5176876" y="4375404"/>
            <a:ext cx="640080" cy="640080"/>
          </a:xfrm>
          <a:prstGeom prst="roundRect">
            <a:avLst>
              <a:gd name="adj" fmla="val 22857"/>
            </a:avLst>
          </a:prstGeom>
          <a:solidFill>
            <a:srgbClr val="101B45"/>
          </a:solidFill>
          <a:ln/>
        </p:spPr>
      </p:sp>
      <p:sp>
        <p:nvSpPr>
          <p:cNvPr id="57" name="Text 55"/>
          <p:cNvSpPr/>
          <p:nvPr/>
        </p:nvSpPr>
        <p:spPr>
          <a:xfrm>
            <a:off x="5176876" y="4375404"/>
            <a:ext cx="640080" cy="640080"/>
          </a:xfrm>
          <a:prstGeom prst="rect">
            <a:avLst/>
          </a:prstGeom>
          <a:noFill/>
          <a:ln/>
        </p:spPr>
        <p:txBody>
          <a:bodyPr wrap="square" lIns="0" tIns="0" rIns="0" bIns="0" rtlCol="0" anchor="ctr">
            <a:normAutofit/>
          </a:bodyPr>
          <a:lstStyle/>
          <a:p>
            <a:pPr marL="0" indent="0" algn="ctr" rtl="1">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58" name="Text 56"/>
          <p:cNvSpPr/>
          <p:nvPr/>
        </p:nvSpPr>
        <p:spPr>
          <a:xfrm>
            <a:off x="3653714" y="4306824"/>
            <a:ext cx="1413434" cy="292608"/>
          </a:xfrm>
          <a:prstGeom prst="rect">
            <a:avLst/>
          </a:prstGeom>
          <a:noFill/>
          <a:ln/>
        </p:spPr>
        <p:txBody>
          <a:bodyPr wrap="square" lIns="0" tIns="0" rIns="0" bIns="0" rtlCol="0" anchor="ctr">
            <a:normAutofit/>
          </a:bodyPr>
          <a:lstStyle/>
          <a:p>
            <a:pPr marL="0" indent="0" algn="r" rtl="1">
              <a:buNone/>
            </a:pPr>
            <a:r>
              <a:rPr lang="ar-SA" altLang="en-US" sz="1400" b="1" dirty="0">
                <a:solidFill>
                  <a:srgbClr val="B08A2E"/>
                </a:solidFill>
                <a:latin typeface="Cairo" pitchFamily="34" charset="0"/>
                <a:ea typeface="Cairo" pitchFamily="34" charset="-122"/>
                <a:cs typeface="Cairo" pitchFamily="34" charset="-120"/>
              </a:rPr>
              <a:t>الوحدة ١٠</a:t>
            </a:r>
            <a:endParaRPr lang="ar-SA" sz="1400" dirty="0"/>
          </a:p>
        </p:txBody>
      </p:sp>
      <p:sp>
        <p:nvSpPr>
          <p:cNvPr id="59" name="Text 57"/>
          <p:cNvSpPr/>
          <p:nvPr/>
        </p:nvSpPr>
        <p:spPr>
          <a:xfrm>
            <a:off x="3653714" y="4581144"/>
            <a:ext cx="1413434" cy="521208"/>
          </a:xfrm>
          <a:prstGeom prst="rect">
            <a:avLst/>
          </a:prstGeom>
          <a:noFill/>
          <a:ln/>
        </p:spPr>
        <p:txBody>
          <a:bodyPr wrap="square" lIns="0" tIns="0" rIns="0" bIns="0" rtlCol="0" anchor="ctr">
            <a:normAutofit/>
          </a:bodyPr>
          <a:lstStyle/>
          <a:p>
            <a:pPr marL="0" indent="0" algn="r" rtl="1">
              <a:buNone/>
            </a:pPr>
            <a:r>
              <a:rPr lang="ar-SA" altLang="en-US" sz="1800" dirty="0">
                <a:solidFill>
                  <a:srgbClr val="101B45"/>
                </a:solidFill>
                <a:latin typeface="Cairo Black" pitchFamily="34" charset="0"/>
                <a:ea typeface="Cairo Black" pitchFamily="34" charset="-122"/>
                <a:cs typeface="Cairo Black" pitchFamily="34" charset="-120"/>
              </a:rPr>
              <a:t>جمعنا عقله</a:t>
            </a:r>
            <a:endParaRPr lang="ar-SA" sz="1800" dirty="0"/>
          </a:p>
        </p:txBody>
      </p:sp>
      <p:sp>
        <p:nvSpPr>
          <p:cNvPr id="60" name="Shape 58"/>
          <p:cNvSpPr/>
          <p:nvPr/>
        </p:nvSpPr>
        <p:spPr>
          <a:xfrm>
            <a:off x="822960" y="4215384"/>
            <a:ext cx="2464994" cy="960120"/>
          </a:xfrm>
          <a:prstGeom prst="roundRect">
            <a:avLst>
              <a:gd name="adj" fmla="val 17143"/>
            </a:avLst>
          </a:prstGeom>
          <a:solidFill>
            <a:srgbClr val="FFFFFF"/>
          </a:solidFill>
          <a:ln w="12700">
            <a:solidFill>
              <a:srgbClr val="E4DCC8"/>
            </a:solidFill>
            <a:prstDash val="solid"/>
          </a:ln>
        </p:spPr>
      </p:sp>
      <p:sp>
        <p:nvSpPr>
          <p:cNvPr id="61" name="Shape 59"/>
          <p:cNvSpPr/>
          <p:nvPr/>
        </p:nvSpPr>
        <p:spPr>
          <a:xfrm>
            <a:off x="2483282" y="4375404"/>
            <a:ext cx="640080" cy="640080"/>
          </a:xfrm>
          <a:prstGeom prst="roundRect">
            <a:avLst>
              <a:gd name="adj" fmla="val 22857"/>
            </a:avLst>
          </a:prstGeom>
          <a:solidFill>
            <a:srgbClr val="101B45"/>
          </a:solidFill>
          <a:ln/>
        </p:spPr>
      </p:sp>
      <p:sp>
        <p:nvSpPr>
          <p:cNvPr id="62" name="Text 60"/>
          <p:cNvSpPr/>
          <p:nvPr/>
        </p:nvSpPr>
        <p:spPr>
          <a:xfrm>
            <a:off x="2483282" y="4375404"/>
            <a:ext cx="640080" cy="640080"/>
          </a:xfrm>
          <a:prstGeom prst="rect">
            <a:avLst/>
          </a:prstGeom>
          <a:noFill/>
          <a:ln/>
        </p:spPr>
        <p:txBody>
          <a:bodyPr wrap="square" lIns="0" tIns="0" rIns="0" bIns="0" rtlCol="0" anchor="ctr">
            <a:normAutofit/>
          </a:bodyPr>
          <a:lstStyle/>
          <a:p>
            <a:pPr marL="0" indent="0" algn="ctr" rtl="1">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63" name="Text 61"/>
          <p:cNvSpPr/>
          <p:nvPr/>
        </p:nvSpPr>
        <p:spPr>
          <a:xfrm>
            <a:off x="960120" y="4306824"/>
            <a:ext cx="1413434" cy="292608"/>
          </a:xfrm>
          <a:prstGeom prst="rect">
            <a:avLst/>
          </a:prstGeom>
          <a:noFill/>
          <a:ln/>
        </p:spPr>
        <p:txBody>
          <a:bodyPr wrap="square" lIns="0" tIns="0" rIns="0" bIns="0" rtlCol="0" anchor="ctr">
            <a:normAutofit/>
          </a:bodyPr>
          <a:lstStyle/>
          <a:p>
            <a:pPr marL="0" indent="0" algn="r" rtl="1">
              <a:buNone/>
            </a:pPr>
            <a:r>
              <a:rPr lang="ar-SA" altLang="en-US" sz="1400" b="1" dirty="0">
                <a:solidFill>
                  <a:srgbClr val="B08A2E"/>
                </a:solidFill>
                <a:latin typeface="Cairo" pitchFamily="34" charset="0"/>
                <a:ea typeface="Cairo" pitchFamily="34" charset="-122"/>
                <a:cs typeface="Cairo" pitchFamily="34" charset="-120"/>
              </a:rPr>
              <a:t>الوحدة ١١</a:t>
            </a:r>
            <a:endParaRPr lang="ar-SA" sz="1400" dirty="0"/>
          </a:p>
        </p:txBody>
      </p:sp>
      <p:sp>
        <p:nvSpPr>
          <p:cNvPr id="64" name="Text 62"/>
          <p:cNvSpPr/>
          <p:nvPr/>
        </p:nvSpPr>
        <p:spPr>
          <a:xfrm>
            <a:off x="960120" y="4581144"/>
            <a:ext cx="1413434" cy="521208"/>
          </a:xfrm>
          <a:prstGeom prst="rect">
            <a:avLst/>
          </a:prstGeom>
          <a:noFill/>
          <a:ln/>
        </p:spPr>
        <p:txBody>
          <a:bodyPr wrap="square" lIns="0" tIns="0" rIns="0" bIns="0" rtlCol="0" anchor="ctr">
            <a:normAutofit/>
          </a:bodyPr>
          <a:lstStyle/>
          <a:p>
            <a:pPr marL="0" indent="0" algn="r" rtl="1">
              <a:buNone/>
            </a:pPr>
            <a:r>
              <a:rPr lang="ar-SA" altLang="en-US" sz="1800" dirty="0">
                <a:solidFill>
                  <a:srgbClr val="101B45"/>
                </a:solidFill>
                <a:latin typeface="Cairo Black" pitchFamily="34" charset="0"/>
                <a:ea typeface="Cairo Black" pitchFamily="34" charset="-122"/>
                <a:cs typeface="Cairo Black" pitchFamily="34" charset="-120"/>
              </a:rPr>
              <a:t>وصلناه بالجوال</a:t>
            </a:r>
            <a:endParaRPr lang="ar-SA" sz="1800" dirty="0"/>
          </a:p>
        </p:txBody>
      </p:sp>
      <p:sp>
        <p:nvSpPr>
          <p:cNvPr id="65" name="Text 6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66" name="Text 6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في الجوال  ·  ١٨٢</a:t>
            </a:r>
            <a:endParaRPr lang="ar-SA" sz="12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مشروع التخرج</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أفكار لمشروع فريقك</a:t>
            </a:r>
            <a:endParaRPr lang="ar-SA" sz="3800" dirty="0"/>
          </a:p>
        </p:txBody>
      </p:sp>
      <p:sp>
        <p:nvSpPr>
          <p:cNvPr id="5" name="anim-g1-1187"/>
          <p:cNvSpPr/>
          <p:nvPr/>
        </p:nvSpPr>
        <p:spPr>
          <a:xfrm>
            <a:off x="8036357" y="2011680"/>
            <a:ext cx="333237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1188"/>
          <p:cNvSpPr/>
          <p:nvPr/>
        </p:nvSpPr>
        <p:spPr>
          <a:xfrm>
            <a:off x="10527487" y="2267712"/>
            <a:ext cx="566928" cy="566928"/>
          </a:xfrm>
          <a:prstGeom prst="roundRect">
            <a:avLst>
              <a:gd name="adj" fmla="val 32258"/>
            </a:avLst>
          </a:prstGeom>
          <a:solidFill>
            <a:srgbClr val="F7E6BC"/>
          </a:solidFill>
          <a:ln/>
        </p:spPr>
      </p:sp>
      <p:sp>
        <p:nvSpPr>
          <p:cNvPr id="7" name="anim-g1-1189"/>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190"/>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مرشد المدرسة</a:t>
            </a:r>
            <a:endParaRPr lang="ar-SA" sz="2200" dirty="0"/>
          </a:p>
        </p:txBody>
      </p:sp>
      <p:sp>
        <p:nvSpPr>
          <p:cNvPr id="9" name="anim-g1-1191"/>
          <p:cNvSpPr/>
          <p:nvPr/>
        </p:nvSpPr>
        <p:spPr>
          <a:xfrm>
            <a:off x="8310677" y="3493008"/>
            <a:ext cx="278373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يرحّب بالزوار ويجيب عن أسئلتهم</a:t>
            </a:r>
            <a:endParaRPr lang="ar-SA" sz="1900" dirty="0"/>
          </a:p>
        </p:txBody>
      </p:sp>
      <p:sp>
        <p:nvSpPr>
          <p:cNvPr id="10" name="anim-g2-1192"/>
          <p:cNvSpPr/>
          <p:nvPr/>
        </p:nvSpPr>
        <p:spPr>
          <a:xfrm>
            <a:off x="4429658" y="2011680"/>
            <a:ext cx="333237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1193"/>
          <p:cNvSpPr/>
          <p:nvPr/>
        </p:nvSpPr>
        <p:spPr>
          <a:xfrm>
            <a:off x="6920789" y="2267712"/>
            <a:ext cx="566928" cy="566928"/>
          </a:xfrm>
          <a:prstGeom prst="roundRect">
            <a:avLst>
              <a:gd name="adj" fmla="val 32258"/>
            </a:avLst>
          </a:prstGeom>
          <a:solidFill>
            <a:srgbClr val="F7E6BC"/>
          </a:solidFill>
          <a:ln/>
        </p:spPr>
      </p:sp>
      <p:sp>
        <p:nvSpPr>
          <p:cNvPr id="12" name="anim-g2-1194"/>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195"/>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جامع الكرات</a:t>
            </a:r>
            <a:endParaRPr lang="ar-SA" sz="2200" dirty="0"/>
          </a:p>
        </p:txBody>
      </p:sp>
      <p:sp>
        <p:nvSpPr>
          <p:cNvPr id="14" name="anim-g2-1196"/>
          <p:cNvSpPr/>
          <p:nvPr/>
        </p:nvSpPr>
        <p:spPr>
          <a:xfrm>
            <a:off x="4703978" y="3493008"/>
            <a:ext cx="278373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يجد الكرات الملونة ويجمعها</a:t>
            </a:r>
            <a:endParaRPr lang="ar-SA" sz="1900" dirty="0"/>
          </a:p>
        </p:txBody>
      </p:sp>
      <p:sp>
        <p:nvSpPr>
          <p:cNvPr id="15" name="anim-g3-1197"/>
          <p:cNvSpPr/>
          <p:nvPr/>
        </p:nvSpPr>
        <p:spPr>
          <a:xfrm>
            <a:off x="822960" y="2011680"/>
            <a:ext cx="333237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198"/>
          <p:cNvSpPr/>
          <p:nvPr/>
        </p:nvSpPr>
        <p:spPr>
          <a:xfrm>
            <a:off x="3314090" y="2267712"/>
            <a:ext cx="566928" cy="566928"/>
          </a:xfrm>
          <a:prstGeom prst="roundRect">
            <a:avLst>
              <a:gd name="adj" fmla="val 32258"/>
            </a:avLst>
          </a:prstGeom>
          <a:solidFill>
            <a:srgbClr val="F7E6BC"/>
          </a:solidFill>
          <a:ln/>
        </p:spPr>
      </p:sp>
      <p:sp>
        <p:nvSpPr>
          <p:cNvPr id="17" name="anim-g3-1199"/>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200"/>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حارس الحديقة</a:t>
            </a:r>
            <a:endParaRPr lang="ar-SA" sz="2200" dirty="0"/>
          </a:p>
        </p:txBody>
      </p:sp>
      <p:sp>
        <p:nvSpPr>
          <p:cNvPr id="19" name="anim-g3-1201"/>
          <p:cNvSpPr/>
          <p:nvPr/>
        </p:nvSpPr>
        <p:spPr>
          <a:xfrm>
            <a:off x="1097280" y="3493008"/>
            <a:ext cx="278373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يتجول بين النباتات ويصفها</a:t>
            </a:r>
            <a:endParaRPr lang="ar-SA" sz="1900" dirty="0"/>
          </a:p>
        </p:txBody>
      </p:sp>
      <p:sp>
        <p:nvSpPr>
          <p:cNvPr id="20" name="anim-g4-1202"/>
          <p:cNvSpPr/>
          <p:nvPr/>
        </p:nvSpPr>
        <p:spPr>
          <a:xfrm>
            <a:off x="8036357" y="4137660"/>
            <a:ext cx="333237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1203"/>
          <p:cNvSpPr/>
          <p:nvPr/>
        </p:nvSpPr>
        <p:spPr>
          <a:xfrm>
            <a:off x="10527487" y="4393692"/>
            <a:ext cx="566928" cy="566928"/>
          </a:xfrm>
          <a:prstGeom prst="roundRect">
            <a:avLst>
              <a:gd name="adj" fmla="val 32258"/>
            </a:avLst>
          </a:prstGeom>
          <a:solidFill>
            <a:srgbClr val="F7E6BC"/>
          </a:solidFill>
          <a:ln/>
        </p:spPr>
      </p:sp>
      <p:sp>
        <p:nvSpPr>
          <p:cNvPr id="22" name="anim-g4-1204"/>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205"/>
          <p:cNvSpPr/>
          <p:nvPr/>
        </p:nvSpPr>
        <p:spPr>
          <a:xfrm>
            <a:off x="8310677" y="507034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رفيق الكبار</a:t>
            </a:r>
            <a:endParaRPr lang="ar-SA" sz="2200" dirty="0"/>
          </a:p>
        </p:txBody>
      </p:sp>
      <p:sp>
        <p:nvSpPr>
          <p:cNvPr id="24" name="anim-g4-1206"/>
          <p:cNvSpPr/>
          <p:nvPr/>
        </p:nvSpPr>
        <p:spPr>
          <a:xfrm>
            <a:off x="8310677" y="5618988"/>
            <a:ext cx="278373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يذكّرهم بالدواء ويحادثهم</a:t>
            </a:r>
            <a:endParaRPr lang="ar-SA" sz="1900" dirty="0"/>
          </a:p>
        </p:txBody>
      </p:sp>
      <p:sp>
        <p:nvSpPr>
          <p:cNvPr id="25" name="anim-g5-1207"/>
          <p:cNvSpPr/>
          <p:nvPr/>
        </p:nvSpPr>
        <p:spPr>
          <a:xfrm>
            <a:off x="4429658" y="4137660"/>
            <a:ext cx="333237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6" name="anim-g5-1208"/>
          <p:cNvSpPr/>
          <p:nvPr/>
        </p:nvSpPr>
        <p:spPr>
          <a:xfrm>
            <a:off x="6920789" y="4393692"/>
            <a:ext cx="566928" cy="566928"/>
          </a:xfrm>
          <a:prstGeom prst="roundRect">
            <a:avLst>
              <a:gd name="adj" fmla="val 32258"/>
            </a:avLst>
          </a:prstGeom>
          <a:solidFill>
            <a:srgbClr val="F7E6BC"/>
          </a:solidFill>
          <a:ln/>
        </p:spPr>
      </p:sp>
      <p:sp>
        <p:nvSpPr>
          <p:cNvPr id="27" name="anim-g5-1209"/>
          <p:cNvSpPr/>
          <p:nvPr/>
        </p:nvSpPr>
        <p:spPr>
          <a:xfrm>
            <a:off x="6920789"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8" name="anim-g5-1210"/>
          <p:cNvSpPr/>
          <p:nvPr/>
        </p:nvSpPr>
        <p:spPr>
          <a:xfrm>
            <a:off x="4703978" y="507034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لاعب الكرة</a:t>
            </a:r>
            <a:endParaRPr lang="ar-SA" sz="2200" dirty="0"/>
          </a:p>
        </p:txBody>
      </p:sp>
      <p:sp>
        <p:nvSpPr>
          <p:cNvPr id="29" name="anim-g5-1211"/>
          <p:cNvSpPr/>
          <p:nvPr/>
        </p:nvSpPr>
        <p:spPr>
          <a:xfrm>
            <a:off x="4703978" y="5618988"/>
            <a:ext cx="278373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يلحق الكرة ويسجّل هدفًا</a:t>
            </a:r>
            <a:endParaRPr lang="ar-SA" sz="1900" dirty="0"/>
          </a:p>
        </p:txBody>
      </p:sp>
      <p:sp>
        <p:nvSpPr>
          <p:cNvPr id="30" name="anim-g6-1212"/>
          <p:cNvSpPr/>
          <p:nvPr/>
        </p:nvSpPr>
        <p:spPr>
          <a:xfrm>
            <a:off x="822960" y="4137660"/>
            <a:ext cx="333237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31" name="anim-g6-1213"/>
          <p:cNvSpPr/>
          <p:nvPr/>
        </p:nvSpPr>
        <p:spPr>
          <a:xfrm>
            <a:off x="3314090" y="4393692"/>
            <a:ext cx="566928" cy="566928"/>
          </a:xfrm>
          <a:prstGeom prst="roundRect">
            <a:avLst>
              <a:gd name="adj" fmla="val 32258"/>
            </a:avLst>
          </a:prstGeom>
          <a:solidFill>
            <a:srgbClr val="F7E6BC"/>
          </a:solidFill>
          <a:ln/>
        </p:spPr>
      </p:sp>
      <p:sp>
        <p:nvSpPr>
          <p:cNvPr id="32" name="anim-g6-1214"/>
          <p:cNvSpPr/>
          <p:nvPr/>
        </p:nvSpPr>
        <p:spPr>
          <a:xfrm>
            <a:off x="331409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33" name="anim-g6-1215"/>
          <p:cNvSpPr/>
          <p:nvPr/>
        </p:nvSpPr>
        <p:spPr>
          <a:xfrm>
            <a:off x="1097280" y="507034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فكرتكم أنتم!</a:t>
            </a:r>
            <a:endParaRPr lang="ar-SA" sz="2200" dirty="0"/>
          </a:p>
        </p:txBody>
      </p:sp>
      <p:sp>
        <p:nvSpPr>
          <p:cNvPr id="34" name="anim-g6-1216"/>
          <p:cNvSpPr/>
          <p:nvPr/>
        </p:nvSpPr>
        <p:spPr>
          <a:xfrm>
            <a:off x="1097280" y="5618988"/>
            <a:ext cx="278373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أي مشكلة حولكم يحلها نبيه؟</a:t>
            </a:r>
            <a:endParaRPr lang="ar-SA" sz="1900" dirty="0"/>
          </a:p>
        </p:txBody>
      </p:sp>
      <p:sp>
        <p:nvSpPr>
          <p:cNvPr id="35" name="Text 3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36" name="Text 3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في الجوال  ·  ١٨٣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0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00"/>
                                        <p:tgtEl>
                                          <p:spTgt spid="28"/>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400"/>
                                        <p:tgtEl>
                                          <p:spTgt spid="29"/>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30"/>
                                        </p:tgtEl>
                                        <p:attrNameLst>
                                          <p:attrName>style.visibility</p:attrName>
                                        </p:attrNameLst>
                                      </p:cBhvr>
                                      <p:to>
                                        <p:strVal val="visible"/>
                                      </p:to>
                                    </p:set>
                                    <p:animEffect transition="in" filter="fade">
                                      <p:cBhvr>
                                        <p:cTn id="92" dur="400"/>
                                        <p:tgtEl>
                                          <p:spTgt spid="30"/>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1"/>
                                        </p:tgtEl>
                                        <p:attrNameLst>
                                          <p:attrName>style.visibility</p:attrName>
                                        </p:attrNameLst>
                                      </p:cBhvr>
                                      <p:to>
                                        <p:strVal val="visible"/>
                                      </p:to>
                                    </p:set>
                                    <p:animEffect transition="in" filter="fade">
                                      <p:cBhvr>
                                        <p:cTn id="95" dur="400"/>
                                        <p:tgtEl>
                                          <p:spTgt spid="31"/>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2"/>
                                        </p:tgtEl>
                                        <p:attrNameLst>
                                          <p:attrName>style.visibility</p:attrName>
                                        </p:attrNameLst>
                                      </p:cBhvr>
                                      <p:to>
                                        <p:strVal val="visible"/>
                                      </p:to>
                                    </p:set>
                                    <p:animEffect transition="in" filter="fade">
                                      <p:cBhvr>
                                        <p:cTn id="98" dur="400"/>
                                        <p:tgtEl>
                                          <p:spTgt spid="32"/>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400"/>
                                        <p:tgtEl>
                                          <p:spTgt spid="33"/>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84.xml><?xml version="1.0" encoding="utf-8"?>
<p:sld xmlns:a="http://schemas.openxmlformats.org/drawingml/2006/main" xmlns:r="http://schemas.openxmlformats.org/officeDocument/2006/relationships" xmlns:p="http://schemas.openxmlformats.org/presentationml/2006/main">
  <p:cSld name="Slide 18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يوم العرض</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كيف تعرض نبيه أمام المدرسة؟</a:t>
            </a:r>
            <a:endParaRPr lang="ar-SA" sz="3800" dirty="0"/>
          </a:p>
        </p:txBody>
      </p:sp>
      <p:sp>
        <p:nvSpPr>
          <p:cNvPr id="5" name="anim-g1-1217"/>
          <p:cNvSpPr/>
          <p:nvPr/>
        </p:nvSpPr>
        <p:spPr>
          <a:xfrm>
            <a:off x="822960" y="1920240"/>
            <a:ext cx="10545775" cy="735178"/>
          </a:xfrm>
          <a:prstGeom prst="roundRect">
            <a:avLst>
              <a:gd name="adj" fmla="val 19900"/>
            </a:avLst>
          </a:prstGeom>
          <a:solidFill>
            <a:srgbClr val="FFFFFF"/>
          </a:solidFill>
          <a:ln w="12700">
            <a:solidFill>
              <a:srgbClr val="E4DCC8"/>
            </a:solidFill>
            <a:prstDash val="solid"/>
          </a:ln>
        </p:spPr>
      </p:sp>
      <p:sp>
        <p:nvSpPr>
          <p:cNvPr id="6" name="anim-g1-1218"/>
          <p:cNvSpPr/>
          <p:nvPr/>
        </p:nvSpPr>
        <p:spPr>
          <a:xfrm>
            <a:off x="10587838" y="2011680"/>
            <a:ext cx="552298" cy="552298"/>
          </a:xfrm>
          <a:prstGeom prst="ellipse">
            <a:avLst/>
          </a:prstGeom>
          <a:solidFill>
            <a:srgbClr val="D9AE4B"/>
          </a:solidFill>
          <a:ln/>
        </p:spPr>
      </p:sp>
      <p:sp>
        <p:nvSpPr>
          <p:cNvPr id="7" name="anim-g1-1219"/>
          <p:cNvSpPr/>
          <p:nvPr/>
        </p:nvSpPr>
        <p:spPr>
          <a:xfrm>
            <a:off x="10587838" y="2011680"/>
            <a:ext cx="552298" cy="55229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1220"/>
          <p:cNvSpPr/>
          <p:nvPr/>
        </p:nvSpPr>
        <p:spPr>
          <a:xfrm>
            <a:off x="1097280" y="1920240"/>
            <a:ext cx="9261958" cy="735178"/>
          </a:xfrm>
          <a:prstGeom prst="rect">
            <a:avLst/>
          </a:prstGeom>
          <a:noFill/>
          <a:ln/>
        </p:spPr>
        <p:txBody>
          <a:bodyPr wrap="square" lIns="0" tIns="0" rIns="0" bIns="0" rtlCol="0" anchor="ctr">
            <a:normAutofit/>
          </a:bodyPr>
          <a:lstStyle/>
          <a:p>
            <a:pPr marL="0" indent="0" algn="r">
              <a:buNone/>
            </a:pPr>
            <a:r>
              <a:rPr lang="ar-SA" altLang="en-US" sz="2200" b="1" dirty="0">
                <a:solidFill>
                  <a:srgbClr val="101B45"/>
                </a:solidFill>
                <a:latin typeface="Cairo Black" pitchFamily="34" charset="0"/>
                <a:ea typeface="Cairo Black" pitchFamily="34" charset="-122"/>
                <a:cs typeface="Cairo Black" pitchFamily="34" charset="-120"/>
              </a:rPr>
              <a:t>المشكلة</a:t>
            </a:r>
            <a:r>
              <a:rPr lang="ar-SA" altLang="en-US" sz="1800" b="1" dirty="0">
                <a:solidFill>
                  <a:srgbClr val="3B4460"/>
                </a:solidFill>
                <a:latin typeface="Cairo" pitchFamily="34" charset="0"/>
                <a:ea typeface="Cairo" pitchFamily="34" charset="-122"/>
                <a:cs typeface="Cairo" pitchFamily="34" charset="-120"/>
              </a:rPr>
              <a:t>   — ابدأ بسؤال: «هل تعرفون أن…؟»</a:t>
            </a:r>
            <a:endParaRPr lang="ar-SA" sz="2200" dirty="0"/>
          </a:p>
        </p:txBody>
      </p:sp>
      <p:sp>
        <p:nvSpPr>
          <p:cNvPr id="9" name="anim-g2-1221"/>
          <p:cNvSpPr/>
          <p:nvPr/>
        </p:nvSpPr>
        <p:spPr>
          <a:xfrm>
            <a:off x="822960" y="2765146"/>
            <a:ext cx="10545775" cy="735178"/>
          </a:xfrm>
          <a:prstGeom prst="roundRect">
            <a:avLst>
              <a:gd name="adj" fmla="val 19900"/>
            </a:avLst>
          </a:prstGeom>
          <a:solidFill>
            <a:srgbClr val="FFFFFF"/>
          </a:solidFill>
          <a:ln w="12700">
            <a:solidFill>
              <a:srgbClr val="E4DCC8"/>
            </a:solidFill>
            <a:prstDash val="solid"/>
          </a:ln>
        </p:spPr>
      </p:sp>
      <p:sp>
        <p:nvSpPr>
          <p:cNvPr id="10" name="anim-g2-1222"/>
          <p:cNvSpPr/>
          <p:nvPr/>
        </p:nvSpPr>
        <p:spPr>
          <a:xfrm>
            <a:off x="10587838" y="2856586"/>
            <a:ext cx="552298" cy="552298"/>
          </a:xfrm>
          <a:prstGeom prst="ellipse">
            <a:avLst/>
          </a:prstGeom>
          <a:solidFill>
            <a:srgbClr val="D9AE4B"/>
          </a:solidFill>
          <a:ln/>
        </p:spPr>
      </p:sp>
      <p:sp>
        <p:nvSpPr>
          <p:cNvPr id="11" name="anim-g2-1223"/>
          <p:cNvSpPr/>
          <p:nvPr/>
        </p:nvSpPr>
        <p:spPr>
          <a:xfrm>
            <a:off x="10587838" y="2856586"/>
            <a:ext cx="552298" cy="55229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1224"/>
          <p:cNvSpPr/>
          <p:nvPr/>
        </p:nvSpPr>
        <p:spPr>
          <a:xfrm>
            <a:off x="1097280" y="2765146"/>
            <a:ext cx="9261958" cy="735178"/>
          </a:xfrm>
          <a:prstGeom prst="rect">
            <a:avLst/>
          </a:prstGeom>
          <a:noFill/>
          <a:ln/>
        </p:spPr>
        <p:txBody>
          <a:bodyPr wrap="square" lIns="0" tIns="0" rIns="0" bIns="0" rtlCol="0" anchor="ctr">
            <a:normAutofit/>
          </a:bodyPr>
          <a:lstStyle/>
          <a:p>
            <a:pPr marL="0" indent="0" algn="r">
              <a:buNone/>
            </a:pPr>
            <a:r>
              <a:rPr lang="ar-SA" altLang="en-US" sz="2200" b="1" dirty="0">
                <a:solidFill>
                  <a:srgbClr val="101B45"/>
                </a:solidFill>
                <a:latin typeface="Cairo Black" pitchFamily="34" charset="0"/>
                <a:ea typeface="Cairo Black" pitchFamily="34" charset="-122"/>
                <a:cs typeface="Cairo Black" pitchFamily="34" charset="-120"/>
              </a:rPr>
              <a:t>الفكرة</a:t>
            </a:r>
            <a:r>
              <a:rPr lang="ar-SA" altLang="en-US" sz="1800" b="1" dirty="0">
                <a:solidFill>
                  <a:srgbClr val="3B4460"/>
                </a:solidFill>
                <a:latin typeface="Cairo" pitchFamily="34" charset="0"/>
                <a:ea typeface="Cairo" pitchFamily="34" charset="-122"/>
                <a:cs typeface="Cairo" pitchFamily="34" charset="-120"/>
              </a:rPr>
              <a:t>   — كيف يحل نبيه هذه المشكلة؟</a:t>
            </a:r>
            <a:endParaRPr lang="ar-SA" sz="2200" dirty="0"/>
          </a:p>
        </p:txBody>
      </p:sp>
      <p:sp>
        <p:nvSpPr>
          <p:cNvPr id="13" name="anim-g3-1225"/>
          <p:cNvSpPr/>
          <p:nvPr/>
        </p:nvSpPr>
        <p:spPr>
          <a:xfrm>
            <a:off x="822960" y="3610051"/>
            <a:ext cx="10545775" cy="735178"/>
          </a:xfrm>
          <a:prstGeom prst="roundRect">
            <a:avLst>
              <a:gd name="adj" fmla="val 19900"/>
            </a:avLst>
          </a:prstGeom>
          <a:solidFill>
            <a:srgbClr val="FFFFFF"/>
          </a:solidFill>
          <a:ln w="12700">
            <a:solidFill>
              <a:srgbClr val="E4DCC8"/>
            </a:solidFill>
            <a:prstDash val="solid"/>
          </a:ln>
        </p:spPr>
      </p:sp>
      <p:sp>
        <p:nvSpPr>
          <p:cNvPr id="14" name="anim-g3-1226"/>
          <p:cNvSpPr/>
          <p:nvPr/>
        </p:nvSpPr>
        <p:spPr>
          <a:xfrm>
            <a:off x="10587838" y="3701491"/>
            <a:ext cx="552298" cy="552298"/>
          </a:xfrm>
          <a:prstGeom prst="ellipse">
            <a:avLst/>
          </a:prstGeom>
          <a:solidFill>
            <a:srgbClr val="D9AE4B"/>
          </a:solidFill>
          <a:ln/>
        </p:spPr>
      </p:sp>
      <p:sp>
        <p:nvSpPr>
          <p:cNvPr id="15" name="anim-g3-1227"/>
          <p:cNvSpPr/>
          <p:nvPr/>
        </p:nvSpPr>
        <p:spPr>
          <a:xfrm>
            <a:off x="10587838" y="3701491"/>
            <a:ext cx="552298" cy="55229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1228"/>
          <p:cNvSpPr/>
          <p:nvPr/>
        </p:nvSpPr>
        <p:spPr>
          <a:xfrm>
            <a:off x="1097280" y="3610051"/>
            <a:ext cx="9261958" cy="735178"/>
          </a:xfrm>
          <a:prstGeom prst="rect">
            <a:avLst/>
          </a:prstGeom>
          <a:noFill/>
          <a:ln/>
        </p:spPr>
        <p:txBody>
          <a:bodyPr wrap="square" lIns="0" tIns="0" rIns="0" bIns="0" rtlCol="0" anchor="ctr">
            <a:normAutofit/>
          </a:bodyPr>
          <a:lstStyle/>
          <a:p>
            <a:pPr marL="0" indent="0" algn="r">
              <a:buNone/>
            </a:pPr>
            <a:r>
              <a:rPr lang="ar-SA" altLang="en-US" sz="2200" b="1" dirty="0">
                <a:solidFill>
                  <a:srgbClr val="101B45"/>
                </a:solidFill>
                <a:latin typeface="Cairo Black" pitchFamily="34" charset="0"/>
                <a:ea typeface="Cairo Black" pitchFamily="34" charset="-122"/>
                <a:cs typeface="Cairo Black" pitchFamily="34" charset="-120"/>
              </a:rPr>
              <a:t>العرض الحي</a:t>
            </a:r>
            <a:r>
              <a:rPr lang="ar-SA" altLang="en-US" sz="1800" b="1" dirty="0">
                <a:solidFill>
                  <a:srgbClr val="3B4460"/>
                </a:solidFill>
                <a:latin typeface="Cairo" pitchFamily="34" charset="0"/>
                <a:ea typeface="Cairo" pitchFamily="34" charset="-122"/>
                <a:cs typeface="Cairo" pitchFamily="34" charset="-120"/>
              </a:rPr>
              <a:t>   — شغّل نبيه أمامهم… الصمت أثناء العرض أقوى من أي كلام</a:t>
            </a:r>
            <a:endParaRPr lang="ar-SA" sz="2200" dirty="0"/>
          </a:p>
        </p:txBody>
      </p:sp>
      <p:sp>
        <p:nvSpPr>
          <p:cNvPr id="17" name="anim-g4-1229"/>
          <p:cNvSpPr/>
          <p:nvPr/>
        </p:nvSpPr>
        <p:spPr>
          <a:xfrm>
            <a:off x="822960" y="4454957"/>
            <a:ext cx="10545775" cy="735178"/>
          </a:xfrm>
          <a:prstGeom prst="roundRect">
            <a:avLst>
              <a:gd name="adj" fmla="val 19900"/>
            </a:avLst>
          </a:prstGeom>
          <a:solidFill>
            <a:srgbClr val="FFFFFF"/>
          </a:solidFill>
          <a:ln w="12700">
            <a:solidFill>
              <a:srgbClr val="E4DCC8"/>
            </a:solidFill>
            <a:prstDash val="solid"/>
          </a:ln>
        </p:spPr>
      </p:sp>
      <p:sp>
        <p:nvSpPr>
          <p:cNvPr id="18" name="anim-g4-1230"/>
          <p:cNvSpPr/>
          <p:nvPr/>
        </p:nvSpPr>
        <p:spPr>
          <a:xfrm>
            <a:off x="10587838" y="4546397"/>
            <a:ext cx="552298" cy="552298"/>
          </a:xfrm>
          <a:prstGeom prst="ellipse">
            <a:avLst/>
          </a:prstGeom>
          <a:solidFill>
            <a:srgbClr val="D9AE4B"/>
          </a:solidFill>
          <a:ln/>
        </p:spPr>
      </p:sp>
      <p:sp>
        <p:nvSpPr>
          <p:cNvPr id="19" name="anim-g4-1231"/>
          <p:cNvSpPr/>
          <p:nvPr/>
        </p:nvSpPr>
        <p:spPr>
          <a:xfrm>
            <a:off x="10587838" y="4546397"/>
            <a:ext cx="552298" cy="55229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1232"/>
          <p:cNvSpPr/>
          <p:nvPr/>
        </p:nvSpPr>
        <p:spPr>
          <a:xfrm>
            <a:off x="1097280" y="4454957"/>
            <a:ext cx="9261958" cy="735178"/>
          </a:xfrm>
          <a:prstGeom prst="rect">
            <a:avLst/>
          </a:prstGeom>
          <a:noFill/>
          <a:ln/>
        </p:spPr>
        <p:txBody>
          <a:bodyPr wrap="square" lIns="0" tIns="0" rIns="0" bIns="0" rtlCol="0" anchor="ctr">
            <a:normAutofit/>
          </a:bodyPr>
          <a:lstStyle/>
          <a:p>
            <a:pPr marL="0" indent="0" algn="r">
              <a:buNone/>
            </a:pPr>
            <a:r>
              <a:rPr lang="ar-SA" altLang="en-US" sz="2200" b="1" dirty="0">
                <a:solidFill>
                  <a:srgbClr val="101B45"/>
                </a:solidFill>
                <a:latin typeface="Cairo Black" pitchFamily="34" charset="0"/>
                <a:ea typeface="Cairo Black" pitchFamily="34" charset="-122"/>
                <a:cs typeface="Cairo Black" pitchFamily="34" charset="-120"/>
              </a:rPr>
              <a:t>كيف صنعناه</a:t>
            </a:r>
            <a:r>
              <a:rPr lang="ar-SA" altLang="en-US" sz="1800" b="1" dirty="0">
                <a:solidFill>
                  <a:srgbClr val="3B4460"/>
                </a:solidFill>
                <a:latin typeface="Cairo" pitchFamily="34" charset="0"/>
                <a:ea typeface="Cairo" pitchFamily="34" charset="-122"/>
                <a:cs typeface="Cairo" pitchFamily="34" charset="-120"/>
              </a:rPr>
              <a:t>   — أرِهم جزءًا من الكود، واشرح سطرًا واحدًا</a:t>
            </a:r>
            <a:endParaRPr lang="ar-SA" sz="2200" dirty="0"/>
          </a:p>
        </p:txBody>
      </p:sp>
      <p:sp>
        <p:nvSpPr>
          <p:cNvPr id="21" name="anim-g5-1233"/>
          <p:cNvSpPr/>
          <p:nvPr/>
        </p:nvSpPr>
        <p:spPr>
          <a:xfrm>
            <a:off x="822960" y="5299862"/>
            <a:ext cx="10545775" cy="735178"/>
          </a:xfrm>
          <a:prstGeom prst="roundRect">
            <a:avLst>
              <a:gd name="adj" fmla="val 19900"/>
            </a:avLst>
          </a:prstGeom>
          <a:solidFill>
            <a:srgbClr val="FFFFFF"/>
          </a:solidFill>
          <a:ln w="12700">
            <a:solidFill>
              <a:srgbClr val="E4DCC8"/>
            </a:solidFill>
            <a:prstDash val="solid"/>
          </a:ln>
        </p:spPr>
      </p:sp>
      <p:sp>
        <p:nvSpPr>
          <p:cNvPr id="22" name="anim-g5-1234"/>
          <p:cNvSpPr/>
          <p:nvPr/>
        </p:nvSpPr>
        <p:spPr>
          <a:xfrm>
            <a:off x="10587838" y="5391302"/>
            <a:ext cx="552298" cy="552298"/>
          </a:xfrm>
          <a:prstGeom prst="ellipse">
            <a:avLst/>
          </a:prstGeom>
          <a:solidFill>
            <a:srgbClr val="D9AE4B"/>
          </a:solidFill>
          <a:ln/>
        </p:spPr>
      </p:sp>
      <p:sp>
        <p:nvSpPr>
          <p:cNvPr id="23" name="anim-g5-1235"/>
          <p:cNvSpPr/>
          <p:nvPr/>
        </p:nvSpPr>
        <p:spPr>
          <a:xfrm>
            <a:off x="10587838" y="5391302"/>
            <a:ext cx="552298" cy="55229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٥</a:t>
            </a:r>
            <a:endParaRPr lang="ar-SA" sz="2000" dirty="0"/>
          </a:p>
        </p:txBody>
      </p:sp>
      <p:sp>
        <p:nvSpPr>
          <p:cNvPr id="24" name="anim-g5-1236"/>
          <p:cNvSpPr/>
          <p:nvPr/>
        </p:nvSpPr>
        <p:spPr>
          <a:xfrm>
            <a:off x="1097280" y="5299862"/>
            <a:ext cx="9261958" cy="735178"/>
          </a:xfrm>
          <a:prstGeom prst="rect">
            <a:avLst/>
          </a:prstGeom>
          <a:noFill/>
          <a:ln/>
        </p:spPr>
        <p:txBody>
          <a:bodyPr wrap="square" lIns="0" tIns="0" rIns="0" bIns="0" rtlCol="0" anchor="ctr">
            <a:normAutofit/>
          </a:bodyPr>
          <a:lstStyle/>
          <a:p>
            <a:pPr marL="0" indent="0" algn="r">
              <a:buNone/>
            </a:pPr>
            <a:r>
              <a:rPr lang="ar-SA" altLang="en-US" sz="2200" b="1" dirty="0">
                <a:solidFill>
                  <a:srgbClr val="101B45"/>
                </a:solidFill>
                <a:latin typeface="Cairo Black" pitchFamily="34" charset="0"/>
                <a:ea typeface="Cairo Black" pitchFamily="34" charset="-122"/>
                <a:cs typeface="Cairo Black" pitchFamily="34" charset="-120"/>
              </a:rPr>
              <a:t>ماذا تعلمنا</a:t>
            </a:r>
            <a:r>
              <a:rPr lang="ar-SA" altLang="en-US" sz="1800" b="1" dirty="0">
                <a:solidFill>
                  <a:srgbClr val="3B4460"/>
                </a:solidFill>
                <a:latin typeface="Cairo" pitchFamily="34" charset="0"/>
                <a:ea typeface="Cairo" pitchFamily="34" charset="-122"/>
                <a:cs typeface="Cairo" pitchFamily="34" charset="-120"/>
              </a:rPr>
              <a:t>   — وما الذي ستضيفونه لنبيه بعد ذلك؟</a:t>
            </a:r>
            <a:endParaRPr lang="ar-SA" sz="22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روبوتي الذكي</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نبيه في الجوال  ·  ١٨٤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85.xml><?xml version="1.0" encoding="utf-8"?>
<p:sld xmlns:a="http://schemas.openxmlformats.org/drawingml/2006/main" xmlns:r="http://schemas.openxmlformats.org/officeDocument/2006/relationships" xmlns:p="http://schemas.openxmlformats.org/presentationml/2006/main">
  <p:cSld name="Slide 18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272223" y="457200"/>
            <a:ext cx="4096512"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7272223" y="457200"/>
            <a:ext cx="4096512"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 نشاط ختامي — ٥ دقائق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F0CC7A"/>
                </a:solidFill>
                <a:latin typeface="Cairo Black" pitchFamily="34" charset="0"/>
                <a:ea typeface="Cairo Black" pitchFamily="34" charset="-122"/>
                <a:cs typeface="Cairo Black" pitchFamily="34" charset="-120"/>
              </a:rPr>
              <a:t>رسالة من نبيه</a:t>
            </a:r>
            <a:endParaRPr lang="ar-SA" sz="3800" dirty="0"/>
          </a:p>
        </p:txBody>
      </p:sp>
      <p:sp>
        <p:nvSpPr>
          <p:cNvPr id="5" name="anim-g1-1237"/>
          <p:cNvSpPr/>
          <p:nvPr/>
        </p:nvSpPr>
        <p:spPr>
          <a:xfrm>
            <a:off x="10637215" y="2286000"/>
            <a:ext cx="731520" cy="731520"/>
          </a:xfrm>
          <a:prstGeom prst="ellipse">
            <a:avLst/>
          </a:prstGeom>
          <a:solidFill>
            <a:srgbClr val="D9AE4B"/>
          </a:solidFill>
          <a:ln/>
        </p:spPr>
      </p:sp>
      <p:sp>
        <p:nvSpPr>
          <p:cNvPr id="6" name="anim-g1-1238"/>
          <p:cNvSpPr/>
          <p:nvPr/>
        </p:nvSpPr>
        <p:spPr>
          <a:xfrm>
            <a:off x="10637215" y="228600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1239"/>
          <p:cNvSpPr/>
          <p:nvPr/>
        </p:nvSpPr>
        <p:spPr>
          <a:xfrm>
            <a:off x="4023360" y="219456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كل فريق يكتب جملة واحدة يقولها نبيه في حفل التخرج</a:t>
            </a:r>
            <a:endParaRPr lang="ar-SA" sz="2200" dirty="0"/>
          </a:p>
        </p:txBody>
      </p:sp>
      <p:sp>
        <p:nvSpPr>
          <p:cNvPr id="8" name="anim-g2-1240"/>
          <p:cNvSpPr/>
          <p:nvPr/>
        </p:nvSpPr>
        <p:spPr>
          <a:xfrm>
            <a:off x="10637215" y="3383280"/>
            <a:ext cx="731520" cy="731520"/>
          </a:xfrm>
          <a:prstGeom prst="ellipse">
            <a:avLst/>
          </a:prstGeom>
          <a:solidFill>
            <a:srgbClr val="D9AE4B"/>
          </a:solidFill>
          <a:ln/>
        </p:spPr>
      </p:sp>
      <p:sp>
        <p:nvSpPr>
          <p:cNvPr id="9" name="anim-g2-1241"/>
          <p:cNvSpPr/>
          <p:nvPr/>
        </p:nvSpPr>
        <p:spPr>
          <a:xfrm>
            <a:off x="10637215" y="338328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1242"/>
          <p:cNvSpPr/>
          <p:nvPr/>
        </p:nvSpPr>
        <p:spPr>
          <a:xfrm>
            <a:off x="4023360" y="329184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نكتب الجمل في برنامج واحد بأمر say</a:t>
            </a:r>
            <a:endParaRPr lang="ar-SA" sz="2200" dirty="0"/>
          </a:p>
        </p:txBody>
      </p:sp>
      <p:sp>
        <p:nvSpPr>
          <p:cNvPr id="11" name="anim-g3-1243"/>
          <p:cNvSpPr/>
          <p:nvPr/>
        </p:nvSpPr>
        <p:spPr>
          <a:xfrm>
            <a:off x="10637215" y="4480560"/>
            <a:ext cx="731520" cy="731520"/>
          </a:xfrm>
          <a:prstGeom prst="ellipse">
            <a:avLst/>
          </a:prstGeom>
          <a:solidFill>
            <a:srgbClr val="D9AE4B"/>
          </a:solidFill>
          <a:ln/>
        </p:spPr>
      </p:sp>
      <p:sp>
        <p:nvSpPr>
          <p:cNvPr id="12" name="anim-g3-1244"/>
          <p:cNvSpPr/>
          <p:nvPr/>
        </p:nvSpPr>
        <p:spPr>
          <a:xfrm>
            <a:off x="10637215" y="448056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1245"/>
          <p:cNvSpPr/>
          <p:nvPr/>
        </p:nvSpPr>
        <p:spPr>
          <a:xfrm>
            <a:off x="4023360" y="438912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نشغّله… ونبيه يودّع الفصل بأصوات كل الفرق!</a:t>
            </a:r>
            <a:endParaRPr lang="ar-SA" sz="2200" dirty="0"/>
          </a:p>
        </p:txBody>
      </p:sp>
      <p:sp>
        <p:nvSpPr>
          <p:cNvPr id="14" name="Shape 12"/>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5" name="Text 13"/>
          <p:cNvSpPr/>
          <p:nvPr/>
        </p:nvSpPr>
        <p:spPr>
          <a:xfrm>
            <a:off x="822960" y="2834640"/>
            <a:ext cx="2834640" cy="1097280"/>
          </a:xfrm>
          <a:prstGeom prst="rect">
            <a:avLst/>
          </a:prstGeom>
          <a:noFill/>
          <a:ln/>
        </p:spPr>
        <p:txBody>
          <a:bodyPr wrap="square" lIns="0" tIns="0" rIns="0" bIns="0" rtlCol="0" anchor="ctr">
            <a:normAutofit/>
          </a:bodyPr>
          <a:lstStyle/>
          <a:p>
            <a:pPr marL="0" indent="0" algn="ctr">
              <a:buNone/>
            </a:pPr>
            <a:r>
              <a:rPr lang="ar-SA" altLang="en-US" sz="6000" dirty="0">
                <a:solidFill>
                  <a:srgbClr val="F0CC7A"/>
                </a:solidFill>
                <a:latin typeface="Cairo Black" pitchFamily="34" charset="0"/>
                <a:ea typeface="Cairo Black" pitchFamily="34" charset="-122"/>
                <a:cs typeface="Cairo Black" pitchFamily="34" charset="-120"/>
              </a:rPr>
              <a:t>5:00</a:t>
            </a:r>
            <a:endParaRPr lang="ar-SA" sz="6000" dirty="0"/>
          </a:p>
        </p:txBody>
      </p:sp>
      <p:sp>
        <p:nvSpPr>
          <p:cNvPr id="16" name="Text 14"/>
          <p:cNvSpPr/>
          <p:nvPr/>
        </p:nvSpPr>
        <p:spPr>
          <a:xfrm>
            <a:off x="822960" y="3840480"/>
            <a:ext cx="2834640" cy="457200"/>
          </a:xfrm>
          <a:prstGeom prst="rect">
            <a:avLst/>
          </a:prstGeom>
          <a:noFill/>
          <a:ln/>
        </p:spPr>
        <p:txBody>
          <a:bodyPr wrap="square" lIns="0" tIns="0" rIns="0" bIns="0" rtlCol="0" anchor="ctr">
            <a:normAutofit/>
          </a:bodyPr>
          <a:lstStyle/>
          <a:p>
            <a:pPr marL="0" indent="0" algn="ctr" rtl="1">
              <a:buNone/>
            </a:pPr>
            <a:r>
              <a:rPr lang="ar-SA" altLang="en-US" sz="1600" b="1" dirty="0">
                <a:solidFill>
                  <a:srgbClr val="C9CFE6"/>
                </a:solidFill>
                <a:latin typeface="Cairo" pitchFamily="34" charset="0"/>
                <a:ea typeface="Cairo" pitchFamily="34" charset="-122"/>
                <a:cs typeface="Cairo" pitchFamily="34" charset="-120"/>
              </a:rPr>
              <a:t>٥ دقائق</a:t>
            </a:r>
            <a:endParaRPr lang="ar-SA" sz="16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نبيه في الجوال  ·  ١٨٥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186.xml><?xml version="1.0" encoding="utf-8"?>
<p:sld xmlns:a="http://schemas.openxmlformats.org/drawingml/2006/main" xmlns:r="http://schemas.openxmlformats.org/officeDocument/2006/relationships" xmlns:p="http://schemas.openxmlformats.org/presentationml/2006/main">
  <p:cSld name="Slide 18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رسالة الدورة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بدأنا بروبوت لا يعرف شيئًا…</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وصنعتم منه صديقًا ذكيًّا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روبوتي الذكي</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نبيه في الجوال  ·  ١٨٦</a:t>
            </a:r>
            <a:endParaRPr lang="ar-SA" sz="12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Image 0" descr="/Users/mac/dev/younes-training/robot-pi/.pptx-cache/s18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marL="0" indent="0" algn="ctr" rtl="1">
              <a:buNone/>
            </a:pPr>
            <a:r>
              <a:rPr lang="ar-SA" altLang="en-US" sz="8000" dirty="0">
                <a:solidFill>
                  <a:srgbClr val="FFF3D6"/>
                </a:solidFill>
                <a:latin typeface="Cairo Black" pitchFamily="34" charset="0"/>
                <a:ea typeface="Cairo Black" pitchFamily="34" charset="-122"/>
                <a:cs typeface="Cairo Black" pitchFamily="34" charset="-120"/>
              </a:rPr>
              <a:t>مبارك التخرج! 🎓</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مهندسو المستقبل… صنعوا اليوم أول روبوت ذكي</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C9CFE6"/>
                </a:solidFill>
                <a:latin typeface="Cairo" pitchFamily="34" charset="0"/>
                <a:ea typeface="Cairo" pitchFamily="34" charset="-122"/>
                <a:cs typeface="Cairo" pitchFamily="34" charset="-120"/>
              </a:rPr>
              <a:t>روبوتي الذكي · إعداد وتقديم: أ. محمد زيتون</a:t>
            </a:r>
            <a:endParaRPr lang="ar-SA"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نسق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610</TotalTime>
  <Words>11697</Words>
  <Application>Microsoft Macintosh PowerPoint</Application>
  <PresentationFormat>شاشة عريضة</PresentationFormat>
  <Paragraphs>1761</Paragraphs>
  <Slides>188</Slides>
  <Notes>188</Notes>
  <HiddenSlides>0</HiddenSlides>
  <MMClips>0</MMClips>
  <ScaleCrop>false</ScaleCrop>
  <HeadingPairs>
    <vt:vector size="6" baseType="variant">
      <vt:variant>
        <vt:lpstr>الخطوط المستخدمة</vt:lpstr>
      </vt:variant>
      <vt:variant>
        <vt:i4>3</vt:i4>
      </vt:variant>
      <vt:variant>
        <vt:lpstr>نسق</vt:lpstr>
      </vt:variant>
      <vt:variant>
        <vt:i4>1</vt:i4>
      </vt:variant>
      <vt:variant>
        <vt:lpstr>عناوين الشرائح</vt:lpstr>
      </vt:variant>
      <vt:variant>
        <vt:i4>188</vt:i4>
      </vt:variant>
    </vt:vector>
  </HeadingPairs>
  <TitlesOfParts>
    <vt:vector size="192" baseType="lpstr">
      <vt:lpstr>Arial</vt:lpstr>
      <vt:lpstr>Cairo</vt:lpstr>
      <vt:lpstr>Cairo Black</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روبوتي الذكي</dc:title>
  <dc:subject>PptxGenJS Presentation</dc:subject>
  <dc:creator>أ. محمد زيتون</dc:creator>
  <cp:lastModifiedBy>mohamed zaytoon303</cp:lastModifiedBy>
  <cp:revision>2</cp:revision>
  <dcterms:created xsi:type="dcterms:W3CDTF">2026-10-12T16:54:58Z</dcterms:created>
  <dcterms:modified xsi:type="dcterms:W3CDTF">2026-10-13T03:08:20Z</dcterms:modified>
</cp:coreProperties>
</file>