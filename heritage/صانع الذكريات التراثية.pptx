
<file path=[Content_Types].xml><?xml version="1.0" encoding="utf-8"?>
<Types xmlns="http://schemas.openxmlformats.org/package/2006/content-types">
  <Default Extension="jpeg" ContentType="image/jpeg"/>
  <Default Extension="jpg" ContentType="image/jpg"/>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notesMasterIdLst>
    <p:notesMasterId r:id="rId1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viewProps" Target="viewProps.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theme" Target="theme/theme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48141256"/>
      </p:ext>
    </p:extLst>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a:lvl2pPr marL="457200" algn="r" defTabSz="914400" rtl="1" eaLnBrk="1" latinLnBrk="0" hangingPunct="1">
      <a:defRPr sz="1200" kern="1200">
        <a:solidFill>
          <a:schemeClr val="tx1"/>
        </a:solidFill>
        <a:latin typeface="+mn-lt"/>
        <a:ea typeface="+mn-ea"/>
        <a:cs typeface="+mn-cs"/>
      </a:defRPr>
    </a:lvl2pPr>
    <a:lvl3pPr marL="914400" algn="r" defTabSz="914400" rtl="1" eaLnBrk="1" latinLnBrk="0" hangingPunct="1">
      <a:defRPr sz="1200" kern="1200">
        <a:solidFill>
          <a:schemeClr val="tx1"/>
        </a:solidFill>
        <a:latin typeface="+mn-lt"/>
        <a:ea typeface="+mn-ea"/>
        <a:cs typeface="+mn-cs"/>
      </a:defRPr>
    </a:lvl3pPr>
    <a:lvl4pPr marL="1371600" algn="r" defTabSz="914400" rtl="1" eaLnBrk="1" latinLnBrk="0" hangingPunct="1">
      <a:defRPr sz="1200" kern="1200">
        <a:solidFill>
          <a:schemeClr val="tx1"/>
        </a:solidFill>
        <a:latin typeface="+mn-lt"/>
        <a:ea typeface="+mn-ea"/>
        <a:cs typeface="+mn-cs"/>
      </a:defRPr>
    </a:lvl4pPr>
    <a:lvl5pPr marL="1828800" algn="r" defTabSz="914400" rtl="1" eaLnBrk="1" latinLnBrk="0" hangingPunct="1">
      <a:defRPr sz="1200" kern="1200">
        <a:solidFill>
          <a:schemeClr val="tx1"/>
        </a:solidFill>
        <a:latin typeface="+mn-lt"/>
        <a:ea typeface="+mn-ea"/>
        <a:cs typeface="+mn-cs"/>
      </a:defRPr>
    </a:lvl5pPr>
    <a:lvl6pPr marL="2286000" algn="r" defTabSz="914400" rtl="1" eaLnBrk="1" latinLnBrk="0" hangingPunct="1">
      <a:defRPr sz="1200" kern="1200">
        <a:solidFill>
          <a:schemeClr val="tx1"/>
        </a:solidFill>
        <a:latin typeface="+mn-lt"/>
        <a:ea typeface="+mn-ea"/>
        <a:cs typeface="+mn-cs"/>
      </a:defRPr>
    </a:lvl6pPr>
    <a:lvl7pPr marL="2743200" algn="r" defTabSz="914400" rtl="1" eaLnBrk="1" latinLnBrk="0" hangingPunct="1">
      <a:defRPr sz="1200" kern="1200">
        <a:solidFill>
          <a:schemeClr val="tx1"/>
        </a:solidFill>
        <a:latin typeface="+mn-lt"/>
        <a:ea typeface="+mn-ea"/>
        <a:cs typeface="+mn-cs"/>
      </a:defRPr>
    </a:lvl7pPr>
    <a:lvl8pPr marL="3200400" algn="r" defTabSz="914400" rtl="1" eaLnBrk="1" latinLnBrk="0" hangingPunct="1">
      <a:defRPr sz="1200" kern="1200">
        <a:solidFill>
          <a:schemeClr val="tx1"/>
        </a:solidFill>
        <a:latin typeface="+mn-lt"/>
        <a:ea typeface="+mn-ea"/>
        <a:cs typeface="+mn-cs"/>
      </a:defRPr>
    </a:lvl8pPr>
    <a:lvl9pPr marL="3657600" algn="r" defTabSz="914400" rtl="1"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رحّب بالمعلمين. قل: «اليوم نبني لعبة حقيقية شارك بها طلاب في المرحلة الابتدائية في أولمبياد الروبوت العالمي WRO 2026: صانع الذكريات التراثية. وسنبنيها كما يبنيها المهندسون: مكوّنًا مكوّنًا».</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عرّف بنفسك وبالمشروع في أقل من دقيقة.</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اترك المشهد يعمل دون كلام: طفل يقترب، فيكتشفه الحساس ويرحب به ويبدأ المؤقت. يضغط الزر الأحمر فتدور المنصة إلى الخيمة، ويسمع معلومة، ويجيب، فتخرج عملة الذكرى من فتحة «خذ ذكراك». ثم اسأل: «كم مكوّنًا شارك في هذه الثواني؟» سبعة. وسنبني كل واحد منها وحده، ثم ندمجها.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السؤال الهندسي الذي طرحه الفريق: كيف نصمم روبوتًا تفاعليًا يجعل تعلّم التراث السعودي تجربة ممتعة وملموسة بدل تلقين سلبي؟</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لم يتوقف الفريق عند أول فكرة. هذه الصفحة وحدها درس في التفكير الهندسي لطلابكم: الفكرة الأجمل ليست دائمًا الأنسب.</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ضوابط الفريق: لغة قصيرة مناسبة للعمر، ومعلومة واحدة في كل محطة، وأسئلة قابلة للتحقق، ومراجعة المحتوى من مصادر رسمية قبل التسجيل. والأهم: تغيير المحتوى لاحقًا دون تغيير الهيكل الروبوتي.</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زر التشغيل عند كل عنصر: كل مجسم يعرّف بنفسه بضمير المتكلم «أنا الخيمة… أنا السيف…». الطفل يتذكر ما «يقوله» الشيء أكثر مما يُقال عنه. هذه الملفات نفسها جاهزة لبطاقة DFPlayer (المحور السابع).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مبدأ الفريق نفسه: «نختبر المكوّن منفردًا، ثم ندمجه مع المكونات الأخرى، ثم نختبره داخل الجولة الكاملة». وهو أفضل طريقة لتدريس الإلكترونيات: كل حصة تنتهي بشيء يعمل.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من خاتمة ملف الفريق. المحور الأول: الصورة الكبيرة قبل أي سلك.</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ارسم المخطط على السبورة قبل أن تفتح الشريحة التالية، واطلب من المتدربين تصنيف كل مكوّن: مدخل أم مخرج؟</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انقر كل عقدة. ثم «شاهد جولة طفل»: تسع خطوات من الاقتراب حتى العملة. لاحظوا أن ESP32 في المنتصف دائمًا: كل شيء يمر به.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الترتيب في هذا الجدول هو ترتيب بناء الدورة نفسه. علّقوه على جدار المعمل: يغني عن نصف أسئلة الطلاب.</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سنعود لكل قاعدة عند المكوّن الذي يحتاجها. لاحظ أن الفريق وضع على 34–39 مدخلات فقط (Echo والأزرار)، وهذا اختيار ذكي.</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المحور التالي: المكوّن الأول وحده، حساس الاقتراب.</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لماذا نبدأ به؟ لأنه أول ما يحدث في الجولة: لا ضغطة أولى، الروبوت يكتشف الطفل بنفسه.</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سرعة الصوت ٣٤٣ مترًا في الثانية = ٠٫٠٣٤٣ سم في الميكروثانية. اسألوا الطلاب: لماذا القسمة على ٢؟</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مقسّم الجهد مهم: Echo يخرج ٥ فولت وESP32 يتحمل ٣٫٣. مقاومة 1k من Echo إلى الطرف، و2k من الطرف إلى GND. وحدات HC-SR04P الحديثة تعمل على ٣٫٣ فولت مباشرة.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جرّبوا: يد على بعد ٢٠ سم ثم ٥٠ ثم ١٠٠. وجرّبوا قماشًا ناعمًا: يمتص الصوت فتضعف القراءة. هذا يهم في البوث: ملابس الأطفال!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اسحب الطفل ببطء: الموجات الزرقاء تذهب والخضراء تعود. حين يعبر الخط الأحمر يزيد العداد near، وبعد ثلاث قراءات متتالية فقط يُعلن «زائر». لماذا ثلاث؟ لأن طفلًا يمرّ مسرعًا أمام البوث لا يجب أن يبدأ جولة. غيّروا مسافة البدء: الفريق يحددها بالتجربة في مكان العرض.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 &gt; 2 تستبعد الصفر الذي تعيده pulseIn حين لا يعود صدى. هذه الدالة سنستدعيها في كل المحاور القادمة: هذه قوة الدوال.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المحور التالي: المكوّن الثاني، الشاشة… ثم ندمجهما في أول ترحيب.</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بعد هذا المحور يرى المتدربون أول تفاعل حقيقي: يقتربون فيرحب بهم الروبوت.</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لوحة I2C الصغيرة خلف الشاشة تحوّل سلكين إلى ستة عشر طرفًا. وإن لم تعرفوا العنوان: كود I2C Scanner الشهير يطبعه.</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أشهر مشكلتين: شاشة مضاءة بلا حروف (اضبطوا مقاومة التباين الزرقاء)، ومربعات سوداء في السطر الأول (العنوان خطأ أو الأسلاك معكوسة).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الشاشة لا تعرض الحروف العربية مباشرة: تحتاج «رموزًا مخصصة» صعبة. لهذا اختار الفريق: الشرح العربي بالصوت، والشاشة للأسماء القصيرة والمؤقت.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المؤقت ٠٥:٠٠ من ملف الفريق: «حد مرئي للجولة» يراه الزائر والحكم دون تخمين. وmillis لا تجمّد الروبوت كما تفعل delay.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أول «دمج»: مكوّنان كل منهما مختبر وحده، والآن معًا. اطلبوا من المتدربين تجربته بأجسادهم: يقتربون ويبتعدون. ولاحظوا متغير was: هو بذرة «آلة الحالات» التي سنبنيها في المحور الحادي عشر.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المحور التالي: المكوّن الثالث، الأزرار، ثم ندمجه ليختار الطفل محطته.</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الزر أبسط مكوّن… ويخفي أشهر فخّين في ESP32: الأطراف العائمة، والارتداد.</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ESP32 فيه مقاومات سحب داخلية في أغلب الأطراف (INPUT_PULLUP)… إلا 34 إلى 39. والفريق وضع زر السيف على 35 وزري الإجابة على 36 و39: تحتاج مقاومات 10k خارجية.</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كل زر: طرف إلى المنفذ، وطرف إلى GND. وعلى 35 و36 و39: مقاومة 10k من المنفذ إلى 3.3V. الضغط = LOW.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ابدأ والمقاومة الخارجية مطفأة: الخانات الثلاث المخططة تقرأ LOW عشوائيًا ويزيد عداد «ضغطات وهمية» دون أن يلمسها أحد! ثم فعّل المقاومة. ثم اضغط الأزرار والارتداد مطفأ: ضغطة واحدة تُقرأ أكثر من مرة. فعّل إزالة الارتداد: الرقمان يتطابقان.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لماذا المصفوفة؟ لأننا سنقرأ المحطات الأربع بحلقة for واحدة بدل أربعة شروط. هذا يجعل إضافة محطة خامسة سطرًا واحدًا (ومن خطط الفريق: محطات لمناطق المملكة).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ثلاثة مكونات تعمل معًا الآن. اختبروا: ابتعدوا واضغطوا زرًا: لا يحدث شيء. هذا «قفل» مقصود. وسنرى أقفالًا أذكى في آلة الحالات.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المحور التالي: المكوّن الرابع، المحرك… والمنصة تدور فعلًا إلى ما اختاره الطفل.</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قلب المشروع الميكانيكي: منصة محيطها نحو ٦٥ سم، مقسومة إلى أربعة أرباع، وعليها المجسمات الأربعة.</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السيرفو لا يدور دورة كاملة، ومحرك التيار المستمر لا يعرف موضعه. الخطوي يعدّ خطواته، فيعرف أين المحطة.</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المحرك على مصدر ٦ فولت مستقل كما في ملف الفريق، وأرضي المصدر متصل بأرضي ESP32. تغذية المحرك من اللوحة تسبب إعادة تشغيل مفاجئة.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أول تجربة: هل يعود المجسم إلى الخيمة بعد أربع حركات بالضبط؟ غالبًا لا… والسبب موضوع المحور القادم: المعايرة.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الألوان: المنصة تأخذ الطريق الأقصر (السيف من الخيمة: ربع للخلف لا ثلاثة للأمام). راقب «خطأ التوقف» بعد عدة حركات: يكبر! لأن الربع الحقيقي ليس ٥١٢. جرّب ٥١٠ ثم ٥٠٨. وارفع الحمل: يضيع أكثر. ثم «مستشعر البداية»: فكرة الفريق للتطوير، يعيد الصفر عند الخيمة.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مثال على السبورة: من الملابس (٢) إلى الخيمة (٠): (٠ − ٢ + ٤) % ٤ = ٢ ربعان. من الخيمة (٠) إلى السيف (٣): ٣ ← −١ ربع للخلف.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أربعة مكونات معًا! لاحظوا: أثناء goStation لا يقرأ الروبوت شيئًا ولا يتحدث المؤقت (step تحجز المعالج). يكفي الآن، وسنحلها في المحور الحادي عشر بخطوة واحدة في كل دورة loop.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المحور التالي: لماذا لا تتوقف المنصة في المكان الصحيح تمامًا؟ المعايرة.</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المحور يفرّق بين مشروع «يعمل أحيانًا» ومشروع «يعمل أمام الحكم». الفريق جعل المعايرة جزءًا رئيسيًا من الحل لا خطوة اختيارية.</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الفريق كتب: «قد تختلف النتيجة بسبب الاحتكاك ونسبة التروس وحمل المجسمات؛ لهذا أصبحت المعايرة جزءًا رئيسيًا من الحل».</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ارسموا علامة صغيرة على القاعدة أمام الطفل، وعلامة على حافة كل ربع في المنصة. الخطأ = المسافة بين العلامتين.</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«١٠ محاولات» بالقيمة ٥١٢: الخطأ يكبر مع المحاولات، والنجاح ضعيف. سجّل «قبل المعايرة». ثم غيّر عاملًا واحدًا فقط: الخطوات إلى ٥١٠ مثلًا، وأعد. ثم جرّب السرعة: فوق ١٢ تضيع خطوات. الهدف: ٩٠٪ من المحاولات ضمن ±٣ درجات.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هو المنهج العلمي نفسه: متغير مستقل واحد. علّموه لطلابكم في الروبوت… وسيستعملونه في كل مختبر علوم.</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من خطط الفريق المستقبلية. في المحاكي السابق رأيتم زر «مستشعر البداية»: هذه وظيفته.</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المحور التالي: المكوّن الخامس، الصوت: المنصة تصل… فتحكي القصة.</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الصوت يحوّل المجسم الصامت إلى راوٍ. والطفل الذي لا يقرأ بعد يتعلم أيضًا.</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سجّلوا الصوت بأصوات الطلاب أنفسهم! ومن ميزة التصميم في ملف الفريق: نغيّر الملفات والأسئلة دون أن نغيّر الهيكل الروبوتي. موضوع جديد = بطاقة ذاكرة جديدة.</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TX في المشغّل إلى RX في اللوحة والعكس. ومقاومة 1k على السلك الداخل إلى المشغّل تقلل الطنين. والسماعة صغيرة (٣ واط) على SPK1 وSPK2 مباشرة.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الترحيب ثم المحطات: لاحظ اسم الملف يضيء في القائمة، وموجة الصوت، والسماعة في اللوحة. واقرأ التنبيه: الشرح العربي بالصوت، والشاشة للاسم القصير والمؤقت.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استمعوا لكل ملف، ثم نزّلوه بالرابط تحته، وانسخوها كما هي إلى بطاقة microSD. الأسماء 0001 إلى 0007 تطابق الكود: df.play(1) للترحيب، وdf.play(s + 2) للمحطات، و6 و7 للنتيجة. وأفضل من ذلك: سجّلوها بأصوات طلابكم!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نسخ الملفات بالترتيب على بطاقة فارغة مهم: بعض المشغّلات تعتمد ترتيب النسخ لا الاسم. انسخوا 0001 أولًا ثم 0002…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خمسة مكونات! لاحظوا كيف صارت loop أقصر رغم أن المشروع أكبر: الدوال تخفي التفاصيل. هذا ما يسميه المهندسون «التجريد».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المحور التالي: المكوّن السادس، السؤال: الليدان وزرا الإجابة.</a:t>
            </a:r>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من «يسمع» إلى «يجيب»: التعلّم النشط يبدأ هنا.</a:t>
            </a:r>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لماذا خياران فقط؟ الأطفال في المرحلة الابتدائية: سؤال قصير وواضح، ومعلومة واحدة في كل محطة، كما في ضوابط الفريق.</a:t>
            </a: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زرا الإجابة وصّلناهما في محور الأزرار (36 و39 بمقاومتين خارجيتين). هنا نضيف الليدين فقط.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لماذا −١؟ لأن loop تسأل عشرات المرات في الثانية «هل أجاب؟». −١ تعني «لا، ما زلنا ننتظر».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الكود يعمل… لكنه «يحبس» الروبوت: أثناء delay وwhile لا يتحدث المؤقت ولا يرى الحساس. اكتبوا على السبورة: «يعمل، لكن ليس احترافيًا». سنعود إليه في آلة الحالات لنزيل الحبس.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المحور التالي: المكوّن السابع والأجمل، عملة الذكرى.</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الابتكار الرئيسي في المشروع: «العملة تُمنح بعد استجابة صحيحة في نهاية مسار تعليمي… فتتحول المعلومة إلى ذكرى ملموسة».</a:t>
            </a:r>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نفس الآلية في مقود السيارة! اعرضوا صورة ترس وقضيب من لعبة LEGO أو أي آلة قديمة. والعملات خشبية عليها رسم المحطة، والخطة القادمة للفريق: مواد أكثر استدامة.</a:t>
            </a:r>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الفريق واجه «سيرفو غير مستقر على منفذ» فغيّر المنفذ وتحقق من التغذية والأرضي، وتعلّم أن «ليست كل مشكلة برمجية». لهذا: طاقة مستقلة وأرضي مشترك.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حرّك زاوية السيرفو ببطء: الترس يدور والقضيب يتقدم، والمسافة تُحسب s = r × θ. بنصف قطر ١٠ مم: كم درجة لنصل ٣٢ مم؟ (نحو ١٨٤°… أكثر من مدى السيرفو!) كبّروا الترس إلى ١٦ مم: تكفي ١١٥ درجة تقريبًا. هذا تصميم ميكانيكي بالحساب. ثم «giveCoin» مرتين: القفل يمنع الثانية. ثم «الطاقة من اللوحة»: ارتجاف.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متى نفتح القفل؟ عند اختيار محطة جديدة: coinGiven = false. هكذا عملة واحدة لكل محطة، وأربع عملات للجولة كاملة.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لحظة احتفال! كل المكونات السبعة تعمل. لكن… أين السؤال المساعد عند الخطأ؟ وماذا عن delay وwhile التي تحبس الروبوت؟ هذا ما يجعل المشروع «عالميًا»: المحوران ١١ و١٢.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المحور التالي: قبل أن نجمع كل شيء في صندوق واحد… الطاقة الآمنة.</a:t>
            </a:r>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كل مكوّن عمل وحده على الطاولة. الآن نجمعها في الصندوق الحقيقي، وهنا تظهر مشكلات الطاقة.</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لماذا نفصل؟ «لتقليل هبوط الجهد أثناء الحركة» كما كتب الفريق. حين يسحب المحرك تيارًا من مصدر اللوحة نفسه، يهبط الجهد فتُعاد اللوحة أو يرتجف السيرفو.</a:t>
            </a:r>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ركّبوا بالترتيب نفسه الذي تعلمناه: الحساس، الشاشة، الأزرار، المحرك، الصوت، الليدان، السيرفو. وبعد كل مكوّن: شغّلوا كوده الصغير. لا تركّبوا كل شيء ثم تشغّلوه مرة واحدة!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صيغة الفريق: مشكلة ← فرضية ← اختبار ← نتيجة ← درس. علّموها لطلابكم: الخطأ ليس عيبًا مخفيًا، بل دليل على تطور الحل.</a:t>
            </a:r>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المحور التالي: الكود الاحترافي، آلة الحالات.</a:t>
            </a:r>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كودنا في المحور التاسع يعمل… لكنه يحبس الروبوت في delay وwhile. هنا نعيد كتابته كما يكتبه المحترفون.</a:t>
            </a:r>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ارسموا الحالات دوائر على السبورة والأسهم بينها، قبل أي كود. هذا الرسم هو «التصميم»، والكود ترجمته.</a:t>
            </a:r>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ابدأ بـ «اقترب طفل»، ثم «زر محطة»، ثم «انتهت الحركة والصوت»، ثم «إجابة خاطئة» ثم «صحيحة». الآن جرّب الخطأ: اضغط «زر محطة» وأنت في BUSY: مرفوض! «الأزرار مقفلة أثناء الدوران». هذا ما كتبه الفريق: «لا يقبل الروبوت الأزرار التي لا تناسب الحالة الحالية».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 delay طويلة في أي مكان! loop تدور آلاف المرات في الثانية، وفي كل مرة تفعل شيئًا صغيرًا. هكذا يرى الحساس ويتحدث المؤقت ويدور المحرك… معًا.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نفس الفكرة للصوت: audioDone تسأل المشغّل «هل انتهيت؟» (df.available ثم DFPlayerPlayFinished) بدل delay(6000). هذا ما يسميه الفريق في ملفه: non-blocking.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المحور التالي: منطق القرار المستقل والسؤال المساعد.</a:t>
            </a:r>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شرط مسابقة Future Innovators: الروبوت يتخذ قرارات. وهنا القرار تعليمي: كيف نساعد طفلًا أخطأ؟</a:t>
            </a:r>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الفريق كتب: «لا يقدم النظام المكافأة تلقائيًا عند كل محطة، ولا يكرر السؤال بالطريقة نفسها عند الخطأ». والإجابة الصحيحة بعد المساعدة تمنح العملة أيضًا.</a:t>
            </a:r>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أجب «أ» من أول مرة: المسار أ. محطة أخرى، أجب «ب»: سؤال مساعد بمعلومة جديدة، ثم «أ»: عملة بعد المساعدة. ثم جرّب «ب» مرتين: المسار ب٢. اسألوا: أي المسارات علّم الطفل أكثر؟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لاحظوا: القرار يعتمد على بيانات (إجابة الطفل)، والنتيجة مختلفة لكل طفل. هذا هو «القرار المستقل» الذي يبحث عنه الحكام.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نشاط جميل للمعلمين: اكتبوا سؤالًا وسؤالًا مساعدًا لمحطة خامسة من منطقتكم: القط العسيري، أو السدو، أو القهوة السعودية.</a:t>
            </a:r>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المحور التالي: الجولة الكاملة، كل شيء معًا.</a:t>
            </a:r>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كل ما بنيناه في اثني عشر محورًا يعمل الآن في تجربة واحدة.</a:t>
            </a:r>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ومن يجمع العملات الأربع يحصل على لقب «حارس الذكريات التراثية»: هذا يشجع الطفل على إكمال المحطات كلها.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العبها كما يلعبها الطفل: «اقترب» ثم اختر محطة. جرّب ضغط زر آخر أثناء الدوران: مقفل. أجب صحيحًا وخاطئًا. اجمع العملات الأربع: لقب حارس الذكريات التراثية. ولاحظ المؤقت: تحت الدقيقة يرمش.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من مبادئ الفريق: «هذه الصفحة لتسجيل النتائج الفعلية فقط»، مع التاريخ وصورة من اختبار حقيقي. هذا الصدق يقنع الحكام أكثر من أي رقم كبير.</a:t>
            </a:r>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الفريق كتب: «نعرض الأثر هدفًا، ثم نضيف دليلًا حقيقيًا عندما يتوفر». درس في الأمانة العلمية.</a:t>
            </a:r>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المحور الأخير: البوث والعرض والتحكيم.</a:t>
            </a:r>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«البوث ليس ديكورًا منفصلًا، بل هو المسرح الذي يشرح فيه الطالبان المشكلة ورحلتهما والحل» من ملف الفريق.</a:t>
            </a:r>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انقر كل عنصر. الفكرة الأساسية: الروبوت في المنتصف دائمًا، والحكم يرى الطالبين والمؤقت في الوقت نفسه. والزينة (دلة، فانوس، سلال) لا تحجب الروبوت أبدًا.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تدرّبوا على الفيديو خمس مرات على الأقل. لقطة واحدة تعني: أي خطأ يعيد التصوير من البداية، فالتدريب يصنع الثقة.</a:t>
            </a:r>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الجملة الأخيرة هي شعار المشروع بالإنجليزية كما في لوحة الفريق: «Our Heritage… A Memory We Carry».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ومن خطط الفريق: مستشعر البداية عند الخيمة، وتقرير تعلّم بسيط للأهل أو المعلم مع مراعاة الخصوصية، وعملات من مواد مستدامة.</a:t>
            </a:r>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وزّعوا الأدوار كما في ملف الفريق: التصميم الميكانيكي والقياس، والبرمجة والاختبار والتوثيق، والعمل المشترك في البحث والقرار والعرض.</a:t>
            </a:r>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دع ثلاثة متدربين يقرؤون محطاتهم. هذه بداية مشاريع طلابهم القادمة.</a:t>
            </a:r>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من خاتمة ملف الفريق. اشكر المعلمين، وذكّرهم بأن المحاكيات كلها على منصة جذور.</a:t>
            </a:r>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شريحة الختام.</a:t>
            </a:r>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audio" Target="../media/media4.mp3"/><Relationship Id="rId3" Type="http://schemas.microsoft.com/office/2007/relationships/media" Target="../media/media2.mp3"/><Relationship Id="rId7" Type="http://schemas.microsoft.com/office/2007/relationships/media" Target="../media/media4.mp3"/><Relationship Id="rId12" Type="http://schemas.openxmlformats.org/officeDocument/2006/relationships/image" Target="../media/image5.png"/><Relationship Id="rId2" Type="http://schemas.openxmlformats.org/officeDocument/2006/relationships/audio" Target="../media/media1.mp3"/><Relationship Id="rId1" Type="http://schemas.microsoft.com/office/2007/relationships/media" Target="../media/media1.mp3"/><Relationship Id="rId6" Type="http://schemas.openxmlformats.org/officeDocument/2006/relationships/audio" Target="../media/media3.mp3"/><Relationship Id="rId11" Type="http://schemas.openxmlformats.org/officeDocument/2006/relationships/image" Target="../media/image4.jpg"/><Relationship Id="rId5" Type="http://schemas.microsoft.com/office/2007/relationships/media" Target="../media/media3.mp3"/><Relationship Id="rId10" Type="http://schemas.openxmlformats.org/officeDocument/2006/relationships/notesSlide" Target="../notesSlides/notesSlide7.xml"/><Relationship Id="rId4" Type="http://schemas.openxmlformats.org/officeDocument/2006/relationships/audio" Target="../media/media2.mp3"/><Relationship Id="rId9"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8.jpg"/><Relationship Id="rId7" Type="http://schemas.openxmlformats.org/officeDocument/2006/relationships/image" Target="../media/image12.jp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11.jpg"/><Relationship Id="rId5" Type="http://schemas.openxmlformats.org/officeDocument/2006/relationships/image" Target="../media/image10.jpg"/><Relationship Id="rId4" Type="http://schemas.openxmlformats.org/officeDocument/2006/relationships/image" Target="../media/image9.jpg"/></Relationships>
</file>

<file path=ppt/slides/_rels/slide22.xml.rels><?xml version="1.0" encoding="UTF-8" standalone="yes"?>
<Relationships xmlns="http://schemas.openxmlformats.org/package/2006/relationships"><Relationship Id="rId8" Type="http://schemas.openxmlformats.org/officeDocument/2006/relationships/image" Target="../media/image18.jpg"/><Relationship Id="rId3" Type="http://schemas.openxmlformats.org/officeDocument/2006/relationships/image" Target="../media/image13.jpg"/><Relationship Id="rId7" Type="http://schemas.openxmlformats.org/officeDocument/2006/relationships/image" Target="../media/image17.jp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16.jpg"/><Relationship Id="rId5" Type="http://schemas.openxmlformats.org/officeDocument/2006/relationships/image" Target="../media/image15.jpg"/><Relationship Id="rId4" Type="http://schemas.openxmlformats.org/officeDocument/2006/relationships/image" Target="../media/image14.jpg"/><Relationship Id="rId9" Type="http://schemas.openxmlformats.org/officeDocument/2006/relationships/image" Target="../media/image19.jpg"/></Relationships>
</file>

<file path=ppt/slides/_rels/slide23.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24.jpg"/><Relationship Id="rId5" Type="http://schemas.openxmlformats.org/officeDocument/2006/relationships/image" Target="../media/image23.jpg"/><Relationship Id="rId4" Type="http://schemas.openxmlformats.org/officeDocument/2006/relationships/image" Target="../media/image22.jpg"/></Relationships>
</file>

<file path=ppt/slides/_rels/slide25.xml.rels><?xml version="1.0" encoding="UTF-8" standalone="yes"?>
<Relationships xmlns="http://schemas.openxmlformats.org/package/2006/relationships"><Relationship Id="rId3" Type="http://schemas.openxmlformats.org/officeDocument/2006/relationships/image" Target="../media/image25.jpg"/><Relationship Id="rId7" Type="http://schemas.openxmlformats.org/officeDocument/2006/relationships/image" Target="../media/image29.jp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28.jpg"/><Relationship Id="rId5" Type="http://schemas.openxmlformats.org/officeDocument/2006/relationships/image" Target="../media/image27.jpg"/><Relationship Id="rId4" Type="http://schemas.openxmlformats.org/officeDocument/2006/relationships/image" Target="../media/image26.jpg"/></Relationships>
</file>

<file path=ppt/slides/_rels/slide26.xml.rels><?xml version="1.0" encoding="UTF-8" standalone="yes"?>
<Relationships xmlns="http://schemas.openxmlformats.org/package/2006/relationships"><Relationship Id="rId3" Type="http://schemas.openxmlformats.org/officeDocument/2006/relationships/image" Target="../media/image30.jp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31.jpg"/><Relationship Id="rId7" Type="http://schemas.openxmlformats.org/officeDocument/2006/relationships/image" Target="../media/image35.jp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34.jpg"/><Relationship Id="rId5" Type="http://schemas.openxmlformats.org/officeDocument/2006/relationships/image" Target="../media/image33.jpg"/><Relationship Id="rId4" Type="http://schemas.openxmlformats.org/officeDocument/2006/relationships/image" Target="../media/image32.jpg"/></Relationships>
</file>

<file path=ppt/slides/_rels/slide32.xml.rels><?xml version="1.0" encoding="UTF-8" standalone="yes"?>
<Relationships xmlns="http://schemas.openxmlformats.org/package/2006/relationships"><Relationship Id="rId8" Type="http://schemas.openxmlformats.org/officeDocument/2006/relationships/image" Target="../media/image41.jpg"/><Relationship Id="rId3" Type="http://schemas.openxmlformats.org/officeDocument/2006/relationships/image" Target="../media/image36.jpg"/><Relationship Id="rId7" Type="http://schemas.openxmlformats.org/officeDocument/2006/relationships/image" Target="../media/image40.jp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39.jpg"/><Relationship Id="rId5" Type="http://schemas.openxmlformats.org/officeDocument/2006/relationships/image" Target="../media/image38.jpg"/><Relationship Id="rId4" Type="http://schemas.openxmlformats.org/officeDocument/2006/relationships/image" Target="../media/image37.jpg"/></Relationships>
</file>

<file path=ppt/slides/_rels/slide33.xml.rels><?xml version="1.0" encoding="UTF-8" standalone="yes"?>
<Relationships xmlns="http://schemas.openxmlformats.org/package/2006/relationships"><Relationship Id="rId3" Type="http://schemas.openxmlformats.org/officeDocument/2006/relationships/image" Target="../media/image42.jp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45.jpg"/><Relationship Id="rId5" Type="http://schemas.openxmlformats.org/officeDocument/2006/relationships/image" Target="../media/image44.jpg"/><Relationship Id="rId4" Type="http://schemas.openxmlformats.org/officeDocument/2006/relationships/image" Target="../media/image43.jpg"/></Relationships>
</file>

<file path=ppt/slides/_rels/slide34.xml.rels><?xml version="1.0" encoding="UTF-8" standalone="yes"?>
<Relationships xmlns="http://schemas.openxmlformats.org/package/2006/relationships"><Relationship Id="rId8" Type="http://schemas.openxmlformats.org/officeDocument/2006/relationships/image" Target="../media/image51.jpg"/><Relationship Id="rId3" Type="http://schemas.openxmlformats.org/officeDocument/2006/relationships/image" Target="../media/image46.jpg"/><Relationship Id="rId7" Type="http://schemas.openxmlformats.org/officeDocument/2006/relationships/image" Target="../media/image50.jp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49.jpg"/><Relationship Id="rId5" Type="http://schemas.openxmlformats.org/officeDocument/2006/relationships/image" Target="../media/image48.jpg"/><Relationship Id="rId4" Type="http://schemas.openxmlformats.org/officeDocument/2006/relationships/image" Target="../media/image47.jpg"/><Relationship Id="rId9" Type="http://schemas.openxmlformats.org/officeDocument/2006/relationships/image" Target="../media/image52.jpg"/></Relationships>
</file>

<file path=ppt/slides/_rels/slide35.xml.rels><?xml version="1.0" encoding="UTF-8" standalone="yes"?>
<Relationships xmlns="http://schemas.openxmlformats.org/package/2006/relationships"><Relationship Id="rId3" Type="http://schemas.openxmlformats.org/officeDocument/2006/relationships/image" Target="../media/image53.jpg"/><Relationship Id="rId7" Type="http://schemas.openxmlformats.org/officeDocument/2006/relationships/image" Target="../media/image57.jp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56.jpg"/><Relationship Id="rId5" Type="http://schemas.openxmlformats.org/officeDocument/2006/relationships/image" Target="../media/image55.jpg"/><Relationship Id="rId4" Type="http://schemas.openxmlformats.org/officeDocument/2006/relationships/image" Target="../media/image54.jpg"/></Relationships>
</file>

<file path=ppt/slides/_rels/slide3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58.jpg"/><Relationship Id="rId7" Type="http://schemas.openxmlformats.org/officeDocument/2006/relationships/image" Target="../media/image62.jp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61.jpg"/><Relationship Id="rId5" Type="http://schemas.openxmlformats.org/officeDocument/2006/relationships/image" Target="../media/image60.jpg"/><Relationship Id="rId4" Type="http://schemas.openxmlformats.org/officeDocument/2006/relationships/image" Target="../media/image59.jpg"/></Relationships>
</file>

<file path=ppt/slides/_rels/slide41.xml.rels><?xml version="1.0" encoding="UTF-8" standalone="yes"?>
<Relationships xmlns="http://schemas.openxmlformats.org/package/2006/relationships"><Relationship Id="rId3" Type="http://schemas.openxmlformats.org/officeDocument/2006/relationships/image" Target="../media/image63.jp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8" Type="http://schemas.openxmlformats.org/officeDocument/2006/relationships/image" Target="../media/image69.jpg"/><Relationship Id="rId3" Type="http://schemas.openxmlformats.org/officeDocument/2006/relationships/image" Target="../media/image64.jpg"/><Relationship Id="rId7" Type="http://schemas.openxmlformats.org/officeDocument/2006/relationships/image" Target="../media/image68.jp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67.jpg"/><Relationship Id="rId5" Type="http://schemas.openxmlformats.org/officeDocument/2006/relationships/image" Target="../media/image66.jpg"/><Relationship Id="rId4" Type="http://schemas.openxmlformats.org/officeDocument/2006/relationships/image" Target="../media/image65.jpg"/></Relationships>
</file>

<file path=ppt/slides/_rels/slide43.xml.rels><?xml version="1.0" encoding="UTF-8" standalone="yes"?>
<Relationships xmlns="http://schemas.openxmlformats.org/package/2006/relationships"><Relationship Id="rId8" Type="http://schemas.openxmlformats.org/officeDocument/2006/relationships/image" Target="../media/image75.jpg"/><Relationship Id="rId3" Type="http://schemas.openxmlformats.org/officeDocument/2006/relationships/image" Target="../media/image70.jpg"/><Relationship Id="rId7" Type="http://schemas.openxmlformats.org/officeDocument/2006/relationships/image" Target="../media/image74.jp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73.jpg"/><Relationship Id="rId5" Type="http://schemas.openxmlformats.org/officeDocument/2006/relationships/image" Target="../media/image72.jpg"/><Relationship Id="rId4" Type="http://schemas.openxmlformats.org/officeDocument/2006/relationships/image" Target="../media/image71.jpg"/></Relationships>
</file>

<file path=ppt/slides/_rels/slide44.xml.rels><?xml version="1.0" encoding="UTF-8" standalone="yes"?>
<Relationships xmlns="http://schemas.openxmlformats.org/package/2006/relationships"><Relationship Id="rId3" Type="http://schemas.openxmlformats.org/officeDocument/2006/relationships/image" Target="../media/image76.jpg"/><Relationship Id="rId7" Type="http://schemas.openxmlformats.org/officeDocument/2006/relationships/image" Target="../media/image80.jp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79.jpg"/><Relationship Id="rId5" Type="http://schemas.openxmlformats.org/officeDocument/2006/relationships/image" Target="../media/image78.jpg"/><Relationship Id="rId4" Type="http://schemas.openxmlformats.org/officeDocument/2006/relationships/image" Target="../media/image77.jpg"/></Relationships>
</file>

<file path=ppt/slides/_rels/slide4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8" Type="http://schemas.openxmlformats.org/officeDocument/2006/relationships/image" Target="../media/image86.jpg"/><Relationship Id="rId3" Type="http://schemas.openxmlformats.org/officeDocument/2006/relationships/image" Target="../media/image81.jpg"/><Relationship Id="rId7" Type="http://schemas.openxmlformats.org/officeDocument/2006/relationships/image" Target="../media/image85.jpg"/><Relationship Id="rId2" Type="http://schemas.openxmlformats.org/officeDocument/2006/relationships/notesSlide" Target="../notesSlides/notesSlide50.xml"/><Relationship Id="rId1" Type="http://schemas.openxmlformats.org/officeDocument/2006/relationships/slideLayout" Target="../slideLayouts/slideLayout1.xml"/><Relationship Id="rId6" Type="http://schemas.openxmlformats.org/officeDocument/2006/relationships/image" Target="../media/image84.jpg"/><Relationship Id="rId5" Type="http://schemas.openxmlformats.org/officeDocument/2006/relationships/image" Target="../media/image83.jpg"/><Relationship Id="rId4" Type="http://schemas.openxmlformats.org/officeDocument/2006/relationships/image" Target="../media/image82.jpg"/></Relationships>
</file>

<file path=ppt/slides/_rels/slide51.xml.rels><?xml version="1.0" encoding="UTF-8" standalone="yes"?>
<Relationships xmlns="http://schemas.openxmlformats.org/package/2006/relationships"><Relationship Id="rId3" Type="http://schemas.openxmlformats.org/officeDocument/2006/relationships/image" Target="../media/image87.jpg"/><Relationship Id="rId7" Type="http://schemas.openxmlformats.org/officeDocument/2006/relationships/image" Target="../media/image91.jpg"/><Relationship Id="rId2" Type="http://schemas.openxmlformats.org/officeDocument/2006/relationships/notesSlide" Target="../notesSlides/notesSlide51.xml"/><Relationship Id="rId1" Type="http://schemas.openxmlformats.org/officeDocument/2006/relationships/slideLayout" Target="../slideLayouts/slideLayout1.xml"/><Relationship Id="rId6" Type="http://schemas.openxmlformats.org/officeDocument/2006/relationships/image" Target="../media/image90.jpg"/><Relationship Id="rId5" Type="http://schemas.openxmlformats.org/officeDocument/2006/relationships/image" Target="../media/image89.jpg"/><Relationship Id="rId4" Type="http://schemas.openxmlformats.org/officeDocument/2006/relationships/image" Target="../media/image88.jpg"/></Relationships>
</file>

<file path=ppt/slides/_rels/slide52.xml.rels><?xml version="1.0" encoding="UTF-8" standalone="yes"?>
<Relationships xmlns="http://schemas.openxmlformats.org/package/2006/relationships"><Relationship Id="rId3" Type="http://schemas.openxmlformats.org/officeDocument/2006/relationships/image" Target="../media/image92.jpg"/><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8" Type="http://schemas.openxmlformats.org/officeDocument/2006/relationships/image" Target="../media/image98.jpg"/><Relationship Id="rId3" Type="http://schemas.openxmlformats.org/officeDocument/2006/relationships/image" Target="../media/image93.jpg"/><Relationship Id="rId7" Type="http://schemas.openxmlformats.org/officeDocument/2006/relationships/image" Target="../media/image97.jpg"/><Relationship Id="rId2" Type="http://schemas.openxmlformats.org/officeDocument/2006/relationships/notesSlide" Target="../notesSlides/notesSlide53.xml"/><Relationship Id="rId1" Type="http://schemas.openxmlformats.org/officeDocument/2006/relationships/slideLayout" Target="../slideLayouts/slideLayout1.xml"/><Relationship Id="rId6" Type="http://schemas.openxmlformats.org/officeDocument/2006/relationships/image" Target="../media/image96.jpg"/><Relationship Id="rId5" Type="http://schemas.openxmlformats.org/officeDocument/2006/relationships/image" Target="../media/image95.jpg"/><Relationship Id="rId4" Type="http://schemas.openxmlformats.org/officeDocument/2006/relationships/image" Target="../media/image94.jpg"/></Relationships>
</file>

<file path=ppt/slides/_rels/slide54.xml.rels><?xml version="1.0" encoding="UTF-8" standalone="yes"?>
<Relationships xmlns="http://schemas.openxmlformats.org/package/2006/relationships"><Relationship Id="rId8" Type="http://schemas.openxmlformats.org/officeDocument/2006/relationships/image" Target="../media/image104.jpg"/><Relationship Id="rId3" Type="http://schemas.openxmlformats.org/officeDocument/2006/relationships/image" Target="../media/image99.jpg"/><Relationship Id="rId7" Type="http://schemas.openxmlformats.org/officeDocument/2006/relationships/image" Target="../media/image103.jpg"/><Relationship Id="rId2" Type="http://schemas.openxmlformats.org/officeDocument/2006/relationships/notesSlide" Target="../notesSlides/notesSlide54.xml"/><Relationship Id="rId1" Type="http://schemas.openxmlformats.org/officeDocument/2006/relationships/slideLayout" Target="../slideLayouts/slideLayout1.xml"/><Relationship Id="rId6" Type="http://schemas.openxmlformats.org/officeDocument/2006/relationships/image" Target="../media/image102.jpg"/><Relationship Id="rId5" Type="http://schemas.openxmlformats.org/officeDocument/2006/relationships/image" Target="../media/image101.jpg"/><Relationship Id="rId4" Type="http://schemas.openxmlformats.org/officeDocument/2006/relationships/image" Target="../media/image100.jpg"/></Relationships>
</file>

<file path=ppt/slides/_rels/slide55.xml.rels><?xml version="1.0" encoding="UTF-8" standalone="yes"?>
<Relationships xmlns="http://schemas.openxmlformats.org/package/2006/relationships"><Relationship Id="rId3" Type="http://schemas.openxmlformats.org/officeDocument/2006/relationships/image" Target="../media/image105.jpg"/><Relationship Id="rId7" Type="http://schemas.openxmlformats.org/officeDocument/2006/relationships/image" Target="../media/image109.jpg"/><Relationship Id="rId2" Type="http://schemas.openxmlformats.org/officeDocument/2006/relationships/notesSlide" Target="../notesSlides/notesSlide55.xml"/><Relationship Id="rId1" Type="http://schemas.openxmlformats.org/officeDocument/2006/relationships/slideLayout" Target="../slideLayouts/slideLayout1.xml"/><Relationship Id="rId6" Type="http://schemas.openxmlformats.org/officeDocument/2006/relationships/image" Target="../media/image108.jpg"/><Relationship Id="rId5" Type="http://schemas.openxmlformats.org/officeDocument/2006/relationships/image" Target="../media/image107.jpg"/><Relationship Id="rId4" Type="http://schemas.openxmlformats.org/officeDocument/2006/relationships/image" Target="../media/image106.jpg"/></Relationships>
</file>

<file path=ppt/slides/_rels/slide5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3" Type="http://schemas.openxmlformats.org/officeDocument/2006/relationships/image" Target="../media/image110.jpg"/><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3" Type="http://schemas.openxmlformats.org/officeDocument/2006/relationships/image" Target="../media/image111.jpg"/><Relationship Id="rId7" Type="http://schemas.openxmlformats.org/officeDocument/2006/relationships/image" Target="../media/image115.jpg"/><Relationship Id="rId2" Type="http://schemas.openxmlformats.org/officeDocument/2006/relationships/notesSlide" Target="../notesSlides/notesSlide64.xml"/><Relationship Id="rId1" Type="http://schemas.openxmlformats.org/officeDocument/2006/relationships/slideLayout" Target="../slideLayouts/slideLayout1.xml"/><Relationship Id="rId6" Type="http://schemas.openxmlformats.org/officeDocument/2006/relationships/image" Target="../media/image114.jpg"/><Relationship Id="rId5" Type="http://schemas.openxmlformats.org/officeDocument/2006/relationships/image" Target="../media/image113.jpg"/><Relationship Id="rId4" Type="http://schemas.openxmlformats.org/officeDocument/2006/relationships/image" Target="../media/image112.jpg"/></Relationships>
</file>

<file path=ppt/slides/_rels/slide6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3" Type="http://schemas.openxmlformats.org/officeDocument/2006/relationships/image" Target="../media/image116.jpg"/><Relationship Id="rId7" Type="http://schemas.openxmlformats.org/officeDocument/2006/relationships/image" Target="../media/image120.jpg"/><Relationship Id="rId2" Type="http://schemas.openxmlformats.org/officeDocument/2006/relationships/notesSlide" Target="../notesSlides/notesSlide69.xml"/><Relationship Id="rId1" Type="http://schemas.openxmlformats.org/officeDocument/2006/relationships/slideLayout" Target="../slideLayouts/slideLayout1.xml"/><Relationship Id="rId6" Type="http://schemas.openxmlformats.org/officeDocument/2006/relationships/image" Target="../media/image119.jpg"/><Relationship Id="rId5" Type="http://schemas.openxmlformats.org/officeDocument/2006/relationships/image" Target="../media/image118.jpg"/><Relationship Id="rId4" Type="http://schemas.openxmlformats.org/officeDocument/2006/relationships/image" Target="../media/image117.jpg"/></Relationships>
</file>

<file path=ppt/slides/_rels/slide70.xml.rels><?xml version="1.0" encoding="UTF-8" standalone="yes"?>
<Relationships xmlns="http://schemas.openxmlformats.org/package/2006/relationships"><Relationship Id="rId3" Type="http://schemas.openxmlformats.org/officeDocument/2006/relationships/image" Target="../media/image121.jpg"/><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8" Type="http://schemas.openxmlformats.org/officeDocument/2006/relationships/audio" Target="../media/media3.mp3"/><Relationship Id="rId13" Type="http://schemas.microsoft.com/office/2007/relationships/media" Target="../media/media7.mp3"/><Relationship Id="rId18" Type="http://schemas.openxmlformats.org/officeDocument/2006/relationships/image" Target="../media/image5.png"/><Relationship Id="rId3" Type="http://schemas.microsoft.com/office/2007/relationships/media" Target="../media/media1.mp3"/><Relationship Id="rId7" Type="http://schemas.microsoft.com/office/2007/relationships/media" Target="../media/media3.mp3"/><Relationship Id="rId12" Type="http://schemas.openxmlformats.org/officeDocument/2006/relationships/audio" Target="../media/media6.mp3"/><Relationship Id="rId17" Type="http://schemas.openxmlformats.org/officeDocument/2006/relationships/image" Target="../media/image122.jpg"/><Relationship Id="rId2" Type="http://schemas.openxmlformats.org/officeDocument/2006/relationships/audio" Target="../media/media5.mp3"/><Relationship Id="rId16" Type="http://schemas.openxmlformats.org/officeDocument/2006/relationships/notesSlide" Target="../notesSlides/notesSlide71.xml"/><Relationship Id="rId1" Type="http://schemas.microsoft.com/office/2007/relationships/media" Target="../media/media5.mp3"/><Relationship Id="rId6" Type="http://schemas.openxmlformats.org/officeDocument/2006/relationships/audio" Target="../media/media2.mp3"/><Relationship Id="rId11" Type="http://schemas.microsoft.com/office/2007/relationships/media" Target="../media/media6.mp3"/><Relationship Id="rId5" Type="http://schemas.microsoft.com/office/2007/relationships/media" Target="../media/media2.mp3"/><Relationship Id="rId15" Type="http://schemas.openxmlformats.org/officeDocument/2006/relationships/slideLayout" Target="../slideLayouts/slideLayout1.xml"/><Relationship Id="rId10" Type="http://schemas.openxmlformats.org/officeDocument/2006/relationships/audio" Target="../media/media4.mp3"/><Relationship Id="rId4" Type="http://schemas.openxmlformats.org/officeDocument/2006/relationships/audio" Target="../media/media1.mp3"/><Relationship Id="rId9" Type="http://schemas.microsoft.com/office/2007/relationships/media" Target="../media/media4.mp3"/><Relationship Id="rId14" Type="http://schemas.openxmlformats.org/officeDocument/2006/relationships/audio" Target="../media/media7.mp3"/></Relationships>
</file>

<file path=ppt/slides/_rels/slide72.xml.rels><?xml version="1.0" encoding="UTF-8" standalone="yes"?>
<Relationships xmlns="http://schemas.openxmlformats.org/package/2006/relationships"><Relationship Id="rId8" Type="http://schemas.openxmlformats.org/officeDocument/2006/relationships/image" Target="../media/image128.jpg"/><Relationship Id="rId3" Type="http://schemas.openxmlformats.org/officeDocument/2006/relationships/image" Target="../media/image123.jpg"/><Relationship Id="rId7" Type="http://schemas.openxmlformats.org/officeDocument/2006/relationships/image" Target="../media/image127.jpg"/><Relationship Id="rId2" Type="http://schemas.openxmlformats.org/officeDocument/2006/relationships/notesSlide" Target="../notesSlides/notesSlide72.xml"/><Relationship Id="rId1" Type="http://schemas.openxmlformats.org/officeDocument/2006/relationships/slideLayout" Target="../slideLayouts/slideLayout1.xml"/><Relationship Id="rId6" Type="http://schemas.openxmlformats.org/officeDocument/2006/relationships/image" Target="../media/image126.jpg"/><Relationship Id="rId5" Type="http://schemas.openxmlformats.org/officeDocument/2006/relationships/image" Target="../media/image125.jpg"/><Relationship Id="rId4" Type="http://schemas.openxmlformats.org/officeDocument/2006/relationships/image" Target="../media/image124.jpg"/><Relationship Id="rId9" Type="http://schemas.openxmlformats.org/officeDocument/2006/relationships/image" Target="../media/image129.jpg"/></Relationships>
</file>

<file path=ppt/slides/_rels/slide73.xml.rels><?xml version="1.0" encoding="UTF-8" standalone="yes"?>
<Relationships xmlns="http://schemas.openxmlformats.org/package/2006/relationships"><Relationship Id="rId8" Type="http://schemas.openxmlformats.org/officeDocument/2006/relationships/image" Target="../media/image135.jpg"/><Relationship Id="rId3" Type="http://schemas.openxmlformats.org/officeDocument/2006/relationships/image" Target="../media/image130.jpg"/><Relationship Id="rId7" Type="http://schemas.openxmlformats.org/officeDocument/2006/relationships/image" Target="../media/image134.jpg"/><Relationship Id="rId2" Type="http://schemas.openxmlformats.org/officeDocument/2006/relationships/notesSlide" Target="../notesSlides/notesSlide73.xml"/><Relationship Id="rId1" Type="http://schemas.openxmlformats.org/officeDocument/2006/relationships/slideLayout" Target="../slideLayouts/slideLayout1.xml"/><Relationship Id="rId6" Type="http://schemas.openxmlformats.org/officeDocument/2006/relationships/image" Target="../media/image133.jpg"/><Relationship Id="rId5" Type="http://schemas.openxmlformats.org/officeDocument/2006/relationships/image" Target="../media/image132.jpg"/><Relationship Id="rId4" Type="http://schemas.openxmlformats.org/officeDocument/2006/relationships/image" Target="../media/image131.jpg"/></Relationships>
</file>

<file path=ppt/slides/_rels/slide74.xml.rels><?xml version="1.0" encoding="UTF-8" standalone="yes"?>
<Relationships xmlns="http://schemas.openxmlformats.org/package/2006/relationships"><Relationship Id="rId3" Type="http://schemas.openxmlformats.org/officeDocument/2006/relationships/image" Target="../media/image136.jpg"/><Relationship Id="rId7" Type="http://schemas.openxmlformats.org/officeDocument/2006/relationships/image" Target="../media/image140.jpg"/><Relationship Id="rId2" Type="http://schemas.openxmlformats.org/officeDocument/2006/relationships/notesSlide" Target="../notesSlides/notesSlide74.xml"/><Relationship Id="rId1" Type="http://schemas.openxmlformats.org/officeDocument/2006/relationships/slideLayout" Target="../slideLayouts/slideLayout1.xml"/><Relationship Id="rId6" Type="http://schemas.openxmlformats.org/officeDocument/2006/relationships/image" Target="../media/image139.jpg"/><Relationship Id="rId5" Type="http://schemas.openxmlformats.org/officeDocument/2006/relationships/image" Target="../media/image138.jpg"/><Relationship Id="rId4" Type="http://schemas.openxmlformats.org/officeDocument/2006/relationships/image" Target="../media/image137.jpg"/></Relationships>
</file>

<file path=ppt/slides/_rels/slide7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75.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76.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78.xml"/><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3" Type="http://schemas.openxmlformats.org/officeDocument/2006/relationships/image" Target="../media/image141.jpg"/><Relationship Id="rId2" Type="http://schemas.openxmlformats.org/officeDocument/2006/relationships/notesSlide" Target="../notesSlides/notesSlide79.xml"/><Relationship Id="rId1" Type="http://schemas.openxmlformats.org/officeDocument/2006/relationships/slideLayout" Target="../slideLayouts/slideLayout1.xml"/><Relationship Id="rId6" Type="http://schemas.openxmlformats.org/officeDocument/2006/relationships/image" Target="../media/image144.jpg"/><Relationship Id="rId5" Type="http://schemas.openxmlformats.org/officeDocument/2006/relationships/image" Target="../media/image143.jpg"/><Relationship Id="rId4" Type="http://schemas.openxmlformats.org/officeDocument/2006/relationships/image" Target="../media/image142.jpg"/></Relationships>
</file>

<file path=ppt/slides/_rels/slide80.xml.rels><?xml version="1.0" encoding="UTF-8" standalone="yes"?>
<Relationships xmlns="http://schemas.openxmlformats.org/package/2006/relationships"><Relationship Id="rId3" Type="http://schemas.openxmlformats.org/officeDocument/2006/relationships/image" Target="../media/image145.jpg"/><Relationship Id="rId7" Type="http://schemas.openxmlformats.org/officeDocument/2006/relationships/image" Target="../media/image149.jpg"/><Relationship Id="rId2" Type="http://schemas.openxmlformats.org/officeDocument/2006/relationships/notesSlide" Target="../notesSlides/notesSlide80.xml"/><Relationship Id="rId1" Type="http://schemas.openxmlformats.org/officeDocument/2006/relationships/slideLayout" Target="../slideLayouts/slideLayout1.xml"/><Relationship Id="rId6" Type="http://schemas.openxmlformats.org/officeDocument/2006/relationships/image" Target="../media/image148.jpg"/><Relationship Id="rId5" Type="http://schemas.openxmlformats.org/officeDocument/2006/relationships/image" Target="../media/image147.jpg"/><Relationship Id="rId4" Type="http://schemas.openxmlformats.org/officeDocument/2006/relationships/image" Target="../media/image146.jpg"/></Relationships>
</file>

<file path=ppt/slides/_rels/slide81.xml.rels><?xml version="1.0" encoding="UTF-8" standalone="yes"?>
<Relationships xmlns="http://schemas.openxmlformats.org/package/2006/relationships"><Relationship Id="rId8" Type="http://schemas.openxmlformats.org/officeDocument/2006/relationships/image" Target="../media/image155.jpg"/><Relationship Id="rId3" Type="http://schemas.openxmlformats.org/officeDocument/2006/relationships/image" Target="../media/image150.jpg"/><Relationship Id="rId7" Type="http://schemas.openxmlformats.org/officeDocument/2006/relationships/image" Target="../media/image154.jpg"/><Relationship Id="rId2" Type="http://schemas.openxmlformats.org/officeDocument/2006/relationships/notesSlide" Target="../notesSlides/notesSlide81.xml"/><Relationship Id="rId1" Type="http://schemas.openxmlformats.org/officeDocument/2006/relationships/slideLayout" Target="../slideLayouts/slideLayout1.xml"/><Relationship Id="rId6" Type="http://schemas.openxmlformats.org/officeDocument/2006/relationships/image" Target="../media/image153.jpg"/><Relationship Id="rId5" Type="http://schemas.openxmlformats.org/officeDocument/2006/relationships/image" Target="../media/image152.jpg"/><Relationship Id="rId4" Type="http://schemas.openxmlformats.org/officeDocument/2006/relationships/image" Target="../media/image151.jpg"/></Relationships>
</file>

<file path=ppt/slides/_rels/slide82.xml.rels><?xml version="1.0" encoding="UTF-8" standalone="yes"?>
<Relationships xmlns="http://schemas.openxmlformats.org/package/2006/relationships"><Relationship Id="rId3" Type="http://schemas.openxmlformats.org/officeDocument/2006/relationships/image" Target="../media/image156.jpg"/><Relationship Id="rId7" Type="http://schemas.openxmlformats.org/officeDocument/2006/relationships/image" Target="../media/image160.jpg"/><Relationship Id="rId2" Type="http://schemas.openxmlformats.org/officeDocument/2006/relationships/notesSlide" Target="../notesSlides/notesSlide82.xml"/><Relationship Id="rId1" Type="http://schemas.openxmlformats.org/officeDocument/2006/relationships/slideLayout" Target="../slideLayouts/slideLayout1.xml"/><Relationship Id="rId6" Type="http://schemas.openxmlformats.org/officeDocument/2006/relationships/image" Target="../media/image159.jpg"/><Relationship Id="rId5" Type="http://schemas.openxmlformats.org/officeDocument/2006/relationships/image" Target="../media/image158.jpg"/><Relationship Id="rId4" Type="http://schemas.openxmlformats.org/officeDocument/2006/relationships/image" Target="../media/image157.jpg"/></Relationships>
</file>

<file path=ppt/slides/_rels/slide8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83.xml"/><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84.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85.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86.xml"/><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3" Type="http://schemas.openxmlformats.org/officeDocument/2006/relationships/image" Target="../media/image161.jpg"/><Relationship Id="rId7" Type="http://schemas.openxmlformats.org/officeDocument/2006/relationships/image" Target="../media/image165.jpg"/><Relationship Id="rId2" Type="http://schemas.openxmlformats.org/officeDocument/2006/relationships/notesSlide" Target="../notesSlides/notesSlide87.xml"/><Relationship Id="rId1" Type="http://schemas.openxmlformats.org/officeDocument/2006/relationships/slideLayout" Target="../slideLayouts/slideLayout1.xml"/><Relationship Id="rId6" Type="http://schemas.openxmlformats.org/officeDocument/2006/relationships/image" Target="../media/image164.jpg"/><Relationship Id="rId5" Type="http://schemas.openxmlformats.org/officeDocument/2006/relationships/image" Target="../media/image163.jpg"/><Relationship Id="rId4" Type="http://schemas.openxmlformats.org/officeDocument/2006/relationships/image" Target="../media/image162.jpg"/></Relationships>
</file>

<file path=ppt/slides/_rels/slide88.xml.rels><?xml version="1.0" encoding="UTF-8" standalone="yes"?>
<Relationships xmlns="http://schemas.openxmlformats.org/package/2006/relationships"><Relationship Id="rId3" Type="http://schemas.openxmlformats.org/officeDocument/2006/relationships/image" Target="../media/image166.jpg"/><Relationship Id="rId2" Type="http://schemas.openxmlformats.org/officeDocument/2006/relationships/notesSlide" Target="../notesSlides/notesSlide88.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8" Type="http://schemas.openxmlformats.org/officeDocument/2006/relationships/image" Target="../media/image172.jpg"/><Relationship Id="rId3" Type="http://schemas.openxmlformats.org/officeDocument/2006/relationships/image" Target="../media/image167.jpg"/><Relationship Id="rId7" Type="http://schemas.openxmlformats.org/officeDocument/2006/relationships/image" Target="../media/image171.jpg"/><Relationship Id="rId2" Type="http://schemas.openxmlformats.org/officeDocument/2006/relationships/notesSlide" Target="../notesSlides/notesSlide89.xml"/><Relationship Id="rId1" Type="http://schemas.openxmlformats.org/officeDocument/2006/relationships/slideLayout" Target="../slideLayouts/slideLayout1.xml"/><Relationship Id="rId6" Type="http://schemas.openxmlformats.org/officeDocument/2006/relationships/image" Target="../media/image170.jpg"/><Relationship Id="rId5" Type="http://schemas.openxmlformats.org/officeDocument/2006/relationships/image" Target="../media/image169.jpg"/><Relationship Id="rId4" Type="http://schemas.openxmlformats.org/officeDocument/2006/relationships/image" Target="../media/image168.jpg"/><Relationship Id="rId9" Type="http://schemas.openxmlformats.org/officeDocument/2006/relationships/image" Target="../media/image173.jpg"/></Relationships>
</file>

<file path=ppt/slides/_rels/slide90.xml.rels><?xml version="1.0" encoding="UTF-8" standalone="yes"?>
<Relationships xmlns="http://schemas.openxmlformats.org/package/2006/relationships"><Relationship Id="rId8" Type="http://schemas.openxmlformats.org/officeDocument/2006/relationships/image" Target="../media/image179.jpg"/><Relationship Id="rId3" Type="http://schemas.openxmlformats.org/officeDocument/2006/relationships/image" Target="../media/image174.jpg"/><Relationship Id="rId7" Type="http://schemas.openxmlformats.org/officeDocument/2006/relationships/image" Target="../media/image178.jpg"/><Relationship Id="rId2" Type="http://schemas.openxmlformats.org/officeDocument/2006/relationships/notesSlide" Target="../notesSlides/notesSlide90.xml"/><Relationship Id="rId1" Type="http://schemas.openxmlformats.org/officeDocument/2006/relationships/slideLayout" Target="../slideLayouts/slideLayout1.xml"/><Relationship Id="rId6" Type="http://schemas.openxmlformats.org/officeDocument/2006/relationships/image" Target="../media/image177.jpg"/><Relationship Id="rId5" Type="http://schemas.openxmlformats.org/officeDocument/2006/relationships/image" Target="../media/image176.jpg"/><Relationship Id="rId4" Type="http://schemas.openxmlformats.org/officeDocument/2006/relationships/image" Target="../media/image175.jpg"/></Relationships>
</file>

<file path=ppt/slides/_rels/slide91.xml.rels><?xml version="1.0" encoding="UTF-8" standalone="yes"?>
<Relationships xmlns="http://schemas.openxmlformats.org/package/2006/relationships"><Relationship Id="rId3" Type="http://schemas.openxmlformats.org/officeDocument/2006/relationships/image" Target="../media/image180.jpg"/><Relationship Id="rId7" Type="http://schemas.openxmlformats.org/officeDocument/2006/relationships/image" Target="../media/image184.jpg"/><Relationship Id="rId2" Type="http://schemas.openxmlformats.org/officeDocument/2006/relationships/notesSlide" Target="../notesSlides/notesSlide91.xml"/><Relationship Id="rId1" Type="http://schemas.openxmlformats.org/officeDocument/2006/relationships/slideLayout" Target="../slideLayouts/slideLayout1.xml"/><Relationship Id="rId6" Type="http://schemas.openxmlformats.org/officeDocument/2006/relationships/image" Target="../media/image183.jpg"/><Relationship Id="rId5" Type="http://schemas.openxmlformats.org/officeDocument/2006/relationships/image" Target="../media/image182.jpg"/><Relationship Id="rId4" Type="http://schemas.openxmlformats.org/officeDocument/2006/relationships/image" Target="../media/image181.jpg"/></Relationships>
</file>

<file path=ppt/slides/_rels/slide9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92.xml"/><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93.xml"/><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94.xml"/><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95.xml"/><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96.xml"/><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8" Type="http://schemas.openxmlformats.org/officeDocument/2006/relationships/image" Target="../media/image190.jpg"/><Relationship Id="rId3" Type="http://schemas.openxmlformats.org/officeDocument/2006/relationships/image" Target="../media/image185.jpg"/><Relationship Id="rId7" Type="http://schemas.openxmlformats.org/officeDocument/2006/relationships/image" Target="../media/image189.jpg"/><Relationship Id="rId12" Type="http://schemas.openxmlformats.org/officeDocument/2006/relationships/image" Target="../media/image194.jpg"/><Relationship Id="rId2" Type="http://schemas.openxmlformats.org/officeDocument/2006/relationships/notesSlide" Target="../notesSlides/notesSlide97.xml"/><Relationship Id="rId1" Type="http://schemas.openxmlformats.org/officeDocument/2006/relationships/slideLayout" Target="../slideLayouts/slideLayout1.xml"/><Relationship Id="rId6" Type="http://schemas.openxmlformats.org/officeDocument/2006/relationships/image" Target="../media/image188.jpg"/><Relationship Id="rId11" Type="http://schemas.openxmlformats.org/officeDocument/2006/relationships/image" Target="../media/image193.jpg"/><Relationship Id="rId5" Type="http://schemas.openxmlformats.org/officeDocument/2006/relationships/image" Target="../media/image187.jpg"/><Relationship Id="rId10" Type="http://schemas.openxmlformats.org/officeDocument/2006/relationships/image" Target="../media/image192.jpg"/><Relationship Id="rId4" Type="http://schemas.openxmlformats.org/officeDocument/2006/relationships/image" Target="../media/image186.jpg"/><Relationship Id="rId9" Type="http://schemas.openxmlformats.org/officeDocument/2006/relationships/image" Target="../media/image191.jpg"/></Relationships>
</file>

<file path=ppt/slides/_rels/slide9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98.xml"/><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3" Type="http://schemas.openxmlformats.org/officeDocument/2006/relationships/image" Target="../media/image195.jpg"/><Relationship Id="rId2" Type="http://schemas.openxmlformats.org/officeDocument/2006/relationships/notesSlide" Target="../notesSlides/notesSlide99.xml"/><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00.xml"/><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01.xml"/><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02.xml"/><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03.xml"/><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3" Type="http://schemas.openxmlformats.org/officeDocument/2006/relationships/image" Target="../media/image196.jpg"/><Relationship Id="rId2" Type="http://schemas.openxmlformats.org/officeDocument/2006/relationships/notesSlide" Target="../notesSlides/notesSlide104.xml"/><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8" Type="http://schemas.openxmlformats.org/officeDocument/2006/relationships/image" Target="../media/image202.jpg"/><Relationship Id="rId3" Type="http://schemas.openxmlformats.org/officeDocument/2006/relationships/image" Target="../media/image197.jpg"/><Relationship Id="rId7" Type="http://schemas.openxmlformats.org/officeDocument/2006/relationships/image" Target="../media/image201.jpg"/><Relationship Id="rId2" Type="http://schemas.openxmlformats.org/officeDocument/2006/relationships/notesSlide" Target="../notesSlides/notesSlide105.xml"/><Relationship Id="rId1" Type="http://schemas.openxmlformats.org/officeDocument/2006/relationships/slideLayout" Target="../slideLayouts/slideLayout1.xml"/><Relationship Id="rId6" Type="http://schemas.openxmlformats.org/officeDocument/2006/relationships/image" Target="../media/image200.jpg"/><Relationship Id="rId5" Type="http://schemas.openxmlformats.org/officeDocument/2006/relationships/image" Target="../media/image199.jpg"/><Relationship Id="rId4" Type="http://schemas.openxmlformats.org/officeDocument/2006/relationships/image" Target="../media/image198.jpg"/><Relationship Id="rId9" Type="http://schemas.openxmlformats.org/officeDocument/2006/relationships/image" Target="../media/image203.jpg"/></Relationships>
</file>

<file path=ppt/slides/_rels/slide106.xml.rels><?xml version="1.0" encoding="UTF-8" standalone="yes"?>
<Relationships xmlns="http://schemas.openxmlformats.org/package/2006/relationships"><Relationship Id="rId8" Type="http://schemas.openxmlformats.org/officeDocument/2006/relationships/image" Target="../media/image209.jpg"/><Relationship Id="rId3" Type="http://schemas.openxmlformats.org/officeDocument/2006/relationships/image" Target="../media/image204.jpg"/><Relationship Id="rId7" Type="http://schemas.openxmlformats.org/officeDocument/2006/relationships/image" Target="../media/image208.jpg"/><Relationship Id="rId2" Type="http://schemas.openxmlformats.org/officeDocument/2006/relationships/notesSlide" Target="../notesSlides/notesSlide106.xml"/><Relationship Id="rId1" Type="http://schemas.openxmlformats.org/officeDocument/2006/relationships/slideLayout" Target="../slideLayouts/slideLayout1.xml"/><Relationship Id="rId6" Type="http://schemas.openxmlformats.org/officeDocument/2006/relationships/image" Target="../media/image207.jpg"/><Relationship Id="rId5" Type="http://schemas.openxmlformats.org/officeDocument/2006/relationships/image" Target="../media/image206.jpg"/><Relationship Id="rId4" Type="http://schemas.openxmlformats.org/officeDocument/2006/relationships/image" Target="../media/image205.jpg"/></Relationships>
</file>

<file path=ppt/slides/_rels/slide107.xml.rels><?xml version="1.0" encoding="UTF-8" standalone="yes"?>
<Relationships xmlns="http://schemas.openxmlformats.org/package/2006/relationships"><Relationship Id="rId3" Type="http://schemas.openxmlformats.org/officeDocument/2006/relationships/image" Target="../media/image210.jpg"/><Relationship Id="rId7" Type="http://schemas.openxmlformats.org/officeDocument/2006/relationships/image" Target="../media/image214.jpg"/><Relationship Id="rId2" Type="http://schemas.openxmlformats.org/officeDocument/2006/relationships/notesSlide" Target="../notesSlides/notesSlide107.xml"/><Relationship Id="rId1" Type="http://schemas.openxmlformats.org/officeDocument/2006/relationships/slideLayout" Target="../slideLayouts/slideLayout1.xml"/><Relationship Id="rId6" Type="http://schemas.openxmlformats.org/officeDocument/2006/relationships/image" Target="../media/image213.jpg"/><Relationship Id="rId5" Type="http://schemas.openxmlformats.org/officeDocument/2006/relationships/image" Target="../media/image212.jpg"/><Relationship Id="rId4" Type="http://schemas.openxmlformats.org/officeDocument/2006/relationships/image" Target="../media/image211.jpg"/></Relationships>
</file>

<file path=ppt/slides/_rels/slide10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08.xml"/><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09.xml"/><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10.xml"/><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11.xml"/><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12.xml"/><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3" Type="http://schemas.openxmlformats.org/officeDocument/2006/relationships/image" Target="../media/image215.jpg"/><Relationship Id="rId2" Type="http://schemas.openxmlformats.org/officeDocument/2006/relationships/notesSlide" Target="../notesSlides/notesSlide113.xml"/><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8" Type="http://schemas.openxmlformats.org/officeDocument/2006/relationships/image" Target="../media/image221.jpg"/><Relationship Id="rId3" Type="http://schemas.openxmlformats.org/officeDocument/2006/relationships/image" Target="../media/image216.jpg"/><Relationship Id="rId7" Type="http://schemas.openxmlformats.org/officeDocument/2006/relationships/image" Target="../media/image220.jpg"/><Relationship Id="rId2" Type="http://schemas.openxmlformats.org/officeDocument/2006/relationships/notesSlide" Target="../notesSlides/notesSlide114.xml"/><Relationship Id="rId1" Type="http://schemas.openxmlformats.org/officeDocument/2006/relationships/slideLayout" Target="../slideLayouts/slideLayout1.xml"/><Relationship Id="rId6" Type="http://schemas.openxmlformats.org/officeDocument/2006/relationships/image" Target="../media/image219.jpg"/><Relationship Id="rId5" Type="http://schemas.openxmlformats.org/officeDocument/2006/relationships/image" Target="../media/image218.jpg"/><Relationship Id="rId4" Type="http://schemas.openxmlformats.org/officeDocument/2006/relationships/image" Target="../media/image217.jpg"/><Relationship Id="rId9" Type="http://schemas.openxmlformats.org/officeDocument/2006/relationships/image" Target="../media/image222.jpg"/></Relationships>
</file>

<file path=ppt/slides/_rels/slide11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15.xml"/><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3" Type="http://schemas.openxmlformats.org/officeDocument/2006/relationships/image" Target="../media/image223.jpg"/><Relationship Id="rId7" Type="http://schemas.openxmlformats.org/officeDocument/2006/relationships/image" Target="../media/image227.jpg"/><Relationship Id="rId2" Type="http://schemas.openxmlformats.org/officeDocument/2006/relationships/notesSlide" Target="../notesSlides/notesSlide116.xml"/><Relationship Id="rId1" Type="http://schemas.openxmlformats.org/officeDocument/2006/relationships/slideLayout" Target="../slideLayouts/slideLayout1.xml"/><Relationship Id="rId6" Type="http://schemas.openxmlformats.org/officeDocument/2006/relationships/image" Target="../media/image226.jpg"/><Relationship Id="rId5" Type="http://schemas.openxmlformats.org/officeDocument/2006/relationships/image" Target="../media/image225.jpg"/><Relationship Id="rId4" Type="http://schemas.openxmlformats.org/officeDocument/2006/relationships/image" Target="../media/image224.jpg"/></Relationships>
</file>

<file path=ppt/slides/_rels/slide11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17.xml"/><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18.xml"/><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19.xml"/><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3" Type="http://schemas.openxmlformats.org/officeDocument/2006/relationships/image" Target="../media/image228.jpg"/><Relationship Id="rId2" Type="http://schemas.openxmlformats.org/officeDocument/2006/relationships/notesSlide" Target="../notesSlides/notesSlide120.xml"/><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3" Type="http://schemas.openxmlformats.org/officeDocument/2006/relationships/image" Target="../media/image229.jpg"/><Relationship Id="rId2" Type="http://schemas.openxmlformats.org/officeDocument/2006/relationships/notesSlide" Target="../notesSlides/notesSlide121.xml"/><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22.xml"/><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23.xml"/><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24.xml"/><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25.xml"/><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3" Type="http://schemas.openxmlformats.org/officeDocument/2006/relationships/image" Target="../media/image230.jpg"/><Relationship Id="rId2" Type="http://schemas.openxmlformats.org/officeDocument/2006/relationships/notesSlide" Target="../notesSlides/notesSlide126.xml"/><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27.xml"/><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3" Type="http://schemas.openxmlformats.org/officeDocument/2006/relationships/image" Target="../media/image231.jpg"/><Relationship Id="rId2" Type="http://schemas.openxmlformats.org/officeDocument/2006/relationships/notesSlide" Target="../notesSlides/notesSlide128.xml"/><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29.xml"/><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3" Type="http://schemas.openxmlformats.org/officeDocument/2006/relationships/image" Target="../media/image232.jpg"/><Relationship Id="rId2" Type="http://schemas.openxmlformats.org/officeDocument/2006/relationships/notesSlide" Target="../notesSlides/notesSlide130.xml"/><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31.xml"/><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32.xml"/><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33.xml"/><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3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731520"/>
            <a:ext cx="960120" cy="960120"/>
          </a:xfrm>
          <a:prstGeom prst="roundRect">
            <a:avLst>
              <a:gd name="adj" fmla="val 26667"/>
            </a:avLst>
          </a:prstGeom>
          <a:solidFill>
            <a:srgbClr val="D9AE4B"/>
          </a:solidFill>
          <a:ln/>
          <a:effectLst>
            <a:outerShdw blurRad="254000" dist="50800" dir="16200000" algn="bl" rotWithShape="0">
              <a:srgbClr val="D9AE4B">
                <a:alpha val="45000"/>
              </a:srgbClr>
            </a:outerShdw>
          </a:effectLst>
        </p:spPr>
      </p:sp>
      <p:sp>
        <p:nvSpPr>
          <p:cNvPr id="3" name="Text 1"/>
          <p:cNvSpPr/>
          <p:nvPr/>
        </p:nvSpPr>
        <p:spPr>
          <a:xfrm>
            <a:off x="5615788" y="731520"/>
            <a:ext cx="960120" cy="960120"/>
          </a:xfrm>
          <a:prstGeom prst="rect">
            <a:avLst/>
          </a:prstGeom>
          <a:noFill/>
          <a:ln/>
        </p:spPr>
        <p:txBody>
          <a:bodyPr wrap="square" lIns="0" tIns="0" rIns="0" bIns="0" rtlCol="0" anchor="ctr">
            <a:normAutofit/>
          </a:bodyPr>
          <a:lstStyle/>
          <a:p>
            <a:pPr marL="0" indent="0" algn="ctr" rtl="1">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1920240"/>
            <a:ext cx="12191695" cy="457200"/>
          </a:xfrm>
          <a:prstGeom prst="rect">
            <a:avLst/>
          </a:prstGeom>
          <a:noFill/>
          <a:ln/>
        </p:spPr>
        <p:txBody>
          <a:bodyPr wrap="square" lIns="0" tIns="0" rIns="0" bIns="0" rtlCol="0" anchor="ctr">
            <a:normAutofit/>
          </a:bodyPr>
          <a:lstStyle/>
          <a:p>
            <a:pPr marL="0" indent="0" algn="ctr" rtl="1">
              <a:buNone/>
            </a:pPr>
            <a:r>
              <a:rPr lang="ar-SA" altLang="en-US" sz="2000" b="1" dirty="0">
                <a:solidFill>
                  <a:srgbClr val="F0CC7A"/>
                </a:solidFill>
                <a:latin typeface="Cairo" pitchFamily="34" charset="0"/>
                <a:ea typeface="Cairo" pitchFamily="34" charset="-122"/>
                <a:cs typeface="Cairo" pitchFamily="34" charset="-120"/>
              </a:rPr>
              <a:t>الأردوينو للمعلمين · الدورة السادسة</a:t>
            </a:r>
            <a:endParaRPr lang="ar-SA" sz="2000" dirty="0"/>
          </a:p>
        </p:txBody>
      </p:sp>
      <p:sp>
        <p:nvSpPr>
          <p:cNvPr id="5" name="Text 3"/>
          <p:cNvSpPr/>
          <p:nvPr/>
        </p:nvSpPr>
        <p:spPr>
          <a:xfrm>
            <a:off x="0" y="2331720"/>
            <a:ext cx="12191695" cy="1463040"/>
          </a:xfrm>
          <a:prstGeom prst="rect">
            <a:avLst/>
          </a:prstGeom>
          <a:noFill/>
          <a:ln/>
        </p:spPr>
        <p:txBody>
          <a:bodyPr wrap="square" lIns="0" tIns="0" rIns="0" bIns="0" rtlCol="0" anchor="ctr">
            <a:normAutofit/>
          </a:bodyPr>
          <a:lstStyle/>
          <a:p>
            <a:pPr marL="0" indent="0" algn="ctr" rtl="1">
              <a:buNone/>
            </a:pPr>
            <a:r>
              <a:rPr lang="ar-SA" altLang="en-US" sz="9600" dirty="0">
                <a:solidFill>
                  <a:srgbClr val="FFF3D6"/>
                </a:solidFill>
                <a:latin typeface="Cairo Black" pitchFamily="34" charset="0"/>
                <a:ea typeface="Cairo Black" pitchFamily="34" charset="-122"/>
                <a:cs typeface="Cairo Black" pitchFamily="34" charset="-120"/>
              </a:rPr>
              <a:t>صانع الذكريات التراثية</a:t>
            </a:r>
            <a:endParaRPr lang="ar-SA" sz="9600" dirty="0"/>
          </a:p>
        </p:txBody>
      </p:sp>
      <p:sp>
        <p:nvSpPr>
          <p:cNvPr id="6" name="Text 4"/>
          <p:cNvSpPr/>
          <p:nvPr/>
        </p:nvSpPr>
        <p:spPr>
          <a:xfrm>
            <a:off x="0" y="3794760"/>
            <a:ext cx="12191695" cy="640080"/>
          </a:xfrm>
          <a:prstGeom prst="rect">
            <a:avLst/>
          </a:prstGeom>
          <a:noFill/>
          <a:ln/>
        </p:spPr>
        <p:txBody>
          <a:bodyPr wrap="square" lIns="0" tIns="0" rIns="0" bIns="0" rtlCol="0" anchor="ctr">
            <a:normAutofit/>
          </a:bodyPr>
          <a:lstStyle/>
          <a:p>
            <a:pPr marL="0" indent="0" algn="ctr" rtl="1">
              <a:buNone/>
            </a:pPr>
            <a:r>
              <a:rPr lang="ar-SA" altLang="en-US" sz="2800" b="1" dirty="0">
                <a:solidFill>
                  <a:srgbClr val="FFFFFF"/>
                </a:solidFill>
                <a:latin typeface="Cairo" pitchFamily="34" charset="0"/>
                <a:ea typeface="Cairo" pitchFamily="34" charset="-122"/>
                <a:cs typeface="Cairo" pitchFamily="34" charset="-120"/>
              </a:rPr>
              <a:t>تراث نعيشه… وذكرى نحملها</a:t>
            </a:r>
            <a:endParaRPr lang="ar-SA" sz="2800" dirty="0"/>
          </a:p>
        </p:txBody>
      </p:sp>
      <p:sp>
        <p:nvSpPr>
          <p:cNvPr id="7" name="Shape 5"/>
          <p:cNvSpPr/>
          <p:nvPr/>
        </p:nvSpPr>
        <p:spPr>
          <a:xfrm>
            <a:off x="5364328" y="4617720"/>
            <a:ext cx="1463040" cy="36576"/>
          </a:xfrm>
          <a:prstGeom prst="rect">
            <a:avLst/>
          </a:prstGeom>
          <a:solidFill>
            <a:srgbClr val="D9AE4B"/>
          </a:solidFill>
          <a:ln/>
        </p:spPr>
      </p:sp>
      <p:sp>
        <p:nvSpPr>
          <p:cNvPr id="8" name="Text 6"/>
          <p:cNvSpPr/>
          <p:nvPr/>
        </p:nvSpPr>
        <p:spPr>
          <a:xfrm>
            <a:off x="0" y="5029200"/>
            <a:ext cx="12191695" cy="457200"/>
          </a:xfrm>
          <a:prstGeom prst="rect">
            <a:avLst/>
          </a:prstGeom>
          <a:noFill/>
          <a:ln/>
        </p:spPr>
        <p:txBody>
          <a:bodyPr wrap="square" lIns="0" tIns="0" rIns="0" bIns="0" rtlCol="0" anchor="ctr">
            <a:normAutofit/>
          </a:bodyPr>
          <a:lstStyle/>
          <a:p>
            <a:pPr marL="0" indent="0" algn="ctr">
              <a:buNone/>
            </a:pPr>
            <a:r>
              <a:rPr lang="ar-SA" altLang="en-US" sz="2000" b="1" dirty="0">
                <a:solidFill>
                  <a:srgbClr val="C9CFE6"/>
                </a:solidFill>
                <a:latin typeface="Cairo" pitchFamily="34" charset="0"/>
                <a:ea typeface="Cairo" pitchFamily="34" charset="-122"/>
                <a:cs typeface="Cairo" pitchFamily="34" charset="-120"/>
              </a:rPr>
              <a:t>إعداد وتقديم: </a:t>
            </a:r>
            <a:r>
              <a:rPr lang="ar-SA" altLang="en-US" sz="2000" b="1" dirty="0">
                <a:solidFill>
                  <a:srgbClr val="D9AE4B"/>
                </a:solidFill>
                <a:latin typeface="Cairo" pitchFamily="34" charset="0"/>
                <a:ea typeface="Cairo" pitchFamily="34" charset="-122"/>
                <a:cs typeface="Cairo" pitchFamily="34" charset="-120"/>
              </a:rPr>
              <a:t>أ. محمد زيتون</a:t>
            </a:r>
            <a:endParaRPr lang="ar-SA"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مقدّم الدورة</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أ. محمد زيتون</a:t>
            </a:r>
            <a:endParaRPr lang="ar-SA" sz="3800" dirty="0"/>
          </a:p>
        </p:txBody>
      </p:sp>
      <p:sp>
        <p:nvSpPr>
          <p:cNvPr id="5" name="Text 3"/>
          <p:cNvSpPr/>
          <p:nvPr/>
        </p:nvSpPr>
        <p:spPr>
          <a:xfrm>
            <a:off x="822960" y="1783080"/>
            <a:ext cx="10545775" cy="457200"/>
          </a:xfrm>
          <a:prstGeom prst="rect">
            <a:avLst/>
          </a:prstGeom>
          <a:noFill/>
          <a:ln/>
        </p:spPr>
        <p:txBody>
          <a:bodyPr wrap="square" lIns="0" tIns="0" rIns="0" bIns="0" rtlCol="0" anchor="ctr">
            <a:normAutofit/>
          </a:bodyPr>
          <a:lstStyle/>
          <a:p>
            <a:pPr marL="0" indent="0" algn="r" rtl="1">
              <a:buNone/>
            </a:pPr>
            <a:r>
              <a:rPr lang="ar-SA" altLang="en-US" sz="2000" b="1" dirty="0">
                <a:solidFill>
                  <a:srgbClr val="22346F"/>
                </a:solidFill>
                <a:latin typeface="Cairo" pitchFamily="34" charset="0"/>
                <a:ea typeface="Cairo" pitchFamily="34" charset="-122"/>
                <a:cs typeface="Cairo" pitchFamily="34" charset="-120"/>
              </a:rPr>
              <a:t>مشرف تربوي — الابتكار والذكاء الاصطناعي وSTEAM · مدارس الأرقم</a:t>
            </a:r>
            <a:endParaRPr lang="ar-SA" sz="2000" dirty="0"/>
          </a:p>
        </p:txBody>
      </p:sp>
      <p:sp>
        <p:nvSpPr>
          <p:cNvPr id="6" name="anim-g1-1"/>
          <p:cNvSpPr/>
          <p:nvPr/>
        </p:nvSpPr>
        <p:spPr>
          <a:xfrm>
            <a:off x="8066837" y="2560320"/>
            <a:ext cx="3301898" cy="2286000"/>
          </a:xfrm>
          <a:prstGeom prst="roundRect">
            <a:avLst>
              <a:gd name="adj" fmla="val 7200"/>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7" name="anim-g1-2"/>
          <p:cNvSpPr/>
          <p:nvPr/>
        </p:nvSpPr>
        <p:spPr>
          <a:xfrm>
            <a:off x="8066837" y="2743200"/>
            <a:ext cx="3301898" cy="1097280"/>
          </a:xfrm>
          <a:prstGeom prst="rect">
            <a:avLst/>
          </a:prstGeom>
          <a:noFill/>
          <a:ln/>
        </p:spPr>
        <p:txBody>
          <a:bodyPr wrap="square" lIns="0" tIns="0" rIns="0" bIns="0" rtlCol="0" anchor="ctr">
            <a:normAutofit/>
          </a:bodyPr>
          <a:lstStyle/>
          <a:p>
            <a:pPr marL="0" indent="0" algn="ctr" rtl="1">
              <a:buNone/>
            </a:pPr>
            <a:r>
              <a:rPr lang="ar-SA" altLang="en-US" sz="5600" dirty="0">
                <a:solidFill>
                  <a:srgbClr val="B08A2E"/>
                </a:solidFill>
                <a:latin typeface="Cairo Black" pitchFamily="34" charset="0"/>
                <a:ea typeface="Cairo Black" pitchFamily="34" charset="-122"/>
                <a:cs typeface="Cairo Black" pitchFamily="34" charset="-120"/>
              </a:rPr>
              <a:t>٣٣</a:t>
            </a:r>
            <a:endParaRPr lang="ar-SA" sz="5600" dirty="0"/>
          </a:p>
        </p:txBody>
      </p:sp>
      <p:sp>
        <p:nvSpPr>
          <p:cNvPr id="8" name="anim-g1-3"/>
          <p:cNvSpPr/>
          <p:nvPr/>
        </p:nvSpPr>
        <p:spPr>
          <a:xfrm>
            <a:off x="8249717" y="3886200"/>
            <a:ext cx="2936138" cy="731520"/>
          </a:xfrm>
          <a:prstGeom prst="rect">
            <a:avLst/>
          </a:prstGeom>
          <a:noFill/>
          <a:ln/>
        </p:spPr>
        <p:txBody>
          <a:bodyPr wrap="square" lIns="0" tIns="0" rIns="0" bIns="0" rtlCol="0" anchor="ctr">
            <a:normAutofit/>
          </a:bodyPr>
          <a:lstStyle/>
          <a:p>
            <a:pPr marL="0" indent="0" algn="ctr" rtl="1">
              <a:buNone/>
            </a:pPr>
            <a:r>
              <a:rPr lang="ar-SA" altLang="en-US" sz="2000" b="1" dirty="0">
                <a:solidFill>
                  <a:srgbClr val="101B45"/>
                </a:solidFill>
                <a:latin typeface="Cairo" pitchFamily="34" charset="0"/>
                <a:ea typeface="Cairo" pitchFamily="34" charset="-122"/>
                <a:cs typeface="Cairo" pitchFamily="34" charset="-120"/>
              </a:rPr>
              <a:t>عامًا في الميدان التعليمي</a:t>
            </a:r>
            <a:endParaRPr lang="ar-SA" sz="2000" dirty="0"/>
          </a:p>
        </p:txBody>
      </p:sp>
      <p:sp>
        <p:nvSpPr>
          <p:cNvPr id="9" name="anim-g2-4"/>
          <p:cNvSpPr/>
          <p:nvPr/>
        </p:nvSpPr>
        <p:spPr>
          <a:xfrm>
            <a:off x="4444898" y="2560320"/>
            <a:ext cx="3301898" cy="2286000"/>
          </a:xfrm>
          <a:prstGeom prst="roundRect">
            <a:avLst>
              <a:gd name="adj" fmla="val 7200"/>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0" name="anim-g2-5"/>
          <p:cNvSpPr/>
          <p:nvPr/>
        </p:nvSpPr>
        <p:spPr>
          <a:xfrm>
            <a:off x="4444898" y="2743200"/>
            <a:ext cx="3301898" cy="1097280"/>
          </a:xfrm>
          <a:prstGeom prst="rect">
            <a:avLst/>
          </a:prstGeom>
          <a:noFill/>
          <a:ln/>
        </p:spPr>
        <p:txBody>
          <a:bodyPr wrap="square" lIns="0" tIns="0" rIns="0" bIns="0" rtlCol="0" anchor="ctr">
            <a:normAutofit/>
          </a:bodyPr>
          <a:lstStyle/>
          <a:p>
            <a:pPr marL="0" indent="0" algn="ctr" rtl="1">
              <a:buNone/>
            </a:pPr>
            <a:r>
              <a:rPr lang="ar-SA" altLang="en-US" sz="5600" dirty="0">
                <a:solidFill>
                  <a:srgbClr val="B08A2E"/>
                </a:solidFill>
                <a:latin typeface="Cairo Black" pitchFamily="34" charset="0"/>
                <a:ea typeface="Cairo Black" pitchFamily="34" charset="-122"/>
                <a:cs typeface="Cairo Black" pitchFamily="34" charset="-120"/>
              </a:rPr>
              <a:t>٣</a:t>
            </a:r>
            <a:endParaRPr lang="ar-SA" sz="5600" dirty="0"/>
          </a:p>
        </p:txBody>
      </p:sp>
      <p:sp>
        <p:nvSpPr>
          <p:cNvPr id="11" name="anim-g2-6"/>
          <p:cNvSpPr/>
          <p:nvPr/>
        </p:nvSpPr>
        <p:spPr>
          <a:xfrm>
            <a:off x="4627778" y="3886200"/>
            <a:ext cx="2936138" cy="731520"/>
          </a:xfrm>
          <a:prstGeom prst="rect">
            <a:avLst/>
          </a:prstGeom>
          <a:noFill/>
          <a:ln/>
        </p:spPr>
        <p:txBody>
          <a:bodyPr wrap="square" lIns="0" tIns="0" rIns="0" bIns="0" rtlCol="0" anchor="ctr">
            <a:normAutofit/>
          </a:bodyPr>
          <a:lstStyle/>
          <a:p>
            <a:pPr marL="0" indent="0" algn="ctr" rtl="1">
              <a:buNone/>
            </a:pPr>
            <a:r>
              <a:rPr lang="ar-SA" altLang="en-US" sz="2000" b="1" dirty="0">
                <a:solidFill>
                  <a:srgbClr val="101B45"/>
                </a:solidFill>
                <a:latin typeface="Cairo" pitchFamily="34" charset="0"/>
                <a:ea typeface="Cairo" pitchFamily="34" charset="-122"/>
                <a:cs typeface="Cairo" pitchFamily="34" charset="-120"/>
              </a:rPr>
              <a:t>كتب في تعليم الأردوينو</a:t>
            </a:r>
            <a:endParaRPr lang="ar-SA" sz="2000" dirty="0"/>
          </a:p>
        </p:txBody>
      </p:sp>
      <p:sp>
        <p:nvSpPr>
          <p:cNvPr id="12" name="anim-g3-7"/>
          <p:cNvSpPr/>
          <p:nvPr/>
        </p:nvSpPr>
        <p:spPr>
          <a:xfrm>
            <a:off x="822960" y="2560320"/>
            <a:ext cx="3301898" cy="2286000"/>
          </a:xfrm>
          <a:prstGeom prst="roundRect">
            <a:avLst>
              <a:gd name="adj" fmla="val 7200"/>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3" name="anim-g3-8"/>
          <p:cNvSpPr/>
          <p:nvPr/>
        </p:nvSpPr>
        <p:spPr>
          <a:xfrm>
            <a:off x="822960" y="2743200"/>
            <a:ext cx="3301898" cy="1097280"/>
          </a:xfrm>
          <a:prstGeom prst="rect">
            <a:avLst/>
          </a:prstGeom>
          <a:noFill/>
          <a:ln/>
        </p:spPr>
        <p:txBody>
          <a:bodyPr wrap="square" lIns="0" tIns="0" rIns="0" bIns="0" rtlCol="0" anchor="ctr">
            <a:normAutofit/>
          </a:bodyPr>
          <a:lstStyle/>
          <a:p>
            <a:pPr marL="0" indent="0" algn="ctr" rtl="1">
              <a:buNone/>
            </a:pPr>
            <a:r>
              <a:rPr lang="ar-SA" altLang="en-US" sz="5600" dirty="0">
                <a:solidFill>
                  <a:srgbClr val="B08A2E"/>
                </a:solidFill>
                <a:latin typeface="Cairo Black" pitchFamily="34" charset="0"/>
                <a:ea typeface="Cairo Black" pitchFamily="34" charset="-122"/>
                <a:cs typeface="Cairo Black" pitchFamily="34" charset="-120"/>
              </a:rPr>
              <a:t>WRO 2026</a:t>
            </a:r>
            <a:endParaRPr lang="ar-SA" sz="5600" dirty="0"/>
          </a:p>
        </p:txBody>
      </p:sp>
      <p:sp>
        <p:nvSpPr>
          <p:cNvPr id="14" name="anim-g3-9"/>
          <p:cNvSpPr/>
          <p:nvPr/>
        </p:nvSpPr>
        <p:spPr>
          <a:xfrm>
            <a:off x="1005840" y="3886200"/>
            <a:ext cx="2936138" cy="731520"/>
          </a:xfrm>
          <a:prstGeom prst="rect">
            <a:avLst/>
          </a:prstGeom>
          <a:noFill/>
          <a:ln/>
        </p:spPr>
        <p:txBody>
          <a:bodyPr wrap="square" lIns="0" tIns="0" rIns="0" bIns="0" rtlCol="0" anchor="ctr">
            <a:normAutofit/>
          </a:bodyPr>
          <a:lstStyle/>
          <a:p>
            <a:pPr marL="0" indent="0" algn="ctr" rtl="1">
              <a:buNone/>
            </a:pPr>
            <a:r>
              <a:rPr lang="ar-SA" altLang="en-US" sz="2000" b="1" dirty="0">
                <a:solidFill>
                  <a:srgbClr val="101B45"/>
                </a:solidFill>
                <a:latin typeface="Cairo" pitchFamily="34" charset="0"/>
                <a:ea typeface="Cairo" pitchFamily="34" charset="-122"/>
                <a:cs typeface="Cairo" pitchFamily="34" charset="-120"/>
              </a:rPr>
              <a:t>Robots Meet Culture</a:t>
            </a:r>
            <a:endParaRPr lang="ar-SA" sz="2000" dirty="0"/>
          </a:p>
        </p:txBody>
      </p:sp>
      <p:sp>
        <p:nvSpPr>
          <p:cNvPr id="15" name="anim-g4-10"/>
          <p:cNvSpPr/>
          <p:nvPr/>
        </p:nvSpPr>
        <p:spPr>
          <a:xfrm>
            <a:off x="822960" y="5257800"/>
            <a:ext cx="10545775"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5E6782"/>
                </a:solidFill>
                <a:latin typeface="Cairo" pitchFamily="34" charset="0"/>
                <a:ea typeface="Cairo" pitchFamily="34" charset="-122"/>
                <a:cs typeface="Cairo" pitchFamily="34" charset="-120"/>
              </a:rPr>
              <a:t>فريق Al arqam inventors · مدارس الأرقم · «تراث نعيشه… وذكرى نحملها»</a:t>
            </a:r>
            <a:endParaRPr lang="ar-SA" sz="1800" dirty="0"/>
          </a:p>
        </p:txBody>
      </p:sp>
      <p:sp>
        <p:nvSpPr>
          <p:cNvPr id="16" name="Text 14"/>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صانع الذكريات التراثية</a:t>
            </a:r>
            <a:endParaRPr lang="ar-SA" sz="1200" dirty="0"/>
          </a:p>
        </p:txBody>
      </p:sp>
      <p:sp>
        <p:nvSpPr>
          <p:cNvPr id="17" name="Text 15"/>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الافتتاح  ·  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4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400"/>
                                        <p:tgtEl>
                                          <p:spTgt spid="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400"/>
                                        <p:tgtEl>
                                          <p:spTgt spid="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4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400"/>
                                        <p:tgtEl>
                                          <p:spTgt spid="1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400"/>
                                        <p:tgtEl>
                                          <p:spTgt spid="1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400"/>
                                        <p:tgtEl>
                                          <p:spTgt spid="1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400"/>
                                        <p:tgtEl>
                                          <p:spTgt spid="14"/>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4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C:\Users\user\projects\younes-training\heritage\.pptx-cache\s3.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613087" y="457200"/>
            <a:ext cx="1755648" cy="457200"/>
          </a:xfrm>
          <a:prstGeom prst="roundRect">
            <a:avLst>
              <a:gd name="adj" fmla="val 50000"/>
            </a:avLst>
          </a:prstGeom>
          <a:solidFill>
            <a:srgbClr val="F6EBCF"/>
          </a:solidFill>
          <a:ln/>
        </p:spPr>
      </p:sp>
      <p:sp>
        <p:nvSpPr>
          <p:cNvPr id="3" name="Text 1"/>
          <p:cNvSpPr/>
          <p:nvPr/>
        </p:nvSpPr>
        <p:spPr>
          <a:xfrm>
            <a:off x="9613087" y="457200"/>
            <a:ext cx="175564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المشكلة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التراث في الكتب ثابت… والأطفال يحبون ما يتحرك</a:t>
            </a:r>
            <a:endParaRPr lang="ar-SA" sz="3200" dirty="0"/>
          </a:p>
        </p:txBody>
      </p:sp>
      <p:sp>
        <p:nvSpPr>
          <p:cNvPr id="5" name="anim-g1-11"/>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12"/>
          <p:cNvSpPr/>
          <p:nvPr/>
        </p:nvSpPr>
        <p:spPr>
          <a:xfrm>
            <a:off x="10527487" y="2267712"/>
            <a:ext cx="566928" cy="566928"/>
          </a:xfrm>
          <a:prstGeom prst="roundRect">
            <a:avLst>
              <a:gd name="adj" fmla="val 32258"/>
            </a:avLst>
          </a:prstGeom>
          <a:solidFill>
            <a:srgbClr val="F7E6BC"/>
          </a:solidFill>
          <a:ln/>
        </p:spPr>
      </p:sp>
      <p:sp>
        <p:nvSpPr>
          <p:cNvPr id="7" name="anim-g1-13"/>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4"/>
          <p:cNvSpPr/>
          <p:nvPr/>
        </p:nvSpPr>
        <p:spPr>
          <a:xfrm>
            <a:off x="8310677"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نصوص وصور ثابتة</a:t>
            </a:r>
            <a:endParaRPr lang="ar-SA" sz="2200" dirty="0"/>
          </a:p>
        </p:txBody>
      </p:sp>
      <p:sp>
        <p:nvSpPr>
          <p:cNvPr id="9" name="anim-g1-15"/>
          <p:cNvSpPr/>
          <p:nvPr/>
        </p:nvSpPr>
        <p:spPr>
          <a:xfrm>
            <a:off x="8310677"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انتباه قصير وتذكّر محدود</a:t>
            </a:r>
            <a:endParaRPr lang="ar-SA" sz="1900" dirty="0"/>
          </a:p>
        </p:txBody>
      </p:sp>
      <p:sp>
        <p:nvSpPr>
          <p:cNvPr id="10" name="anim-g2-16"/>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17"/>
          <p:cNvSpPr/>
          <p:nvPr/>
        </p:nvSpPr>
        <p:spPr>
          <a:xfrm>
            <a:off x="6920789" y="2267712"/>
            <a:ext cx="566928" cy="566928"/>
          </a:xfrm>
          <a:prstGeom prst="roundRect">
            <a:avLst>
              <a:gd name="adj" fmla="val 32258"/>
            </a:avLst>
          </a:prstGeom>
          <a:solidFill>
            <a:srgbClr val="F7E6BC"/>
          </a:solidFill>
          <a:ln/>
        </p:spPr>
      </p:sp>
      <p:sp>
        <p:nvSpPr>
          <p:cNvPr id="12" name="anim-g2-18"/>
          <p:cNvSpPr/>
          <p:nvPr/>
        </p:nvSpPr>
        <p:spPr>
          <a:xfrm>
            <a:off x="6920789"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9"/>
          <p:cNvSpPr/>
          <p:nvPr/>
        </p:nvSpPr>
        <p:spPr>
          <a:xfrm>
            <a:off x="4703978"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الشاشات تنافس</a:t>
            </a:r>
            <a:endParaRPr lang="ar-SA" sz="2200" dirty="0"/>
          </a:p>
        </p:txBody>
      </p:sp>
      <p:sp>
        <p:nvSpPr>
          <p:cNvPr id="14" name="anim-g2-20"/>
          <p:cNvSpPr/>
          <p:nvPr/>
        </p:nvSpPr>
        <p:spPr>
          <a:xfrm>
            <a:off x="4703978"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الألعاب الرقمية السريعة أجذب من تجربة واقعية</a:t>
            </a:r>
            <a:endParaRPr lang="ar-SA" sz="1900" dirty="0"/>
          </a:p>
        </p:txBody>
      </p:sp>
      <p:sp>
        <p:nvSpPr>
          <p:cNvPr id="15" name="anim-g3-21"/>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22"/>
          <p:cNvSpPr/>
          <p:nvPr/>
        </p:nvSpPr>
        <p:spPr>
          <a:xfrm>
            <a:off x="3314090" y="2267712"/>
            <a:ext cx="566928" cy="566928"/>
          </a:xfrm>
          <a:prstGeom prst="roundRect">
            <a:avLst>
              <a:gd name="adj" fmla="val 32258"/>
            </a:avLst>
          </a:prstGeom>
          <a:solidFill>
            <a:srgbClr val="F7E6BC"/>
          </a:solidFill>
          <a:ln/>
        </p:spPr>
      </p:sp>
      <p:sp>
        <p:nvSpPr>
          <p:cNvPr id="17" name="anim-g3-23"/>
          <p:cNvSpPr/>
          <p:nvPr/>
        </p:nvSpPr>
        <p:spPr>
          <a:xfrm>
            <a:off x="331409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24"/>
          <p:cNvSpPr/>
          <p:nvPr/>
        </p:nvSpPr>
        <p:spPr>
          <a:xfrm>
            <a:off x="1097280"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معلومة عابرة</a:t>
            </a:r>
            <a:endParaRPr lang="ar-SA" sz="2200" dirty="0"/>
          </a:p>
        </p:txBody>
      </p:sp>
      <p:sp>
        <p:nvSpPr>
          <p:cNvPr id="19" name="anim-g3-25"/>
          <p:cNvSpPr/>
          <p:nvPr/>
        </p:nvSpPr>
        <p:spPr>
          <a:xfrm>
            <a:off x="1097280"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الخيمة والسيف والفخار والملابس لا ترتبط بتجربة يتذكرها</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صانع الذكريات التراثية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الافتتاح  ·  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418527" y="457200"/>
            <a:ext cx="3950208" cy="457200"/>
          </a:xfrm>
          <a:prstGeom prst="roundRect">
            <a:avLst>
              <a:gd name="adj" fmla="val 50000"/>
            </a:avLst>
          </a:prstGeom>
          <a:solidFill>
            <a:srgbClr val="F6EBCF"/>
          </a:solidFill>
          <a:ln/>
        </p:spPr>
      </p:sp>
      <p:sp>
        <p:nvSpPr>
          <p:cNvPr id="3" name="Text 1"/>
          <p:cNvSpPr/>
          <p:nvPr/>
        </p:nvSpPr>
        <p:spPr>
          <a:xfrm>
            <a:off x="7418527" y="457200"/>
            <a:ext cx="395020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من الملاحظة إلى الفكرة</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ثلاث أفكار… واختيار مدروس</a:t>
            </a:r>
            <a:endParaRPr lang="ar-SA" sz="3800" dirty="0"/>
          </a:p>
        </p:txBody>
      </p:sp>
      <p:sp>
        <p:nvSpPr>
          <p:cNvPr id="5" name="Shape 3"/>
          <p:cNvSpPr/>
          <p:nvPr/>
        </p:nvSpPr>
        <p:spPr>
          <a:xfrm>
            <a:off x="8992784" y="1874520"/>
            <a:ext cx="2375951" cy="548640"/>
          </a:xfrm>
          <a:prstGeom prst="roundRect">
            <a:avLst>
              <a:gd name="adj" fmla="val 20000"/>
            </a:avLst>
          </a:prstGeom>
          <a:solidFill>
            <a:srgbClr val="101B45"/>
          </a:solidFill>
          <a:ln/>
        </p:spPr>
      </p:sp>
      <p:sp>
        <p:nvSpPr>
          <p:cNvPr id="6" name="Text 4"/>
          <p:cNvSpPr/>
          <p:nvPr/>
        </p:nvSpPr>
        <p:spPr>
          <a:xfrm>
            <a:off x="8992784" y="1874520"/>
            <a:ext cx="2375951"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الفكرة</a:t>
            </a:r>
            <a:endParaRPr lang="ar-SA" sz="1900" dirty="0"/>
          </a:p>
        </p:txBody>
      </p:sp>
      <p:sp>
        <p:nvSpPr>
          <p:cNvPr id="7" name="Shape 5"/>
          <p:cNvSpPr/>
          <p:nvPr/>
        </p:nvSpPr>
        <p:spPr>
          <a:xfrm>
            <a:off x="6031914" y="1874520"/>
            <a:ext cx="2851142" cy="548640"/>
          </a:xfrm>
          <a:prstGeom prst="roundRect">
            <a:avLst>
              <a:gd name="adj" fmla="val 20000"/>
            </a:avLst>
          </a:prstGeom>
          <a:solidFill>
            <a:srgbClr val="101B45"/>
          </a:solidFill>
          <a:ln/>
        </p:spPr>
      </p:sp>
      <p:sp>
        <p:nvSpPr>
          <p:cNvPr id="8" name="Text 6"/>
          <p:cNvSpPr/>
          <p:nvPr/>
        </p:nvSpPr>
        <p:spPr>
          <a:xfrm>
            <a:off x="6031914" y="1874520"/>
            <a:ext cx="2851142"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الميزة</a:t>
            </a:r>
            <a:endParaRPr lang="ar-SA" sz="1900" dirty="0"/>
          </a:p>
        </p:txBody>
      </p:sp>
      <p:sp>
        <p:nvSpPr>
          <p:cNvPr id="9" name="Shape 7"/>
          <p:cNvSpPr/>
          <p:nvPr/>
        </p:nvSpPr>
        <p:spPr>
          <a:xfrm>
            <a:off x="2595854" y="1874520"/>
            <a:ext cx="3326332" cy="548640"/>
          </a:xfrm>
          <a:prstGeom prst="roundRect">
            <a:avLst>
              <a:gd name="adj" fmla="val 20000"/>
            </a:avLst>
          </a:prstGeom>
          <a:solidFill>
            <a:srgbClr val="101B45"/>
          </a:solidFill>
          <a:ln/>
        </p:spPr>
      </p:sp>
      <p:sp>
        <p:nvSpPr>
          <p:cNvPr id="10" name="Text 8"/>
          <p:cNvSpPr/>
          <p:nvPr/>
        </p:nvSpPr>
        <p:spPr>
          <a:xfrm>
            <a:off x="2595854" y="1874520"/>
            <a:ext cx="3326332"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التحدي</a:t>
            </a:r>
            <a:endParaRPr lang="ar-SA" sz="1900" dirty="0"/>
          </a:p>
        </p:txBody>
      </p:sp>
      <p:sp>
        <p:nvSpPr>
          <p:cNvPr id="11" name="Shape 9"/>
          <p:cNvSpPr/>
          <p:nvPr/>
        </p:nvSpPr>
        <p:spPr>
          <a:xfrm>
            <a:off x="822960" y="1874520"/>
            <a:ext cx="1663166" cy="548640"/>
          </a:xfrm>
          <a:prstGeom prst="roundRect">
            <a:avLst>
              <a:gd name="adj" fmla="val 20000"/>
            </a:avLst>
          </a:prstGeom>
          <a:solidFill>
            <a:srgbClr val="101B45"/>
          </a:solidFill>
          <a:ln/>
        </p:spPr>
      </p:sp>
      <p:sp>
        <p:nvSpPr>
          <p:cNvPr id="12" name="Text 10"/>
          <p:cNvSpPr/>
          <p:nvPr/>
        </p:nvSpPr>
        <p:spPr>
          <a:xfrm>
            <a:off x="822960" y="1874520"/>
            <a:ext cx="1663166"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القرار</a:t>
            </a:r>
            <a:endParaRPr lang="ar-SA" sz="1900" dirty="0"/>
          </a:p>
        </p:txBody>
      </p:sp>
      <p:sp>
        <p:nvSpPr>
          <p:cNvPr id="13" name="anim-g1-26"/>
          <p:cNvSpPr/>
          <p:nvPr/>
        </p:nvSpPr>
        <p:spPr>
          <a:xfrm>
            <a:off x="8992784" y="2514600"/>
            <a:ext cx="2375951" cy="1100328"/>
          </a:xfrm>
          <a:prstGeom prst="roundRect">
            <a:avLst>
              <a:gd name="adj" fmla="val 9972"/>
            </a:avLst>
          </a:prstGeom>
          <a:solidFill>
            <a:srgbClr val="FBF3DF"/>
          </a:solidFill>
          <a:ln w="12700">
            <a:solidFill>
              <a:srgbClr val="EFDDAF"/>
            </a:solidFill>
            <a:prstDash val="solid"/>
          </a:ln>
        </p:spPr>
      </p:sp>
      <p:sp>
        <p:nvSpPr>
          <p:cNvPr id="14" name="anim-g1-27"/>
          <p:cNvSpPr/>
          <p:nvPr/>
        </p:nvSpPr>
        <p:spPr>
          <a:xfrm>
            <a:off x="9129944" y="2514600"/>
            <a:ext cx="2101631" cy="1100328"/>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بيت طين متحرك</a:t>
            </a:r>
            <a:endParaRPr lang="ar-SA" sz="2100" dirty="0"/>
          </a:p>
        </p:txBody>
      </p:sp>
      <p:sp>
        <p:nvSpPr>
          <p:cNvPr id="15" name="anim-g1-28"/>
          <p:cNvSpPr/>
          <p:nvPr/>
        </p:nvSpPr>
        <p:spPr>
          <a:xfrm>
            <a:off x="6031914" y="2514600"/>
            <a:ext cx="2851142" cy="1100328"/>
          </a:xfrm>
          <a:prstGeom prst="roundRect">
            <a:avLst>
              <a:gd name="adj" fmla="val 9972"/>
            </a:avLst>
          </a:prstGeom>
          <a:solidFill>
            <a:srgbClr val="FFFFFF"/>
          </a:solidFill>
          <a:ln w="12700">
            <a:solidFill>
              <a:srgbClr val="E4DCC8"/>
            </a:solidFill>
            <a:prstDash val="solid"/>
          </a:ln>
        </p:spPr>
      </p:sp>
      <p:sp>
        <p:nvSpPr>
          <p:cNvPr id="16" name="anim-g1-29"/>
          <p:cNvSpPr/>
          <p:nvPr/>
        </p:nvSpPr>
        <p:spPr>
          <a:xfrm>
            <a:off x="6169074" y="2514600"/>
            <a:ext cx="2576822" cy="1100328"/>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قريب من البيئة التراثية</a:t>
            </a:r>
            <a:endParaRPr lang="ar-SA" sz="2100" dirty="0"/>
          </a:p>
        </p:txBody>
      </p:sp>
      <p:sp>
        <p:nvSpPr>
          <p:cNvPr id="17" name="anim-g1-30"/>
          <p:cNvSpPr/>
          <p:nvPr/>
        </p:nvSpPr>
        <p:spPr>
          <a:xfrm>
            <a:off x="2595854" y="2514600"/>
            <a:ext cx="3326332" cy="1100328"/>
          </a:xfrm>
          <a:prstGeom prst="roundRect">
            <a:avLst>
              <a:gd name="adj" fmla="val 9972"/>
            </a:avLst>
          </a:prstGeom>
          <a:solidFill>
            <a:srgbClr val="FFFFFF"/>
          </a:solidFill>
          <a:ln w="12700">
            <a:solidFill>
              <a:srgbClr val="E4DCC8"/>
            </a:solidFill>
            <a:prstDash val="solid"/>
          </a:ln>
        </p:spPr>
      </p:sp>
      <p:sp>
        <p:nvSpPr>
          <p:cNvPr id="18" name="anim-g1-31"/>
          <p:cNvSpPr/>
          <p:nvPr/>
        </p:nvSpPr>
        <p:spPr>
          <a:xfrm>
            <a:off x="2733014" y="2514600"/>
            <a:ext cx="3052012" cy="1100328"/>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يخدم عنصرًا واحدًا وحركته محدودة</a:t>
            </a:r>
            <a:endParaRPr lang="ar-SA" sz="2100" dirty="0"/>
          </a:p>
        </p:txBody>
      </p:sp>
      <p:sp>
        <p:nvSpPr>
          <p:cNvPr id="19" name="anim-g1-32"/>
          <p:cNvSpPr/>
          <p:nvPr/>
        </p:nvSpPr>
        <p:spPr>
          <a:xfrm>
            <a:off x="822960" y="2514600"/>
            <a:ext cx="1663166" cy="1100328"/>
          </a:xfrm>
          <a:prstGeom prst="roundRect">
            <a:avLst>
              <a:gd name="adj" fmla="val 9972"/>
            </a:avLst>
          </a:prstGeom>
          <a:solidFill>
            <a:srgbClr val="E6F4EC"/>
          </a:solidFill>
          <a:ln w="12700">
            <a:solidFill>
              <a:srgbClr val="CDE9D9"/>
            </a:solidFill>
            <a:prstDash val="solid"/>
          </a:ln>
        </p:spPr>
      </p:sp>
      <p:sp>
        <p:nvSpPr>
          <p:cNvPr id="20" name="anim-g1-33"/>
          <p:cNvSpPr/>
          <p:nvPr/>
        </p:nvSpPr>
        <p:spPr>
          <a:xfrm>
            <a:off x="960120" y="2514600"/>
            <a:ext cx="1388846" cy="1100328"/>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لم نختره</a:t>
            </a:r>
            <a:endParaRPr lang="ar-SA" sz="2100" dirty="0"/>
          </a:p>
        </p:txBody>
      </p:sp>
      <p:sp>
        <p:nvSpPr>
          <p:cNvPr id="21" name="anim-g2-34"/>
          <p:cNvSpPr/>
          <p:nvPr/>
        </p:nvSpPr>
        <p:spPr>
          <a:xfrm>
            <a:off x="8992784" y="3724656"/>
            <a:ext cx="2375951" cy="1100328"/>
          </a:xfrm>
          <a:prstGeom prst="roundRect">
            <a:avLst>
              <a:gd name="adj" fmla="val 9972"/>
            </a:avLst>
          </a:prstGeom>
          <a:solidFill>
            <a:srgbClr val="FBF3DF"/>
          </a:solidFill>
          <a:ln w="12700">
            <a:solidFill>
              <a:srgbClr val="EFDDAF"/>
            </a:solidFill>
            <a:prstDash val="solid"/>
          </a:ln>
        </p:spPr>
      </p:sp>
      <p:sp>
        <p:nvSpPr>
          <p:cNvPr id="22" name="anim-g2-35"/>
          <p:cNvSpPr/>
          <p:nvPr/>
        </p:nvSpPr>
        <p:spPr>
          <a:xfrm>
            <a:off x="9129944" y="3724656"/>
            <a:ext cx="2101631" cy="1100328"/>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نخلة تفاعلية</a:t>
            </a:r>
            <a:endParaRPr lang="ar-SA" sz="2100" dirty="0"/>
          </a:p>
        </p:txBody>
      </p:sp>
      <p:sp>
        <p:nvSpPr>
          <p:cNvPr id="23" name="anim-g2-36"/>
          <p:cNvSpPr/>
          <p:nvPr/>
        </p:nvSpPr>
        <p:spPr>
          <a:xfrm>
            <a:off x="6031914" y="3724656"/>
            <a:ext cx="2851142" cy="1100328"/>
          </a:xfrm>
          <a:prstGeom prst="roundRect">
            <a:avLst>
              <a:gd name="adj" fmla="val 9972"/>
            </a:avLst>
          </a:prstGeom>
          <a:solidFill>
            <a:srgbClr val="FFFFFF"/>
          </a:solidFill>
          <a:ln w="12700">
            <a:solidFill>
              <a:srgbClr val="E4DCC8"/>
            </a:solidFill>
            <a:prstDash val="solid"/>
          </a:ln>
        </p:spPr>
      </p:sp>
      <p:sp>
        <p:nvSpPr>
          <p:cNvPr id="24" name="anim-g2-37"/>
          <p:cNvSpPr/>
          <p:nvPr/>
        </p:nvSpPr>
        <p:spPr>
          <a:xfrm>
            <a:off x="6169074" y="3724656"/>
            <a:ext cx="2576822" cy="1100328"/>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رمز بصري واضح</a:t>
            </a:r>
            <a:endParaRPr lang="ar-SA" sz="2100" dirty="0"/>
          </a:p>
        </p:txBody>
      </p:sp>
      <p:sp>
        <p:nvSpPr>
          <p:cNvPr id="25" name="anim-g2-38"/>
          <p:cNvSpPr/>
          <p:nvPr/>
        </p:nvSpPr>
        <p:spPr>
          <a:xfrm>
            <a:off x="2595854" y="3724656"/>
            <a:ext cx="3326332" cy="1100328"/>
          </a:xfrm>
          <a:prstGeom prst="roundRect">
            <a:avLst>
              <a:gd name="adj" fmla="val 9972"/>
            </a:avLst>
          </a:prstGeom>
          <a:solidFill>
            <a:srgbClr val="FFFFFF"/>
          </a:solidFill>
          <a:ln w="12700">
            <a:solidFill>
              <a:srgbClr val="E4DCC8"/>
            </a:solidFill>
            <a:prstDash val="solid"/>
          </a:ln>
        </p:spPr>
      </p:sp>
      <p:sp>
        <p:nvSpPr>
          <p:cNvPr id="26" name="anim-g2-39"/>
          <p:cNvSpPr/>
          <p:nvPr/>
        </p:nvSpPr>
        <p:spPr>
          <a:xfrm>
            <a:off x="2733014" y="3724656"/>
            <a:ext cx="3052012" cy="1100328"/>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المعلومات غير منظمة في محطات</a:t>
            </a:r>
            <a:endParaRPr lang="ar-SA" sz="2100" dirty="0"/>
          </a:p>
        </p:txBody>
      </p:sp>
      <p:sp>
        <p:nvSpPr>
          <p:cNvPr id="27" name="anim-g2-40"/>
          <p:cNvSpPr/>
          <p:nvPr/>
        </p:nvSpPr>
        <p:spPr>
          <a:xfrm>
            <a:off x="822960" y="3724656"/>
            <a:ext cx="1663166" cy="1100328"/>
          </a:xfrm>
          <a:prstGeom prst="roundRect">
            <a:avLst>
              <a:gd name="adj" fmla="val 9972"/>
            </a:avLst>
          </a:prstGeom>
          <a:solidFill>
            <a:srgbClr val="E6F4EC"/>
          </a:solidFill>
          <a:ln w="12700">
            <a:solidFill>
              <a:srgbClr val="CDE9D9"/>
            </a:solidFill>
            <a:prstDash val="solid"/>
          </a:ln>
        </p:spPr>
      </p:sp>
      <p:sp>
        <p:nvSpPr>
          <p:cNvPr id="28" name="anim-g2-41"/>
          <p:cNvSpPr/>
          <p:nvPr/>
        </p:nvSpPr>
        <p:spPr>
          <a:xfrm>
            <a:off x="960120" y="3724656"/>
            <a:ext cx="1388846" cy="1100328"/>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لم نخترها</a:t>
            </a:r>
            <a:endParaRPr lang="ar-SA" sz="2100" dirty="0"/>
          </a:p>
        </p:txBody>
      </p:sp>
      <p:sp>
        <p:nvSpPr>
          <p:cNvPr id="29" name="anim-g3-42"/>
          <p:cNvSpPr/>
          <p:nvPr/>
        </p:nvSpPr>
        <p:spPr>
          <a:xfrm>
            <a:off x="8992784" y="4934712"/>
            <a:ext cx="2375951" cy="1100328"/>
          </a:xfrm>
          <a:prstGeom prst="roundRect">
            <a:avLst>
              <a:gd name="adj" fmla="val 9972"/>
            </a:avLst>
          </a:prstGeom>
          <a:solidFill>
            <a:srgbClr val="FBF3DF"/>
          </a:solidFill>
          <a:ln w="12700">
            <a:solidFill>
              <a:srgbClr val="EFDDAF"/>
            </a:solidFill>
            <a:prstDash val="solid"/>
          </a:ln>
        </p:spPr>
      </p:sp>
      <p:sp>
        <p:nvSpPr>
          <p:cNvPr id="30" name="anim-g3-43"/>
          <p:cNvSpPr/>
          <p:nvPr/>
        </p:nvSpPr>
        <p:spPr>
          <a:xfrm>
            <a:off x="9129944" y="4934712"/>
            <a:ext cx="2101631" cy="1100328"/>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منصة دوّارة بأربع محطات</a:t>
            </a:r>
            <a:endParaRPr lang="ar-SA" sz="2100" dirty="0"/>
          </a:p>
        </p:txBody>
      </p:sp>
      <p:sp>
        <p:nvSpPr>
          <p:cNvPr id="31" name="anim-g3-44"/>
          <p:cNvSpPr/>
          <p:nvPr/>
        </p:nvSpPr>
        <p:spPr>
          <a:xfrm>
            <a:off x="6031914" y="4934712"/>
            <a:ext cx="2851142" cy="1100328"/>
          </a:xfrm>
          <a:prstGeom prst="roundRect">
            <a:avLst>
              <a:gd name="adj" fmla="val 9972"/>
            </a:avLst>
          </a:prstGeom>
          <a:solidFill>
            <a:srgbClr val="FFFFFF"/>
          </a:solidFill>
          <a:ln w="12700">
            <a:solidFill>
              <a:srgbClr val="E4DCC8"/>
            </a:solidFill>
            <a:prstDash val="solid"/>
          </a:ln>
        </p:spPr>
      </p:sp>
      <p:sp>
        <p:nvSpPr>
          <p:cNvPr id="32" name="anim-g3-45"/>
          <p:cNvSpPr/>
          <p:nvPr/>
        </p:nvSpPr>
        <p:spPr>
          <a:xfrm>
            <a:off x="6169074" y="4934712"/>
            <a:ext cx="2576822" cy="1100328"/>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تجمع الحركة والاختيار والمحتوى</a:t>
            </a:r>
            <a:endParaRPr lang="ar-SA" sz="2100" dirty="0"/>
          </a:p>
        </p:txBody>
      </p:sp>
      <p:sp>
        <p:nvSpPr>
          <p:cNvPr id="33" name="anim-g3-46"/>
          <p:cNvSpPr/>
          <p:nvPr/>
        </p:nvSpPr>
        <p:spPr>
          <a:xfrm>
            <a:off x="2595854" y="4934712"/>
            <a:ext cx="3326332" cy="1100328"/>
          </a:xfrm>
          <a:prstGeom prst="roundRect">
            <a:avLst>
              <a:gd name="adj" fmla="val 9972"/>
            </a:avLst>
          </a:prstGeom>
          <a:solidFill>
            <a:srgbClr val="FFFFFF"/>
          </a:solidFill>
          <a:ln w="12700">
            <a:solidFill>
              <a:srgbClr val="E4DCC8"/>
            </a:solidFill>
            <a:prstDash val="solid"/>
          </a:ln>
        </p:spPr>
      </p:sp>
      <p:sp>
        <p:nvSpPr>
          <p:cNvPr id="34" name="anim-g3-47"/>
          <p:cNvSpPr/>
          <p:nvPr/>
        </p:nvSpPr>
        <p:spPr>
          <a:xfrm>
            <a:off x="2733014" y="4934712"/>
            <a:ext cx="3052012" cy="1100328"/>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تحتاج معايرة دقيقة</a:t>
            </a:r>
            <a:endParaRPr lang="ar-SA" sz="2100" dirty="0"/>
          </a:p>
        </p:txBody>
      </p:sp>
      <p:sp>
        <p:nvSpPr>
          <p:cNvPr id="35" name="anim-g3-48"/>
          <p:cNvSpPr/>
          <p:nvPr/>
        </p:nvSpPr>
        <p:spPr>
          <a:xfrm>
            <a:off x="822960" y="4934712"/>
            <a:ext cx="1663166" cy="1100328"/>
          </a:xfrm>
          <a:prstGeom prst="roundRect">
            <a:avLst>
              <a:gd name="adj" fmla="val 9972"/>
            </a:avLst>
          </a:prstGeom>
          <a:solidFill>
            <a:srgbClr val="E6F4EC"/>
          </a:solidFill>
          <a:ln w="12700">
            <a:solidFill>
              <a:srgbClr val="CDE9D9"/>
            </a:solidFill>
            <a:prstDash val="solid"/>
          </a:ln>
        </p:spPr>
      </p:sp>
      <p:sp>
        <p:nvSpPr>
          <p:cNvPr id="36" name="anim-g3-49"/>
          <p:cNvSpPr/>
          <p:nvPr/>
        </p:nvSpPr>
        <p:spPr>
          <a:xfrm>
            <a:off x="960120" y="4934712"/>
            <a:ext cx="1388846" cy="1100328"/>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 اخترناها</a:t>
            </a:r>
            <a:endParaRPr lang="ar-SA" sz="2100" dirty="0"/>
          </a:p>
        </p:txBody>
      </p:sp>
      <p:sp>
        <p:nvSpPr>
          <p:cNvPr id="37" name="Text 35"/>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صانع الذكريات التراثية</a:t>
            </a:r>
            <a:endParaRPr lang="ar-SA" sz="1200" dirty="0"/>
          </a:p>
        </p:txBody>
      </p:sp>
      <p:sp>
        <p:nvSpPr>
          <p:cNvPr id="38" name="Text 36"/>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الافتتاح  ·  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400"/>
                                        <p:tgtEl>
                                          <p:spTgt spid="1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fade">
                                      <p:cBhvr>
                                        <p:cTn id="13" dur="400"/>
                                        <p:tgtEl>
                                          <p:spTgt spid="1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6"/>
                                        </p:tgtEl>
                                        <p:attrNameLst>
                                          <p:attrName>style.visibility</p:attrName>
                                        </p:attrNameLst>
                                      </p:cBhvr>
                                      <p:to>
                                        <p:strVal val="visible"/>
                                      </p:to>
                                    </p:set>
                                    <p:animEffect transition="in" filter="fade">
                                      <p:cBhvr>
                                        <p:cTn id="16" dur="400"/>
                                        <p:tgtEl>
                                          <p:spTgt spid="1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00"/>
                                        <p:tgtEl>
                                          <p:spTgt spid="1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21"/>
                                        </p:tgtEl>
                                        <p:attrNameLst>
                                          <p:attrName>style.visibility</p:attrName>
                                        </p:attrNameLst>
                                      </p:cBhvr>
                                      <p:to>
                                        <p:strVal val="visible"/>
                                      </p:to>
                                    </p:set>
                                    <p:animEffect transition="in" filter="fade">
                                      <p:cBhvr>
                                        <p:cTn id="33" dur="400"/>
                                        <p:tgtEl>
                                          <p:spTgt spid="21"/>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2"/>
                                        </p:tgtEl>
                                        <p:attrNameLst>
                                          <p:attrName>style.visibility</p:attrName>
                                        </p:attrNameLst>
                                      </p:cBhvr>
                                      <p:to>
                                        <p:strVal val="visible"/>
                                      </p:to>
                                    </p:set>
                                    <p:animEffect transition="in" filter="fade">
                                      <p:cBhvr>
                                        <p:cTn id="36" dur="400"/>
                                        <p:tgtEl>
                                          <p:spTgt spid="22"/>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animEffect transition="in" filter="fade">
                                      <p:cBhvr>
                                        <p:cTn id="39" dur="400"/>
                                        <p:tgtEl>
                                          <p:spTgt spid="23"/>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4"/>
                                        </p:tgtEl>
                                        <p:attrNameLst>
                                          <p:attrName>style.visibility</p:attrName>
                                        </p:attrNameLst>
                                      </p:cBhvr>
                                      <p:to>
                                        <p:strVal val="visible"/>
                                      </p:to>
                                    </p:set>
                                    <p:animEffect transition="in" filter="fade">
                                      <p:cBhvr>
                                        <p:cTn id="42" dur="400"/>
                                        <p:tgtEl>
                                          <p:spTgt spid="24"/>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5"/>
                                        </p:tgtEl>
                                        <p:attrNameLst>
                                          <p:attrName>style.visibility</p:attrName>
                                        </p:attrNameLst>
                                      </p:cBhvr>
                                      <p:to>
                                        <p:strVal val="visible"/>
                                      </p:to>
                                    </p:set>
                                    <p:animEffect transition="in" filter="fade">
                                      <p:cBhvr>
                                        <p:cTn id="45" dur="400"/>
                                        <p:tgtEl>
                                          <p:spTgt spid="2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fade">
                                      <p:cBhvr>
                                        <p:cTn id="48" dur="400"/>
                                        <p:tgtEl>
                                          <p:spTgt spid="2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7"/>
                                        </p:tgtEl>
                                        <p:attrNameLst>
                                          <p:attrName>style.visibility</p:attrName>
                                        </p:attrNameLst>
                                      </p:cBhvr>
                                      <p:to>
                                        <p:strVal val="visible"/>
                                      </p:to>
                                    </p:set>
                                    <p:animEffect transition="in" filter="fade">
                                      <p:cBhvr>
                                        <p:cTn id="51" dur="400"/>
                                        <p:tgtEl>
                                          <p:spTgt spid="2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8"/>
                                        </p:tgtEl>
                                        <p:attrNameLst>
                                          <p:attrName>style.visibility</p:attrName>
                                        </p:attrNameLst>
                                      </p:cBhvr>
                                      <p:to>
                                        <p:strVal val="visible"/>
                                      </p:to>
                                    </p:set>
                                    <p:animEffect transition="in" filter="fade">
                                      <p:cBhvr>
                                        <p:cTn id="54" dur="400"/>
                                        <p:tgtEl>
                                          <p:spTgt spid="28"/>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400"/>
                                        <p:tgtEl>
                                          <p:spTgt spid="29"/>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30"/>
                                        </p:tgtEl>
                                        <p:attrNameLst>
                                          <p:attrName>style.visibility</p:attrName>
                                        </p:attrNameLst>
                                      </p:cBhvr>
                                      <p:to>
                                        <p:strVal val="visible"/>
                                      </p:to>
                                    </p:set>
                                    <p:animEffect transition="in" filter="fade">
                                      <p:cBhvr>
                                        <p:cTn id="62" dur="400"/>
                                        <p:tgtEl>
                                          <p:spTgt spid="30"/>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400"/>
                                        <p:tgtEl>
                                          <p:spTgt spid="31"/>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2"/>
                                        </p:tgtEl>
                                        <p:attrNameLst>
                                          <p:attrName>style.visibility</p:attrName>
                                        </p:attrNameLst>
                                      </p:cBhvr>
                                      <p:to>
                                        <p:strVal val="visible"/>
                                      </p:to>
                                    </p:set>
                                    <p:animEffect transition="in" filter="fade">
                                      <p:cBhvr>
                                        <p:cTn id="68" dur="400"/>
                                        <p:tgtEl>
                                          <p:spTgt spid="32"/>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400"/>
                                        <p:tgtEl>
                                          <p:spTgt spid="3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4"/>
                                        </p:tgtEl>
                                        <p:attrNameLst>
                                          <p:attrName>style.visibility</p:attrName>
                                        </p:attrNameLst>
                                      </p:cBhvr>
                                      <p:to>
                                        <p:strVal val="visible"/>
                                      </p:to>
                                    </p:set>
                                    <p:animEffect transition="in" filter="fade">
                                      <p:cBhvr>
                                        <p:cTn id="74" dur="400"/>
                                        <p:tgtEl>
                                          <p:spTgt spid="3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400"/>
                                        <p:tgtEl>
                                          <p:spTgt spid="35"/>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36"/>
                                        </p:tgtEl>
                                        <p:attrNameLst>
                                          <p:attrName>style.visibility</p:attrName>
                                        </p:attrNameLst>
                                      </p:cBhvr>
                                      <p:to>
                                        <p:strVal val="visible"/>
                                      </p:to>
                                    </p:set>
                                    <p:animEffect transition="in" filter="fade">
                                      <p:cBhvr>
                                        <p:cTn id="80"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003743" y="457200"/>
            <a:ext cx="3364992" cy="457200"/>
          </a:xfrm>
          <a:prstGeom prst="roundRect">
            <a:avLst>
              <a:gd name="adj" fmla="val 50000"/>
            </a:avLst>
          </a:prstGeom>
          <a:solidFill>
            <a:srgbClr val="F6EBCF"/>
          </a:solidFill>
          <a:ln/>
        </p:spPr>
      </p:sp>
      <p:sp>
        <p:nvSpPr>
          <p:cNvPr id="3" name="Text 1"/>
          <p:cNvSpPr/>
          <p:nvPr/>
        </p:nvSpPr>
        <p:spPr>
          <a:xfrm>
            <a:off x="8003743" y="457200"/>
            <a:ext cx="3364992"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المحتوى التراثي</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أربع محطات… أربع معلومات</a:t>
            </a:r>
            <a:endParaRPr lang="ar-SA" sz="3800" dirty="0"/>
          </a:p>
        </p:txBody>
      </p:sp>
      <p:sp>
        <p:nvSpPr>
          <p:cNvPr id="5" name="Shape 3"/>
          <p:cNvSpPr/>
          <p:nvPr/>
        </p:nvSpPr>
        <p:spPr>
          <a:xfrm>
            <a:off x="9178304" y="1874520"/>
            <a:ext cx="2190431" cy="548640"/>
          </a:xfrm>
          <a:prstGeom prst="roundRect">
            <a:avLst>
              <a:gd name="adj" fmla="val 20000"/>
            </a:avLst>
          </a:prstGeom>
          <a:solidFill>
            <a:srgbClr val="101B45"/>
          </a:solidFill>
          <a:ln/>
        </p:spPr>
      </p:sp>
      <p:sp>
        <p:nvSpPr>
          <p:cNvPr id="6" name="Text 4"/>
          <p:cNvSpPr/>
          <p:nvPr/>
        </p:nvSpPr>
        <p:spPr>
          <a:xfrm>
            <a:off x="9178304" y="1874520"/>
            <a:ext cx="2190431"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العنصر</a:t>
            </a:r>
            <a:endParaRPr lang="ar-SA" sz="1900" dirty="0"/>
          </a:p>
        </p:txBody>
      </p:sp>
      <p:sp>
        <p:nvSpPr>
          <p:cNvPr id="7" name="Shape 5"/>
          <p:cNvSpPr/>
          <p:nvPr/>
        </p:nvSpPr>
        <p:spPr>
          <a:xfrm>
            <a:off x="4061876" y="1874520"/>
            <a:ext cx="5006700" cy="548640"/>
          </a:xfrm>
          <a:prstGeom prst="roundRect">
            <a:avLst>
              <a:gd name="adj" fmla="val 20000"/>
            </a:avLst>
          </a:prstGeom>
          <a:solidFill>
            <a:srgbClr val="101B45"/>
          </a:solidFill>
          <a:ln/>
        </p:spPr>
      </p:sp>
      <p:sp>
        <p:nvSpPr>
          <p:cNvPr id="8" name="Text 6"/>
          <p:cNvSpPr/>
          <p:nvPr/>
        </p:nvSpPr>
        <p:spPr>
          <a:xfrm>
            <a:off x="4061876" y="1874520"/>
            <a:ext cx="5006700"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ما يتعلمه الطفل</a:t>
            </a:r>
            <a:endParaRPr lang="ar-SA" sz="1900" dirty="0"/>
          </a:p>
        </p:txBody>
      </p:sp>
      <p:sp>
        <p:nvSpPr>
          <p:cNvPr id="9" name="Shape 7"/>
          <p:cNvSpPr/>
          <p:nvPr/>
        </p:nvSpPr>
        <p:spPr>
          <a:xfrm>
            <a:off x="822960" y="1874520"/>
            <a:ext cx="3129188" cy="548640"/>
          </a:xfrm>
          <a:prstGeom prst="roundRect">
            <a:avLst>
              <a:gd name="adj" fmla="val 20000"/>
            </a:avLst>
          </a:prstGeom>
          <a:solidFill>
            <a:srgbClr val="101B45"/>
          </a:solidFill>
          <a:ln/>
        </p:spPr>
      </p:sp>
      <p:sp>
        <p:nvSpPr>
          <p:cNvPr id="10" name="Text 8"/>
          <p:cNvSpPr/>
          <p:nvPr/>
        </p:nvSpPr>
        <p:spPr>
          <a:xfrm>
            <a:off x="822960" y="1874520"/>
            <a:ext cx="3129188"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التفاعل</a:t>
            </a:r>
            <a:endParaRPr lang="ar-SA" sz="1900" dirty="0"/>
          </a:p>
        </p:txBody>
      </p:sp>
      <p:sp>
        <p:nvSpPr>
          <p:cNvPr id="11" name="anim-g1-50"/>
          <p:cNvSpPr/>
          <p:nvPr/>
        </p:nvSpPr>
        <p:spPr>
          <a:xfrm>
            <a:off x="9178304" y="2514600"/>
            <a:ext cx="2190431" cy="797814"/>
          </a:xfrm>
          <a:prstGeom prst="roundRect">
            <a:avLst>
              <a:gd name="adj" fmla="val 13754"/>
            </a:avLst>
          </a:prstGeom>
          <a:solidFill>
            <a:srgbClr val="FBF3DF"/>
          </a:solidFill>
          <a:ln w="12700">
            <a:solidFill>
              <a:srgbClr val="EFDDAF"/>
            </a:solidFill>
            <a:prstDash val="solid"/>
          </a:ln>
        </p:spPr>
      </p:sp>
      <p:sp>
        <p:nvSpPr>
          <p:cNvPr id="12" name="anim-g1-51"/>
          <p:cNvSpPr/>
          <p:nvPr/>
        </p:nvSpPr>
        <p:spPr>
          <a:xfrm>
            <a:off x="9315464" y="2514600"/>
            <a:ext cx="1916111" cy="797814"/>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الخيمة</a:t>
            </a:r>
            <a:endParaRPr lang="ar-SA" sz="2100" dirty="0"/>
          </a:p>
        </p:txBody>
      </p:sp>
      <p:sp>
        <p:nvSpPr>
          <p:cNvPr id="13" name="anim-g1-52"/>
          <p:cNvSpPr/>
          <p:nvPr/>
        </p:nvSpPr>
        <p:spPr>
          <a:xfrm>
            <a:off x="4061876" y="2514600"/>
            <a:ext cx="5006700" cy="797814"/>
          </a:xfrm>
          <a:prstGeom prst="roundRect">
            <a:avLst>
              <a:gd name="adj" fmla="val 13754"/>
            </a:avLst>
          </a:prstGeom>
          <a:solidFill>
            <a:srgbClr val="FFFFFF"/>
          </a:solidFill>
          <a:ln w="12700">
            <a:solidFill>
              <a:srgbClr val="E4DCC8"/>
            </a:solidFill>
            <a:prstDash val="solid"/>
          </a:ln>
        </p:spPr>
      </p:sp>
      <p:sp>
        <p:nvSpPr>
          <p:cNvPr id="14" name="anim-g1-53"/>
          <p:cNvSpPr/>
          <p:nvPr/>
        </p:nvSpPr>
        <p:spPr>
          <a:xfrm>
            <a:off x="4199036" y="2514600"/>
            <a:ext cx="4732380" cy="797814"/>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الضيافة والترحال ومكان اجتماع الأسرة والضيف</a:t>
            </a:r>
            <a:endParaRPr lang="ar-SA" sz="2100" dirty="0"/>
          </a:p>
        </p:txBody>
      </p:sp>
      <p:sp>
        <p:nvSpPr>
          <p:cNvPr id="15" name="anim-g1-54"/>
          <p:cNvSpPr/>
          <p:nvPr/>
        </p:nvSpPr>
        <p:spPr>
          <a:xfrm>
            <a:off x="822960" y="2514600"/>
            <a:ext cx="3129188" cy="797814"/>
          </a:xfrm>
          <a:prstGeom prst="roundRect">
            <a:avLst>
              <a:gd name="adj" fmla="val 13754"/>
            </a:avLst>
          </a:prstGeom>
          <a:solidFill>
            <a:srgbClr val="E6F4EC"/>
          </a:solidFill>
          <a:ln w="12700">
            <a:solidFill>
              <a:srgbClr val="CDE9D9"/>
            </a:solidFill>
            <a:prstDash val="solid"/>
          </a:ln>
        </p:spPr>
      </p:sp>
      <p:sp>
        <p:nvSpPr>
          <p:cNvPr id="16" name="anim-g1-55"/>
          <p:cNvSpPr/>
          <p:nvPr/>
        </p:nvSpPr>
        <p:spPr>
          <a:xfrm>
            <a:off x="960120" y="2514600"/>
            <a:ext cx="2854868" cy="797814"/>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سؤال عن دورها</a:t>
            </a:r>
            <a:endParaRPr lang="ar-SA" sz="2100" dirty="0"/>
          </a:p>
        </p:txBody>
      </p:sp>
      <p:sp>
        <p:nvSpPr>
          <p:cNvPr id="17" name="anim-g2-56"/>
          <p:cNvSpPr/>
          <p:nvPr/>
        </p:nvSpPr>
        <p:spPr>
          <a:xfrm>
            <a:off x="9178304" y="3422142"/>
            <a:ext cx="2190431" cy="797814"/>
          </a:xfrm>
          <a:prstGeom prst="roundRect">
            <a:avLst>
              <a:gd name="adj" fmla="val 13754"/>
            </a:avLst>
          </a:prstGeom>
          <a:solidFill>
            <a:srgbClr val="FBF3DF"/>
          </a:solidFill>
          <a:ln w="12700">
            <a:solidFill>
              <a:srgbClr val="EFDDAF"/>
            </a:solidFill>
            <a:prstDash val="solid"/>
          </a:ln>
        </p:spPr>
      </p:sp>
      <p:sp>
        <p:nvSpPr>
          <p:cNvPr id="18" name="anim-g2-57"/>
          <p:cNvSpPr/>
          <p:nvPr/>
        </p:nvSpPr>
        <p:spPr>
          <a:xfrm>
            <a:off x="9315464" y="3422142"/>
            <a:ext cx="1916111" cy="797814"/>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السيف</a:t>
            </a:r>
            <a:endParaRPr lang="ar-SA" sz="2100" dirty="0"/>
          </a:p>
        </p:txBody>
      </p:sp>
      <p:sp>
        <p:nvSpPr>
          <p:cNvPr id="19" name="anim-g2-58"/>
          <p:cNvSpPr/>
          <p:nvPr/>
        </p:nvSpPr>
        <p:spPr>
          <a:xfrm>
            <a:off x="4061876" y="3422142"/>
            <a:ext cx="5006700" cy="797814"/>
          </a:xfrm>
          <a:prstGeom prst="roundRect">
            <a:avLst>
              <a:gd name="adj" fmla="val 13754"/>
            </a:avLst>
          </a:prstGeom>
          <a:solidFill>
            <a:srgbClr val="FFFFFF"/>
          </a:solidFill>
          <a:ln w="12700">
            <a:solidFill>
              <a:srgbClr val="E4DCC8"/>
            </a:solidFill>
            <a:prstDash val="solid"/>
          </a:ln>
        </p:spPr>
      </p:sp>
      <p:sp>
        <p:nvSpPr>
          <p:cNvPr id="20" name="anim-g2-59"/>
          <p:cNvSpPr/>
          <p:nvPr/>
        </p:nvSpPr>
        <p:spPr>
          <a:xfrm>
            <a:off x="4199036" y="3422142"/>
            <a:ext cx="4732380" cy="797814"/>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رمز للفخر والشجاعة، وحضور في العرضة</a:t>
            </a:r>
            <a:endParaRPr lang="ar-SA" sz="2100" dirty="0"/>
          </a:p>
        </p:txBody>
      </p:sp>
      <p:sp>
        <p:nvSpPr>
          <p:cNvPr id="21" name="anim-g2-60"/>
          <p:cNvSpPr/>
          <p:nvPr/>
        </p:nvSpPr>
        <p:spPr>
          <a:xfrm>
            <a:off x="822960" y="3422142"/>
            <a:ext cx="3129188" cy="797814"/>
          </a:xfrm>
          <a:prstGeom prst="roundRect">
            <a:avLst>
              <a:gd name="adj" fmla="val 13754"/>
            </a:avLst>
          </a:prstGeom>
          <a:solidFill>
            <a:srgbClr val="E6F4EC"/>
          </a:solidFill>
          <a:ln w="12700">
            <a:solidFill>
              <a:srgbClr val="CDE9D9"/>
            </a:solidFill>
            <a:prstDash val="solid"/>
          </a:ln>
        </p:spPr>
      </p:sp>
      <p:sp>
        <p:nvSpPr>
          <p:cNvPr id="22" name="anim-g2-61"/>
          <p:cNvSpPr/>
          <p:nvPr/>
        </p:nvSpPr>
        <p:spPr>
          <a:xfrm>
            <a:off x="960120" y="3422142"/>
            <a:ext cx="2854868" cy="797814"/>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صوت ثم سؤال مبسط</a:t>
            </a:r>
            <a:endParaRPr lang="ar-SA" sz="2100" dirty="0"/>
          </a:p>
        </p:txBody>
      </p:sp>
      <p:sp>
        <p:nvSpPr>
          <p:cNvPr id="23" name="anim-g3-62"/>
          <p:cNvSpPr/>
          <p:nvPr/>
        </p:nvSpPr>
        <p:spPr>
          <a:xfrm>
            <a:off x="9178304" y="4329684"/>
            <a:ext cx="2190431" cy="797814"/>
          </a:xfrm>
          <a:prstGeom prst="roundRect">
            <a:avLst>
              <a:gd name="adj" fmla="val 13754"/>
            </a:avLst>
          </a:prstGeom>
          <a:solidFill>
            <a:srgbClr val="FBF3DF"/>
          </a:solidFill>
          <a:ln w="12700">
            <a:solidFill>
              <a:srgbClr val="EFDDAF"/>
            </a:solidFill>
            <a:prstDash val="solid"/>
          </a:ln>
        </p:spPr>
      </p:sp>
      <p:sp>
        <p:nvSpPr>
          <p:cNvPr id="24" name="anim-g3-63"/>
          <p:cNvSpPr/>
          <p:nvPr/>
        </p:nvSpPr>
        <p:spPr>
          <a:xfrm>
            <a:off x="9315464" y="4329684"/>
            <a:ext cx="1916111" cy="797814"/>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الفخار</a:t>
            </a:r>
            <a:endParaRPr lang="ar-SA" sz="2100" dirty="0"/>
          </a:p>
        </p:txBody>
      </p:sp>
      <p:sp>
        <p:nvSpPr>
          <p:cNvPr id="25" name="anim-g3-64"/>
          <p:cNvSpPr/>
          <p:nvPr/>
        </p:nvSpPr>
        <p:spPr>
          <a:xfrm>
            <a:off x="4061876" y="4329684"/>
            <a:ext cx="5006700" cy="797814"/>
          </a:xfrm>
          <a:prstGeom prst="roundRect">
            <a:avLst>
              <a:gd name="adj" fmla="val 13754"/>
            </a:avLst>
          </a:prstGeom>
          <a:solidFill>
            <a:srgbClr val="FFFFFF"/>
          </a:solidFill>
          <a:ln w="12700">
            <a:solidFill>
              <a:srgbClr val="E4DCC8"/>
            </a:solidFill>
            <a:prstDash val="solid"/>
          </a:ln>
        </p:spPr>
      </p:sp>
      <p:sp>
        <p:nvSpPr>
          <p:cNvPr id="26" name="anim-g3-65"/>
          <p:cNvSpPr/>
          <p:nvPr/>
        </p:nvSpPr>
        <p:spPr>
          <a:xfrm>
            <a:off x="4199036" y="4329684"/>
            <a:ext cx="4732380" cy="797814"/>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حرفة يدوية ترتبط بمهارة الصانع والمواد المحلية</a:t>
            </a:r>
            <a:endParaRPr lang="ar-SA" sz="2100" dirty="0"/>
          </a:p>
        </p:txBody>
      </p:sp>
      <p:sp>
        <p:nvSpPr>
          <p:cNvPr id="27" name="anim-g3-66"/>
          <p:cNvSpPr/>
          <p:nvPr/>
        </p:nvSpPr>
        <p:spPr>
          <a:xfrm>
            <a:off x="822960" y="4329684"/>
            <a:ext cx="3129188" cy="797814"/>
          </a:xfrm>
          <a:prstGeom prst="roundRect">
            <a:avLst>
              <a:gd name="adj" fmla="val 13754"/>
            </a:avLst>
          </a:prstGeom>
          <a:solidFill>
            <a:srgbClr val="E6F4EC"/>
          </a:solidFill>
          <a:ln w="12700">
            <a:solidFill>
              <a:srgbClr val="CDE9D9"/>
            </a:solidFill>
            <a:prstDash val="solid"/>
          </a:ln>
        </p:spPr>
      </p:sp>
      <p:sp>
        <p:nvSpPr>
          <p:cNvPr id="28" name="anim-g3-67"/>
          <p:cNvSpPr/>
          <p:nvPr/>
        </p:nvSpPr>
        <p:spPr>
          <a:xfrm>
            <a:off x="960120" y="4329684"/>
            <a:ext cx="2854868" cy="797814"/>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سؤال عن الحرفة</a:t>
            </a:r>
            <a:endParaRPr lang="ar-SA" sz="2100" dirty="0"/>
          </a:p>
        </p:txBody>
      </p:sp>
      <p:sp>
        <p:nvSpPr>
          <p:cNvPr id="29" name="anim-g4-68"/>
          <p:cNvSpPr/>
          <p:nvPr/>
        </p:nvSpPr>
        <p:spPr>
          <a:xfrm>
            <a:off x="9178304" y="5237226"/>
            <a:ext cx="2190431" cy="797814"/>
          </a:xfrm>
          <a:prstGeom prst="roundRect">
            <a:avLst>
              <a:gd name="adj" fmla="val 13754"/>
            </a:avLst>
          </a:prstGeom>
          <a:solidFill>
            <a:srgbClr val="FBF3DF"/>
          </a:solidFill>
          <a:ln w="12700">
            <a:solidFill>
              <a:srgbClr val="EFDDAF"/>
            </a:solidFill>
            <a:prstDash val="solid"/>
          </a:ln>
        </p:spPr>
      </p:sp>
      <p:sp>
        <p:nvSpPr>
          <p:cNvPr id="30" name="anim-g4-69"/>
          <p:cNvSpPr/>
          <p:nvPr/>
        </p:nvSpPr>
        <p:spPr>
          <a:xfrm>
            <a:off x="9315464" y="5237226"/>
            <a:ext cx="1916111" cy="797814"/>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الملابس</a:t>
            </a:r>
            <a:endParaRPr lang="ar-SA" sz="2100" dirty="0"/>
          </a:p>
        </p:txBody>
      </p:sp>
      <p:sp>
        <p:nvSpPr>
          <p:cNvPr id="31" name="anim-g4-70"/>
          <p:cNvSpPr/>
          <p:nvPr/>
        </p:nvSpPr>
        <p:spPr>
          <a:xfrm>
            <a:off x="4061876" y="5237226"/>
            <a:ext cx="5006700" cy="797814"/>
          </a:xfrm>
          <a:prstGeom prst="roundRect">
            <a:avLst>
              <a:gd name="adj" fmla="val 13754"/>
            </a:avLst>
          </a:prstGeom>
          <a:solidFill>
            <a:srgbClr val="FFFFFF"/>
          </a:solidFill>
          <a:ln w="12700">
            <a:solidFill>
              <a:srgbClr val="E4DCC8"/>
            </a:solidFill>
            <a:prstDash val="solid"/>
          </a:ln>
        </p:spPr>
      </p:sp>
      <p:sp>
        <p:nvSpPr>
          <p:cNvPr id="32" name="anim-g4-71"/>
          <p:cNvSpPr/>
          <p:nvPr/>
        </p:nvSpPr>
        <p:spPr>
          <a:xfrm>
            <a:off x="4199036" y="5237226"/>
            <a:ext cx="4732380" cy="797814"/>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تنوع الأزياء ودلالاتها عبر مناطق المملكة</a:t>
            </a:r>
            <a:endParaRPr lang="ar-SA" sz="2100" dirty="0"/>
          </a:p>
        </p:txBody>
      </p:sp>
      <p:sp>
        <p:nvSpPr>
          <p:cNvPr id="33" name="anim-g4-72"/>
          <p:cNvSpPr/>
          <p:nvPr/>
        </p:nvSpPr>
        <p:spPr>
          <a:xfrm>
            <a:off x="822960" y="5237226"/>
            <a:ext cx="3129188" cy="797814"/>
          </a:xfrm>
          <a:prstGeom prst="roundRect">
            <a:avLst>
              <a:gd name="adj" fmla="val 13754"/>
            </a:avLst>
          </a:prstGeom>
          <a:solidFill>
            <a:srgbClr val="E6F4EC"/>
          </a:solidFill>
          <a:ln w="12700">
            <a:solidFill>
              <a:srgbClr val="CDE9D9"/>
            </a:solidFill>
            <a:prstDash val="solid"/>
          </a:ln>
        </p:spPr>
      </p:sp>
      <p:sp>
        <p:nvSpPr>
          <p:cNvPr id="34" name="anim-g4-73"/>
          <p:cNvSpPr/>
          <p:nvPr/>
        </p:nvSpPr>
        <p:spPr>
          <a:xfrm>
            <a:off x="960120" y="5237226"/>
            <a:ext cx="2854868" cy="797814"/>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اختيار صحيح</a:t>
            </a:r>
            <a:endParaRPr lang="ar-SA" sz="2100" dirty="0"/>
          </a:p>
        </p:txBody>
      </p:sp>
      <p:sp>
        <p:nvSpPr>
          <p:cNvPr id="35" name="Text 3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صانع الذكريات التراثية</a:t>
            </a:r>
            <a:endParaRPr lang="ar-SA" sz="1200" dirty="0"/>
          </a:p>
        </p:txBody>
      </p:sp>
      <p:sp>
        <p:nvSpPr>
          <p:cNvPr id="36" name="Text 3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الافتتاح  ·  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400"/>
                                        <p:tgtEl>
                                          <p:spTgt spid="1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40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400"/>
                                        <p:tgtEl>
                                          <p:spTgt spid="19"/>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0"/>
                                        </p:tgtEl>
                                        <p:attrNameLst>
                                          <p:attrName>style.visibility</p:attrName>
                                        </p:attrNameLst>
                                      </p:cBhvr>
                                      <p:to>
                                        <p:strVal val="visible"/>
                                      </p:to>
                                    </p:set>
                                    <p:animEffect transition="in" filter="fade">
                                      <p:cBhvr>
                                        <p:cTn id="36" dur="400"/>
                                        <p:tgtEl>
                                          <p:spTgt spid="20"/>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400"/>
                                        <p:tgtEl>
                                          <p:spTgt spid="21"/>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400"/>
                                        <p:tgtEl>
                                          <p:spTgt spid="2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400"/>
                                        <p:tgtEl>
                                          <p:spTgt spid="25"/>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400"/>
                                        <p:tgtEl>
                                          <p:spTgt spid="26"/>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400"/>
                                        <p:tgtEl>
                                          <p:spTgt spid="27"/>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400"/>
                                        <p:tgtEl>
                                          <p:spTgt spid="28"/>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400"/>
                                        <p:tgtEl>
                                          <p:spTgt spid="29"/>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0"/>
                                        </p:tgtEl>
                                        <p:attrNameLst>
                                          <p:attrName>style.visibility</p:attrName>
                                        </p:attrNameLst>
                                      </p:cBhvr>
                                      <p:to>
                                        <p:strVal val="visible"/>
                                      </p:to>
                                    </p:set>
                                    <p:animEffect transition="in" filter="fade">
                                      <p:cBhvr>
                                        <p:cTn id="70" dur="400"/>
                                        <p:tgtEl>
                                          <p:spTgt spid="30"/>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31"/>
                                        </p:tgtEl>
                                        <p:attrNameLst>
                                          <p:attrName>style.visibility</p:attrName>
                                        </p:attrNameLst>
                                      </p:cBhvr>
                                      <p:to>
                                        <p:strVal val="visible"/>
                                      </p:to>
                                    </p:set>
                                    <p:animEffect transition="in" filter="fade">
                                      <p:cBhvr>
                                        <p:cTn id="73" dur="400"/>
                                        <p:tgtEl>
                                          <p:spTgt spid="31"/>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2"/>
                                        </p:tgtEl>
                                        <p:attrNameLst>
                                          <p:attrName>style.visibility</p:attrName>
                                        </p:attrNameLst>
                                      </p:cBhvr>
                                      <p:to>
                                        <p:strVal val="visible"/>
                                      </p:to>
                                    </p:set>
                                    <p:animEffect transition="in" filter="fade">
                                      <p:cBhvr>
                                        <p:cTn id="76" dur="400"/>
                                        <p:tgtEl>
                                          <p:spTgt spid="32"/>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3"/>
                                        </p:tgtEl>
                                        <p:attrNameLst>
                                          <p:attrName>style.visibility</p:attrName>
                                        </p:attrNameLst>
                                      </p:cBhvr>
                                      <p:to>
                                        <p:strVal val="visible"/>
                                      </p:to>
                                    </p:set>
                                    <p:animEffect transition="in" filter="fade">
                                      <p:cBhvr>
                                        <p:cTn id="79" dur="400"/>
                                        <p:tgtEl>
                                          <p:spTgt spid="33"/>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34"/>
                                        </p:tgtEl>
                                        <p:attrNameLst>
                                          <p:attrName>style.visibility</p:attrName>
                                        </p:attrNameLst>
                                      </p:cBhvr>
                                      <p:to>
                                        <p:strVal val="visible"/>
                                      </p:to>
                                    </p:set>
                                    <p:animEffect transition="in" filter="fade">
                                      <p:cBhvr>
                                        <p:cTn id="8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C:\Users\user\projects\younes-training\heritage\.pptx-cache\s7.jpg"/>
          <p:cNvPicPr>
            <a:picLocks noChangeAspect="1"/>
          </p:cNvPicPr>
          <p:nvPr/>
        </p:nvPicPr>
        <p:blipFill>
          <a:blip r:embed="rId11"/>
          <a:stretch>
            <a:fillRect/>
          </a:stretch>
        </p:blipFill>
        <p:spPr>
          <a:xfrm>
            <a:off x="0" y="0"/>
            <a:ext cx="12191695" cy="6858000"/>
          </a:xfrm>
          <a:prstGeom prst="rect">
            <a:avLst/>
          </a:prstGeom>
        </p:spPr>
      </p:pic>
      <p:pic>
        <p:nvPicPr>
          <p:cNvPr id="4" name="audio-74">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12"/>
          <a:stretch>
            <a:fillRect/>
          </a:stretch>
        </p:blipFill>
        <p:spPr>
          <a:xfrm>
            <a:off x="6324442" y="2115741"/>
            <a:ext cx="533387" cy="533400"/>
          </a:xfrm>
          <a:prstGeom prst="rect">
            <a:avLst/>
          </a:prstGeom>
        </p:spPr>
      </p:pic>
      <p:pic>
        <p:nvPicPr>
          <p:cNvPr id="7" name="audio-75">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12"/>
          <a:stretch>
            <a:fillRect/>
          </a:stretch>
        </p:blipFill>
        <p:spPr>
          <a:xfrm>
            <a:off x="996925" y="2115741"/>
            <a:ext cx="533387" cy="533400"/>
          </a:xfrm>
          <a:prstGeom prst="rect">
            <a:avLst/>
          </a:prstGeom>
        </p:spPr>
      </p:pic>
      <p:pic>
        <p:nvPicPr>
          <p:cNvPr id="10" name="audio-76">
            <a:hlinkClick r:id="" action="ppaction://media"/>
          </p:cNvPr>
          <p:cNvPicPr>
            <a:picLocks noChangeAspect="1"/>
          </p:cNvPicPr>
          <p:nvPr>
            <a:audioFile r:link="rId6"/>
            <p:extLst>
              <p:ext uri="{DAA4B4D4-6D71-4841-9C94-3DE7FCFB9230}">
                <p14:media xmlns:p14="http://schemas.microsoft.com/office/powerpoint/2010/main" r:embed="rId5"/>
              </p:ext>
            </p:extLst>
          </p:nvPr>
        </p:nvPicPr>
        <p:blipFill>
          <a:blip r:embed="rId12"/>
          <a:stretch>
            <a:fillRect/>
          </a:stretch>
        </p:blipFill>
        <p:spPr>
          <a:xfrm>
            <a:off x="6324442" y="3299222"/>
            <a:ext cx="533387" cy="533400"/>
          </a:xfrm>
          <a:prstGeom prst="rect">
            <a:avLst/>
          </a:prstGeom>
        </p:spPr>
      </p:pic>
      <p:pic>
        <p:nvPicPr>
          <p:cNvPr id="13" name="audio-77">
            <a:hlinkClick r:id="" action="ppaction://media"/>
          </p:cNvPr>
          <p:cNvPicPr>
            <a:picLocks noChangeAspect="1"/>
          </p:cNvPicPr>
          <p:nvPr>
            <a:audioFile r:link="rId8"/>
            <p:extLst>
              <p:ext uri="{DAA4B4D4-6D71-4841-9C94-3DE7FCFB9230}">
                <p14:media xmlns:p14="http://schemas.microsoft.com/office/powerpoint/2010/main" r:embed="rId7"/>
              </p:ext>
            </p:extLst>
          </p:nvPr>
        </p:nvPicPr>
        <p:blipFill>
          <a:blip r:embed="rId12"/>
          <a:stretch>
            <a:fillRect/>
          </a:stretch>
        </p:blipFill>
        <p:spPr>
          <a:xfrm>
            <a:off x="996925" y="3299222"/>
            <a:ext cx="533387" cy="533400"/>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4"/>
                    </p:tgtEl>
                  </p:cond>
                </p:stCondLst>
                <p:endSync evt="end" delay="0">
                  <p:rtn val="all"/>
                </p:endSync>
                <p:childTnLst>
                  <p:par>
                    <p:cTn id="3" fill="hold">
                      <p:stCondLst>
                        <p:cond delay="0"/>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nextCondLst>
                <p:cond evt="onClick" delay="0">
                  <p:tgtEl>
                    <p:spTgt spid="4"/>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1" presetClass="mediacall" presetSubtype="0" fill="hold" nodeType="clickEffect">
                                  <p:stCondLst>
                                    <p:cond delay="0"/>
                                  </p:stCondLst>
                                  <p:childTnLst>
                                    <p:cmd type="call" cmd="playFrom(0.0)">
                                      <p:cBhvr>
                                        <p:cTn id="11" dur="1" fill="hold"/>
                                        <p:tgtEl>
                                          <p:spTgt spid="7"/>
                                        </p:tgtEl>
                                      </p:cBhvr>
                                    </p:cmd>
                                  </p:childTnLst>
                                </p:cTn>
                              </p:par>
                            </p:childTnLst>
                          </p:cTn>
                        </p:par>
                      </p:childTnLst>
                    </p:cTn>
                  </p:par>
                </p:childTnLst>
              </p:cTn>
              <p:nextCondLst>
                <p:cond evt="onClick" delay="0">
                  <p:tgtEl>
                    <p:spTgt spid="7"/>
                  </p:tgtEl>
                </p:cond>
              </p:nextCondLst>
            </p:seq>
            <p:seq concurrent="1" nextAc="seek">
              <p:cTn id="12" restart="whenNotActive" fill="hold" evtFilter="cancelBubble" nodeType="interactiveSeq">
                <p:stCondLst>
                  <p:cond evt="onClick" delay="0">
                    <p:tgtEl>
                      <p:spTgt spid="10"/>
                    </p:tgtEl>
                  </p:cond>
                </p:stCondLst>
                <p:endSync evt="end" delay="0">
                  <p:rtn val="all"/>
                </p:endSync>
                <p:childTnLst>
                  <p:par>
                    <p:cTn id="13" fill="hold">
                      <p:stCondLst>
                        <p:cond delay="0"/>
                      </p:stCondLst>
                      <p:childTnLst>
                        <p:par>
                          <p:cTn id="14" fill="hold">
                            <p:stCondLst>
                              <p:cond delay="0"/>
                            </p:stCondLst>
                            <p:childTnLst>
                              <p:par>
                                <p:cTn id="15" presetID="1" presetClass="mediacall" presetSubtype="0" fill="hold" nodeType="clickEffect">
                                  <p:stCondLst>
                                    <p:cond delay="0"/>
                                  </p:stCondLst>
                                  <p:childTnLst>
                                    <p:cmd type="call" cmd="playFrom(0.0)">
                                      <p:cBhvr>
                                        <p:cTn id="16" dur="1" fill="hold"/>
                                        <p:tgtEl>
                                          <p:spTgt spid="10"/>
                                        </p:tgtEl>
                                      </p:cBhvr>
                                    </p:cmd>
                                  </p:childTnLst>
                                </p:cTn>
                              </p:par>
                            </p:childTnLst>
                          </p:cTn>
                        </p:par>
                      </p:childTnLst>
                    </p:cTn>
                  </p:par>
                </p:childTnLst>
              </p:cTn>
              <p:nextCondLst>
                <p:cond evt="onClick" delay="0">
                  <p:tgtEl>
                    <p:spTgt spid="10"/>
                  </p:tgtEl>
                </p:cond>
              </p:nextCondLst>
            </p:seq>
            <p:seq concurrent="1" nextAc="seek">
              <p:cTn id="17" restart="whenNotActive" fill="hold" evtFilter="cancelBubble" nodeType="interactiveSeq">
                <p:stCondLst>
                  <p:cond evt="onClick" delay="0">
                    <p:tgtEl>
                      <p:spTgt spid="13"/>
                    </p:tgtEl>
                  </p:cond>
                </p:stCondLst>
                <p:endSync evt="end" delay="0">
                  <p:rtn val="all"/>
                </p:endSync>
                <p:childTnLst>
                  <p:par>
                    <p:cTn id="18" fill="hold">
                      <p:stCondLst>
                        <p:cond delay="0"/>
                      </p:stCondLst>
                      <p:childTnLst>
                        <p:par>
                          <p:cTn id="19" fill="hold">
                            <p:stCondLst>
                              <p:cond delay="0"/>
                            </p:stCondLst>
                            <p:childTnLst>
                              <p:par>
                                <p:cTn id="20" presetID="1" presetClass="mediacall" presetSubtype="0" fill="hold" nodeType="clickEffect">
                                  <p:stCondLst>
                                    <p:cond delay="0"/>
                                  </p:stCondLst>
                                  <p:childTnLst>
                                    <p:cmd type="call" cmd="playFrom(0.0)">
                                      <p:cBhvr>
                                        <p:cTn id="21" dur="1" fill="hold"/>
                                        <p:tgtEl>
                                          <p:spTgt spid="13"/>
                                        </p:tgtEl>
                                      </p:cBhvr>
                                    </p:cmd>
                                  </p:childTnLst>
                                </p:cTn>
                              </p:par>
                            </p:childTnLst>
                          </p:cTn>
                        </p:par>
                      </p:childTnLst>
                    </p:cTn>
                  </p:par>
                </p:childTnLst>
              </p:cTn>
              <p:nextCondLst>
                <p:cond evt="onClick" delay="0">
                  <p:tgtEl>
                    <p:spTgt spid="13"/>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C:\Users\user\projects\younes-training\heritage\.pptx-cache\s8.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833311" y="457200"/>
            <a:ext cx="4535424" cy="457200"/>
          </a:xfrm>
          <a:prstGeom prst="roundRect">
            <a:avLst>
              <a:gd name="adj" fmla="val 50000"/>
            </a:avLst>
          </a:prstGeom>
          <a:solidFill>
            <a:srgbClr val="F6EBCF"/>
          </a:solidFill>
          <a:ln/>
        </p:spPr>
      </p:sp>
      <p:sp>
        <p:nvSpPr>
          <p:cNvPr id="3" name="Text 1"/>
          <p:cNvSpPr/>
          <p:nvPr/>
        </p:nvSpPr>
        <p:spPr>
          <a:xfrm>
            <a:off x="6833311" y="457200"/>
            <a:ext cx="4535424"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بنهاية الدورة تستطيع أن</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أهداف الدورة</a:t>
            </a:r>
            <a:endParaRPr lang="ar-SA" sz="3800" dirty="0"/>
          </a:p>
        </p:txBody>
      </p:sp>
      <p:sp>
        <p:nvSpPr>
          <p:cNvPr id="5" name="anim-g1-78"/>
          <p:cNvSpPr/>
          <p:nvPr/>
        </p:nvSpPr>
        <p:spPr>
          <a:xfrm>
            <a:off x="822960" y="1920240"/>
            <a:ext cx="10545775" cy="735178"/>
          </a:xfrm>
          <a:prstGeom prst="roundRect">
            <a:avLst>
              <a:gd name="adj" fmla="val 19900"/>
            </a:avLst>
          </a:prstGeom>
          <a:solidFill>
            <a:srgbClr val="FFFFFF"/>
          </a:solidFill>
          <a:ln w="12700">
            <a:solidFill>
              <a:srgbClr val="E4DCC8"/>
            </a:solidFill>
            <a:prstDash val="solid"/>
          </a:ln>
        </p:spPr>
      </p:sp>
      <p:sp>
        <p:nvSpPr>
          <p:cNvPr id="6" name="anim-g1-79"/>
          <p:cNvSpPr/>
          <p:nvPr/>
        </p:nvSpPr>
        <p:spPr>
          <a:xfrm>
            <a:off x="10587838" y="2011680"/>
            <a:ext cx="552298" cy="552298"/>
          </a:xfrm>
          <a:prstGeom prst="ellipse">
            <a:avLst/>
          </a:prstGeom>
          <a:solidFill>
            <a:srgbClr val="D9AE4B"/>
          </a:solidFill>
          <a:ln/>
        </p:spPr>
      </p:sp>
      <p:sp>
        <p:nvSpPr>
          <p:cNvPr id="7" name="anim-g1-80"/>
          <p:cNvSpPr/>
          <p:nvPr/>
        </p:nvSpPr>
        <p:spPr>
          <a:xfrm>
            <a:off x="10587838" y="2011680"/>
            <a:ext cx="552298" cy="55229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81"/>
          <p:cNvSpPr/>
          <p:nvPr/>
        </p:nvSpPr>
        <p:spPr>
          <a:xfrm>
            <a:off x="1097280" y="1920240"/>
            <a:ext cx="9261958" cy="735178"/>
          </a:xfrm>
          <a:prstGeom prst="rect">
            <a:avLst/>
          </a:prstGeom>
          <a:noFill/>
          <a:ln/>
        </p:spPr>
        <p:txBody>
          <a:bodyPr wrap="square" lIns="0" tIns="0" rIns="0" bIns="0" rtlCol="0" anchor="ctr">
            <a:normAutofit/>
          </a:bodyPr>
          <a:lstStyle/>
          <a:p>
            <a:pPr marL="0" indent="0" algn="r">
              <a:buNone/>
            </a:pPr>
            <a:r>
              <a:rPr lang="ar-SA" altLang="en-US" sz="2200" b="1" dirty="0">
                <a:solidFill>
                  <a:srgbClr val="101B45"/>
                </a:solidFill>
                <a:latin typeface="Cairo Black" pitchFamily="34" charset="0"/>
                <a:ea typeface="Cairo Black" pitchFamily="34" charset="-122"/>
                <a:cs typeface="Cairo Black" pitchFamily="34" charset="-120"/>
              </a:rPr>
              <a:t>توصل وتبرمج سبعة مكونات على ESP32 كلًّا على حدة</a:t>
            </a:r>
            <a:endParaRPr lang="ar-SA" sz="2200" dirty="0"/>
          </a:p>
        </p:txBody>
      </p:sp>
      <p:sp>
        <p:nvSpPr>
          <p:cNvPr id="9" name="anim-g2-82"/>
          <p:cNvSpPr/>
          <p:nvPr/>
        </p:nvSpPr>
        <p:spPr>
          <a:xfrm>
            <a:off x="822960" y="2765146"/>
            <a:ext cx="10545775" cy="735178"/>
          </a:xfrm>
          <a:prstGeom prst="roundRect">
            <a:avLst>
              <a:gd name="adj" fmla="val 19900"/>
            </a:avLst>
          </a:prstGeom>
          <a:solidFill>
            <a:srgbClr val="FFFFFF"/>
          </a:solidFill>
          <a:ln w="12700">
            <a:solidFill>
              <a:srgbClr val="E4DCC8"/>
            </a:solidFill>
            <a:prstDash val="solid"/>
          </a:ln>
        </p:spPr>
      </p:sp>
      <p:sp>
        <p:nvSpPr>
          <p:cNvPr id="10" name="anim-g2-83"/>
          <p:cNvSpPr/>
          <p:nvPr/>
        </p:nvSpPr>
        <p:spPr>
          <a:xfrm>
            <a:off x="10587838" y="2856586"/>
            <a:ext cx="552298" cy="552298"/>
          </a:xfrm>
          <a:prstGeom prst="ellipse">
            <a:avLst/>
          </a:prstGeom>
          <a:solidFill>
            <a:srgbClr val="D9AE4B"/>
          </a:solidFill>
          <a:ln/>
        </p:spPr>
      </p:sp>
      <p:sp>
        <p:nvSpPr>
          <p:cNvPr id="11" name="anim-g2-84"/>
          <p:cNvSpPr/>
          <p:nvPr/>
        </p:nvSpPr>
        <p:spPr>
          <a:xfrm>
            <a:off x="10587838" y="2856586"/>
            <a:ext cx="552298" cy="55229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85"/>
          <p:cNvSpPr/>
          <p:nvPr/>
        </p:nvSpPr>
        <p:spPr>
          <a:xfrm>
            <a:off x="1097280" y="2765146"/>
            <a:ext cx="9261958" cy="735178"/>
          </a:xfrm>
          <a:prstGeom prst="rect">
            <a:avLst/>
          </a:prstGeom>
          <a:noFill/>
          <a:ln/>
        </p:spPr>
        <p:txBody>
          <a:bodyPr wrap="square" lIns="0" tIns="0" rIns="0" bIns="0" rtlCol="0" anchor="ctr">
            <a:normAutofit/>
          </a:bodyPr>
          <a:lstStyle/>
          <a:p>
            <a:pPr marL="0" indent="0" algn="r">
              <a:buNone/>
            </a:pPr>
            <a:r>
              <a:rPr lang="ar-SA" altLang="en-US" sz="2200" b="1" dirty="0">
                <a:solidFill>
                  <a:srgbClr val="101B45"/>
                </a:solidFill>
                <a:latin typeface="Cairo Black" pitchFamily="34" charset="0"/>
                <a:ea typeface="Cairo Black" pitchFamily="34" charset="-122"/>
                <a:cs typeface="Cairo Black" pitchFamily="34" charset="-120"/>
              </a:rPr>
              <a:t>تدمج المكونات تدريجيًا حتى المشروع الكامل</a:t>
            </a:r>
            <a:endParaRPr lang="ar-SA" sz="2200" dirty="0"/>
          </a:p>
        </p:txBody>
      </p:sp>
      <p:sp>
        <p:nvSpPr>
          <p:cNvPr id="13" name="anim-g3-86"/>
          <p:cNvSpPr/>
          <p:nvPr/>
        </p:nvSpPr>
        <p:spPr>
          <a:xfrm>
            <a:off x="822960" y="3610051"/>
            <a:ext cx="10545775" cy="735178"/>
          </a:xfrm>
          <a:prstGeom prst="roundRect">
            <a:avLst>
              <a:gd name="adj" fmla="val 19900"/>
            </a:avLst>
          </a:prstGeom>
          <a:solidFill>
            <a:srgbClr val="FFFFFF"/>
          </a:solidFill>
          <a:ln w="12700">
            <a:solidFill>
              <a:srgbClr val="E4DCC8"/>
            </a:solidFill>
            <a:prstDash val="solid"/>
          </a:ln>
        </p:spPr>
      </p:sp>
      <p:sp>
        <p:nvSpPr>
          <p:cNvPr id="14" name="anim-g3-87"/>
          <p:cNvSpPr/>
          <p:nvPr/>
        </p:nvSpPr>
        <p:spPr>
          <a:xfrm>
            <a:off x="10587838" y="3701491"/>
            <a:ext cx="552298" cy="552298"/>
          </a:xfrm>
          <a:prstGeom prst="ellipse">
            <a:avLst/>
          </a:prstGeom>
          <a:solidFill>
            <a:srgbClr val="D9AE4B"/>
          </a:solidFill>
          <a:ln/>
        </p:spPr>
      </p:sp>
      <p:sp>
        <p:nvSpPr>
          <p:cNvPr id="15" name="anim-g3-88"/>
          <p:cNvSpPr/>
          <p:nvPr/>
        </p:nvSpPr>
        <p:spPr>
          <a:xfrm>
            <a:off x="10587838" y="3701491"/>
            <a:ext cx="552298" cy="55229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89"/>
          <p:cNvSpPr/>
          <p:nvPr/>
        </p:nvSpPr>
        <p:spPr>
          <a:xfrm>
            <a:off x="1097280" y="3610051"/>
            <a:ext cx="9261958" cy="735178"/>
          </a:xfrm>
          <a:prstGeom prst="rect">
            <a:avLst/>
          </a:prstGeom>
          <a:noFill/>
          <a:ln/>
        </p:spPr>
        <p:txBody>
          <a:bodyPr wrap="square" lIns="0" tIns="0" rIns="0" bIns="0" rtlCol="0" anchor="ctr">
            <a:normAutofit/>
          </a:bodyPr>
          <a:lstStyle/>
          <a:p>
            <a:pPr marL="0" indent="0" algn="r">
              <a:buNone/>
            </a:pPr>
            <a:r>
              <a:rPr lang="ar-SA" altLang="en-US" sz="2200" b="1" dirty="0">
                <a:solidFill>
                  <a:srgbClr val="101B45"/>
                </a:solidFill>
                <a:latin typeface="Cairo Black" pitchFamily="34" charset="0"/>
                <a:ea typeface="Cairo Black" pitchFamily="34" charset="-122"/>
                <a:cs typeface="Cairo Black" pitchFamily="34" charset="-120"/>
              </a:rPr>
              <a:t>تعاير منصة دوّارة بالقياس الميداني</a:t>
            </a:r>
            <a:endParaRPr lang="ar-SA" sz="2200" dirty="0"/>
          </a:p>
        </p:txBody>
      </p:sp>
      <p:sp>
        <p:nvSpPr>
          <p:cNvPr id="17" name="anim-g4-90"/>
          <p:cNvSpPr/>
          <p:nvPr/>
        </p:nvSpPr>
        <p:spPr>
          <a:xfrm>
            <a:off x="822960" y="4454957"/>
            <a:ext cx="10545775" cy="735178"/>
          </a:xfrm>
          <a:prstGeom prst="roundRect">
            <a:avLst>
              <a:gd name="adj" fmla="val 19900"/>
            </a:avLst>
          </a:prstGeom>
          <a:solidFill>
            <a:srgbClr val="FFFFFF"/>
          </a:solidFill>
          <a:ln w="12700">
            <a:solidFill>
              <a:srgbClr val="E4DCC8"/>
            </a:solidFill>
            <a:prstDash val="solid"/>
          </a:ln>
        </p:spPr>
      </p:sp>
      <p:sp>
        <p:nvSpPr>
          <p:cNvPr id="18" name="anim-g4-91"/>
          <p:cNvSpPr/>
          <p:nvPr/>
        </p:nvSpPr>
        <p:spPr>
          <a:xfrm>
            <a:off x="10587838" y="4546397"/>
            <a:ext cx="552298" cy="552298"/>
          </a:xfrm>
          <a:prstGeom prst="ellipse">
            <a:avLst/>
          </a:prstGeom>
          <a:solidFill>
            <a:srgbClr val="D9AE4B"/>
          </a:solidFill>
          <a:ln/>
        </p:spPr>
      </p:sp>
      <p:sp>
        <p:nvSpPr>
          <p:cNvPr id="19" name="anim-g4-92"/>
          <p:cNvSpPr/>
          <p:nvPr/>
        </p:nvSpPr>
        <p:spPr>
          <a:xfrm>
            <a:off x="10587838" y="4546397"/>
            <a:ext cx="552298" cy="55229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93"/>
          <p:cNvSpPr/>
          <p:nvPr/>
        </p:nvSpPr>
        <p:spPr>
          <a:xfrm>
            <a:off x="1097280" y="4454957"/>
            <a:ext cx="9261958" cy="735178"/>
          </a:xfrm>
          <a:prstGeom prst="rect">
            <a:avLst/>
          </a:prstGeom>
          <a:noFill/>
          <a:ln/>
        </p:spPr>
        <p:txBody>
          <a:bodyPr wrap="square" lIns="0" tIns="0" rIns="0" bIns="0" rtlCol="0" anchor="ctr">
            <a:normAutofit/>
          </a:bodyPr>
          <a:lstStyle/>
          <a:p>
            <a:pPr marL="0" indent="0" algn="r">
              <a:buNone/>
            </a:pPr>
            <a:r>
              <a:rPr lang="ar-SA" altLang="en-US" sz="2200" b="1" dirty="0">
                <a:solidFill>
                  <a:srgbClr val="101B45"/>
                </a:solidFill>
                <a:latin typeface="Cairo Black" pitchFamily="34" charset="0"/>
                <a:ea typeface="Cairo Black" pitchFamily="34" charset="-122"/>
                <a:cs typeface="Cairo Black" pitchFamily="34" charset="-120"/>
              </a:rPr>
              <a:t>تبني آلة حالات وقرارًا مستقلًا بلا delay طويلة</a:t>
            </a:r>
            <a:endParaRPr lang="ar-SA" sz="2200" dirty="0"/>
          </a:p>
        </p:txBody>
      </p:sp>
      <p:sp>
        <p:nvSpPr>
          <p:cNvPr id="21" name="anim-g5-94"/>
          <p:cNvSpPr/>
          <p:nvPr/>
        </p:nvSpPr>
        <p:spPr>
          <a:xfrm>
            <a:off x="822960" y="5299862"/>
            <a:ext cx="10545775" cy="735178"/>
          </a:xfrm>
          <a:prstGeom prst="roundRect">
            <a:avLst>
              <a:gd name="adj" fmla="val 19900"/>
            </a:avLst>
          </a:prstGeom>
          <a:solidFill>
            <a:srgbClr val="FFFFFF"/>
          </a:solidFill>
          <a:ln w="12700">
            <a:solidFill>
              <a:srgbClr val="E4DCC8"/>
            </a:solidFill>
            <a:prstDash val="solid"/>
          </a:ln>
        </p:spPr>
      </p:sp>
      <p:sp>
        <p:nvSpPr>
          <p:cNvPr id="22" name="anim-g5-95"/>
          <p:cNvSpPr/>
          <p:nvPr/>
        </p:nvSpPr>
        <p:spPr>
          <a:xfrm>
            <a:off x="10587838" y="5391302"/>
            <a:ext cx="552298" cy="552298"/>
          </a:xfrm>
          <a:prstGeom prst="ellipse">
            <a:avLst/>
          </a:prstGeom>
          <a:solidFill>
            <a:srgbClr val="D9AE4B"/>
          </a:solidFill>
          <a:ln/>
        </p:spPr>
      </p:sp>
      <p:sp>
        <p:nvSpPr>
          <p:cNvPr id="23" name="anim-g5-96"/>
          <p:cNvSpPr/>
          <p:nvPr/>
        </p:nvSpPr>
        <p:spPr>
          <a:xfrm>
            <a:off x="10587838" y="5391302"/>
            <a:ext cx="552298" cy="55229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٥</a:t>
            </a:r>
            <a:endParaRPr lang="ar-SA" sz="2000" dirty="0"/>
          </a:p>
        </p:txBody>
      </p:sp>
      <p:sp>
        <p:nvSpPr>
          <p:cNvPr id="24" name="anim-g5-97"/>
          <p:cNvSpPr/>
          <p:nvPr/>
        </p:nvSpPr>
        <p:spPr>
          <a:xfrm>
            <a:off x="1097280" y="5299862"/>
            <a:ext cx="9261958" cy="735178"/>
          </a:xfrm>
          <a:prstGeom prst="rect">
            <a:avLst/>
          </a:prstGeom>
          <a:noFill/>
          <a:ln/>
        </p:spPr>
        <p:txBody>
          <a:bodyPr wrap="square" lIns="0" tIns="0" rIns="0" bIns="0" rtlCol="0" anchor="ctr">
            <a:normAutofit/>
          </a:bodyPr>
          <a:lstStyle/>
          <a:p>
            <a:pPr marL="0" indent="0" algn="r">
              <a:buNone/>
            </a:pPr>
            <a:r>
              <a:rPr lang="ar-SA" altLang="en-US" sz="2200" b="1" dirty="0">
                <a:solidFill>
                  <a:srgbClr val="101B45"/>
                </a:solidFill>
                <a:latin typeface="Cairo Black" pitchFamily="34" charset="0"/>
                <a:ea typeface="Cairo Black" pitchFamily="34" charset="-122"/>
                <a:cs typeface="Cairo Black" pitchFamily="34" charset="-120"/>
              </a:rPr>
              <a:t>تقدّم المشروع في بوث ولجنة تحكيم دولية</a:t>
            </a:r>
            <a:endParaRPr lang="ar-SA" sz="22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صانع الذكريات التراثية</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الافتتاح  ·  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400"/>
                                        <p:tgtEl>
                                          <p:spTgt spid="23"/>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998568" y="1188720"/>
            <a:ext cx="2194560"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998568" y="1188720"/>
            <a:ext cx="219456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وعد الدورة</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marL="0" indent="0" algn="ctr">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لم نصنع لعبة تتحدث عن التراث فحسب…</a:t>
            </a:r>
            <a:endParaRPr lang="ar-SA" sz="4400" dirty="0"/>
          </a:p>
          <a:p>
            <a:pPr marL="0" indent="0" algn="ctr">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صنعنا تجربة تجعل الطفل يعيش التراث، ويتعلمه، ثم يحمل ذكراه معه</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صانع الذكريات التراثية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الافتتاح  ·  ١٠</a:t>
            </a:r>
            <a:endParaRPr lang="ar-SA"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marL="0" indent="0" algn="ctr" rtl="1">
              <a:buNone/>
            </a:pPr>
            <a:r>
              <a:rPr lang="ar-SA" altLang="en-US" sz="12000" dirty="0">
                <a:solidFill>
                  <a:srgbClr val="F0CC7A"/>
                </a:solidFill>
                <a:latin typeface="Cairo Black" pitchFamily="34" charset="0"/>
                <a:ea typeface="Cairo Black" pitchFamily="34" charset="-122"/>
                <a:cs typeface="Cairo Black" pitchFamily="34" charset="-120"/>
              </a:rPr>
              <a:t>١</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marL="0" indent="0" algn="r" rtl="1">
              <a:buNone/>
            </a:pPr>
            <a:r>
              <a:rPr lang="ar-SA" altLang="en-US" sz="2000" b="1" dirty="0">
                <a:solidFill>
                  <a:srgbClr val="D9AE4B"/>
                </a:solidFill>
                <a:latin typeface="Cairo" pitchFamily="34" charset="0"/>
                <a:ea typeface="Cairo" pitchFamily="34" charset="-122"/>
                <a:cs typeface="Cairo" pitchFamily="34" charset="-120"/>
              </a:rPr>
              <a:t>المحور ١</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marL="0" indent="0" algn="r" rtl="1">
              <a:buNone/>
            </a:pPr>
            <a:r>
              <a:rPr lang="ar-SA" altLang="en-US" sz="5600" dirty="0">
                <a:solidFill>
                  <a:srgbClr val="FFFFFF"/>
                </a:solidFill>
                <a:latin typeface="Cairo Black" pitchFamily="34" charset="0"/>
                <a:ea typeface="Cairo Black" pitchFamily="34" charset="-122"/>
                <a:cs typeface="Cairo Black" pitchFamily="34" charset="-120"/>
              </a:rPr>
              <a:t>🗺️ بنية النظام</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marL="0" indent="0" algn="r" rtl="1">
              <a:buNone/>
            </a:pPr>
            <a:r>
              <a:rPr lang="ar-SA" altLang="en-US" sz="2200" b="1" dirty="0">
                <a:solidFill>
                  <a:srgbClr val="C9CFE6"/>
                </a:solidFill>
                <a:latin typeface="Cairo" pitchFamily="34" charset="0"/>
                <a:ea typeface="Cairo" pitchFamily="34" charset="-122"/>
                <a:cs typeface="Cairo" pitchFamily="34" charset="-120"/>
              </a:rPr>
              <a:t>مدخلات ← معالجة ← مخرجات… قبل أي سلك</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صانع الذكريات التراثية</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 بنية النظام  ·  ١١</a:t>
            </a:r>
            <a:endParaRPr lang="ar-SA"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248095" y="457200"/>
            <a:ext cx="5120640" cy="457200"/>
          </a:xfrm>
          <a:prstGeom prst="roundRect">
            <a:avLst>
              <a:gd name="adj" fmla="val 50000"/>
            </a:avLst>
          </a:prstGeom>
          <a:solidFill>
            <a:srgbClr val="F6EBCF"/>
          </a:solidFill>
          <a:ln/>
        </p:spPr>
      </p:sp>
      <p:sp>
        <p:nvSpPr>
          <p:cNvPr id="3" name="Text 1"/>
          <p:cNvSpPr/>
          <p:nvPr/>
        </p:nvSpPr>
        <p:spPr>
          <a:xfrm>
            <a:off x="6248095" y="457200"/>
            <a:ext cx="512064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بنهاية هذا المحور تستطيع أن</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أهداف المحور</a:t>
            </a:r>
            <a:endParaRPr lang="ar-SA" sz="3800" dirty="0"/>
          </a:p>
        </p:txBody>
      </p:sp>
      <p:sp>
        <p:nvSpPr>
          <p:cNvPr id="5" name="anim-g1-98"/>
          <p:cNvSpPr/>
          <p:nvPr/>
        </p:nvSpPr>
        <p:spPr>
          <a:xfrm>
            <a:off x="822960" y="1920240"/>
            <a:ext cx="10545775" cy="1298448"/>
          </a:xfrm>
          <a:prstGeom prst="roundRect">
            <a:avLst>
              <a:gd name="adj" fmla="val 11268"/>
            </a:avLst>
          </a:prstGeom>
          <a:solidFill>
            <a:srgbClr val="FFFFFF"/>
          </a:solidFill>
          <a:ln w="12700">
            <a:solidFill>
              <a:srgbClr val="E4DCC8"/>
            </a:solidFill>
            <a:prstDash val="solid"/>
          </a:ln>
        </p:spPr>
      </p:sp>
      <p:sp>
        <p:nvSpPr>
          <p:cNvPr id="6" name="anim-g1-99"/>
          <p:cNvSpPr/>
          <p:nvPr/>
        </p:nvSpPr>
        <p:spPr>
          <a:xfrm>
            <a:off x="10573207" y="2286000"/>
            <a:ext cx="566928" cy="566928"/>
          </a:xfrm>
          <a:prstGeom prst="ellipse">
            <a:avLst/>
          </a:prstGeom>
          <a:solidFill>
            <a:srgbClr val="D9AE4B"/>
          </a:solidFill>
          <a:ln/>
        </p:spPr>
      </p:sp>
      <p:sp>
        <p:nvSpPr>
          <p:cNvPr id="7" name="anim-g1-100"/>
          <p:cNvSpPr/>
          <p:nvPr/>
        </p:nvSpPr>
        <p:spPr>
          <a:xfrm>
            <a:off x="10573207" y="2286000"/>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101"/>
          <p:cNvSpPr/>
          <p:nvPr/>
        </p:nvSpPr>
        <p:spPr>
          <a:xfrm>
            <a:off x="1097280" y="1920240"/>
            <a:ext cx="9247327" cy="1298448"/>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تصنّف مكونات المشروع إلى مدخلات ومخرجات</a:t>
            </a:r>
            <a:endParaRPr lang="ar-SA" sz="2400" dirty="0"/>
          </a:p>
        </p:txBody>
      </p:sp>
      <p:sp>
        <p:nvSpPr>
          <p:cNvPr id="9" name="anim-g2-102"/>
          <p:cNvSpPr/>
          <p:nvPr/>
        </p:nvSpPr>
        <p:spPr>
          <a:xfrm>
            <a:off x="822960" y="3328416"/>
            <a:ext cx="10545775" cy="1298448"/>
          </a:xfrm>
          <a:prstGeom prst="roundRect">
            <a:avLst>
              <a:gd name="adj" fmla="val 11268"/>
            </a:avLst>
          </a:prstGeom>
          <a:solidFill>
            <a:srgbClr val="FFFFFF"/>
          </a:solidFill>
          <a:ln w="12700">
            <a:solidFill>
              <a:srgbClr val="E4DCC8"/>
            </a:solidFill>
            <a:prstDash val="solid"/>
          </a:ln>
        </p:spPr>
      </p:sp>
      <p:sp>
        <p:nvSpPr>
          <p:cNvPr id="10" name="anim-g2-103"/>
          <p:cNvSpPr/>
          <p:nvPr/>
        </p:nvSpPr>
        <p:spPr>
          <a:xfrm>
            <a:off x="10573207" y="3694176"/>
            <a:ext cx="566928" cy="566928"/>
          </a:xfrm>
          <a:prstGeom prst="ellipse">
            <a:avLst/>
          </a:prstGeom>
          <a:solidFill>
            <a:srgbClr val="D9AE4B"/>
          </a:solidFill>
          <a:ln/>
        </p:spPr>
      </p:sp>
      <p:sp>
        <p:nvSpPr>
          <p:cNvPr id="11" name="anim-g2-104"/>
          <p:cNvSpPr/>
          <p:nvPr/>
        </p:nvSpPr>
        <p:spPr>
          <a:xfrm>
            <a:off x="10573207" y="3694176"/>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105"/>
          <p:cNvSpPr/>
          <p:nvPr/>
        </p:nvSpPr>
        <p:spPr>
          <a:xfrm>
            <a:off x="1097280" y="3328416"/>
            <a:ext cx="9247327" cy="1298448"/>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تتبع رحلة طفل داخل النظام</a:t>
            </a:r>
            <a:endParaRPr lang="ar-SA" sz="2400" dirty="0"/>
          </a:p>
        </p:txBody>
      </p:sp>
      <p:sp>
        <p:nvSpPr>
          <p:cNvPr id="13" name="anim-g3-106"/>
          <p:cNvSpPr/>
          <p:nvPr/>
        </p:nvSpPr>
        <p:spPr>
          <a:xfrm>
            <a:off x="822960" y="4736592"/>
            <a:ext cx="10545775" cy="1298448"/>
          </a:xfrm>
          <a:prstGeom prst="roundRect">
            <a:avLst>
              <a:gd name="adj" fmla="val 11268"/>
            </a:avLst>
          </a:prstGeom>
          <a:solidFill>
            <a:srgbClr val="FFFFFF"/>
          </a:solidFill>
          <a:ln w="12700">
            <a:solidFill>
              <a:srgbClr val="E4DCC8"/>
            </a:solidFill>
            <a:prstDash val="solid"/>
          </a:ln>
        </p:spPr>
      </p:sp>
      <p:sp>
        <p:nvSpPr>
          <p:cNvPr id="14" name="anim-g3-107"/>
          <p:cNvSpPr/>
          <p:nvPr/>
        </p:nvSpPr>
        <p:spPr>
          <a:xfrm>
            <a:off x="10573207" y="5102352"/>
            <a:ext cx="566928" cy="566928"/>
          </a:xfrm>
          <a:prstGeom prst="ellipse">
            <a:avLst/>
          </a:prstGeom>
          <a:solidFill>
            <a:srgbClr val="D9AE4B"/>
          </a:solidFill>
          <a:ln/>
        </p:spPr>
      </p:sp>
      <p:sp>
        <p:nvSpPr>
          <p:cNvPr id="15" name="anim-g3-108"/>
          <p:cNvSpPr/>
          <p:nvPr/>
        </p:nvSpPr>
        <p:spPr>
          <a:xfrm>
            <a:off x="10573207" y="5102352"/>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109"/>
          <p:cNvSpPr/>
          <p:nvPr/>
        </p:nvSpPr>
        <p:spPr>
          <a:xfrm>
            <a:off x="1097280" y="4736592"/>
            <a:ext cx="9247327" cy="1298448"/>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تقرأ جدول أطراف ESP32 للمشروع وتفهم سبب كل اختيار</a:t>
            </a:r>
            <a:endParaRPr lang="ar-SA" sz="24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صانع الذكريات التراثية</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بنية النظام  ·  ١٢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C:\Users\user\projects\younes-training\heritage\.pptx-cache\s13.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272223" y="457200"/>
            <a:ext cx="4096512" cy="457200"/>
          </a:xfrm>
          <a:prstGeom prst="roundRect">
            <a:avLst>
              <a:gd name="adj" fmla="val 50000"/>
            </a:avLst>
          </a:prstGeom>
          <a:solidFill>
            <a:srgbClr val="F6EBCF"/>
          </a:solidFill>
          <a:ln/>
        </p:spPr>
      </p:sp>
      <p:sp>
        <p:nvSpPr>
          <p:cNvPr id="3" name="Text 1"/>
          <p:cNvSpPr/>
          <p:nvPr/>
        </p:nvSpPr>
        <p:spPr>
          <a:xfrm>
            <a:off x="7272223" y="457200"/>
            <a:ext cx="4096512"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جدول الأطراف الحقيقي</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أين يتصل كل مكوّن؟</a:t>
            </a:r>
            <a:endParaRPr lang="ar-SA" sz="3800" dirty="0"/>
          </a:p>
        </p:txBody>
      </p:sp>
      <p:sp>
        <p:nvSpPr>
          <p:cNvPr id="5" name="Shape 3"/>
          <p:cNvSpPr/>
          <p:nvPr/>
        </p:nvSpPr>
        <p:spPr>
          <a:xfrm>
            <a:off x="8856928" y="1874520"/>
            <a:ext cx="2511807" cy="548640"/>
          </a:xfrm>
          <a:prstGeom prst="roundRect">
            <a:avLst>
              <a:gd name="adj" fmla="val 20000"/>
            </a:avLst>
          </a:prstGeom>
          <a:solidFill>
            <a:srgbClr val="101B45"/>
          </a:solidFill>
          <a:ln/>
        </p:spPr>
      </p:sp>
      <p:sp>
        <p:nvSpPr>
          <p:cNvPr id="6" name="Text 4"/>
          <p:cNvSpPr/>
          <p:nvPr/>
        </p:nvSpPr>
        <p:spPr>
          <a:xfrm>
            <a:off x="8856928" y="1874520"/>
            <a:ext cx="2511807"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GPIO</a:t>
            </a:r>
            <a:endParaRPr lang="ar-SA" sz="1900" dirty="0"/>
          </a:p>
        </p:txBody>
      </p:sp>
      <p:sp>
        <p:nvSpPr>
          <p:cNvPr id="7" name="Shape 5"/>
          <p:cNvSpPr/>
          <p:nvPr/>
        </p:nvSpPr>
        <p:spPr>
          <a:xfrm>
            <a:off x="4839944" y="1874520"/>
            <a:ext cx="3907256" cy="548640"/>
          </a:xfrm>
          <a:prstGeom prst="roundRect">
            <a:avLst>
              <a:gd name="adj" fmla="val 20000"/>
            </a:avLst>
          </a:prstGeom>
          <a:solidFill>
            <a:srgbClr val="101B45"/>
          </a:solidFill>
          <a:ln/>
        </p:spPr>
      </p:sp>
      <p:sp>
        <p:nvSpPr>
          <p:cNvPr id="8" name="Text 6"/>
          <p:cNvSpPr/>
          <p:nvPr/>
        </p:nvSpPr>
        <p:spPr>
          <a:xfrm>
            <a:off x="4839944" y="1874520"/>
            <a:ext cx="3907256"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المكوّن</a:t>
            </a:r>
            <a:endParaRPr lang="ar-SA" sz="1900" dirty="0"/>
          </a:p>
        </p:txBody>
      </p:sp>
      <p:sp>
        <p:nvSpPr>
          <p:cNvPr id="9" name="Shape 7"/>
          <p:cNvSpPr/>
          <p:nvPr/>
        </p:nvSpPr>
        <p:spPr>
          <a:xfrm>
            <a:off x="822960" y="1874520"/>
            <a:ext cx="3907256" cy="548640"/>
          </a:xfrm>
          <a:prstGeom prst="roundRect">
            <a:avLst>
              <a:gd name="adj" fmla="val 20000"/>
            </a:avLst>
          </a:prstGeom>
          <a:solidFill>
            <a:srgbClr val="101B45"/>
          </a:solidFill>
          <a:ln/>
        </p:spPr>
      </p:sp>
      <p:sp>
        <p:nvSpPr>
          <p:cNvPr id="10" name="Text 8"/>
          <p:cNvSpPr/>
          <p:nvPr/>
        </p:nvSpPr>
        <p:spPr>
          <a:xfrm>
            <a:off x="822960" y="1874520"/>
            <a:ext cx="3907256"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ملاحظة</a:t>
            </a:r>
            <a:endParaRPr lang="ar-SA" sz="1900" dirty="0"/>
          </a:p>
        </p:txBody>
      </p:sp>
      <p:sp>
        <p:nvSpPr>
          <p:cNvPr id="11" name="anim-g1-110"/>
          <p:cNvSpPr/>
          <p:nvPr/>
        </p:nvSpPr>
        <p:spPr>
          <a:xfrm>
            <a:off x="8856928" y="2514600"/>
            <a:ext cx="2511807" cy="495300"/>
          </a:xfrm>
          <a:prstGeom prst="roundRect">
            <a:avLst>
              <a:gd name="adj" fmla="val 22154"/>
            </a:avLst>
          </a:prstGeom>
          <a:solidFill>
            <a:srgbClr val="FBF3DF"/>
          </a:solidFill>
          <a:ln w="12700">
            <a:solidFill>
              <a:srgbClr val="EFDDAF"/>
            </a:solidFill>
            <a:prstDash val="solid"/>
          </a:ln>
        </p:spPr>
      </p:sp>
      <p:sp>
        <p:nvSpPr>
          <p:cNvPr id="12" name="anim-g1-111"/>
          <p:cNvSpPr/>
          <p:nvPr/>
        </p:nvSpPr>
        <p:spPr>
          <a:xfrm>
            <a:off x="8994088" y="2514600"/>
            <a:ext cx="2237487" cy="495300"/>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18 / 34</a:t>
            </a:r>
            <a:endParaRPr lang="ar-SA" sz="2100" dirty="0"/>
          </a:p>
        </p:txBody>
      </p:sp>
      <p:sp>
        <p:nvSpPr>
          <p:cNvPr id="13" name="anim-g1-112"/>
          <p:cNvSpPr/>
          <p:nvPr/>
        </p:nvSpPr>
        <p:spPr>
          <a:xfrm>
            <a:off x="4839944" y="2514600"/>
            <a:ext cx="3907256" cy="495300"/>
          </a:xfrm>
          <a:prstGeom prst="roundRect">
            <a:avLst>
              <a:gd name="adj" fmla="val 22154"/>
            </a:avLst>
          </a:prstGeom>
          <a:solidFill>
            <a:srgbClr val="FFFFFF"/>
          </a:solidFill>
          <a:ln w="12700">
            <a:solidFill>
              <a:srgbClr val="E4DCC8"/>
            </a:solidFill>
            <a:prstDash val="solid"/>
          </a:ln>
        </p:spPr>
      </p:sp>
      <p:sp>
        <p:nvSpPr>
          <p:cNvPr id="14" name="anim-g1-113"/>
          <p:cNvSpPr/>
          <p:nvPr/>
        </p:nvSpPr>
        <p:spPr>
          <a:xfrm>
            <a:off x="4977104" y="2514600"/>
            <a:ext cx="3632936" cy="495300"/>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 HC-SR04: Trig / Echo</a:t>
            </a:r>
            <a:endParaRPr lang="ar-SA" sz="2100" dirty="0"/>
          </a:p>
        </p:txBody>
      </p:sp>
      <p:sp>
        <p:nvSpPr>
          <p:cNvPr id="15" name="anim-g1-114"/>
          <p:cNvSpPr/>
          <p:nvPr/>
        </p:nvSpPr>
        <p:spPr>
          <a:xfrm>
            <a:off x="822960" y="2514600"/>
            <a:ext cx="3907256" cy="495300"/>
          </a:xfrm>
          <a:prstGeom prst="roundRect">
            <a:avLst>
              <a:gd name="adj" fmla="val 22154"/>
            </a:avLst>
          </a:prstGeom>
          <a:solidFill>
            <a:srgbClr val="E6F4EC"/>
          </a:solidFill>
          <a:ln w="12700">
            <a:solidFill>
              <a:srgbClr val="CDE9D9"/>
            </a:solidFill>
            <a:prstDash val="solid"/>
          </a:ln>
        </p:spPr>
      </p:sp>
      <p:sp>
        <p:nvSpPr>
          <p:cNvPr id="16" name="anim-g1-115"/>
          <p:cNvSpPr/>
          <p:nvPr/>
        </p:nvSpPr>
        <p:spPr>
          <a:xfrm>
            <a:off x="960120" y="2514600"/>
            <a:ext cx="3632936" cy="495300"/>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34 مدخل فقط: مناسب لـ Echo</a:t>
            </a:r>
            <a:endParaRPr lang="ar-SA" sz="2100" dirty="0"/>
          </a:p>
        </p:txBody>
      </p:sp>
      <p:sp>
        <p:nvSpPr>
          <p:cNvPr id="17" name="anim-g2-116"/>
          <p:cNvSpPr/>
          <p:nvPr/>
        </p:nvSpPr>
        <p:spPr>
          <a:xfrm>
            <a:off x="8856928" y="3119628"/>
            <a:ext cx="2511807" cy="495300"/>
          </a:xfrm>
          <a:prstGeom prst="roundRect">
            <a:avLst>
              <a:gd name="adj" fmla="val 22154"/>
            </a:avLst>
          </a:prstGeom>
          <a:solidFill>
            <a:srgbClr val="FBF3DF"/>
          </a:solidFill>
          <a:ln w="12700">
            <a:solidFill>
              <a:srgbClr val="EFDDAF"/>
            </a:solidFill>
            <a:prstDash val="solid"/>
          </a:ln>
        </p:spPr>
      </p:sp>
      <p:sp>
        <p:nvSpPr>
          <p:cNvPr id="18" name="anim-g2-117"/>
          <p:cNvSpPr/>
          <p:nvPr/>
        </p:nvSpPr>
        <p:spPr>
          <a:xfrm>
            <a:off x="8994088" y="3119628"/>
            <a:ext cx="2237487" cy="495300"/>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21 / 22</a:t>
            </a:r>
            <a:endParaRPr lang="ar-SA" sz="2100" dirty="0"/>
          </a:p>
        </p:txBody>
      </p:sp>
      <p:sp>
        <p:nvSpPr>
          <p:cNvPr id="19" name="anim-g2-118"/>
          <p:cNvSpPr/>
          <p:nvPr/>
        </p:nvSpPr>
        <p:spPr>
          <a:xfrm>
            <a:off x="4839944" y="3119628"/>
            <a:ext cx="3907256" cy="495300"/>
          </a:xfrm>
          <a:prstGeom prst="roundRect">
            <a:avLst>
              <a:gd name="adj" fmla="val 22154"/>
            </a:avLst>
          </a:prstGeom>
          <a:solidFill>
            <a:srgbClr val="FFFFFF"/>
          </a:solidFill>
          <a:ln w="12700">
            <a:solidFill>
              <a:srgbClr val="E4DCC8"/>
            </a:solidFill>
            <a:prstDash val="solid"/>
          </a:ln>
        </p:spPr>
      </p:sp>
      <p:sp>
        <p:nvSpPr>
          <p:cNvPr id="20" name="anim-g2-119"/>
          <p:cNvSpPr/>
          <p:nvPr/>
        </p:nvSpPr>
        <p:spPr>
          <a:xfrm>
            <a:off x="4977104" y="3119628"/>
            <a:ext cx="3632936" cy="495300"/>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 LCD عبر I2C: SDA / SCL</a:t>
            </a:r>
            <a:endParaRPr lang="ar-SA" sz="2100" dirty="0"/>
          </a:p>
        </p:txBody>
      </p:sp>
      <p:sp>
        <p:nvSpPr>
          <p:cNvPr id="21" name="anim-g2-120"/>
          <p:cNvSpPr/>
          <p:nvPr/>
        </p:nvSpPr>
        <p:spPr>
          <a:xfrm>
            <a:off x="822960" y="3119628"/>
            <a:ext cx="3907256" cy="495300"/>
          </a:xfrm>
          <a:prstGeom prst="roundRect">
            <a:avLst>
              <a:gd name="adj" fmla="val 22154"/>
            </a:avLst>
          </a:prstGeom>
          <a:solidFill>
            <a:srgbClr val="E6F4EC"/>
          </a:solidFill>
          <a:ln w="12700">
            <a:solidFill>
              <a:srgbClr val="CDE9D9"/>
            </a:solidFill>
            <a:prstDash val="solid"/>
          </a:ln>
        </p:spPr>
      </p:sp>
      <p:sp>
        <p:nvSpPr>
          <p:cNvPr id="22" name="anim-g2-121"/>
          <p:cNvSpPr/>
          <p:nvPr/>
        </p:nvSpPr>
        <p:spPr>
          <a:xfrm>
            <a:off x="960120" y="3119628"/>
            <a:ext cx="3632936" cy="495300"/>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طرفا I2C الافتراضيان</a:t>
            </a:r>
            <a:endParaRPr lang="ar-SA" sz="2100" dirty="0"/>
          </a:p>
        </p:txBody>
      </p:sp>
      <p:sp>
        <p:nvSpPr>
          <p:cNvPr id="23" name="anim-g3-122"/>
          <p:cNvSpPr/>
          <p:nvPr/>
        </p:nvSpPr>
        <p:spPr>
          <a:xfrm>
            <a:off x="8856928" y="3724656"/>
            <a:ext cx="2511807" cy="495300"/>
          </a:xfrm>
          <a:prstGeom prst="roundRect">
            <a:avLst>
              <a:gd name="adj" fmla="val 22154"/>
            </a:avLst>
          </a:prstGeom>
          <a:solidFill>
            <a:srgbClr val="FBF3DF"/>
          </a:solidFill>
          <a:ln w="12700">
            <a:solidFill>
              <a:srgbClr val="EFDDAF"/>
            </a:solidFill>
            <a:prstDash val="solid"/>
          </a:ln>
        </p:spPr>
      </p:sp>
      <p:sp>
        <p:nvSpPr>
          <p:cNvPr id="24" name="anim-g3-123"/>
          <p:cNvSpPr/>
          <p:nvPr/>
        </p:nvSpPr>
        <p:spPr>
          <a:xfrm>
            <a:off x="8994088" y="3724656"/>
            <a:ext cx="2237487" cy="495300"/>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32 · 33 · 25 · 35</a:t>
            </a:r>
            <a:endParaRPr lang="ar-SA" sz="2100" dirty="0"/>
          </a:p>
        </p:txBody>
      </p:sp>
      <p:sp>
        <p:nvSpPr>
          <p:cNvPr id="25" name="anim-g3-124"/>
          <p:cNvSpPr/>
          <p:nvPr/>
        </p:nvSpPr>
        <p:spPr>
          <a:xfrm>
            <a:off x="4839944" y="3724656"/>
            <a:ext cx="3907256" cy="495300"/>
          </a:xfrm>
          <a:prstGeom prst="roundRect">
            <a:avLst>
              <a:gd name="adj" fmla="val 22154"/>
            </a:avLst>
          </a:prstGeom>
          <a:solidFill>
            <a:srgbClr val="FFFFFF"/>
          </a:solidFill>
          <a:ln w="12700">
            <a:solidFill>
              <a:srgbClr val="E4DCC8"/>
            </a:solidFill>
            <a:prstDash val="solid"/>
          </a:ln>
        </p:spPr>
      </p:sp>
      <p:sp>
        <p:nvSpPr>
          <p:cNvPr id="26" name="anim-g3-125"/>
          <p:cNvSpPr/>
          <p:nvPr/>
        </p:nvSpPr>
        <p:spPr>
          <a:xfrm>
            <a:off x="4977104" y="3724656"/>
            <a:ext cx="3632936" cy="495300"/>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 أزرار المحطات الأربع</a:t>
            </a:r>
            <a:endParaRPr lang="ar-SA" sz="2100" dirty="0"/>
          </a:p>
        </p:txBody>
      </p:sp>
      <p:sp>
        <p:nvSpPr>
          <p:cNvPr id="27" name="anim-g3-126"/>
          <p:cNvSpPr/>
          <p:nvPr/>
        </p:nvSpPr>
        <p:spPr>
          <a:xfrm>
            <a:off x="822960" y="3724656"/>
            <a:ext cx="3907256" cy="495300"/>
          </a:xfrm>
          <a:prstGeom prst="roundRect">
            <a:avLst>
              <a:gd name="adj" fmla="val 22154"/>
            </a:avLst>
          </a:prstGeom>
          <a:solidFill>
            <a:srgbClr val="E6F4EC"/>
          </a:solidFill>
          <a:ln w="12700">
            <a:solidFill>
              <a:srgbClr val="CDE9D9"/>
            </a:solidFill>
            <a:prstDash val="solid"/>
          </a:ln>
        </p:spPr>
      </p:sp>
      <p:sp>
        <p:nvSpPr>
          <p:cNvPr id="28" name="anim-g3-127"/>
          <p:cNvSpPr/>
          <p:nvPr/>
        </p:nvSpPr>
        <p:spPr>
          <a:xfrm>
            <a:off x="960120" y="3724656"/>
            <a:ext cx="3632936" cy="495300"/>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35 بلا سحب داخلي</a:t>
            </a:r>
            <a:endParaRPr lang="ar-SA" sz="2100" dirty="0"/>
          </a:p>
        </p:txBody>
      </p:sp>
      <p:sp>
        <p:nvSpPr>
          <p:cNvPr id="29" name="anim-g4-128"/>
          <p:cNvSpPr/>
          <p:nvPr/>
        </p:nvSpPr>
        <p:spPr>
          <a:xfrm>
            <a:off x="8856928" y="4329684"/>
            <a:ext cx="2511807" cy="495300"/>
          </a:xfrm>
          <a:prstGeom prst="roundRect">
            <a:avLst>
              <a:gd name="adj" fmla="val 22154"/>
            </a:avLst>
          </a:prstGeom>
          <a:solidFill>
            <a:srgbClr val="FBF3DF"/>
          </a:solidFill>
          <a:ln w="12700">
            <a:solidFill>
              <a:srgbClr val="EFDDAF"/>
            </a:solidFill>
            <a:prstDash val="solid"/>
          </a:ln>
        </p:spPr>
      </p:sp>
      <p:sp>
        <p:nvSpPr>
          <p:cNvPr id="30" name="anim-g4-129"/>
          <p:cNvSpPr/>
          <p:nvPr/>
        </p:nvSpPr>
        <p:spPr>
          <a:xfrm>
            <a:off x="8994088" y="4329684"/>
            <a:ext cx="2237487" cy="495300"/>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13 / 14 / 26 / 27</a:t>
            </a:r>
            <a:endParaRPr lang="ar-SA" sz="2100" dirty="0"/>
          </a:p>
        </p:txBody>
      </p:sp>
      <p:sp>
        <p:nvSpPr>
          <p:cNvPr id="31" name="anim-g4-130"/>
          <p:cNvSpPr/>
          <p:nvPr/>
        </p:nvSpPr>
        <p:spPr>
          <a:xfrm>
            <a:off x="4839944" y="4329684"/>
            <a:ext cx="3907256" cy="495300"/>
          </a:xfrm>
          <a:prstGeom prst="roundRect">
            <a:avLst>
              <a:gd name="adj" fmla="val 22154"/>
            </a:avLst>
          </a:prstGeom>
          <a:solidFill>
            <a:srgbClr val="FFFFFF"/>
          </a:solidFill>
          <a:ln w="12700">
            <a:solidFill>
              <a:srgbClr val="E4DCC8"/>
            </a:solidFill>
            <a:prstDash val="solid"/>
          </a:ln>
        </p:spPr>
      </p:sp>
      <p:sp>
        <p:nvSpPr>
          <p:cNvPr id="32" name="anim-g4-131"/>
          <p:cNvSpPr/>
          <p:nvPr/>
        </p:nvSpPr>
        <p:spPr>
          <a:xfrm>
            <a:off x="4977104" y="4329684"/>
            <a:ext cx="3632936" cy="495300"/>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 ULN2003 IN1–IN4</a:t>
            </a:r>
            <a:endParaRPr lang="ar-SA" sz="2100" dirty="0"/>
          </a:p>
        </p:txBody>
      </p:sp>
      <p:sp>
        <p:nvSpPr>
          <p:cNvPr id="33" name="anim-g4-132"/>
          <p:cNvSpPr/>
          <p:nvPr/>
        </p:nvSpPr>
        <p:spPr>
          <a:xfrm>
            <a:off x="822960" y="4329684"/>
            <a:ext cx="3907256" cy="495300"/>
          </a:xfrm>
          <a:prstGeom prst="roundRect">
            <a:avLst>
              <a:gd name="adj" fmla="val 22154"/>
            </a:avLst>
          </a:prstGeom>
          <a:solidFill>
            <a:srgbClr val="E6F4EC"/>
          </a:solidFill>
          <a:ln w="12700">
            <a:solidFill>
              <a:srgbClr val="CDE9D9"/>
            </a:solidFill>
            <a:prstDash val="solid"/>
          </a:ln>
        </p:spPr>
      </p:sp>
      <p:sp>
        <p:nvSpPr>
          <p:cNvPr id="34" name="anim-g4-133"/>
          <p:cNvSpPr/>
          <p:nvPr/>
        </p:nvSpPr>
        <p:spPr>
          <a:xfrm>
            <a:off x="960120" y="4329684"/>
            <a:ext cx="3632936" cy="495300"/>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محرك المنصة</a:t>
            </a:r>
            <a:endParaRPr lang="ar-SA" sz="2100" dirty="0"/>
          </a:p>
        </p:txBody>
      </p:sp>
      <p:sp>
        <p:nvSpPr>
          <p:cNvPr id="35" name="anim-g5-134"/>
          <p:cNvSpPr/>
          <p:nvPr/>
        </p:nvSpPr>
        <p:spPr>
          <a:xfrm>
            <a:off x="8856928" y="4934712"/>
            <a:ext cx="2511807" cy="495300"/>
          </a:xfrm>
          <a:prstGeom prst="roundRect">
            <a:avLst>
              <a:gd name="adj" fmla="val 22154"/>
            </a:avLst>
          </a:prstGeom>
          <a:solidFill>
            <a:srgbClr val="FBF3DF"/>
          </a:solidFill>
          <a:ln w="12700">
            <a:solidFill>
              <a:srgbClr val="EFDDAF"/>
            </a:solidFill>
            <a:prstDash val="solid"/>
          </a:ln>
        </p:spPr>
      </p:sp>
      <p:sp>
        <p:nvSpPr>
          <p:cNvPr id="36" name="anim-g5-135"/>
          <p:cNvSpPr/>
          <p:nvPr/>
        </p:nvSpPr>
        <p:spPr>
          <a:xfrm>
            <a:off x="8994088" y="4934712"/>
            <a:ext cx="2237487" cy="495300"/>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16 / 17 · 23</a:t>
            </a:r>
            <a:endParaRPr lang="ar-SA" sz="2100" dirty="0"/>
          </a:p>
        </p:txBody>
      </p:sp>
      <p:sp>
        <p:nvSpPr>
          <p:cNvPr id="37" name="anim-g5-136"/>
          <p:cNvSpPr/>
          <p:nvPr/>
        </p:nvSpPr>
        <p:spPr>
          <a:xfrm>
            <a:off x="4839944" y="4934712"/>
            <a:ext cx="3907256" cy="495300"/>
          </a:xfrm>
          <a:prstGeom prst="roundRect">
            <a:avLst>
              <a:gd name="adj" fmla="val 22154"/>
            </a:avLst>
          </a:prstGeom>
          <a:solidFill>
            <a:srgbClr val="FFFFFF"/>
          </a:solidFill>
          <a:ln w="12700">
            <a:solidFill>
              <a:srgbClr val="E4DCC8"/>
            </a:solidFill>
            <a:prstDash val="solid"/>
          </a:ln>
        </p:spPr>
      </p:sp>
      <p:sp>
        <p:nvSpPr>
          <p:cNvPr id="38" name="anim-g5-137"/>
          <p:cNvSpPr/>
          <p:nvPr/>
        </p:nvSpPr>
        <p:spPr>
          <a:xfrm>
            <a:off x="4977104" y="4934712"/>
            <a:ext cx="3632936" cy="495300"/>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 DFPlayer RX / TX · 🪙 Servo العملة</a:t>
            </a:r>
            <a:endParaRPr lang="ar-SA" sz="2100" dirty="0"/>
          </a:p>
        </p:txBody>
      </p:sp>
      <p:sp>
        <p:nvSpPr>
          <p:cNvPr id="39" name="anim-g5-138"/>
          <p:cNvSpPr/>
          <p:nvPr/>
        </p:nvSpPr>
        <p:spPr>
          <a:xfrm>
            <a:off x="822960" y="4934712"/>
            <a:ext cx="3907256" cy="495300"/>
          </a:xfrm>
          <a:prstGeom prst="roundRect">
            <a:avLst>
              <a:gd name="adj" fmla="val 22154"/>
            </a:avLst>
          </a:prstGeom>
          <a:solidFill>
            <a:srgbClr val="E6F4EC"/>
          </a:solidFill>
          <a:ln w="12700">
            <a:solidFill>
              <a:srgbClr val="CDE9D9"/>
            </a:solidFill>
            <a:prstDash val="solid"/>
          </a:ln>
        </p:spPr>
      </p:sp>
      <p:sp>
        <p:nvSpPr>
          <p:cNvPr id="40" name="anim-g5-139"/>
          <p:cNvSpPr/>
          <p:nvPr/>
        </p:nvSpPr>
        <p:spPr>
          <a:xfrm>
            <a:off x="960120" y="4934712"/>
            <a:ext cx="3632936" cy="495300"/>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السيرفو: إشارة فقط والطاقة مستقلة</a:t>
            </a:r>
            <a:endParaRPr lang="ar-SA" sz="2100" dirty="0"/>
          </a:p>
        </p:txBody>
      </p:sp>
      <p:sp>
        <p:nvSpPr>
          <p:cNvPr id="41" name="anim-g6-140"/>
          <p:cNvSpPr/>
          <p:nvPr/>
        </p:nvSpPr>
        <p:spPr>
          <a:xfrm>
            <a:off x="8856928" y="5539740"/>
            <a:ext cx="2511807" cy="495300"/>
          </a:xfrm>
          <a:prstGeom prst="roundRect">
            <a:avLst>
              <a:gd name="adj" fmla="val 22154"/>
            </a:avLst>
          </a:prstGeom>
          <a:solidFill>
            <a:srgbClr val="FBF3DF"/>
          </a:solidFill>
          <a:ln w="12700">
            <a:solidFill>
              <a:srgbClr val="EFDDAF"/>
            </a:solidFill>
            <a:prstDash val="solid"/>
          </a:ln>
        </p:spPr>
      </p:sp>
      <p:sp>
        <p:nvSpPr>
          <p:cNvPr id="42" name="anim-g6-141"/>
          <p:cNvSpPr/>
          <p:nvPr/>
        </p:nvSpPr>
        <p:spPr>
          <a:xfrm>
            <a:off x="8994088" y="5539740"/>
            <a:ext cx="2237487" cy="495300"/>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36 / 39 · 4 / 5</a:t>
            </a:r>
            <a:endParaRPr lang="ar-SA" sz="2100" dirty="0"/>
          </a:p>
        </p:txBody>
      </p:sp>
      <p:sp>
        <p:nvSpPr>
          <p:cNvPr id="43" name="anim-g6-142"/>
          <p:cNvSpPr/>
          <p:nvPr/>
        </p:nvSpPr>
        <p:spPr>
          <a:xfrm>
            <a:off x="4839944" y="5539740"/>
            <a:ext cx="3907256" cy="495300"/>
          </a:xfrm>
          <a:prstGeom prst="roundRect">
            <a:avLst>
              <a:gd name="adj" fmla="val 22154"/>
            </a:avLst>
          </a:prstGeom>
          <a:solidFill>
            <a:srgbClr val="FFFFFF"/>
          </a:solidFill>
          <a:ln w="12700">
            <a:solidFill>
              <a:srgbClr val="E4DCC8"/>
            </a:solidFill>
            <a:prstDash val="solid"/>
          </a:ln>
        </p:spPr>
      </p:sp>
      <p:sp>
        <p:nvSpPr>
          <p:cNvPr id="44" name="anim-g6-143"/>
          <p:cNvSpPr/>
          <p:nvPr/>
        </p:nvSpPr>
        <p:spPr>
          <a:xfrm>
            <a:off x="4977104" y="5539740"/>
            <a:ext cx="3632936" cy="495300"/>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 زرا الإجابة · الليدان</a:t>
            </a:r>
            <a:endParaRPr lang="ar-SA" sz="2100" dirty="0"/>
          </a:p>
        </p:txBody>
      </p:sp>
      <p:sp>
        <p:nvSpPr>
          <p:cNvPr id="45" name="anim-g6-144"/>
          <p:cNvSpPr/>
          <p:nvPr/>
        </p:nvSpPr>
        <p:spPr>
          <a:xfrm>
            <a:off x="822960" y="5539740"/>
            <a:ext cx="3907256" cy="495300"/>
          </a:xfrm>
          <a:prstGeom prst="roundRect">
            <a:avLst>
              <a:gd name="adj" fmla="val 22154"/>
            </a:avLst>
          </a:prstGeom>
          <a:solidFill>
            <a:srgbClr val="E6F4EC"/>
          </a:solidFill>
          <a:ln w="12700">
            <a:solidFill>
              <a:srgbClr val="CDE9D9"/>
            </a:solidFill>
            <a:prstDash val="solid"/>
          </a:ln>
        </p:spPr>
      </p:sp>
      <p:sp>
        <p:nvSpPr>
          <p:cNvPr id="46" name="anim-g6-145"/>
          <p:cNvSpPr/>
          <p:nvPr/>
        </p:nvSpPr>
        <p:spPr>
          <a:xfrm>
            <a:off x="960120" y="5539740"/>
            <a:ext cx="3632936" cy="495300"/>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36 و39 مدخلات فقط</a:t>
            </a:r>
            <a:endParaRPr lang="ar-SA" sz="2100" dirty="0"/>
          </a:p>
        </p:txBody>
      </p:sp>
      <p:sp>
        <p:nvSpPr>
          <p:cNvPr id="47" name="Text 45"/>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صانع الذكريات التراثية</a:t>
            </a:r>
            <a:endParaRPr lang="ar-SA" sz="1200" dirty="0"/>
          </a:p>
        </p:txBody>
      </p:sp>
      <p:sp>
        <p:nvSpPr>
          <p:cNvPr id="48" name="Text 46"/>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بنية النظام  ·  ١٤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400"/>
                                        <p:tgtEl>
                                          <p:spTgt spid="1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40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400"/>
                                        <p:tgtEl>
                                          <p:spTgt spid="19"/>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0"/>
                                        </p:tgtEl>
                                        <p:attrNameLst>
                                          <p:attrName>style.visibility</p:attrName>
                                        </p:attrNameLst>
                                      </p:cBhvr>
                                      <p:to>
                                        <p:strVal val="visible"/>
                                      </p:to>
                                    </p:set>
                                    <p:animEffect transition="in" filter="fade">
                                      <p:cBhvr>
                                        <p:cTn id="36" dur="400"/>
                                        <p:tgtEl>
                                          <p:spTgt spid="20"/>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400"/>
                                        <p:tgtEl>
                                          <p:spTgt spid="21"/>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400"/>
                                        <p:tgtEl>
                                          <p:spTgt spid="2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400"/>
                                        <p:tgtEl>
                                          <p:spTgt spid="25"/>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400"/>
                                        <p:tgtEl>
                                          <p:spTgt spid="26"/>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400"/>
                                        <p:tgtEl>
                                          <p:spTgt spid="27"/>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400"/>
                                        <p:tgtEl>
                                          <p:spTgt spid="28"/>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400"/>
                                        <p:tgtEl>
                                          <p:spTgt spid="29"/>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0"/>
                                        </p:tgtEl>
                                        <p:attrNameLst>
                                          <p:attrName>style.visibility</p:attrName>
                                        </p:attrNameLst>
                                      </p:cBhvr>
                                      <p:to>
                                        <p:strVal val="visible"/>
                                      </p:to>
                                    </p:set>
                                    <p:animEffect transition="in" filter="fade">
                                      <p:cBhvr>
                                        <p:cTn id="70" dur="400"/>
                                        <p:tgtEl>
                                          <p:spTgt spid="30"/>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31"/>
                                        </p:tgtEl>
                                        <p:attrNameLst>
                                          <p:attrName>style.visibility</p:attrName>
                                        </p:attrNameLst>
                                      </p:cBhvr>
                                      <p:to>
                                        <p:strVal val="visible"/>
                                      </p:to>
                                    </p:set>
                                    <p:animEffect transition="in" filter="fade">
                                      <p:cBhvr>
                                        <p:cTn id="73" dur="400"/>
                                        <p:tgtEl>
                                          <p:spTgt spid="31"/>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2"/>
                                        </p:tgtEl>
                                        <p:attrNameLst>
                                          <p:attrName>style.visibility</p:attrName>
                                        </p:attrNameLst>
                                      </p:cBhvr>
                                      <p:to>
                                        <p:strVal val="visible"/>
                                      </p:to>
                                    </p:set>
                                    <p:animEffect transition="in" filter="fade">
                                      <p:cBhvr>
                                        <p:cTn id="76" dur="400"/>
                                        <p:tgtEl>
                                          <p:spTgt spid="32"/>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3"/>
                                        </p:tgtEl>
                                        <p:attrNameLst>
                                          <p:attrName>style.visibility</p:attrName>
                                        </p:attrNameLst>
                                      </p:cBhvr>
                                      <p:to>
                                        <p:strVal val="visible"/>
                                      </p:to>
                                    </p:set>
                                    <p:animEffect transition="in" filter="fade">
                                      <p:cBhvr>
                                        <p:cTn id="79" dur="400"/>
                                        <p:tgtEl>
                                          <p:spTgt spid="33"/>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34"/>
                                        </p:tgtEl>
                                        <p:attrNameLst>
                                          <p:attrName>style.visibility</p:attrName>
                                        </p:attrNameLst>
                                      </p:cBhvr>
                                      <p:to>
                                        <p:strVal val="visible"/>
                                      </p:to>
                                    </p:set>
                                    <p:animEffect transition="in" filter="fade">
                                      <p:cBhvr>
                                        <p:cTn id="82" dur="400"/>
                                        <p:tgtEl>
                                          <p:spTgt spid="34"/>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grpId="0" nodeType="clickEffect">
                                  <p:stCondLst>
                                    <p:cond delay="0"/>
                                  </p:stCondLst>
                                  <p:childTnLst>
                                    <p:set>
                                      <p:cBhvr>
                                        <p:cTn id="86" dur="1" fill="hold">
                                          <p:stCondLst>
                                            <p:cond delay="0"/>
                                          </p:stCondLst>
                                        </p:cTn>
                                        <p:tgtEl>
                                          <p:spTgt spid="35"/>
                                        </p:tgtEl>
                                        <p:attrNameLst>
                                          <p:attrName>style.visibility</p:attrName>
                                        </p:attrNameLst>
                                      </p:cBhvr>
                                      <p:to>
                                        <p:strVal val="visible"/>
                                      </p:to>
                                    </p:set>
                                    <p:animEffect transition="in" filter="fade">
                                      <p:cBhvr>
                                        <p:cTn id="87" dur="400"/>
                                        <p:tgtEl>
                                          <p:spTgt spid="35"/>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6"/>
                                        </p:tgtEl>
                                        <p:attrNameLst>
                                          <p:attrName>style.visibility</p:attrName>
                                        </p:attrNameLst>
                                      </p:cBhvr>
                                      <p:to>
                                        <p:strVal val="visible"/>
                                      </p:to>
                                    </p:set>
                                    <p:animEffect transition="in" filter="fade">
                                      <p:cBhvr>
                                        <p:cTn id="90" dur="400"/>
                                        <p:tgtEl>
                                          <p:spTgt spid="36"/>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7"/>
                                        </p:tgtEl>
                                        <p:attrNameLst>
                                          <p:attrName>style.visibility</p:attrName>
                                        </p:attrNameLst>
                                      </p:cBhvr>
                                      <p:to>
                                        <p:strVal val="visible"/>
                                      </p:to>
                                    </p:set>
                                    <p:animEffect transition="in" filter="fade">
                                      <p:cBhvr>
                                        <p:cTn id="93" dur="400"/>
                                        <p:tgtEl>
                                          <p:spTgt spid="37"/>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38"/>
                                        </p:tgtEl>
                                        <p:attrNameLst>
                                          <p:attrName>style.visibility</p:attrName>
                                        </p:attrNameLst>
                                      </p:cBhvr>
                                      <p:to>
                                        <p:strVal val="visible"/>
                                      </p:to>
                                    </p:set>
                                    <p:animEffect transition="in" filter="fade">
                                      <p:cBhvr>
                                        <p:cTn id="96" dur="400"/>
                                        <p:tgtEl>
                                          <p:spTgt spid="38"/>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fade">
                                      <p:cBhvr>
                                        <p:cTn id="99" dur="400"/>
                                        <p:tgtEl>
                                          <p:spTgt spid="39"/>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40"/>
                                        </p:tgtEl>
                                        <p:attrNameLst>
                                          <p:attrName>style.visibility</p:attrName>
                                        </p:attrNameLst>
                                      </p:cBhvr>
                                      <p:to>
                                        <p:strVal val="visible"/>
                                      </p:to>
                                    </p:set>
                                    <p:animEffect transition="in" filter="fade">
                                      <p:cBhvr>
                                        <p:cTn id="102" dur="400"/>
                                        <p:tgtEl>
                                          <p:spTgt spid="40"/>
                                        </p:tgtEl>
                                      </p:cBhvr>
                                    </p:animEffect>
                                  </p:childTnLst>
                                </p:cTn>
                              </p:par>
                            </p:childTnLst>
                          </p:cTn>
                        </p:par>
                      </p:childTnLst>
                    </p:cTn>
                  </p:par>
                  <p:par>
                    <p:cTn id="103" fill="hold">
                      <p:stCondLst>
                        <p:cond delay="indefinite"/>
                      </p:stCondLst>
                      <p:childTnLst>
                        <p:par>
                          <p:cTn id="104" fill="hold">
                            <p:stCondLst>
                              <p:cond delay="0"/>
                            </p:stCondLst>
                            <p:childTnLst>
                              <p:par>
                                <p:cTn id="105" presetID="10" presetClass="entr" presetSubtype="0" fill="hold" grpId="0" nodeType="clickEffect">
                                  <p:stCondLst>
                                    <p:cond delay="0"/>
                                  </p:stCondLst>
                                  <p:childTnLst>
                                    <p:set>
                                      <p:cBhvr>
                                        <p:cTn id="106" dur="1" fill="hold">
                                          <p:stCondLst>
                                            <p:cond delay="0"/>
                                          </p:stCondLst>
                                        </p:cTn>
                                        <p:tgtEl>
                                          <p:spTgt spid="41"/>
                                        </p:tgtEl>
                                        <p:attrNameLst>
                                          <p:attrName>style.visibility</p:attrName>
                                        </p:attrNameLst>
                                      </p:cBhvr>
                                      <p:to>
                                        <p:strVal val="visible"/>
                                      </p:to>
                                    </p:set>
                                    <p:animEffect transition="in" filter="fade">
                                      <p:cBhvr>
                                        <p:cTn id="107" dur="400"/>
                                        <p:tgtEl>
                                          <p:spTgt spid="4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42"/>
                                        </p:tgtEl>
                                        <p:attrNameLst>
                                          <p:attrName>style.visibility</p:attrName>
                                        </p:attrNameLst>
                                      </p:cBhvr>
                                      <p:to>
                                        <p:strVal val="visible"/>
                                      </p:to>
                                    </p:set>
                                    <p:animEffect transition="in" filter="fade">
                                      <p:cBhvr>
                                        <p:cTn id="110" dur="400"/>
                                        <p:tgtEl>
                                          <p:spTgt spid="42"/>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43"/>
                                        </p:tgtEl>
                                        <p:attrNameLst>
                                          <p:attrName>style.visibility</p:attrName>
                                        </p:attrNameLst>
                                      </p:cBhvr>
                                      <p:to>
                                        <p:strVal val="visible"/>
                                      </p:to>
                                    </p:set>
                                    <p:animEffect transition="in" filter="fade">
                                      <p:cBhvr>
                                        <p:cTn id="113" dur="400"/>
                                        <p:tgtEl>
                                          <p:spTgt spid="43"/>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44"/>
                                        </p:tgtEl>
                                        <p:attrNameLst>
                                          <p:attrName>style.visibility</p:attrName>
                                        </p:attrNameLst>
                                      </p:cBhvr>
                                      <p:to>
                                        <p:strVal val="visible"/>
                                      </p:to>
                                    </p:set>
                                    <p:animEffect transition="in" filter="fade">
                                      <p:cBhvr>
                                        <p:cTn id="116" dur="400"/>
                                        <p:tgtEl>
                                          <p:spTgt spid="44"/>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45"/>
                                        </p:tgtEl>
                                        <p:attrNameLst>
                                          <p:attrName>style.visibility</p:attrName>
                                        </p:attrNameLst>
                                      </p:cBhvr>
                                      <p:to>
                                        <p:strVal val="visible"/>
                                      </p:to>
                                    </p:set>
                                    <p:animEffect transition="in" filter="fade">
                                      <p:cBhvr>
                                        <p:cTn id="119" dur="400"/>
                                        <p:tgtEl>
                                          <p:spTgt spid="45"/>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46"/>
                                        </p:tgtEl>
                                        <p:attrNameLst>
                                          <p:attrName>style.visibility</p:attrName>
                                        </p:attrNameLst>
                                      </p:cBhvr>
                                      <p:to>
                                        <p:strVal val="visible"/>
                                      </p:to>
                                    </p:set>
                                    <p:animEffect transition="in" filter="fade">
                                      <p:cBhvr>
                                        <p:cTn id="122" dur="4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ثلاث قواعد ESP32</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قبل أن تصل أي سلك</a:t>
            </a:r>
            <a:endParaRPr lang="ar-SA" sz="3800" dirty="0"/>
          </a:p>
        </p:txBody>
      </p:sp>
      <p:sp>
        <p:nvSpPr>
          <p:cNvPr id="5" name="anim-g1-146"/>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147"/>
          <p:cNvSpPr/>
          <p:nvPr/>
        </p:nvSpPr>
        <p:spPr>
          <a:xfrm>
            <a:off x="10527487" y="2267712"/>
            <a:ext cx="566928" cy="566928"/>
          </a:xfrm>
          <a:prstGeom prst="roundRect">
            <a:avLst>
              <a:gd name="adj" fmla="val 32258"/>
            </a:avLst>
          </a:prstGeom>
          <a:solidFill>
            <a:srgbClr val="F7E6BC"/>
          </a:solidFill>
          <a:ln/>
        </p:spPr>
      </p:sp>
      <p:sp>
        <p:nvSpPr>
          <p:cNvPr id="7" name="anim-g1-148"/>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49"/>
          <p:cNvSpPr/>
          <p:nvPr/>
        </p:nvSpPr>
        <p:spPr>
          <a:xfrm>
            <a:off x="8310677"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٣٫٣ فولت</a:t>
            </a:r>
            <a:endParaRPr lang="ar-SA" sz="2200" dirty="0"/>
          </a:p>
        </p:txBody>
      </p:sp>
      <p:sp>
        <p:nvSpPr>
          <p:cNvPr id="9" name="anim-g1-150"/>
          <p:cNvSpPr/>
          <p:nvPr/>
        </p:nvSpPr>
        <p:spPr>
          <a:xfrm>
            <a:off x="8310677"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لا تدخل ٥ فولت على أي طرف إدخال: Echo يحتاج مقسّم جهد</a:t>
            </a:r>
            <a:endParaRPr lang="ar-SA" sz="1900" dirty="0"/>
          </a:p>
        </p:txBody>
      </p:sp>
      <p:sp>
        <p:nvSpPr>
          <p:cNvPr id="10" name="anim-g2-151"/>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152"/>
          <p:cNvSpPr/>
          <p:nvPr/>
        </p:nvSpPr>
        <p:spPr>
          <a:xfrm>
            <a:off x="6920789" y="2267712"/>
            <a:ext cx="566928" cy="566928"/>
          </a:xfrm>
          <a:prstGeom prst="roundRect">
            <a:avLst>
              <a:gd name="adj" fmla="val 32258"/>
            </a:avLst>
          </a:prstGeom>
          <a:solidFill>
            <a:srgbClr val="F7E6BC"/>
          </a:solidFill>
          <a:ln/>
        </p:spPr>
      </p:sp>
      <p:sp>
        <p:nvSpPr>
          <p:cNvPr id="12" name="anim-g2-153"/>
          <p:cNvSpPr/>
          <p:nvPr/>
        </p:nvSpPr>
        <p:spPr>
          <a:xfrm>
            <a:off x="6920789"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54"/>
          <p:cNvSpPr/>
          <p:nvPr/>
        </p:nvSpPr>
        <p:spPr>
          <a:xfrm>
            <a:off x="4703978"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٣٤–٣٩ مدخلات فقط</a:t>
            </a:r>
            <a:endParaRPr lang="ar-SA" sz="2200" dirty="0"/>
          </a:p>
        </p:txBody>
      </p:sp>
      <p:sp>
        <p:nvSpPr>
          <p:cNvPr id="14" name="anim-g2-155"/>
          <p:cNvSpPr/>
          <p:nvPr/>
        </p:nvSpPr>
        <p:spPr>
          <a:xfrm>
            <a:off x="4703978"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ولا سحب داخلي فيها: الأزرار عليها تحتاج مقاومة خارجية</a:t>
            </a:r>
            <a:endParaRPr lang="ar-SA" sz="1900" dirty="0"/>
          </a:p>
        </p:txBody>
      </p:sp>
      <p:sp>
        <p:nvSpPr>
          <p:cNvPr id="15" name="anim-g3-156"/>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157"/>
          <p:cNvSpPr/>
          <p:nvPr/>
        </p:nvSpPr>
        <p:spPr>
          <a:xfrm>
            <a:off x="3314090" y="2267712"/>
            <a:ext cx="566928" cy="566928"/>
          </a:xfrm>
          <a:prstGeom prst="roundRect">
            <a:avLst>
              <a:gd name="adj" fmla="val 32258"/>
            </a:avLst>
          </a:prstGeom>
          <a:solidFill>
            <a:srgbClr val="F7E6BC"/>
          </a:solidFill>
          <a:ln/>
        </p:spPr>
      </p:sp>
      <p:sp>
        <p:nvSpPr>
          <p:cNvPr id="17" name="anim-g3-158"/>
          <p:cNvSpPr/>
          <p:nvPr/>
        </p:nvSpPr>
        <p:spPr>
          <a:xfrm>
            <a:off x="331409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159"/>
          <p:cNvSpPr/>
          <p:nvPr/>
        </p:nvSpPr>
        <p:spPr>
          <a:xfrm>
            <a:off x="1097280"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أرضي مشترك</a:t>
            </a:r>
            <a:endParaRPr lang="ar-SA" sz="2200" dirty="0"/>
          </a:p>
        </p:txBody>
      </p:sp>
      <p:sp>
        <p:nvSpPr>
          <p:cNvPr id="19" name="anim-g3-160"/>
          <p:cNvSpPr/>
          <p:nvPr/>
        </p:nvSpPr>
        <p:spPr>
          <a:xfrm>
            <a:off x="1097280"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مصدر المحرك ومصدر السيرفو واللوحة: GND واحد</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صانع الذكريات التراثية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بنية النظام  ·  ١٥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اختبر نفسك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أي هذه «مخرج» في المشروع؟</a:t>
            </a:r>
            <a:endParaRPr lang="ar-SA" sz="38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حساس الاقتراب</a:t>
            </a:r>
            <a:endParaRPr lang="ar-SA" sz="2500" dirty="0"/>
          </a:p>
        </p:txBody>
      </p:sp>
      <p:sp>
        <p:nvSpPr>
          <p:cNvPr id="9" name="anim-g1-161"/>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162"/>
          <p:cNvSpPr/>
          <p:nvPr/>
        </p:nvSpPr>
        <p:spPr>
          <a:xfrm>
            <a:off x="10231831" y="2194560"/>
            <a:ext cx="954024" cy="954024"/>
          </a:xfrm>
          <a:prstGeom prst="roundRect">
            <a:avLst>
              <a:gd name="adj" fmla="val 11502"/>
            </a:avLst>
          </a:prstGeom>
          <a:solidFill>
            <a:srgbClr val="A3A9BA"/>
          </a:solidFill>
          <a:ln/>
        </p:spPr>
      </p:sp>
      <p:sp>
        <p:nvSpPr>
          <p:cNvPr id="11" name="anim-g1-163"/>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164"/>
          <p:cNvSpPr/>
          <p:nvPr/>
        </p:nvSpPr>
        <p:spPr>
          <a:xfrm>
            <a:off x="1097280" y="2093976"/>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حساس الاقتراب</a:t>
            </a:r>
            <a:endParaRPr lang="ar-SA" sz="2400" dirty="0"/>
          </a:p>
        </p:txBody>
      </p:sp>
      <p:sp>
        <p:nvSpPr>
          <p:cNvPr id="13" name="anim-g1-165"/>
          <p:cNvSpPr/>
          <p:nvPr/>
        </p:nvSpPr>
        <p:spPr>
          <a:xfrm>
            <a:off x="1097280" y="2720706"/>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الحساس يُدخل معلومة: مدخل</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زر الإجابة</a:t>
            </a:r>
            <a:endParaRPr lang="ar-SA" sz="2500" dirty="0"/>
          </a:p>
        </p:txBody>
      </p:sp>
      <p:sp>
        <p:nvSpPr>
          <p:cNvPr id="18" name="anim-g1-166"/>
          <p:cNvSpPr/>
          <p:nvPr/>
        </p:nvSpPr>
        <p:spPr>
          <a:xfrm>
            <a:off x="822960" y="3432048"/>
            <a:ext cx="10545775" cy="1228344"/>
          </a:xfrm>
          <a:prstGeom prst="roundRect">
            <a:avLst>
              <a:gd name="adj" fmla="val 11911"/>
            </a:avLst>
          </a:prstGeom>
          <a:solidFill>
            <a:srgbClr val="F7F7F9"/>
          </a:solidFill>
          <a:ln w="19050">
            <a:solidFill>
              <a:srgbClr val="E4DCC8"/>
            </a:solidFill>
            <a:prstDash val="solid"/>
          </a:ln>
        </p:spPr>
      </p:sp>
      <p:sp>
        <p:nvSpPr>
          <p:cNvPr id="19" name="anim-g1-167"/>
          <p:cNvSpPr/>
          <p:nvPr/>
        </p:nvSpPr>
        <p:spPr>
          <a:xfrm>
            <a:off x="10231831" y="3569208"/>
            <a:ext cx="954024" cy="954024"/>
          </a:xfrm>
          <a:prstGeom prst="roundRect">
            <a:avLst>
              <a:gd name="adj" fmla="val 11502"/>
            </a:avLst>
          </a:prstGeom>
          <a:solidFill>
            <a:srgbClr val="A3A9BA"/>
          </a:solidFill>
          <a:ln/>
        </p:spPr>
      </p:sp>
      <p:sp>
        <p:nvSpPr>
          <p:cNvPr id="20" name="anim-g1-168"/>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21" name="anim-g1-169"/>
          <p:cNvSpPr/>
          <p:nvPr/>
        </p:nvSpPr>
        <p:spPr>
          <a:xfrm>
            <a:off x="1097280" y="3468624"/>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زر الإجابة</a:t>
            </a:r>
            <a:endParaRPr lang="ar-SA" sz="2400" dirty="0"/>
          </a:p>
        </p:txBody>
      </p:sp>
      <p:sp>
        <p:nvSpPr>
          <p:cNvPr id="22" name="anim-g1-170"/>
          <p:cNvSpPr/>
          <p:nvPr/>
        </p:nvSpPr>
        <p:spPr>
          <a:xfrm>
            <a:off x="1097280" y="4095354"/>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الزر يُدخل اختيار الطفل: مدخل</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سيرفو العملة</a:t>
            </a:r>
            <a:endParaRPr lang="ar-SA" sz="2500" dirty="0"/>
          </a:p>
        </p:txBody>
      </p:sp>
      <p:sp>
        <p:nvSpPr>
          <p:cNvPr id="27" name="anim-g1-171"/>
          <p:cNvSpPr/>
          <p:nvPr/>
        </p:nvSpPr>
        <p:spPr>
          <a:xfrm>
            <a:off x="822960" y="4806696"/>
            <a:ext cx="10545775" cy="1228344"/>
          </a:xfrm>
          <a:prstGeom prst="roundRect">
            <a:avLst>
              <a:gd name="adj" fmla="val 11911"/>
            </a:avLst>
          </a:prstGeom>
          <a:solidFill>
            <a:srgbClr val="E6F4EC"/>
          </a:solidFill>
          <a:ln w="31750">
            <a:solidFill>
              <a:srgbClr val="2E9E6B"/>
            </a:solidFill>
            <a:prstDash val="solid"/>
          </a:ln>
        </p:spPr>
      </p:sp>
      <p:sp>
        <p:nvSpPr>
          <p:cNvPr id="28" name="anim-g1-172"/>
          <p:cNvSpPr/>
          <p:nvPr/>
        </p:nvSpPr>
        <p:spPr>
          <a:xfrm>
            <a:off x="10231831" y="4943856"/>
            <a:ext cx="954024" cy="954024"/>
          </a:xfrm>
          <a:prstGeom prst="roundRect">
            <a:avLst>
              <a:gd name="adj" fmla="val 11502"/>
            </a:avLst>
          </a:prstGeom>
          <a:solidFill>
            <a:srgbClr val="2E9E6B"/>
          </a:solidFill>
          <a:ln/>
        </p:spPr>
      </p:sp>
      <p:sp>
        <p:nvSpPr>
          <p:cNvPr id="29" name="anim-g1-173"/>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30" name="anim-g1-174"/>
          <p:cNvSpPr/>
          <p:nvPr/>
        </p:nvSpPr>
        <p:spPr>
          <a:xfrm>
            <a:off x="1097280" y="4843272"/>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131B34"/>
                </a:solidFill>
                <a:latin typeface="Cairo" pitchFamily="34" charset="0"/>
                <a:ea typeface="Cairo" pitchFamily="34" charset="-122"/>
                <a:cs typeface="Cairo" pitchFamily="34" charset="-120"/>
              </a:rPr>
              <a:t>سيرفو العملة</a:t>
            </a:r>
            <a:endParaRPr lang="ar-SA" sz="2400" dirty="0"/>
          </a:p>
        </p:txBody>
      </p:sp>
      <p:sp>
        <p:nvSpPr>
          <p:cNvPr id="31" name="anim-g1-175"/>
          <p:cNvSpPr/>
          <p:nvPr/>
        </p:nvSpPr>
        <p:spPr>
          <a:xfrm>
            <a:off x="1097280" y="5470002"/>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1D5E40"/>
                </a:solidFill>
                <a:latin typeface="Cairo" pitchFamily="34" charset="0"/>
                <a:ea typeface="Cairo" pitchFamily="34" charset="-122"/>
                <a:cs typeface="Cairo" pitchFamily="34" charset="-120"/>
              </a:rPr>
              <a:t>صحيح: السيرفو يفعل شيئًا في العالم، يدفع العملة</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صانع الذكريات التراثية</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بنية النظام  ·  ١٦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خلاصة المحور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marL="0" indent="0" algn="ctr" rtl="1">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طفل يُدخل، وESP32 يقرر، والمنصة والصوت والعملة تستجيب: ثلاث كلمات تختصر أي روبوت</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صانع الذكريات التراثية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 بنية النظام  ·  ١٧</a:t>
            </a:r>
            <a:endParaRPr lang="ar-SA"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marL="0" indent="0" algn="ctr" rtl="1">
              <a:buNone/>
            </a:pPr>
            <a:r>
              <a:rPr lang="ar-SA" altLang="en-US" sz="12000" dirty="0">
                <a:solidFill>
                  <a:srgbClr val="F0CC7A"/>
                </a:solidFill>
                <a:latin typeface="Cairo Black" pitchFamily="34" charset="0"/>
                <a:ea typeface="Cairo Black" pitchFamily="34" charset="-122"/>
                <a:cs typeface="Cairo Black" pitchFamily="34" charset="-120"/>
              </a:rPr>
              <a:t>٢</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marL="0" indent="0" algn="r" rtl="1">
              <a:buNone/>
            </a:pPr>
            <a:r>
              <a:rPr lang="ar-SA" altLang="en-US" sz="2000" b="1" dirty="0">
                <a:solidFill>
                  <a:srgbClr val="D9AE4B"/>
                </a:solidFill>
                <a:latin typeface="Cairo" pitchFamily="34" charset="0"/>
                <a:ea typeface="Cairo" pitchFamily="34" charset="-122"/>
                <a:cs typeface="Cairo" pitchFamily="34" charset="-120"/>
              </a:rPr>
              <a:t>المحور ٢</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marL="0" indent="0" algn="r" rtl="1">
              <a:buNone/>
            </a:pPr>
            <a:r>
              <a:rPr lang="ar-SA" altLang="en-US" sz="5600" dirty="0">
                <a:solidFill>
                  <a:srgbClr val="FFFFFF"/>
                </a:solidFill>
                <a:latin typeface="Cairo Black" pitchFamily="34" charset="0"/>
                <a:ea typeface="Cairo Black" pitchFamily="34" charset="-122"/>
                <a:cs typeface="Cairo Black" pitchFamily="34" charset="-120"/>
              </a:rPr>
              <a:t>📡 المكوّن الأول: حساس الاقتراب</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marL="0" indent="0" algn="r" rtl="1">
              <a:buNone/>
            </a:pPr>
            <a:r>
              <a:rPr lang="ar-SA" altLang="en-US" sz="2200" b="1" dirty="0">
                <a:solidFill>
                  <a:srgbClr val="C9CFE6"/>
                </a:solidFill>
                <a:latin typeface="Cairo" pitchFamily="34" charset="0"/>
                <a:ea typeface="Cairo" pitchFamily="34" charset="-122"/>
                <a:cs typeface="Cairo" pitchFamily="34" charset="-120"/>
              </a:rPr>
              <a:t>HC-SR04 وحده… ليعرف الروبوت أن طفلًا وصل</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صانع الذكريات التراثية</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 ١. حساس الاقتراب  ·  ١٨</a:t>
            </a:r>
            <a:endParaRPr lang="ar-SA"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248095" y="457200"/>
            <a:ext cx="5120640" cy="457200"/>
          </a:xfrm>
          <a:prstGeom prst="roundRect">
            <a:avLst>
              <a:gd name="adj" fmla="val 50000"/>
            </a:avLst>
          </a:prstGeom>
          <a:solidFill>
            <a:srgbClr val="F6EBCF"/>
          </a:solidFill>
          <a:ln/>
        </p:spPr>
      </p:sp>
      <p:sp>
        <p:nvSpPr>
          <p:cNvPr id="3" name="Text 1"/>
          <p:cNvSpPr/>
          <p:nvPr/>
        </p:nvSpPr>
        <p:spPr>
          <a:xfrm>
            <a:off x="6248095" y="457200"/>
            <a:ext cx="512064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بنهاية هذا المحور تستطيع أن</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أهداف المحور</a:t>
            </a:r>
            <a:endParaRPr lang="ar-SA" sz="3800" dirty="0"/>
          </a:p>
        </p:txBody>
      </p:sp>
      <p:sp>
        <p:nvSpPr>
          <p:cNvPr id="5" name="anim-g1-176"/>
          <p:cNvSpPr/>
          <p:nvPr/>
        </p:nvSpPr>
        <p:spPr>
          <a:xfrm>
            <a:off x="822960" y="1920240"/>
            <a:ext cx="10545775" cy="946404"/>
          </a:xfrm>
          <a:prstGeom prst="roundRect">
            <a:avLst>
              <a:gd name="adj" fmla="val 15459"/>
            </a:avLst>
          </a:prstGeom>
          <a:solidFill>
            <a:srgbClr val="FFFFFF"/>
          </a:solidFill>
          <a:ln w="12700">
            <a:solidFill>
              <a:srgbClr val="E4DCC8"/>
            </a:solidFill>
            <a:prstDash val="solid"/>
          </a:ln>
        </p:spPr>
      </p:sp>
      <p:sp>
        <p:nvSpPr>
          <p:cNvPr id="6" name="anim-g1-177"/>
          <p:cNvSpPr/>
          <p:nvPr/>
        </p:nvSpPr>
        <p:spPr>
          <a:xfrm>
            <a:off x="10573207" y="2109978"/>
            <a:ext cx="566928" cy="566928"/>
          </a:xfrm>
          <a:prstGeom prst="ellipse">
            <a:avLst/>
          </a:prstGeom>
          <a:solidFill>
            <a:srgbClr val="D9AE4B"/>
          </a:solidFill>
          <a:ln/>
        </p:spPr>
      </p:sp>
      <p:sp>
        <p:nvSpPr>
          <p:cNvPr id="7" name="anim-g1-178"/>
          <p:cNvSpPr/>
          <p:nvPr/>
        </p:nvSpPr>
        <p:spPr>
          <a:xfrm>
            <a:off x="10573207" y="2109978"/>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179"/>
          <p:cNvSpPr/>
          <p:nvPr/>
        </p:nvSpPr>
        <p:spPr>
          <a:xfrm>
            <a:off x="1097280" y="1920240"/>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تشرح كيف يقيس الحساس المسافة بالصدى</a:t>
            </a:r>
            <a:endParaRPr lang="ar-SA" sz="2400" dirty="0"/>
          </a:p>
        </p:txBody>
      </p:sp>
      <p:sp>
        <p:nvSpPr>
          <p:cNvPr id="9" name="anim-g2-180"/>
          <p:cNvSpPr/>
          <p:nvPr/>
        </p:nvSpPr>
        <p:spPr>
          <a:xfrm>
            <a:off x="822960" y="2976372"/>
            <a:ext cx="10545775" cy="946404"/>
          </a:xfrm>
          <a:prstGeom prst="roundRect">
            <a:avLst>
              <a:gd name="adj" fmla="val 15459"/>
            </a:avLst>
          </a:prstGeom>
          <a:solidFill>
            <a:srgbClr val="FFFFFF"/>
          </a:solidFill>
          <a:ln w="12700">
            <a:solidFill>
              <a:srgbClr val="E4DCC8"/>
            </a:solidFill>
            <a:prstDash val="solid"/>
          </a:ln>
        </p:spPr>
      </p:sp>
      <p:sp>
        <p:nvSpPr>
          <p:cNvPr id="10" name="anim-g2-181"/>
          <p:cNvSpPr/>
          <p:nvPr/>
        </p:nvSpPr>
        <p:spPr>
          <a:xfrm>
            <a:off x="10573207" y="3166110"/>
            <a:ext cx="566928" cy="566928"/>
          </a:xfrm>
          <a:prstGeom prst="ellipse">
            <a:avLst/>
          </a:prstGeom>
          <a:solidFill>
            <a:srgbClr val="D9AE4B"/>
          </a:solidFill>
          <a:ln/>
        </p:spPr>
      </p:sp>
      <p:sp>
        <p:nvSpPr>
          <p:cNvPr id="11" name="anim-g2-182"/>
          <p:cNvSpPr/>
          <p:nvPr/>
        </p:nvSpPr>
        <p:spPr>
          <a:xfrm>
            <a:off x="10573207" y="3166110"/>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183"/>
          <p:cNvSpPr/>
          <p:nvPr/>
        </p:nvSpPr>
        <p:spPr>
          <a:xfrm>
            <a:off x="1097280" y="2976372"/>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توصله بـ ESP32 بأمان (مقسّم جهد لـ Echo)</a:t>
            </a:r>
            <a:endParaRPr lang="ar-SA" sz="2400" dirty="0"/>
          </a:p>
        </p:txBody>
      </p:sp>
      <p:sp>
        <p:nvSpPr>
          <p:cNvPr id="13" name="anim-g3-184"/>
          <p:cNvSpPr/>
          <p:nvPr/>
        </p:nvSpPr>
        <p:spPr>
          <a:xfrm>
            <a:off x="822960" y="4032504"/>
            <a:ext cx="10545775" cy="946404"/>
          </a:xfrm>
          <a:prstGeom prst="roundRect">
            <a:avLst>
              <a:gd name="adj" fmla="val 15459"/>
            </a:avLst>
          </a:prstGeom>
          <a:solidFill>
            <a:srgbClr val="FFFFFF"/>
          </a:solidFill>
          <a:ln w="12700">
            <a:solidFill>
              <a:srgbClr val="E4DCC8"/>
            </a:solidFill>
            <a:prstDash val="solid"/>
          </a:ln>
        </p:spPr>
      </p:sp>
      <p:sp>
        <p:nvSpPr>
          <p:cNvPr id="14" name="anim-g3-185"/>
          <p:cNvSpPr/>
          <p:nvPr/>
        </p:nvSpPr>
        <p:spPr>
          <a:xfrm>
            <a:off x="10573207" y="4222242"/>
            <a:ext cx="566928" cy="566928"/>
          </a:xfrm>
          <a:prstGeom prst="ellipse">
            <a:avLst/>
          </a:prstGeom>
          <a:solidFill>
            <a:srgbClr val="D9AE4B"/>
          </a:solidFill>
          <a:ln/>
        </p:spPr>
      </p:sp>
      <p:sp>
        <p:nvSpPr>
          <p:cNvPr id="15" name="anim-g3-186"/>
          <p:cNvSpPr/>
          <p:nvPr/>
        </p:nvSpPr>
        <p:spPr>
          <a:xfrm>
            <a:off x="10573207" y="4222242"/>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187"/>
          <p:cNvSpPr/>
          <p:nvPr/>
        </p:nvSpPr>
        <p:spPr>
          <a:xfrm>
            <a:off x="1097280" y="4032504"/>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تكتب دالة تقرأ المسافة بالسنتيمتر</a:t>
            </a:r>
            <a:endParaRPr lang="ar-SA" sz="2400" dirty="0"/>
          </a:p>
        </p:txBody>
      </p:sp>
      <p:sp>
        <p:nvSpPr>
          <p:cNvPr id="17" name="anim-g4-188"/>
          <p:cNvSpPr/>
          <p:nvPr/>
        </p:nvSpPr>
        <p:spPr>
          <a:xfrm>
            <a:off x="822960" y="5088636"/>
            <a:ext cx="10545775" cy="946404"/>
          </a:xfrm>
          <a:prstGeom prst="roundRect">
            <a:avLst>
              <a:gd name="adj" fmla="val 15459"/>
            </a:avLst>
          </a:prstGeom>
          <a:solidFill>
            <a:srgbClr val="FFFFFF"/>
          </a:solidFill>
          <a:ln w="12700">
            <a:solidFill>
              <a:srgbClr val="E4DCC8"/>
            </a:solidFill>
            <a:prstDash val="solid"/>
          </a:ln>
        </p:spPr>
      </p:sp>
      <p:sp>
        <p:nvSpPr>
          <p:cNvPr id="18" name="anim-g4-189"/>
          <p:cNvSpPr/>
          <p:nvPr/>
        </p:nvSpPr>
        <p:spPr>
          <a:xfrm>
            <a:off x="10573207" y="5278374"/>
            <a:ext cx="566928" cy="566928"/>
          </a:xfrm>
          <a:prstGeom prst="ellipse">
            <a:avLst/>
          </a:prstGeom>
          <a:solidFill>
            <a:srgbClr val="D9AE4B"/>
          </a:solidFill>
          <a:ln/>
        </p:spPr>
      </p:sp>
      <p:sp>
        <p:nvSpPr>
          <p:cNvPr id="19" name="anim-g4-190"/>
          <p:cNvSpPr/>
          <p:nvPr/>
        </p:nvSpPr>
        <p:spPr>
          <a:xfrm>
            <a:off x="10573207" y="5278374"/>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191"/>
          <p:cNvSpPr/>
          <p:nvPr/>
        </p:nvSpPr>
        <p:spPr>
          <a:xfrm>
            <a:off x="1097280" y="5088636"/>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تتأكد من وجود زائر بثلاث قراءات متتالية</a:t>
            </a:r>
            <a:endParaRPr lang="ar-SA" sz="2400" dirty="0"/>
          </a:p>
        </p:txBody>
      </p:sp>
      <p:sp>
        <p:nvSpPr>
          <p:cNvPr id="21" name="Text 19"/>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صانع الذكريات التراثية</a:t>
            </a:r>
            <a:endParaRPr lang="ar-SA" sz="1200" dirty="0"/>
          </a:p>
        </p:txBody>
      </p:sp>
      <p:sp>
        <p:nvSpPr>
          <p:cNvPr id="22" name="Text 20"/>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١. حساس الاقتراب  ·  ١٩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320479" y="457200"/>
            <a:ext cx="2048256" cy="457200"/>
          </a:xfrm>
          <a:prstGeom prst="roundRect">
            <a:avLst>
              <a:gd name="adj" fmla="val 50000"/>
            </a:avLst>
          </a:prstGeom>
          <a:solidFill>
            <a:srgbClr val="F6EBCF"/>
          </a:solidFill>
          <a:ln/>
        </p:spPr>
      </p:sp>
      <p:sp>
        <p:nvSpPr>
          <p:cNvPr id="3" name="Text 1"/>
          <p:cNvSpPr/>
          <p:nvPr/>
        </p:nvSpPr>
        <p:spPr>
          <a:xfrm>
            <a:off x="9320479" y="457200"/>
            <a:ext cx="2048256"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كيف يعمل؟</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خفاش إلكتروني: يصرخ… ويسمع الصدى</a:t>
            </a:r>
            <a:endParaRPr lang="ar-SA" sz="3800" dirty="0"/>
          </a:p>
        </p:txBody>
      </p:sp>
      <p:sp>
        <p:nvSpPr>
          <p:cNvPr id="5" name="anim-g1-192"/>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193"/>
          <p:cNvSpPr/>
          <p:nvPr/>
        </p:nvSpPr>
        <p:spPr>
          <a:xfrm>
            <a:off x="10527487" y="2267712"/>
            <a:ext cx="566928" cy="566928"/>
          </a:xfrm>
          <a:prstGeom prst="roundRect">
            <a:avLst>
              <a:gd name="adj" fmla="val 32258"/>
            </a:avLst>
          </a:prstGeom>
          <a:solidFill>
            <a:srgbClr val="F7E6BC"/>
          </a:solidFill>
          <a:ln/>
        </p:spPr>
      </p:sp>
      <p:sp>
        <p:nvSpPr>
          <p:cNvPr id="7" name="anim-g1-194"/>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95"/>
          <p:cNvSpPr/>
          <p:nvPr/>
        </p:nvSpPr>
        <p:spPr>
          <a:xfrm>
            <a:off x="8310677"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Trig</a:t>
            </a:r>
            <a:endParaRPr lang="ar-SA" sz="2200" dirty="0"/>
          </a:p>
        </p:txBody>
      </p:sp>
      <p:sp>
        <p:nvSpPr>
          <p:cNvPr id="9" name="anim-g1-196"/>
          <p:cNvSpPr/>
          <p:nvPr/>
        </p:nvSpPr>
        <p:spPr>
          <a:xfrm>
            <a:off x="8310677"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نبضة ١٠ ميكروثانية تجعله يطلق موجة فوق صوتية لا نسمعها</a:t>
            </a:r>
            <a:endParaRPr lang="ar-SA" sz="1900" dirty="0"/>
          </a:p>
        </p:txBody>
      </p:sp>
      <p:sp>
        <p:nvSpPr>
          <p:cNvPr id="10" name="anim-g2-197"/>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198"/>
          <p:cNvSpPr/>
          <p:nvPr/>
        </p:nvSpPr>
        <p:spPr>
          <a:xfrm>
            <a:off x="6920789" y="2267712"/>
            <a:ext cx="566928" cy="566928"/>
          </a:xfrm>
          <a:prstGeom prst="roundRect">
            <a:avLst>
              <a:gd name="adj" fmla="val 32258"/>
            </a:avLst>
          </a:prstGeom>
          <a:solidFill>
            <a:srgbClr val="F7E6BC"/>
          </a:solidFill>
          <a:ln/>
        </p:spPr>
      </p:sp>
      <p:sp>
        <p:nvSpPr>
          <p:cNvPr id="12" name="anim-g2-199"/>
          <p:cNvSpPr/>
          <p:nvPr/>
        </p:nvSpPr>
        <p:spPr>
          <a:xfrm>
            <a:off x="6920789"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200"/>
          <p:cNvSpPr/>
          <p:nvPr/>
        </p:nvSpPr>
        <p:spPr>
          <a:xfrm>
            <a:off x="4703978"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Echo</a:t>
            </a:r>
            <a:endParaRPr lang="ar-SA" sz="2200" dirty="0"/>
          </a:p>
        </p:txBody>
      </p:sp>
      <p:sp>
        <p:nvSpPr>
          <p:cNvPr id="14" name="anim-g2-201"/>
          <p:cNvSpPr/>
          <p:nvPr/>
        </p:nvSpPr>
        <p:spPr>
          <a:xfrm>
            <a:off x="4703978"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يبقى HIGH حتى يعود الصدى: طول النبضة = زمن الذهاب والإياب</a:t>
            </a:r>
            <a:endParaRPr lang="ar-SA" sz="1900" dirty="0"/>
          </a:p>
        </p:txBody>
      </p:sp>
      <p:sp>
        <p:nvSpPr>
          <p:cNvPr id="15" name="anim-g3-202"/>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203"/>
          <p:cNvSpPr/>
          <p:nvPr/>
        </p:nvSpPr>
        <p:spPr>
          <a:xfrm>
            <a:off x="3314090" y="2267712"/>
            <a:ext cx="566928" cy="566928"/>
          </a:xfrm>
          <a:prstGeom prst="roundRect">
            <a:avLst>
              <a:gd name="adj" fmla="val 32258"/>
            </a:avLst>
          </a:prstGeom>
          <a:solidFill>
            <a:srgbClr val="F7E6BC"/>
          </a:solidFill>
          <a:ln/>
        </p:spPr>
      </p:sp>
      <p:sp>
        <p:nvSpPr>
          <p:cNvPr id="17" name="anim-g3-204"/>
          <p:cNvSpPr/>
          <p:nvPr/>
        </p:nvSpPr>
        <p:spPr>
          <a:xfrm>
            <a:off x="331409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205"/>
          <p:cNvSpPr/>
          <p:nvPr/>
        </p:nvSpPr>
        <p:spPr>
          <a:xfrm>
            <a:off x="1097280"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المسافة</a:t>
            </a:r>
            <a:endParaRPr lang="ar-SA" sz="2200" dirty="0"/>
          </a:p>
        </p:txBody>
      </p:sp>
      <p:sp>
        <p:nvSpPr>
          <p:cNvPr id="19" name="anim-g3-206"/>
          <p:cNvSpPr/>
          <p:nvPr/>
        </p:nvSpPr>
        <p:spPr>
          <a:xfrm>
            <a:off x="1097280"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الزمن × ٠٫٠٣٤٣ ÷ ٢ = سنتيمتر. نقسم على ٢ لأن الصوت ذهب وعاد</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صانع الذكريات التراثية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١. حساس الاقتراب  ·  ٢٠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C:\Users\user\projects\younes-training\heritage\.pptx-cache\s21-0.jpg"/>
          <p:cNvPicPr>
            <a:picLocks noChangeAspect="1"/>
          </p:cNvPicPr>
          <p:nvPr/>
        </p:nvPicPr>
        <p:blipFill>
          <a:blip r:embed="rId3"/>
          <a:stretch>
            <a:fillRect/>
          </a:stretch>
        </p:blipFill>
        <p:spPr>
          <a:xfrm>
            <a:off x="0" y="0"/>
            <a:ext cx="12191695" cy="6858000"/>
          </a:xfrm>
          <a:prstGeom prst="rect">
            <a:avLst/>
          </a:prstGeom>
        </p:spPr>
      </p:pic>
      <p:pic>
        <p:nvPicPr>
          <p:cNvPr id="3" name="anim-g1-207" descr="C:\Users\user\projects\younes-training\heritage\.pptx-cache\s21-1.jpg"/>
          <p:cNvPicPr>
            <a:picLocks noChangeAspect="1"/>
          </p:cNvPicPr>
          <p:nvPr/>
        </p:nvPicPr>
        <p:blipFill>
          <a:blip r:embed="rId4"/>
          <a:stretch>
            <a:fillRect/>
          </a:stretch>
        </p:blipFill>
        <p:spPr>
          <a:xfrm>
            <a:off x="0" y="0"/>
            <a:ext cx="12191695" cy="6858000"/>
          </a:xfrm>
          <a:prstGeom prst="rect">
            <a:avLst/>
          </a:prstGeom>
        </p:spPr>
      </p:pic>
      <p:pic>
        <p:nvPicPr>
          <p:cNvPr id="4" name="anim-g2-208" descr="C:\Users\user\projects\younes-training\heritage\.pptx-cache\s21-2.jpg"/>
          <p:cNvPicPr>
            <a:picLocks noChangeAspect="1"/>
          </p:cNvPicPr>
          <p:nvPr/>
        </p:nvPicPr>
        <p:blipFill>
          <a:blip r:embed="rId5"/>
          <a:stretch>
            <a:fillRect/>
          </a:stretch>
        </p:blipFill>
        <p:spPr>
          <a:xfrm>
            <a:off x="0" y="0"/>
            <a:ext cx="12191695" cy="6858000"/>
          </a:xfrm>
          <a:prstGeom prst="rect">
            <a:avLst/>
          </a:prstGeom>
        </p:spPr>
      </p:pic>
      <p:pic>
        <p:nvPicPr>
          <p:cNvPr id="5" name="anim-g3-209" descr="C:\Users\user\projects\younes-training\heritage\.pptx-cache\s21-3.jpg"/>
          <p:cNvPicPr>
            <a:picLocks noChangeAspect="1"/>
          </p:cNvPicPr>
          <p:nvPr/>
        </p:nvPicPr>
        <p:blipFill>
          <a:blip r:embed="rId6"/>
          <a:stretch>
            <a:fillRect/>
          </a:stretch>
        </p:blipFill>
        <p:spPr>
          <a:xfrm>
            <a:off x="0" y="0"/>
            <a:ext cx="12191695" cy="6858000"/>
          </a:xfrm>
          <a:prstGeom prst="rect">
            <a:avLst/>
          </a:prstGeom>
        </p:spPr>
      </p:pic>
      <p:pic>
        <p:nvPicPr>
          <p:cNvPr id="6" name="anim-g4-210" descr="C:\Users\user\projects\younes-training\heritage\.pptx-cache\s21-4.jpg"/>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C:\Users\user\projects\younes-training\heritage\.pptx-cache\s22-0.jpg"/>
          <p:cNvPicPr>
            <a:picLocks noChangeAspect="1"/>
          </p:cNvPicPr>
          <p:nvPr/>
        </p:nvPicPr>
        <p:blipFill>
          <a:blip r:embed="rId3"/>
          <a:stretch>
            <a:fillRect/>
          </a:stretch>
        </p:blipFill>
        <p:spPr>
          <a:xfrm>
            <a:off x="0" y="0"/>
            <a:ext cx="12191695" cy="6858000"/>
          </a:xfrm>
          <a:prstGeom prst="rect">
            <a:avLst/>
          </a:prstGeom>
        </p:spPr>
      </p:pic>
      <p:pic>
        <p:nvPicPr>
          <p:cNvPr id="3" name="anim-g1-211" descr="C:\Users\user\projects\younes-training\heritage\.pptx-cache\s22-1.jpg"/>
          <p:cNvPicPr>
            <a:picLocks noChangeAspect="1"/>
          </p:cNvPicPr>
          <p:nvPr/>
        </p:nvPicPr>
        <p:blipFill>
          <a:blip r:embed="rId4"/>
          <a:stretch>
            <a:fillRect/>
          </a:stretch>
        </p:blipFill>
        <p:spPr>
          <a:xfrm>
            <a:off x="0" y="0"/>
            <a:ext cx="12191695" cy="6858000"/>
          </a:xfrm>
          <a:prstGeom prst="rect">
            <a:avLst/>
          </a:prstGeom>
        </p:spPr>
      </p:pic>
      <p:pic>
        <p:nvPicPr>
          <p:cNvPr id="4" name="anim-g2-212" descr="C:\Users\user\projects\younes-training\heritage\.pptx-cache\s22-2.jpg"/>
          <p:cNvPicPr>
            <a:picLocks noChangeAspect="1"/>
          </p:cNvPicPr>
          <p:nvPr/>
        </p:nvPicPr>
        <p:blipFill>
          <a:blip r:embed="rId5"/>
          <a:stretch>
            <a:fillRect/>
          </a:stretch>
        </p:blipFill>
        <p:spPr>
          <a:xfrm>
            <a:off x="0" y="0"/>
            <a:ext cx="12191695" cy="6858000"/>
          </a:xfrm>
          <a:prstGeom prst="rect">
            <a:avLst/>
          </a:prstGeom>
        </p:spPr>
      </p:pic>
      <p:pic>
        <p:nvPicPr>
          <p:cNvPr id="5" name="anim-g3-213" descr="C:\Users\user\projects\younes-training\heritage\.pptx-cache\s22-3.jpg"/>
          <p:cNvPicPr>
            <a:picLocks noChangeAspect="1"/>
          </p:cNvPicPr>
          <p:nvPr/>
        </p:nvPicPr>
        <p:blipFill>
          <a:blip r:embed="rId6"/>
          <a:stretch>
            <a:fillRect/>
          </a:stretch>
        </p:blipFill>
        <p:spPr>
          <a:xfrm>
            <a:off x="0" y="0"/>
            <a:ext cx="12191695" cy="6858000"/>
          </a:xfrm>
          <a:prstGeom prst="rect">
            <a:avLst/>
          </a:prstGeom>
        </p:spPr>
      </p:pic>
      <p:pic>
        <p:nvPicPr>
          <p:cNvPr id="6" name="anim-g4-214" descr="C:\Users\user\projects\younes-training\heritage\.pptx-cache\s22-4.jpg"/>
          <p:cNvPicPr>
            <a:picLocks noChangeAspect="1"/>
          </p:cNvPicPr>
          <p:nvPr/>
        </p:nvPicPr>
        <p:blipFill>
          <a:blip r:embed="rId7"/>
          <a:stretch>
            <a:fillRect/>
          </a:stretch>
        </p:blipFill>
        <p:spPr>
          <a:xfrm>
            <a:off x="0" y="0"/>
            <a:ext cx="12191695" cy="6858000"/>
          </a:xfrm>
          <a:prstGeom prst="rect">
            <a:avLst/>
          </a:prstGeom>
        </p:spPr>
      </p:pic>
      <p:pic>
        <p:nvPicPr>
          <p:cNvPr id="7" name="anim-g5-215" descr="C:\Users\user\projects\younes-training\heritage\.pptx-cache\s22-5.jpg"/>
          <p:cNvPicPr>
            <a:picLocks noChangeAspect="1"/>
          </p:cNvPicPr>
          <p:nvPr/>
        </p:nvPicPr>
        <p:blipFill>
          <a:blip r:embed="rId8"/>
          <a:stretch>
            <a:fillRect/>
          </a:stretch>
        </p:blipFill>
        <p:spPr>
          <a:xfrm>
            <a:off x="0" y="0"/>
            <a:ext cx="12191695" cy="6858000"/>
          </a:xfrm>
          <a:prstGeom prst="rect">
            <a:avLst/>
          </a:prstGeom>
        </p:spPr>
      </p:pic>
      <p:pic>
        <p:nvPicPr>
          <p:cNvPr id="8" name="anim-g6-216" descr="C:\Users\user\projects\younes-training\heritage\.pptx-cache\s22-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C:\Users\user\projects\younes-training\heritage\.pptx-cache\s23.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C:\Users\user\projects\younes-training\heritage\.pptx-cache\s24-0.jpg"/>
          <p:cNvPicPr>
            <a:picLocks noChangeAspect="1"/>
          </p:cNvPicPr>
          <p:nvPr/>
        </p:nvPicPr>
        <p:blipFill>
          <a:blip r:embed="rId3"/>
          <a:stretch>
            <a:fillRect/>
          </a:stretch>
        </p:blipFill>
        <p:spPr>
          <a:xfrm>
            <a:off x="0" y="0"/>
            <a:ext cx="12191695" cy="6858000"/>
          </a:xfrm>
          <a:prstGeom prst="rect">
            <a:avLst/>
          </a:prstGeom>
        </p:spPr>
      </p:pic>
      <p:pic>
        <p:nvPicPr>
          <p:cNvPr id="3" name="anim-g1-217" descr="C:\Users\user\projects\younes-training\heritage\.pptx-cache\s24-1.jpg"/>
          <p:cNvPicPr>
            <a:picLocks noChangeAspect="1"/>
          </p:cNvPicPr>
          <p:nvPr/>
        </p:nvPicPr>
        <p:blipFill>
          <a:blip r:embed="rId4"/>
          <a:stretch>
            <a:fillRect/>
          </a:stretch>
        </p:blipFill>
        <p:spPr>
          <a:xfrm>
            <a:off x="0" y="0"/>
            <a:ext cx="12191695" cy="6858000"/>
          </a:xfrm>
          <a:prstGeom prst="rect">
            <a:avLst/>
          </a:prstGeom>
        </p:spPr>
      </p:pic>
      <p:pic>
        <p:nvPicPr>
          <p:cNvPr id="4" name="anim-g2-218" descr="C:\Users\user\projects\younes-training\heritage\.pptx-cache\s24-2.jpg"/>
          <p:cNvPicPr>
            <a:picLocks noChangeAspect="1"/>
          </p:cNvPicPr>
          <p:nvPr/>
        </p:nvPicPr>
        <p:blipFill>
          <a:blip r:embed="rId5"/>
          <a:stretch>
            <a:fillRect/>
          </a:stretch>
        </p:blipFill>
        <p:spPr>
          <a:xfrm>
            <a:off x="0" y="0"/>
            <a:ext cx="12191695" cy="6858000"/>
          </a:xfrm>
          <a:prstGeom prst="rect">
            <a:avLst/>
          </a:prstGeom>
        </p:spPr>
      </p:pic>
      <p:pic>
        <p:nvPicPr>
          <p:cNvPr id="5" name="anim-g3-219" descr="C:\Users\user\projects\younes-training\heritage\.pptx-cache\s24-3.jpg"/>
          <p:cNvPicPr>
            <a:picLocks noChangeAspect="1"/>
          </p:cNvPicPr>
          <p:nvPr/>
        </p:nvPicPr>
        <p:blipFill>
          <a:blip r:embed="rId6"/>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C:\Users\user\projects\younes-training\heritage\.pptx-cache\s25-0.jpg"/>
          <p:cNvPicPr>
            <a:picLocks noChangeAspect="1"/>
          </p:cNvPicPr>
          <p:nvPr/>
        </p:nvPicPr>
        <p:blipFill>
          <a:blip r:embed="rId3"/>
          <a:stretch>
            <a:fillRect/>
          </a:stretch>
        </p:blipFill>
        <p:spPr>
          <a:xfrm>
            <a:off x="0" y="0"/>
            <a:ext cx="12191695" cy="6858000"/>
          </a:xfrm>
          <a:prstGeom prst="rect">
            <a:avLst/>
          </a:prstGeom>
        </p:spPr>
      </p:pic>
      <p:pic>
        <p:nvPicPr>
          <p:cNvPr id="3" name="anim-g1-220" descr="C:\Users\user\projects\younes-training\heritage\.pptx-cache\s25-1.jpg"/>
          <p:cNvPicPr>
            <a:picLocks noChangeAspect="1"/>
          </p:cNvPicPr>
          <p:nvPr/>
        </p:nvPicPr>
        <p:blipFill>
          <a:blip r:embed="rId4"/>
          <a:stretch>
            <a:fillRect/>
          </a:stretch>
        </p:blipFill>
        <p:spPr>
          <a:xfrm>
            <a:off x="0" y="0"/>
            <a:ext cx="12191695" cy="6858000"/>
          </a:xfrm>
          <a:prstGeom prst="rect">
            <a:avLst/>
          </a:prstGeom>
        </p:spPr>
      </p:pic>
      <p:pic>
        <p:nvPicPr>
          <p:cNvPr id="4" name="anim-g2-221" descr="C:\Users\user\projects\younes-training\heritage\.pptx-cache\s25-2.jpg"/>
          <p:cNvPicPr>
            <a:picLocks noChangeAspect="1"/>
          </p:cNvPicPr>
          <p:nvPr/>
        </p:nvPicPr>
        <p:blipFill>
          <a:blip r:embed="rId5"/>
          <a:stretch>
            <a:fillRect/>
          </a:stretch>
        </p:blipFill>
        <p:spPr>
          <a:xfrm>
            <a:off x="0" y="0"/>
            <a:ext cx="12191695" cy="6858000"/>
          </a:xfrm>
          <a:prstGeom prst="rect">
            <a:avLst/>
          </a:prstGeom>
        </p:spPr>
      </p:pic>
      <p:pic>
        <p:nvPicPr>
          <p:cNvPr id="5" name="anim-g3-222" descr="C:\Users\user\projects\younes-training\heritage\.pptx-cache\s25-3.jpg"/>
          <p:cNvPicPr>
            <a:picLocks noChangeAspect="1"/>
          </p:cNvPicPr>
          <p:nvPr/>
        </p:nvPicPr>
        <p:blipFill>
          <a:blip r:embed="rId6"/>
          <a:stretch>
            <a:fillRect/>
          </a:stretch>
        </p:blipFill>
        <p:spPr>
          <a:xfrm>
            <a:off x="0" y="0"/>
            <a:ext cx="12191695" cy="6858000"/>
          </a:xfrm>
          <a:prstGeom prst="rect">
            <a:avLst/>
          </a:prstGeom>
        </p:spPr>
      </p:pic>
      <p:pic>
        <p:nvPicPr>
          <p:cNvPr id="6" name="anim-g4-223" descr="C:\Users\user\projects\younes-training\heritage\.pptx-cache\s25-4.jpg"/>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C:\Users\user\projects\younes-training\heritage\.pptx-cache\s26.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خلاصة المحور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marL="0" indent="0" algn="ctr" rtl="1">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موجة لا نسمعها، وصدى نقيس زمنه، وثلاث قراءات تؤكد: الروبوت عرف أن طفلًا وصل</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صانع الذكريات التراثية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 ١. حساس الاقتراب  ·  ٢٧</a:t>
            </a:r>
            <a:endParaRPr lang="ar-SA"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marL="0" indent="0" algn="ctr" rtl="1">
              <a:buNone/>
            </a:pPr>
            <a:r>
              <a:rPr lang="ar-SA" altLang="en-US" sz="12000" dirty="0">
                <a:solidFill>
                  <a:srgbClr val="F0CC7A"/>
                </a:solidFill>
                <a:latin typeface="Cairo Black" pitchFamily="34" charset="0"/>
                <a:ea typeface="Cairo Black" pitchFamily="34" charset="-122"/>
                <a:cs typeface="Cairo Black" pitchFamily="34" charset="-120"/>
              </a:rPr>
              <a:t>٣</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marL="0" indent="0" algn="r" rtl="1">
              <a:buNone/>
            </a:pPr>
            <a:r>
              <a:rPr lang="ar-SA" altLang="en-US" sz="2000" b="1" dirty="0">
                <a:solidFill>
                  <a:srgbClr val="D9AE4B"/>
                </a:solidFill>
                <a:latin typeface="Cairo" pitchFamily="34" charset="0"/>
                <a:ea typeface="Cairo" pitchFamily="34" charset="-122"/>
                <a:cs typeface="Cairo" pitchFamily="34" charset="-120"/>
              </a:rPr>
              <a:t>المحور ٣</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marL="0" indent="0" algn="r" rtl="1">
              <a:buNone/>
            </a:pPr>
            <a:r>
              <a:rPr lang="ar-SA" altLang="en-US" sz="5600" dirty="0">
                <a:solidFill>
                  <a:srgbClr val="FFFFFF"/>
                </a:solidFill>
                <a:latin typeface="Cairo Black" pitchFamily="34" charset="0"/>
                <a:ea typeface="Cairo Black" pitchFamily="34" charset="-122"/>
                <a:cs typeface="Cairo Black" pitchFamily="34" charset="-120"/>
              </a:rPr>
              <a:t>📟 المكوّن الثاني: الشاشة</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marL="0" indent="0" algn="r" rtl="1">
              <a:buNone/>
            </a:pPr>
            <a:r>
              <a:rPr lang="ar-SA" altLang="en-US" sz="2200" b="1" dirty="0">
                <a:solidFill>
                  <a:srgbClr val="C9CFE6"/>
                </a:solidFill>
                <a:latin typeface="Cairo" pitchFamily="34" charset="0"/>
                <a:ea typeface="Cairo" pitchFamily="34" charset="-122"/>
                <a:cs typeface="Cairo" pitchFamily="34" charset="-120"/>
              </a:rPr>
              <a:t>LCD 16×2 بـ I2C وحدها… ثم أول دمج: «مرحبًا» حين يقترب الطفل</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صانع الذكريات التراثية</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 ٢. الشاشة + الترحيب  ·  ٢٨</a:t>
            </a:r>
            <a:endParaRPr lang="ar-SA"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248095" y="457200"/>
            <a:ext cx="5120640" cy="457200"/>
          </a:xfrm>
          <a:prstGeom prst="roundRect">
            <a:avLst>
              <a:gd name="adj" fmla="val 50000"/>
            </a:avLst>
          </a:prstGeom>
          <a:solidFill>
            <a:srgbClr val="F6EBCF"/>
          </a:solidFill>
          <a:ln/>
        </p:spPr>
      </p:sp>
      <p:sp>
        <p:nvSpPr>
          <p:cNvPr id="3" name="Text 1"/>
          <p:cNvSpPr/>
          <p:nvPr/>
        </p:nvSpPr>
        <p:spPr>
          <a:xfrm>
            <a:off x="6248095" y="457200"/>
            <a:ext cx="512064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بنهاية هذا المحور تستطيع أن</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أهداف المحور</a:t>
            </a:r>
            <a:endParaRPr lang="ar-SA" sz="3800" dirty="0"/>
          </a:p>
        </p:txBody>
      </p:sp>
      <p:sp>
        <p:nvSpPr>
          <p:cNvPr id="5" name="anim-g1-224"/>
          <p:cNvSpPr/>
          <p:nvPr/>
        </p:nvSpPr>
        <p:spPr>
          <a:xfrm>
            <a:off x="822960" y="1920240"/>
            <a:ext cx="10545775" cy="946404"/>
          </a:xfrm>
          <a:prstGeom prst="roundRect">
            <a:avLst>
              <a:gd name="adj" fmla="val 15459"/>
            </a:avLst>
          </a:prstGeom>
          <a:solidFill>
            <a:srgbClr val="FFFFFF"/>
          </a:solidFill>
          <a:ln w="12700">
            <a:solidFill>
              <a:srgbClr val="E4DCC8"/>
            </a:solidFill>
            <a:prstDash val="solid"/>
          </a:ln>
        </p:spPr>
      </p:sp>
      <p:sp>
        <p:nvSpPr>
          <p:cNvPr id="6" name="anim-g1-225"/>
          <p:cNvSpPr/>
          <p:nvPr/>
        </p:nvSpPr>
        <p:spPr>
          <a:xfrm>
            <a:off x="10573207" y="2109978"/>
            <a:ext cx="566928" cy="566928"/>
          </a:xfrm>
          <a:prstGeom prst="ellipse">
            <a:avLst/>
          </a:prstGeom>
          <a:solidFill>
            <a:srgbClr val="D9AE4B"/>
          </a:solidFill>
          <a:ln/>
        </p:spPr>
      </p:sp>
      <p:sp>
        <p:nvSpPr>
          <p:cNvPr id="7" name="anim-g1-226"/>
          <p:cNvSpPr/>
          <p:nvPr/>
        </p:nvSpPr>
        <p:spPr>
          <a:xfrm>
            <a:off x="10573207" y="2109978"/>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227"/>
          <p:cNvSpPr/>
          <p:nvPr/>
        </p:nvSpPr>
        <p:spPr>
          <a:xfrm>
            <a:off x="1097280" y="1920240"/>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توصل شاشة I2C بسلكين للبيانات</a:t>
            </a:r>
            <a:endParaRPr lang="ar-SA" sz="2400" dirty="0"/>
          </a:p>
        </p:txBody>
      </p:sp>
      <p:sp>
        <p:nvSpPr>
          <p:cNvPr id="9" name="anim-g2-228"/>
          <p:cNvSpPr/>
          <p:nvPr/>
        </p:nvSpPr>
        <p:spPr>
          <a:xfrm>
            <a:off x="822960" y="2976372"/>
            <a:ext cx="10545775" cy="946404"/>
          </a:xfrm>
          <a:prstGeom prst="roundRect">
            <a:avLst>
              <a:gd name="adj" fmla="val 15459"/>
            </a:avLst>
          </a:prstGeom>
          <a:solidFill>
            <a:srgbClr val="FFFFFF"/>
          </a:solidFill>
          <a:ln w="12700">
            <a:solidFill>
              <a:srgbClr val="E4DCC8"/>
            </a:solidFill>
            <a:prstDash val="solid"/>
          </a:ln>
        </p:spPr>
      </p:sp>
      <p:sp>
        <p:nvSpPr>
          <p:cNvPr id="10" name="anim-g2-229"/>
          <p:cNvSpPr/>
          <p:nvPr/>
        </p:nvSpPr>
        <p:spPr>
          <a:xfrm>
            <a:off x="10573207" y="3166110"/>
            <a:ext cx="566928" cy="566928"/>
          </a:xfrm>
          <a:prstGeom prst="ellipse">
            <a:avLst/>
          </a:prstGeom>
          <a:solidFill>
            <a:srgbClr val="D9AE4B"/>
          </a:solidFill>
          <a:ln/>
        </p:spPr>
      </p:sp>
      <p:sp>
        <p:nvSpPr>
          <p:cNvPr id="11" name="anim-g2-230"/>
          <p:cNvSpPr/>
          <p:nvPr/>
        </p:nvSpPr>
        <p:spPr>
          <a:xfrm>
            <a:off x="10573207" y="3166110"/>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231"/>
          <p:cNvSpPr/>
          <p:nvPr/>
        </p:nvSpPr>
        <p:spPr>
          <a:xfrm>
            <a:off x="1097280" y="2976372"/>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تكتب على السطرين وتمسح وتحدد موضع الكتابة</a:t>
            </a:r>
            <a:endParaRPr lang="ar-SA" sz="2400" dirty="0"/>
          </a:p>
        </p:txBody>
      </p:sp>
      <p:sp>
        <p:nvSpPr>
          <p:cNvPr id="13" name="anim-g3-232"/>
          <p:cNvSpPr/>
          <p:nvPr/>
        </p:nvSpPr>
        <p:spPr>
          <a:xfrm>
            <a:off x="822960" y="4032504"/>
            <a:ext cx="10545775" cy="946404"/>
          </a:xfrm>
          <a:prstGeom prst="roundRect">
            <a:avLst>
              <a:gd name="adj" fmla="val 15459"/>
            </a:avLst>
          </a:prstGeom>
          <a:solidFill>
            <a:srgbClr val="FFFFFF"/>
          </a:solidFill>
          <a:ln w="12700">
            <a:solidFill>
              <a:srgbClr val="E4DCC8"/>
            </a:solidFill>
            <a:prstDash val="solid"/>
          </a:ln>
        </p:spPr>
      </p:sp>
      <p:sp>
        <p:nvSpPr>
          <p:cNvPr id="14" name="anim-g3-233"/>
          <p:cNvSpPr/>
          <p:nvPr/>
        </p:nvSpPr>
        <p:spPr>
          <a:xfrm>
            <a:off x="10573207" y="4222242"/>
            <a:ext cx="566928" cy="566928"/>
          </a:xfrm>
          <a:prstGeom prst="ellipse">
            <a:avLst/>
          </a:prstGeom>
          <a:solidFill>
            <a:srgbClr val="D9AE4B"/>
          </a:solidFill>
          <a:ln/>
        </p:spPr>
      </p:sp>
      <p:sp>
        <p:nvSpPr>
          <p:cNvPr id="15" name="anim-g3-234"/>
          <p:cNvSpPr/>
          <p:nvPr/>
        </p:nvSpPr>
        <p:spPr>
          <a:xfrm>
            <a:off x="10573207" y="4222242"/>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235"/>
          <p:cNvSpPr/>
          <p:nvPr/>
        </p:nvSpPr>
        <p:spPr>
          <a:xfrm>
            <a:off x="1097280" y="4032504"/>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تبني مؤقتًا تنازليًا ٠٥:٠٠ بـ millis</a:t>
            </a:r>
            <a:endParaRPr lang="ar-SA" sz="2400" dirty="0"/>
          </a:p>
        </p:txBody>
      </p:sp>
      <p:sp>
        <p:nvSpPr>
          <p:cNvPr id="17" name="anim-g4-236"/>
          <p:cNvSpPr/>
          <p:nvPr/>
        </p:nvSpPr>
        <p:spPr>
          <a:xfrm>
            <a:off x="822960" y="5088636"/>
            <a:ext cx="10545775" cy="946404"/>
          </a:xfrm>
          <a:prstGeom prst="roundRect">
            <a:avLst>
              <a:gd name="adj" fmla="val 15459"/>
            </a:avLst>
          </a:prstGeom>
          <a:solidFill>
            <a:srgbClr val="FFFFFF"/>
          </a:solidFill>
          <a:ln w="12700">
            <a:solidFill>
              <a:srgbClr val="E4DCC8"/>
            </a:solidFill>
            <a:prstDash val="solid"/>
          </a:ln>
        </p:spPr>
      </p:sp>
      <p:sp>
        <p:nvSpPr>
          <p:cNvPr id="18" name="anim-g4-237"/>
          <p:cNvSpPr/>
          <p:nvPr/>
        </p:nvSpPr>
        <p:spPr>
          <a:xfrm>
            <a:off x="10573207" y="5278374"/>
            <a:ext cx="566928" cy="566928"/>
          </a:xfrm>
          <a:prstGeom prst="ellipse">
            <a:avLst/>
          </a:prstGeom>
          <a:solidFill>
            <a:srgbClr val="D9AE4B"/>
          </a:solidFill>
          <a:ln/>
        </p:spPr>
      </p:sp>
      <p:sp>
        <p:nvSpPr>
          <p:cNvPr id="19" name="anim-g4-238"/>
          <p:cNvSpPr/>
          <p:nvPr/>
        </p:nvSpPr>
        <p:spPr>
          <a:xfrm>
            <a:off x="10573207" y="5278374"/>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239"/>
          <p:cNvSpPr/>
          <p:nvPr/>
        </p:nvSpPr>
        <p:spPr>
          <a:xfrm>
            <a:off x="1097280" y="5088636"/>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تدمج الحساس والشاشة: ترحيب تلقائي</a:t>
            </a:r>
            <a:endParaRPr lang="ar-SA" sz="2400" dirty="0"/>
          </a:p>
        </p:txBody>
      </p:sp>
      <p:sp>
        <p:nvSpPr>
          <p:cNvPr id="21" name="Text 19"/>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صانع الذكريات التراثية</a:t>
            </a:r>
            <a:endParaRPr lang="ar-SA" sz="1200" dirty="0"/>
          </a:p>
        </p:txBody>
      </p:sp>
      <p:sp>
        <p:nvSpPr>
          <p:cNvPr id="22" name="Text 20"/>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٢. الشاشة + الترحيب  ·  ٢٩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174175" y="457200"/>
            <a:ext cx="2194560" cy="457200"/>
          </a:xfrm>
          <a:prstGeom prst="roundRect">
            <a:avLst>
              <a:gd name="adj" fmla="val 50000"/>
            </a:avLst>
          </a:prstGeom>
          <a:solidFill>
            <a:srgbClr val="F6EBCF"/>
          </a:solidFill>
          <a:ln/>
        </p:spPr>
      </p:sp>
      <p:sp>
        <p:nvSpPr>
          <p:cNvPr id="3" name="Text 1"/>
          <p:cNvSpPr/>
          <p:nvPr/>
        </p:nvSpPr>
        <p:spPr>
          <a:xfrm>
            <a:off x="9174175" y="457200"/>
            <a:ext cx="219456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لماذا I2C؟</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ستة عشر سلكًا… صارت أربعة</a:t>
            </a:r>
            <a:endParaRPr lang="ar-SA" sz="3800" dirty="0"/>
          </a:p>
        </p:txBody>
      </p:sp>
      <p:sp>
        <p:nvSpPr>
          <p:cNvPr id="5" name="anim-g1-240"/>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241"/>
          <p:cNvSpPr/>
          <p:nvPr/>
        </p:nvSpPr>
        <p:spPr>
          <a:xfrm>
            <a:off x="10527487" y="2267712"/>
            <a:ext cx="566928" cy="566928"/>
          </a:xfrm>
          <a:prstGeom prst="roundRect">
            <a:avLst>
              <a:gd name="adj" fmla="val 32258"/>
            </a:avLst>
          </a:prstGeom>
          <a:solidFill>
            <a:srgbClr val="F7E6BC"/>
          </a:solidFill>
          <a:ln/>
        </p:spPr>
      </p:sp>
      <p:sp>
        <p:nvSpPr>
          <p:cNvPr id="7" name="anim-g1-242"/>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243"/>
          <p:cNvSpPr/>
          <p:nvPr/>
        </p:nvSpPr>
        <p:spPr>
          <a:xfrm>
            <a:off x="8310677"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SDA ← 21</a:t>
            </a:r>
            <a:endParaRPr lang="ar-SA" sz="2200" dirty="0"/>
          </a:p>
        </p:txBody>
      </p:sp>
      <p:sp>
        <p:nvSpPr>
          <p:cNvPr id="9" name="anim-g1-244"/>
          <p:cNvSpPr/>
          <p:nvPr/>
        </p:nvSpPr>
        <p:spPr>
          <a:xfrm>
            <a:off x="8310677"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خط البيانات</a:t>
            </a:r>
            <a:endParaRPr lang="ar-SA" sz="1900" dirty="0"/>
          </a:p>
        </p:txBody>
      </p:sp>
      <p:sp>
        <p:nvSpPr>
          <p:cNvPr id="10" name="anim-g2-245"/>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246"/>
          <p:cNvSpPr/>
          <p:nvPr/>
        </p:nvSpPr>
        <p:spPr>
          <a:xfrm>
            <a:off x="6920789" y="2267712"/>
            <a:ext cx="566928" cy="566928"/>
          </a:xfrm>
          <a:prstGeom prst="roundRect">
            <a:avLst>
              <a:gd name="adj" fmla="val 32258"/>
            </a:avLst>
          </a:prstGeom>
          <a:solidFill>
            <a:srgbClr val="F7E6BC"/>
          </a:solidFill>
          <a:ln/>
        </p:spPr>
      </p:sp>
      <p:sp>
        <p:nvSpPr>
          <p:cNvPr id="12" name="anim-g2-247"/>
          <p:cNvSpPr/>
          <p:nvPr/>
        </p:nvSpPr>
        <p:spPr>
          <a:xfrm>
            <a:off x="6920789"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248"/>
          <p:cNvSpPr/>
          <p:nvPr/>
        </p:nvSpPr>
        <p:spPr>
          <a:xfrm>
            <a:off x="4703978"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SCL ← 22</a:t>
            </a:r>
            <a:endParaRPr lang="ar-SA" sz="2200" dirty="0"/>
          </a:p>
        </p:txBody>
      </p:sp>
      <p:sp>
        <p:nvSpPr>
          <p:cNvPr id="14" name="anim-g2-249"/>
          <p:cNvSpPr/>
          <p:nvPr/>
        </p:nvSpPr>
        <p:spPr>
          <a:xfrm>
            <a:off x="4703978"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خط الساعة الذي ينظّم الإرسال</a:t>
            </a:r>
            <a:endParaRPr lang="ar-SA" sz="1900" dirty="0"/>
          </a:p>
        </p:txBody>
      </p:sp>
      <p:sp>
        <p:nvSpPr>
          <p:cNvPr id="15" name="anim-g3-250"/>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251"/>
          <p:cNvSpPr/>
          <p:nvPr/>
        </p:nvSpPr>
        <p:spPr>
          <a:xfrm>
            <a:off x="3314090" y="2267712"/>
            <a:ext cx="566928" cy="566928"/>
          </a:xfrm>
          <a:prstGeom prst="roundRect">
            <a:avLst>
              <a:gd name="adj" fmla="val 32258"/>
            </a:avLst>
          </a:prstGeom>
          <a:solidFill>
            <a:srgbClr val="F7E6BC"/>
          </a:solidFill>
          <a:ln/>
        </p:spPr>
      </p:sp>
      <p:sp>
        <p:nvSpPr>
          <p:cNvPr id="17" name="anim-g3-252"/>
          <p:cNvSpPr/>
          <p:nvPr/>
        </p:nvSpPr>
        <p:spPr>
          <a:xfrm>
            <a:off x="331409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253"/>
          <p:cNvSpPr/>
          <p:nvPr/>
        </p:nvSpPr>
        <p:spPr>
          <a:xfrm>
            <a:off x="1097280"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العنوان 0x27</a:t>
            </a:r>
            <a:endParaRPr lang="ar-SA" sz="2200" dirty="0"/>
          </a:p>
        </p:txBody>
      </p:sp>
      <p:sp>
        <p:nvSpPr>
          <p:cNvPr id="19" name="anim-g3-254"/>
          <p:cNvSpPr/>
          <p:nvPr/>
        </p:nvSpPr>
        <p:spPr>
          <a:xfrm>
            <a:off x="1097280"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رقم الشاشة على الخط، وأحيانًا 0x3F</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صانع الذكريات التراثية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٢. الشاشة + الترحيب  ·  ٣٠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Image 0" descr="C:\Users\user\projects\younes-training\heritage\.pptx-cache\s31-0.jpg"/>
          <p:cNvPicPr>
            <a:picLocks noChangeAspect="1"/>
          </p:cNvPicPr>
          <p:nvPr/>
        </p:nvPicPr>
        <p:blipFill>
          <a:blip r:embed="rId3"/>
          <a:stretch>
            <a:fillRect/>
          </a:stretch>
        </p:blipFill>
        <p:spPr>
          <a:xfrm>
            <a:off x="0" y="0"/>
            <a:ext cx="12191695" cy="6858000"/>
          </a:xfrm>
          <a:prstGeom prst="rect">
            <a:avLst/>
          </a:prstGeom>
        </p:spPr>
      </p:pic>
      <p:pic>
        <p:nvPicPr>
          <p:cNvPr id="3" name="anim-g1-255" descr="C:\Users\user\projects\younes-training\heritage\.pptx-cache\s31-1.jpg"/>
          <p:cNvPicPr>
            <a:picLocks noChangeAspect="1"/>
          </p:cNvPicPr>
          <p:nvPr/>
        </p:nvPicPr>
        <p:blipFill>
          <a:blip r:embed="rId4"/>
          <a:stretch>
            <a:fillRect/>
          </a:stretch>
        </p:blipFill>
        <p:spPr>
          <a:xfrm>
            <a:off x="0" y="0"/>
            <a:ext cx="12191695" cy="6858000"/>
          </a:xfrm>
          <a:prstGeom prst="rect">
            <a:avLst/>
          </a:prstGeom>
        </p:spPr>
      </p:pic>
      <p:pic>
        <p:nvPicPr>
          <p:cNvPr id="4" name="anim-g2-256" descr="C:\Users\user\projects\younes-training\heritage\.pptx-cache\s31-2.jpg"/>
          <p:cNvPicPr>
            <a:picLocks noChangeAspect="1"/>
          </p:cNvPicPr>
          <p:nvPr/>
        </p:nvPicPr>
        <p:blipFill>
          <a:blip r:embed="rId5"/>
          <a:stretch>
            <a:fillRect/>
          </a:stretch>
        </p:blipFill>
        <p:spPr>
          <a:xfrm>
            <a:off x="0" y="0"/>
            <a:ext cx="12191695" cy="6858000"/>
          </a:xfrm>
          <a:prstGeom prst="rect">
            <a:avLst/>
          </a:prstGeom>
        </p:spPr>
      </p:pic>
      <p:pic>
        <p:nvPicPr>
          <p:cNvPr id="5" name="anim-g3-257" descr="C:\Users\user\projects\younes-training\heritage\.pptx-cache\s31-3.jpg"/>
          <p:cNvPicPr>
            <a:picLocks noChangeAspect="1"/>
          </p:cNvPicPr>
          <p:nvPr/>
        </p:nvPicPr>
        <p:blipFill>
          <a:blip r:embed="rId6"/>
          <a:stretch>
            <a:fillRect/>
          </a:stretch>
        </p:blipFill>
        <p:spPr>
          <a:xfrm>
            <a:off x="0" y="0"/>
            <a:ext cx="12191695" cy="6858000"/>
          </a:xfrm>
          <a:prstGeom prst="rect">
            <a:avLst/>
          </a:prstGeom>
        </p:spPr>
      </p:pic>
      <p:pic>
        <p:nvPicPr>
          <p:cNvPr id="6" name="anim-g4-258" descr="C:\Users\user\projects\younes-training\heritage\.pptx-cache\s31-4.jpg"/>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Image 0" descr="C:\Users\user\projects\younes-training\heritage\.pptx-cache\s32-0.jpg"/>
          <p:cNvPicPr>
            <a:picLocks noChangeAspect="1"/>
          </p:cNvPicPr>
          <p:nvPr/>
        </p:nvPicPr>
        <p:blipFill>
          <a:blip r:embed="rId3"/>
          <a:stretch>
            <a:fillRect/>
          </a:stretch>
        </p:blipFill>
        <p:spPr>
          <a:xfrm>
            <a:off x="0" y="0"/>
            <a:ext cx="12191695" cy="6858000"/>
          </a:xfrm>
          <a:prstGeom prst="rect">
            <a:avLst/>
          </a:prstGeom>
        </p:spPr>
      </p:pic>
      <p:pic>
        <p:nvPicPr>
          <p:cNvPr id="3" name="anim-g1-259" descr="C:\Users\user\projects\younes-training\heritage\.pptx-cache\s32-1.jpg"/>
          <p:cNvPicPr>
            <a:picLocks noChangeAspect="1"/>
          </p:cNvPicPr>
          <p:nvPr/>
        </p:nvPicPr>
        <p:blipFill>
          <a:blip r:embed="rId4"/>
          <a:stretch>
            <a:fillRect/>
          </a:stretch>
        </p:blipFill>
        <p:spPr>
          <a:xfrm>
            <a:off x="0" y="0"/>
            <a:ext cx="12191695" cy="6858000"/>
          </a:xfrm>
          <a:prstGeom prst="rect">
            <a:avLst/>
          </a:prstGeom>
        </p:spPr>
      </p:pic>
      <p:pic>
        <p:nvPicPr>
          <p:cNvPr id="4" name="anim-g2-260" descr="C:\Users\user\projects\younes-training\heritage\.pptx-cache\s32-2.jpg"/>
          <p:cNvPicPr>
            <a:picLocks noChangeAspect="1"/>
          </p:cNvPicPr>
          <p:nvPr/>
        </p:nvPicPr>
        <p:blipFill>
          <a:blip r:embed="rId5"/>
          <a:stretch>
            <a:fillRect/>
          </a:stretch>
        </p:blipFill>
        <p:spPr>
          <a:xfrm>
            <a:off x="0" y="0"/>
            <a:ext cx="12191695" cy="6858000"/>
          </a:xfrm>
          <a:prstGeom prst="rect">
            <a:avLst/>
          </a:prstGeom>
        </p:spPr>
      </p:pic>
      <p:pic>
        <p:nvPicPr>
          <p:cNvPr id="5" name="anim-g3-261" descr="C:\Users\user\projects\younes-training\heritage\.pptx-cache\s32-3.jpg"/>
          <p:cNvPicPr>
            <a:picLocks noChangeAspect="1"/>
          </p:cNvPicPr>
          <p:nvPr/>
        </p:nvPicPr>
        <p:blipFill>
          <a:blip r:embed="rId6"/>
          <a:stretch>
            <a:fillRect/>
          </a:stretch>
        </p:blipFill>
        <p:spPr>
          <a:xfrm>
            <a:off x="0" y="0"/>
            <a:ext cx="12191695" cy="6858000"/>
          </a:xfrm>
          <a:prstGeom prst="rect">
            <a:avLst/>
          </a:prstGeom>
        </p:spPr>
      </p:pic>
      <p:pic>
        <p:nvPicPr>
          <p:cNvPr id="6" name="anim-g4-262" descr="C:\Users\user\projects\younes-training\heritage\.pptx-cache\s32-4.jpg"/>
          <p:cNvPicPr>
            <a:picLocks noChangeAspect="1"/>
          </p:cNvPicPr>
          <p:nvPr/>
        </p:nvPicPr>
        <p:blipFill>
          <a:blip r:embed="rId7"/>
          <a:stretch>
            <a:fillRect/>
          </a:stretch>
        </p:blipFill>
        <p:spPr>
          <a:xfrm>
            <a:off x="0" y="0"/>
            <a:ext cx="12191695" cy="6858000"/>
          </a:xfrm>
          <a:prstGeom prst="rect">
            <a:avLst/>
          </a:prstGeom>
        </p:spPr>
      </p:pic>
      <p:pic>
        <p:nvPicPr>
          <p:cNvPr id="7" name="anim-g5-263" descr="C:\Users\user\projects\younes-training\heritage\.pptx-cache\s32-5.jpg"/>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Image 0" descr="C:\Users\user\projects\younes-training\heritage\.pptx-cache\s33-0.jpg"/>
          <p:cNvPicPr>
            <a:picLocks noChangeAspect="1"/>
          </p:cNvPicPr>
          <p:nvPr/>
        </p:nvPicPr>
        <p:blipFill>
          <a:blip r:embed="rId3"/>
          <a:stretch>
            <a:fillRect/>
          </a:stretch>
        </p:blipFill>
        <p:spPr>
          <a:xfrm>
            <a:off x="0" y="0"/>
            <a:ext cx="12191695" cy="6858000"/>
          </a:xfrm>
          <a:prstGeom prst="rect">
            <a:avLst/>
          </a:prstGeom>
        </p:spPr>
      </p:pic>
      <p:pic>
        <p:nvPicPr>
          <p:cNvPr id="3" name="anim-g1-264" descr="C:\Users\user\projects\younes-training\heritage\.pptx-cache\s33-1.jpg"/>
          <p:cNvPicPr>
            <a:picLocks noChangeAspect="1"/>
          </p:cNvPicPr>
          <p:nvPr/>
        </p:nvPicPr>
        <p:blipFill>
          <a:blip r:embed="rId4"/>
          <a:stretch>
            <a:fillRect/>
          </a:stretch>
        </p:blipFill>
        <p:spPr>
          <a:xfrm>
            <a:off x="0" y="0"/>
            <a:ext cx="12191695" cy="6858000"/>
          </a:xfrm>
          <a:prstGeom prst="rect">
            <a:avLst/>
          </a:prstGeom>
        </p:spPr>
      </p:pic>
      <p:pic>
        <p:nvPicPr>
          <p:cNvPr id="4" name="anim-g2-265" descr="C:\Users\user\projects\younes-training\heritage\.pptx-cache\s33-2.jpg"/>
          <p:cNvPicPr>
            <a:picLocks noChangeAspect="1"/>
          </p:cNvPicPr>
          <p:nvPr/>
        </p:nvPicPr>
        <p:blipFill>
          <a:blip r:embed="rId5"/>
          <a:stretch>
            <a:fillRect/>
          </a:stretch>
        </p:blipFill>
        <p:spPr>
          <a:xfrm>
            <a:off x="0" y="0"/>
            <a:ext cx="12191695" cy="6858000"/>
          </a:xfrm>
          <a:prstGeom prst="rect">
            <a:avLst/>
          </a:prstGeom>
        </p:spPr>
      </p:pic>
      <p:pic>
        <p:nvPicPr>
          <p:cNvPr id="5" name="anim-g3-266" descr="C:\Users\user\projects\younes-training\heritage\.pptx-cache\s33-3.jpg"/>
          <p:cNvPicPr>
            <a:picLocks noChangeAspect="1"/>
          </p:cNvPicPr>
          <p:nvPr/>
        </p:nvPicPr>
        <p:blipFill>
          <a:blip r:embed="rId6"/>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Image 0" descr="C:\Users\user\projects\younes-training\heritage\.pptx-cache\s34-0.jpg"/>
          <p:cNvPicPr>
            <a:picLocks noChangeAspect="1"/>
          </p:cNvPicPr>
          <p:nvPr/>
        </p:nvPicPr>
        <p:blipFill>
          <a:blip r:embed="rId3"/>
          <a:stretch>
            <a:fillRect/>
          </a:stretch>
        </p:blipFill>
        <p:spPr>
          <a:xfrm>
            <a:off x="0" y="0"/>
            <a:ext cx="12191695" cy="6858000"/>
          </a:xfrm>
          <a:prstGeom prst="rect">
            <a:avLst/>
          </a:prstGeom>
        </p:spPr>
      </p:pic>
      <p:pic>
        <p:nvPicPr>
          <p:cNvPr id="3" name="anim-g1-267" descr="C:\Users\user\projects\younes-training\heritage\.pptx-cache\s34-1.jpg"/>
          <p:cNvPicPr>
            <a:picLocks noChangeAspect="1"/>
          </p:cNvPicPr>
          <p:nvPr/>
        </p:nvPicPr>
        <p:blipFill>
          <a:blip r:embed="rId4"/>
          <a:stretch>
            <a:fillRect/>
          </a:stretch>
        </p:blipFill>
        <p:spPr>
          <a:xfrm>
            <a:off x="0" y="0"/>
            <a:ext cx="12191695" cy="6858000"/>
          </a:xfrm>
          <a:prstGeom prst="rect">
            <a:avLst/>
          </a:prstGeom>
        </p:spPr>
      </p:pic>
      <p:pic>
        <p:nvPicPr>
          <p:cNvPr id="4" name="anim-g2-268" descr="C:\Users\user\projects\younes-training\heritage\.pptx-cache\s34-2.jpg"/>
          <p:cNvPicPr>
            <a:picLocks noChangeAspect="1"/>
          </p:cNvPicPr>
          <p:nvPr/>
        </p:nvPicPr>
        <p:blipFill>
          <a:blip r:embed="rId5"/>
          <a:stretch>
            <a:fillRect/>
          </a:stretch>
        </p:blipFill>
        <p:spPr>
          <a:xfrm>
            <a:off x="0" y="0"/>
            <a:ext cx="12191695" cy="6858000"/>
          </a:xfrm>
          <a:prstGeom prst="rect">
            <a:avLst/>
          </a:prstGeom>
        </p:spPr>
      </p:pic>
      <p:pic>
        <p:nvPicPr>
          <p:cNvPr id="5" name="anim-g3-269" descr="C:\Users\user\projects\younes-training\heritage\.pptx-cache\s34-3.jpg"/>
          <p:cNvPicPr>
            <a:picLocks noChangeAspect="1"/>
          </p:cNvPicPr>
          <p:nvPr/>
        </p:nvPicPr>
        <p:blipFill>
          <a:blip r:embed="rId6"/>
          <a:stretch>
            <a:fillRect/>
          </a:stretch>
        </p:blipFill>
        <p:spPr>
          <a:xfrm>
            <a:off x="0" y="0"/>
            <a:ext cx="12191695" cy="6858000"/>
          </a:xfrm>
          <a:prstGeom prst="rect">
            <a:avLst/>
          </a:prstGeom>
        </p:spPr>
      </p:pic>
      <p:pic>
        <p:nvPicPr>
          <p:cNvPr id="6" name="anim-g4-270" descr="C:\Users\user\projects\younes-training\heritage\.pptx-cache\s34-4.jpg"/>
          <p:cNvPicPr>
            <a:picLocks noChangeAspect="1"/>
          </p:cNvPicPr>
          <p:nvPr/>
        </p:nvPicPr>
        <p:blipFill>
          <a:blip r:embed="rId7"/>
          <a:stretch>
            <a:fillRect/>
          </a:stretch>
        </p:blipFill>
        <p:spPr>
          <a:xfrm>
            <a:off x="0" y="0"/>
            <a:ext cx="12191695" cy="6858000"/>
          </a:xfrm>
          <a:prstGeom prst="rect">
            <a:avLst/>
          </a:prstGeom>
        </p:spPr>
      </p:pic>
      <p:pic>
        <p:nvPicPr>
          <p:cNvPr id="7" name="anim-g5-271" descr="C:\Users\user\projects\younes-training\heritage\.pptx-cache\s34-5.jpg"/>
          <p:cNvPicPr>
            <a:picLocks noChangeAspect="1"/>
          </p:cNvPicPr>
          <p:nvPr/>
        </p:nvPicPr>
        <p:blipFill>
          <a:blip r:embed="rId8"/>
          <a:stretch>
            <a:fillRect/>
          </a:stretch>
        </p:blipFill>
        <p:spPr>
          <a:xfrm>
            <a:off x="0" y="0"/>
            <a:ext cx="12191695" cy="6858000"/>
          </a:xfrm>
          <a:prstGeom prst="rect">
            <a:avLst/>
          </a:prstGeom>
        </p:spPr>
      </p:pic>
      <p:pic>
        <p:nvPicPr>
          <p:cNvPr id="8" name="anim-g6-272" descr="C:\Users\user\projects\younes-training\heritage\.pptx-cache\s34-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Image 0" descr="C:\Users\user\projects\younes-training\heritage\.pptx-cache\s35-0.jpg"/>
          <p:cNvPicPr>
            <a:picLocks noChangeAspect="1"/>
          </p:cNvPicPr>
          <p:nvPr/>
        </p:nvPicPr>
        <p:blipFill>
          <a:blip r:embed="rId3"/>
          <a:stretch>
            <a:fillRect/>
          </a:stretch>
        </p:blipFill>
        <p:spPr>
          <a:xfrm>
            <a:off x="0" y="0"/>
            <a:ext cx="12191695" cy="6858000"/>
          </a:xfrm>
          <a:prstGeom prst="rect">
            <a:avLst/>
          </a:prstGeom>
        </p:spPr>
      </p:pic>
      <p:pic>
        <p:nvPicPr>
          <p:cNvPr id="3" name="anim-g1-273" descr="C:\Users\user\projects\younes-training\heritage\.pptx-cache\s35-1.jpg"/>
          <p:cNvPicPr>
            <a:picLocks noChangeAspect="1"/>
          </p:cNvPicPr>
          <p:nvPr/>
        </p:nvPicPr>
        <p:blipFill>
          <a:blip r:embed="rId4"/>
          <a:stretch>
            <a:fillRect/>
          </a:stretch>
        </p:blipFill>
        <p:spPr>
          <a:xfrm>
            <a:off x="0" y="0"/>
            <a:ext cx="12191695" cy="6858000"/>
          </a:xfrm>
          <a:prstGeom prst="rect">
            <a:avLst/>
          </a:prstGeom>
        </p:spPr>
      </p:pic>
      <p:pic>
        <p:nvPicPr>
          <p:cNvPr id="4" name="anim-g2-274" descr="C:\Users\user\projects\younes-training\heritage\.pptx-cache\s35-2.jpg"/>
          <p:cNvPicPr>
            <a:picLocks noChangeAspect="1"/>
          </p:cNvPicPr>
          <p:nvPr/>
        </p:nvPicPr>
        <p:blipFill>
          <a:blip r:embed="rId5"/>
          <a:stretch>
            <a:fillRect/>
          </a:stretch>
        </p:blipFill>
        <p:spPr>
          <a:xfrm>
            <a:off x="0" y="0"/>
            <a:ext cx="12191695" cy="6858000"/>
          </a:xfrm>
          <a:prstGeom prst="rect">
            <a:avLst/>
          </a:prstGeom>
        </p:spPr>
      </p:pic>
      <p:pic>
        <p:nvPicPr>
          <p:cNvPr id="5" name="anim-g3-275" descr="C:\Users\user\projects\younes-training\heritage\.pptx-cache\s35-3.jpg"/>
          <p:cNvPicPr>
            <a:picLocks noChangeAspect="1"/>
          </p:cNvPicPr>
          <p:nvPr/>
        </p:nvPicPr>
        <p:blipFill>
          <a:blip r:embed="rId6"/>
          <a:stretch>
            <a:fillRect/>
          </a:stretch>
        </p:blipFill>
        <p:spPr>
          <a:xfrm>
            <a:off x="0" y="0"/>
            <a:ext cx="12191695" cy="6858000"/>
          </a:xfrm>
          <a:prstGeom prst="rect">
            <a:avLst/>
          </a:prstGeom>
        </p:spPr>
      </p:pic>
      <p:pic>
        <p:nvPicPr>
          <p:cNvPr id="6" name="anim-g4-276" descr="C:\Users\user\projects\younes-training\heritage\.pptx-cache\s35-4.jpg"/>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خلاصة المحور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marL="0" indent="0" algn="ctr">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مكوّنان نجحا وحدهما…</a:t>
            </a:r>
            <a:endParaRPr lang="ar-SA" sz="4400" dirty="0"/>
          </a:p>
          <a:p>
            <a:pPr marL="0" indent="0" algn="ctr">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فنجحا معًا: طفل يقترب، فتقول له الشاشة «مرحبًا» ويبدأ المؤقت</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صانع الذكريات التراثية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 ٢. الشاشة + الترحيب  ·  ٣٦</a:t>
            </a:r>
            <a:endParaRPr lang="ar-SA"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marL="0" indent="0" algn="ctr" rtl="1">
              <a:buNone/>
            </a:pPr>
            <a:r>
              <a:rPr lang="ar-SA" altLang="en-US" sz="12000" dirty="0">
                <a:solidFill>
                  <a:srgbClr val="F0CC7A"/>
                </a:solidFill>
                <a:latin typeface="Cairo Black" pitchFamily="34" charset="0"/>
                <a:ea typeface="Cairo Black" pitchFamily="34" charset="-122"/>
                <a:cs typeface="Cairo Black" pitchFamily="34" charset="-120"/>
              </a:rPr>
              <a:t>٤</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marL="0" indent="0" algn="r" rtl="1">
              <a:buNone/>
            </a:pPr>
            <a:r>
              <a:rPr lang="ar-SA" altLang="en-US" sz="2000" b="1" dirty="0">
                <a:solidFill>
                  <a:srgbClr val="D9AE4B"/>
                </a:solidFill>
                <a:latin typeface="Cairo" pitchFamily="34" charset="0"/>
                <a:ea typeface="Cairo" pitchFamily="34" charset="-122"/>
                <a:cs typeface="Cairo" pitchFamily="34" charset="-120"/>
              </a:rPr>
              <a:t>المحور ٤</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marL="0" indent="0" algn="r" rtl="1">
              <a:buNone/>
            </a:pPr>
            <a:r>
              <a:rPr lang="ar-SA" altLang="en-US" sz="5600" dirty="0">
                <a:solidFill>
                  <a:srgbClr val="FFFFFF"/>
                </a:solidFill>
                <a:latin typeface="Cairo Black" pitchFamily="34" charset="0"/>
                <a:ea typeface="Cairo Black" pitchFamily="34" charset="-122"/>
                <a:cs typeface="Cairo Black" pitchFamily="34" charset="-120"/>
              </a:rPr>
              <a:t>🔘 المكوّن الثالث: الأزرار</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marL="0" indent="0" algn="r" rtl="1">
              <a:buNone/>
            </a:pPr>
            <a:r>
              <a:rPr lang="ar-SA" altLang="en-US" sz="2200" b="1" dirty="0">
                <a:solidFill>
                  <a:srgbClr val="C9CFE6"/>
                </a:solidFill>
                <a:latin typeface="Cairo" pitchFamily="34" charset="0"/>
                <a:ea typeface="Cairo" pitchFamily="34" charset="-122"/>
                <a:cs typeface="Cairo" pitchFamily="34" charset="-120"/>
              </a:rPr>
              <a:t>أربعة للمحطات واثنان للإجابة… ثم يختار الطفل محطته</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صانع الذكريات التراثية</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 ٣. الأزرار + الاختيار  ·  ٣٧</a:t>
            </a:r>
            <a:endParaRPr lang="ar-SA"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248095" y="457200"/>
            <a:ext cx="5120640" cy="457200"/>
          </a:xfrm>
          <a:prstGeom prst="roundRect">
            <a:avLst>
              <a:gd name="adj" fmla="val 50000"/>
            </a:avLst>
          </a:prstGeom>
          <a:solidFill>
            <a:srgbClr val="F6EBCF"/>
          </a:solidFill>
          <a:ln/>
        </p:spPr>
      </p:sp>
      <p:sp>
        <p:nvSpPr>
          <p:cNvPr id="3" name="Text 1"/>
          <p:cNvSpPr/>
          <p:nvPr/>
        </p:nvSpPr>
        <p:spPr>
          <a:xfrm>
            <a:off x="6248095" y="457200"/>
            <a:ext cx="512064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بنهاية هذا المحور تستطيع أن</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أهداف المحور</a:t>
            </a:r>
            <a:endParaRPr lang="ar-SA" sz="3800" dirty="0"/>
          </a:p>
        </p:txBody>
      </p:sp>
      <p:sp>
        <p:nvSpPr>
          <p:cNvPr id="5" name="anim-g1-277"/>
          <p:cNvSpPr/>
          <p:nvPr/>
        </p:nvSpPr>
        <p:spPr>
          <a:xfrm>
            <a:off x="822960" y="1920240"/>
            <a:ext cx="10545775" cy="946404"/>
          </a:xfrm>
          <a:prstGeom prst="roundRect">
            <a:avLst>
              <a:gd name="adj" fmla="val 15459"/>
            </a:avLst>
          </a:prstGeom>
          <a:solidFill>
            <a:srgbClr val="FFFFFF"/>
          </a:solidFill>
          <a:ln w="12700">
            <a:solidFill>
              <a:srgbClr val="E4DCC8"/>
            </a:solidFill>
            <a:prstDash val="solid"/>
          </a:ln>
        </p:spPr>
      </p:sp>
      <p:sp>
        <p:nvSpPr>
          <p:cNvPr id="6" name="anim-g1-278"/>
          <p:cNvSpPr/>
          <p:nvPr/>
        </p:nvSpPr>
        <p:spPr>
          <a:xfrm>
            <a:off x="10573207" y="2109978"/>
            <a:ext cx="566928" cy="566928"/>
          </a:xfrm>
          <a:prstGeom prst="ellipse">
            <a:avLst/>
          </a:prstGeom>
          <a:solidFill>
            <a:srgbClr val="D9AE4B"/>
          </a:solidFill>
          <a:ln/>
        </p:spPr>
      </p:sp>
      <p:sp>
        <p:nvSpPr>
          <p:cNvPr id="7" name="anim-g1-279"/>
          <p:cNvSpPr/>
          <p:nvPr/>
        </p:nvSpPr>
        <p:spPr>
          <a:xfrm>
            <a:off x="10573207" y="2109978"/>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280"/>
          <p:cNvSpPr/>
          <p:nvPr/>
        </p:nvSpPr>
        <p:spPr>
          <a:xfrm>
            <a:off x="1097280" y="1920240"/>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توصل الأزرار بـ INPUT_PULLUP</a:t>
            </a:r>
            <a:endParaRPr lang="ar-SA" sz="2400" dirty="0"/>
          </a:p>
        </p:txBody>
      </p:sp>
      <p:sp>
        <p:nvSpPr>
          <p:cNvPr id="9" name="anim-g2-281"/>
          <p:cNvSpPr/>
          <p:nvPr/>
        </p:nvSpPr>
        <p:spPr>
          <a:xfrm>
            <a:off x="822960" y="2976372"/>
            <a:ext cx="10545775" cy="946404"/>
          </a:xfrm>
          <a:prstGeom prst="roundRect">
            <a:avLst>
              <a:gd name="adj" fmla="val 15459"/>
            </a:avLst>
          </a:prstGeom>
          <a:solidFill>
            <a:srgbClr val="FFFFFF"/>
          </a:solidFill>
          <a:ln w="12700">
            <a:solidFill>
              <a:srgbClr val="E4DCC8"/>
            </a:solidFill>
            <a:prstDash val="solid"/>
          </a:ln>
        </p:spPr>
      </p:sp>
      <p:sp>
        <p:nvSpPr>
          <p:cNvPr id="10" name="anim-g2-282"/>
          <p:cNvSpPr/>
          <p:nvPr/>
        </p:nvSpPr>
        <p:spPr>
          <a:xfrm>
            <a:off x="10573207" y="3166110"/>
            <a:ext cx="566928" cy="566928"/>
          </a:xfrm>
          <a:prstGeom prst="ellipse">
            <a:avLst/>
          </a:prstGeom>
          <a:solidFill>
            <a:srgbClr val="D9AE4B"/>
          </a:solidFill>
          <a:ln/>
        </p:spPr>
      </p:sp>
      <p:sp>
        <p:nvSpPr>
          <p:cNvPr id="11" name="anim-g2-283"/>
          <p:cNvSpPr/>
          <p:nvPr/>
        </p:nvSpPr>
        <p:spPr>
          <a:xfrm>
            <a:off x="10573207" y="3166110"/>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284"/>
          <p:cNvSpPr/>
          <p:nvPr/>
        </p:nvSpPr>
        <p:spPr>
          <a:xfrm>
            <a:off x="1097280" y="2976372"/>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تحل مشكلة الأطراف ٣٥ و٣٦ و٣٩ بمقاومة خارجية</a:t>
            </a:r>
            <a:endParaRPr lang="ar-SA" sz="2400" dirty="0"/>
          </a:p>
        </p:txBody>
      </p:sp>
      <p:sp>
        <p:nvSpPr>
          <p:cNvPr id="13" name="anim-g3-285"/>
          <p:cNvSpPr/>
          <p:nvPr/>
        </p:nvSpPr>
        <p:spPr>
          <a:xfrm>
            <a:off x="822960" y="4032504"/>
            <a:ext cx="10545775" cy="946404"/>
          </a:xfrm>
          <a:prstGeom prst="roundRect">
            <a:avLst>
              <a:gd name="adj" fmla="val 15459"/>
            </a:avLst>
          </a:prstGeom>
          <a:solidFill>
            <a:srgbClr val="FFFFFF"/>
          </a:solidFill>
          <a:ln w="12700">
            <a:solidFill>
              <a:srgbClr val="E4DCC8"/>
            </a:solidFill>
            <a:prstDash val="solid"/>
          </a:ln>
        </p:spPr>
      </p:sp>
      <p:sp>
        <p:nvSpPr>
          <p:cNvPr id="14" name="anim-g3-286"/>
          <p:cNvSpPr/>
          <p:nvPr/>
        </p:nvSpPr>
        <p:spPr>
          <a:xfrm>
            <a:off x="10573207" y="4222242"/>
            <a:ext cx="566928" cy="566928"/>
          </a:xfrm>
          <a:prstGeom prst="ellipse">
            <a:avLst/>
          </a:prstGeom>
          <a:solidFill>
            <a:srgbClr val="D9AE4B"/>
          </a:solidFill>
          <a:ln/>
        </p:spPr>
      </p:sp>
      <p:sp>
        <p:nvSpPr>
          <p:cNvPr id="15" name="anim-g3-287"/>
          <p:cNvSpPr/>
          <p:nvPr/>
        </p:nvSpPr>
        <p:spPr>
          <a:xfrm>
            <a:off x="10573207" y="4222242"/>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288"/>
          <p:cNvSpPr/>
          <p:nvPr/>
        </p:nvSpPr>
        <p:spPr>
          <a:xfrm>
            <a:off x="1097280" y="4032504"/>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تزيل ارتداد الزر</a:t>
            </a:r>
            <a:endParaRPr lang="ar-SA" sz="2400" dirty="0"/>
          </a:p>
        </p:txBody>
      </p:sp>
      <p:sp>
        <p:nvSpPr>
          <p:cNvPr id="17" name="anim-g4-289"/>
          <p:cNvSpPr/>
          <p:nvPr/>
        </p:nvSpPr>
        <p:spPr>
          <a:xfrm>
            <a:off x="822960" y="5088636"/>
            <a:ext cx="10545775" cy="946404"/>
          </a:xfrm>
          <a:prstGeom prst="roundRect">
            <a:avLst>
              <a:gd name="adj" fmla="val 15459"/>
            </a:avLst>
          </a:prstGeom>
          <a:solidFill>
            <a:srgbClr val="FFFFFF"/>
          </a:solidFill>
          <a:ln w="12700">
            <a:solidFill>
              <a:srgbClr val="E4DCC8"/>
            </a:solidFill>
            <a:prstDash val="solid"/>
          </a:ln>
        </p:spPr>
      </p:sp>
      <p:sp>
        <p:nvSpPr>
          <p:cNvPr id="18" name="anim-g4-290"/>
          <p:cNvSpPr/>
          <p:nvPr/>
        </p:nvSpPr>
        <p:spPr>
          <a:xfrm>
            <a:off x="10573207" y="5278374"/>
            <a:ext cx="566928" cy="566928"/>
          </a:xfrm>
          <a:prstGeom prst="ellipse">
            <a:avLst/>
          </a:prstGeom>
          <a:solidFill>
            <a:srgbClr val="D9AE4B"/>
          </a:solidFill>
          <a:ln/>
        </p:spPr>
      </p:sp>
      <p:sp>
        <p:nvSpPr>
          <p:cNvPr id="19" name="anim-g4-291"/>
          <p:cNvSpPr/>
          <p:nvPr/>
        </p:nvSpPr>
        <p:spPr>
          <a:xfrm>
            <a:off x="10573207" y="5278374"/>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292"/>
          <p:cNvSpPr/>
          <p:nvPr/>
        </p:nvSpPr>
        <p:spPr>
          <a:xfrm>
            <a:off x="1097280" y="5088636"/>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تدمج: الطفل يضغط فتعرض الشاشة اسم المحطة</a:t>
            </a:r>
            <a:endParaRPr lang="ar-SA" sz="2400" dirty="0"/>
          </a:p>
        </p:txBody>
      </p:sp>
      <p:sp>
        <p:nvSpPr>
          <p:cNvPr id="21" name="Text 19"/>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صانع الذكريات التراثية</a:t>
            </a:r>
            <a:endParaRPr lang="ar-SA" sz="1200" dirty="0"/>
          </a:p>
        </p:txBody>
      </p:sp>
      <p:sp>
        <p:nvSpPr>
          <p:cNvPr id="22" name="Text 20"/>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٣. الأزرار + الاختيار  ·  ٣٨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905695" y="457200"/>
            <a:ext cx="1463040" cy="457200"/>
          </a:xfrm>
          <a:prstGeom prst="roundRect">
            <a:avLst>
              <a:gd name="adj" fmla="val 50000"/>
            </a:avLst>
          </a:prstGeom>
          <a:solidFill>
            <a:srgbClr val="F6EBCF"/>
          </a:solidFill>
          <a:ln/>
        </p:spPr>
      </p:sp>
      <p:sp>
        <p:nvSpPr>
          <p:cNvPr id="3" name="Text 1"/>
          <p:cNvSpPr/>
          <p:nvPr/>
        </p:nvSpPr>
        <p:spPr>
          <a:xfrm>
            <a:off x="9905695" y="457200"/>
            <a:ext cx="146304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فخّان</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لماذا يضغط الزر نفسه… أحيانًا؟</a:t>
            </a:r>
            <a:endParaRPr lang="ar-SA" sz="3800" dirty="0"/>
          </a:p>
        </p:txBody>
      </p:sp>
      <p:sp>
        <p:nvSpPr>
          <p:cNvPr id="5" name="anim-g1-293"/>
          <p:cNvSpPr/>
          <p:nvPr/>
        </p:nvSpPr>
        <p:spPr>
          <a:xfrm>
            <a:off x="6233008" y="2011680"/>
            <a:ext cx="5135728" cy="4023360"/>
          </a:xfrm>
          <a:prstGeom prst="roundRect">
            <a:avLst>
              <a:gd name="adj" fmla="val 4091"/>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294"/>
          <p:cNvSpPr/>
          <p:nvPr/>
        </p:nvSpPr>
        <p:spPr>
          <a:xfrm>
            <a:off x="10527487" y="2267712"/>
            <a:ext cx="566928" cy="566928"/>
          </a:xfrm>
          <a:prstGeom prst="roundRect">
            <a:avLst>
              <a:gd name="adj" fmla="val 32258"/>
            </a:avLst>
          </a:prstGeom>
          <a:solidFill>
            <a:srgbClr val="F7E6BC"/>
          </a:solidFill>
          <a:ln/>
        </p:spPr>
      </p:sp>
      <p:sp>
        <p:nvSpPr>
          <p:cNvPr id="7" name="anim-g1-295"/>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296"/>
          <p:cNvSpPr/>
          <p:nvPr/>
        </p:nvSpPr>
        <p:spPr>
          <a:xfrm>
            <a:off x="6507328"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الطرف العائم</a:t>
            </a:r>
            <a:endParaRPr lang="ar-SA" sz="2200" dirty="0"/>
          </a:p>
        </p:txBody>
      </p:sp>
      <p:sp>
        <p:nvSpPr>
          <p:cNvPr id="9" name="anim-g1-297"/>
          <p:cNvSpPr/>
          <p:nvPr/>
        </p:nvSpPr>
        <p:spPr>
          <a:xfrm>
            <a:off x="6507328" y="3493008"/>
            <a:ext cx="458708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طرف غير موصول بشيء يلتقط الضجيج فيقرأ LOW وHIGH عشوائيًا. الحل: مقاومة سحب تثبّته على HIGH</a:t>
            </a:r>
            <a:endParaRPr lang="ar-SA" sz="1900" dirty="0"/>
          </a:p>
        </p:txBody>
      </p:sp>
      <p:sp>
        <p:nvSpPr>
          <p:cNvPr id="10" name="anim-g2-298"/>
          <p:cNvSpPr/>
          <p:nvPr/>
        </p:nvSpPr>
        <p:spPr>
          <a:xfrm>
            <a:off x="822960" y="2011680"/>
            <a:ext cx="5135728" cy="4023360"/>
          </a:xfrm>
          <a:prstGeom prst="roundRect">
            <a:avLst>
              <a:gd name="adj" fmla="val 4091"/>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299"/>
          <p:cNvSpPr/>
          <p:nvPr/>
        </p:nvSpPr>
        <p:spPr>
          <a:xfrm>
            <a:off x="5117440" y="2267712"/>
            <a:ext cx="566928" cy="566928"/>
          </a:xfrm>
          <a:prstGeom prst="roundRect">
            <a:avLst>
              <a:gd name="adj" fmla="val 32258"/>
            </a:avLst>
          </a:prstGeom>
          <a:solidFill>
            <a:srgbClr val="F7E6BC"/>
          </a:solidFill>
          <a:ln/>
        </p:spPr>
      </p:sp>
      <p:sp>
        <p:nvSpPr>
          <p:cNvPr id="12" name="anim-g2-300"/>
          <p:cNvSpPr/>
          <p:nvPr/>
        </p:nvSpPr>
        <p:spPr>
          <a:xfrm>
            <a:off x="511744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301"/>
          <p:cNvSpPr/>
          <p:nvPr/>
        </p:nvSpPr>
        <p:spPr>
          <a:xfrm>
            <a:off x="1097280"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الارتداد</a:t>
            </a:r>
            <a:endParaRPr lang="ar-SA" sz="2200" dirty="0"/>
          </a:p>
        </p:txBody>
      </p:sp>
      <p:sp>
        <p:nvSpPr>
          <p:cNvPr id="14" name="anim-g2-302"/>
          <p:cNvSpPr/>
          <p:nvPr/>
        </p:nvSpPr>
        <p:spPr>
          <a:xfrm>
            <a:off x="1097280" y="3493008"/>
            <a:ext cx="458708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تلامس المعدن يهتز أجزاء من الثانية: ضغطة واحدة تُقرأ مرتين أو ثلاثًا. الحل: ننتظر ٢٠ مللي ثانية ونتأكد</a:t>
            </a:r>
            <a:endParaRPr lang="ar-SA" sz="1900" dirty="0"/>
          </a:p>
        </p:txBody>
      </p:sp>
      <p:sp>
        <p:nvSpPr>
          <p:cNvPr id="15" name="Text 1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صانع الذكريات التراثية</a:t>
            </a:r>
            <a:endParaRPr lang="ar-SA" sz="1200" dirty="0"/>
          </a:p>
        </p:txBody>
      </p:sp>
      <p:sp>
        <p:nvSpPr>
          <p:cNvPr id="16" name="Text 1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٣. الأزرار + الاختيار  ·  ٣٩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Image 0" descr="C:\Users\user\projects\younes-training\heritage\.pptx-cache\s40-0.jpg"/>
          <p:cNvPicPr>
            <a:picLocks noChangeAspect="1"/>
          </p:cNvPicPr>
          <p:nvPr/>
        </p:nvPicPr>
        <p:blipFill>
          <a:blip r:embed="rId3"/>
          <a:stretch>
            <a:fillRect/>
          </a:stretch>
        </p:blipFill>
        <p:spPr>
          <a:xfrm>
            <a:off x="0" y="0"/>
            <a:ext cx="12191695" cy="6858000"/>
          </a:xfrm>
          <a:prstGeom prst="rect">
            <a:avLst/>
          </a:prstGeom>
        </p:spPr>
      </p:pic>
      <p:pic>
        <p:nvPicPr>
          <p:cNvPr id="3" name="anim-g1-303" descr="C:\Users\user\projects\younes-training\heritage\.pptx-cache\s40-1.jpg"/>
          <p:cNvPicPr>
            <a:picLocks noChangeAspect="1"/>
          </p:cNvPicPr>
          <p:nvPr/>
        </p:nvPicPr>
        <p:blipFill>
          <a:blip r:embed="rId4"/>
          <a:stretch>
            <a:fillRect/>
          </a:stretch>
        </p:blipFill>
        <p:spPr>
          <a:xfrm>
            <a:off x="0" y="0"/>
            <a:ext cx="12191695" cy="6858000"/>
          </a:xfrm>
          <a:prstGeom prst="rect">
            <a:avLst/>
          </a:prstGeom>
        </p:spPr>
      </p:pic>
      <p:pic>
        <p:nvPicPr>
          <p:cNvPr id="4" name="anim-g2-304" descr="C:\Users\user\projects\younes-training\heritage\.pptx-cache\s40-2.jpg"/>
          <p:cNvPicPr>
            <a:picLocks noChangeAspect="1"/>
          </p:cNvPicPr>
          <p:nvPr/>
        </p:nvPicPr>
        <p:blipFill>
          <a:blip r:embed="rId5"/>
          <a:stretch>
            <a:fillRect/>
          </a:stretch>
        </p:blipFill>
        <p:spPr>
          <a:xfrm>
            <a:off x="0" y="0"/>
            <a:ext cx="12191695" cy="6858000"/>
          </a:xfrm>
          <a:prstGeom prst="rect">
            <a:avLst/>
          </a:prstGeom>
        </p:spPr>
      </p:pic>
      <p:pic>
        <p:nvPicPr>
          <p:cNvPr id="5" name="anim-g3-305" descr="C:\Users\user\projects\younes-training\heritage\.pptx-cache\s40-3.jpg"/>
          <p:cNvPicPr>
            <a:picLocks noChangeAspect="1"/>
          </p:cNvPicPr>
          <p:nvPr/>
        </p:nvPicPr>
        <p:blipFill>
          <a:blip r:embed="rId6"/>
          <a:stretch>
            <a:fillRect/>
          </a:stretch>
        </p:blipFill>
        <p:spPr>
          <a:xfrm>
            <a:off x="0" y="0"/>
            <a:ext cx="12191695" cy="6858000"/>
          </a:xfrm>
          <a:prstGeom prst="rect">
            <a:avLst/>
          </a:prstGeom>
        </p:spPr>
      </p:pic>
      <p:pic>
        <p:nvPicPr>
          <p:cNvPr id="6" name="anim-g4-306" descr="C:\Users\user\projects\younes-training\heritage\.pptx-cache\s40-4.jpg"/>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Image 0" descr="C:\Users\user\projects\younes-training\heritage\.pptx-cache\s41.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Image 0" descr="C:\Users\user\projects\younes-training\heritage\.pptx-cache\s42-0.jpg"/>
          <p:cNvPicPr>
            <a:picLocks noChangeAspect="1"/>
          </p:cNvPicPr>
          <p:nvPr/>
        </p:nvPicPr>
        <p:blipFill>
          <a:blip r:embed="rId3"/>
          <a:stretch>
            <a:fillRect/>
          </a:stretch>
        </p:blipFill>
        <p:spPr>
          <a:xfrm>
            <a:off x="0" y="0"/>
            <a:ext cx="12191695" cy="6858000"/>
          </a:xfrm>
          <a:prstGeom prst="rect">
            <a:avLst/>
          </a:prstGeom>
        </p:spPr>
      </p:pic>
      <p:pic>
        <p:nvPicPr>
          <p:cNvPr id="3" name="anim-g1-307" descr="C:\Users\user\projects\younes-training\heritage\.pptx-cache\s42-1.jpg"/>
          <p:cNvPicPr>
            <a:picLocks noChangeAspect="1"/>
          </p:cNvPicPr>
          <p:nvPr/>
        </p:nvPicPr>
        <p:blipFill>
          <a:blip r:embed="rId4"/>
          <a:stretch>
            <a:fillRect/>
          </a:stretch>
        </p:blipFill>
        <p:spPr>
          <a:xfrm>
            <a:off x="0" y="0"/>
            <a:ext cx="12191695" cy="6858000"/>
          </a:xfrm>
          <a:prstGeom prst="rect">
            <a:avLst/>
          </a:prstGeom>
        </p:spPr>
      </p:pic>
      <p:pic>
        <p:nvPicPr>
          <p:cNvPr id="4" name="anim-g2-308" descr="C:\Users\user\projects\younes-training\heritage\.pptx-cache\s42-2.jpg"/>
          <p:cNvPicPr>
            <a:picLocks noChangeAspect="1"/>
          </p:cNvPicPr>
          <p:nvPr/>
        </p:nvPicPr>
        <p:blipFill>
          <a:blip r:embed="rId5"/>
          <a:stretch>
            <a:fillRect/>
          </a:stretch>
        </p:blipFill>
        <p:spPr>
          <a:xfrm>
            <a:off x="0" y="0"/>
            <a:ext cx="12191695" cy="6858000"/>
          </a:xfrm>
          <a:prstGeom prst="rect">
            <a:avLst/>
          </a:prstGeom>
        </p:spPr>
      </p:pic>
      <p:pic>
        <p:nvPicPr>
          <p:cNvPr id="5" name="anim-g3-309" descr="C:\Users\user\projects\younes-training\heritage\.pptx-cache\s42-3.jpg"/>
          <p:cNvPicPr>
            <a:picLocks noChangeAspect="1"/>
          </p:cNvPicPr>
          <p:nvPr/>
        </p:nvPicPr>
        <p:blipFill>
          <a:blip r:embed="rId6"/>
          <a:stretch>
            <a:fillRect/>
          </a:stretch>
        </p:blipFill>
        <p:spPr>
          <a:xfrm>
            <a:off x="0" y="0"/>
            <a:ext cx="12191695" cy="6858000"/>
          </a:xfrm>
          <a:prstGeom prst="rect">
            <a:avLst/>
          </a:prstGeom>
        </p:spPr>
      </p:pic>
      <p:pic>
        <p:nvPicPr>
          <p:cNvPr id="6" name="anim-g4-310" descr="C:\Users\user\projects\younes-training\heritage\.pptx-cache\s42-4.jpg"/>
          <p:cNvPicPr>
            <a:picLocks noChangeAspect="1"/>
          </p:cNvPicPr>
          <p:nvPr/>
        </p:nvPicPr>
        <p:blipFill>
          <a:blip r:embed="rId7"/>
          <a:stretch>
            <a:fillRect/>
          </a:stretch>
        </p:blipFill>
        <p:spPr>
          <a:xfrm>
            <a:off x="0" y="0"/>
            <a:ext cx="12191695" cy="6858000"/>
          </a:xfrm>
          <a:prstGeom prst="rect">
            <a:avLst/>
          </a:prstGeom>
        </p:spPr>
      </p:pic>
      <p:pic>
        <p:nvPicPr>
          <p:cNvPr id="7" name="anim-g5-311" descr="C:\Users\user\projects\younes-training\heritage\.pptx-cache\s42-5.jpg"/>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Image 0" descr="C:\Users\user\projects\younes-training\heritage\.pptx-cache\s43-0.jpg"/>
          <p:cNvPicPr>
            <a:picLocks noChangeAspect="1"/>
          </p:cNvPicPr>
          <p:nvPr/>
        </p:nvPicPr>
        <p:blipFill>
          <a:blip r:embed="rId3"/>
          <a:stretch>
            <a:fillRect/>
          </a:stretch>
        </p:blipFill>
        <p:spPr>
          <a:xfrm>
            <a:off x="0" y="0"/>
            <a:ext cx="12191695" cy="6858000"/>
          </a:xfrm>
          <a:prstGeom prst="rect">
            <a:avLst/>
          </a:prstGeom>
        </p:spPr>
      </p:pic>
      <p:pic>
        <p:nvPicPr>
          <p:cNvPr id="3" name="anim-g1-312" descr="C:\Users\user\projects\younes-training\heritage\.pptx-cache\s43-1.jpg"/>
          <p:cNvPicPr>
            <a:picLocks noChangeAspect="1"/>
          </p:cNvPicPr>
          <p:nvPr/>
        </p:nvPicPr>
        <p:blipFill>
          <a:blip r:embed="rId4"/>
          <a:stretch>
            <a:fillRect/>
          </a:stretch>
        </p:blipFill>
        <p:spPr>
          <a:xfrm>
            <a:off x="0" y="0"/>
            <a:ext cx="12191695" cy="6858000"/>
          </a:xfrm>
          <a:prstGeom prst="rect">
            <a:avLst/>
          </a:prstGeom>
        </p:spPr>
      </p:pic>
      <p:pic>
        <p:nvPicPr>
          <p:cNvPr id="4" name="anim-g2-313" descr="C:\Users\user\projects\younes-training\heritage\.pptx-cache\s43-2.jpg"/>
          <p:cNvPicPr>
            <a:picLocks noChangeAspect="1"/>
          </p:cNvPicPr>
          <p:nvPr/>
        </p:nvPicPr>
        <p:blipFill>
          <a:blip r:embed="rId5"/>
          <a:stretch>
            <a:fillRect/>
          </a:stretch>
        </p:blipFill>
        <p:spPr>
          <a:xfrm>
            <a:off x="0" y="0"/>
            <a:ext cx="12191695" cy="6858000"/>
          </a:xfrm>
          <a:prstGeom prst="rect">
            <a:avLst/>
          </a:prstGeom>
        </p:spPr>
      </p:pic>
      <p:pic>
        <p:nvPicPr>
          <p:cNvPr id="5" name="anim-g3-314" descr="C:\Users\user\projects\younes-training\heritage\.pptx-cache\s43-3.jpg"/>
          <p:cNvPicPr>
            <a:picLocks noChangeAspect="1"/>
          </p:cNvPicPr>
          <p:nvPr/>
        </p:nvPicPr>
        <p:blipFill>
          <a:blip r:embed="rId6"/>
          <a:stretch>
            <a:fillRect/>
          </a:stretch>
        </p:blipFill>
        <p:spPr>
          <a:xfrm>
            <a:off x="0" y="0"/>
            <a:ext cx="12191695" cy="6858000"/>
          </a:xfrm>
          <a:prstGeom prst="rect">
            <a:avLst/>
          </a:prstGeom>
        </p:spPr>
      </p:pic>
      <p:pic>
        <p:nvPicPr>
          <p:cNvPr id="6" name="anim-g4-315" descr="C:\Users\user\projects\younes-training\heritage\.pptx-cache\s43-4.jpg"/>
          <p:cNvPicPr>
            <a:picLocks noChangeAspect="1"/>
          </p:cNvPicPr>
          <p:nvPr/>
        </p:nvPicPr>
        <p:blipFill>
          <a:blip r:embed="rId7"/>
          <a:stretch>
            <a:fillRect/>
          </a:stretch>
        </p:blipFill>
        <p:spPr>
          <a:xfrm>
            <a:off x="0" y="0"/>
            <a:ext cx="12191695" cy="6858000"/>
          </a:xfrm>
          <a:prstGeom prst="rect">
            <a:avLst/>
          </a:prstGeom>
        </p:spPr>
      </p:pic>
      <p:pic>
        <p:nvPicPr>
          <p:cNvPr id="7" name="anim-g5-316" descr="C:\Users\user\projects\younes-training\heritage\.pptx-cache\s43-5.jpg"/>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Image 0" descr="C:\Users\user\projects\younes-training\heritage\.pptx-cache\s44-0.jpg"/>
          <p:cNvPicPr>
            <a:picLocks noChangeAspect="1"/>
          </p:cNvPicPr>
          <p:nvPr/>
        </p:nvPicPr>
        <p:blipFill>
          <a:blip r:embed="rId3"/>
          <a:stretch>
            <a:fillRect/>
          </a:stretch>
        </p:blipFill>
        <p:spPr>
          <a:xfrm>
            <a:off x="0" y="0"/>
            <a:ext cx="12191695" cy="6858000"/>
          </a:xfrm>
          <a:prstGeom prst="rect">
            <a:avLst/>
          </a:prstGeom>
        </p:spPr>
      </p:pic>
      <p:pic>
        <p:nvPicPr>
          <p:cNvPr id="3" name="anim-g1-317" descr="C:\Users\user\projects\younes-training\heritage\.pptx-cache\s44-1.jpg"/>
          <p:cNvPicPr>
            <a:picLocks noChangeAspect="1"/>
          </p:cNvPicPr>
          <p:nvPr/>
        </p:nvPicPr>
        <p:blipFill>
          <a:blip r:embed="rId4"/>
          <a:stretch>
            <a:fillRect/>
          </a:stretch>
        </p:blipFill>
        <p:spPr>
          <a:xfrm>
            <a:off x="0" y="0"/>
            <a:ext cx="12191695" cy="6858000"/>
          </a:xfrm>
          <a:prstGeom prst="rect">
            <a:avLst/>
          </a:prstGeom>
        </p:spPr>
      </p:pic>
      <p:pic>
        <p:nvPicPr>
          <p:cNvPr id="4" name="anim-g2-318" descr="C:\Users\user\projects\younes-training\heritage\.pptx-cache\s44-2.jpg"/>
          <p:cNvPicPr>
            <a:picLocks noChangeAspect="1"/>
          </p:cNvPicPr>
          <p:nvPr/>
        </p:nvPicPr>
        <p:blipFill>
          <a:blip r:embed="rId5"/>
          <a:stretch>
            <a:fillRect/>
          </a:stretch>
        </p:blipFill>
        <p:spPr>
          <a:xfrm>
            <a:off x="0" y="0"/>
            <a:ext cx="12191695" cy="6858000"/>
          </a:xfrm>
          <a:prstGeom prst="rect">
            <a:avLst/>
          </a:prstGeom>
        </p:spPr>
      </p:pic>
      <p:pic>
        <p:nvPicPr>
          <p:cNvPr id="5" name="anim-g3-319" descr="C:\Users\user\projects\younes-training\heritage\.pptx-cache\s44-3.jpg"/>
          <p:cNvPicPr>
            <a:picLocks noChangeAspect="1"/>
          </p:cNvPicPr>
          <p:nvPr/>
        </p:nvPicPr>
        <p:blipFill>
          <a:blip r:embed="rId6"/>
          <a:stretch>
            <a:fillRect/>
          </a:stretch>
        </p:blipFill>
        <p:spPr>
          <a:xfrm>
            <a:off x="0" y="0"/>
            <a:ext cx="12191695" cy="6858000"/>
          </a:xfrm>
          <a:prstGeom prst="rect">
            <a:avLst/>
          </a:prstGeom>
        </p:spPr>
      </p:pic>
      <p:pic>
        <p:nvPicPr>
          <p:cNvPr id="6" name="anim-g4-320" descr="C:\Users\user\projects\younes-training\heritage\.pptx-cache\s44-4.jpg"/>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اختبر نفسك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زر الإجابة «ب» يُضغط وحده كل بضع ثوانٍ. ما السبب الأرجح؟</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الزر تالف</a:t>
            </a:r>
            <a:endParaRPr lang="ar-SA" sz="2500" dirty="0"/>
          </a:p>
        </p:txBody>
      </p:sp>
      <p:sp>
        <p:nvSpPr>
          <p:cNvPr id="9" name="anim-g1-321"/>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322"/>
          <p:cNvSpPr/>
          <p:nvPr/>
        </p:nvSpPr>
        <p:spPr>
          <a:xfrm>
            <a:off x="10231831" y="2194560"/>
            <a:ext cx="954024" cy="954024"/>
          </a:xfrm>
          <a:prstGeom prst="roundRect">
            <a:avLst>
              <a:gd name="adj" fmla="val 11502"/>
            </a:avLst>
          </a:prstGeom>
          <a:solidFill>
            <a:srgbClr val="A3A9BA"/>
          </a:solidFill>
          <a:ln/>
        </p:spPr>
      </p:sp>
      <p:sp>
        <p:nvSpPr>
          <p:cNvPr id="11" name="anim-g1-323"/>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324"/>
          <p:cNvSpPr/>
          <p:nvPr/>
        </p:nvSpPr>
        <p:spPr>
          <a:xfrm>
            <a:off x="1097280" y="2093976"/>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الزر تالف</a:t>
            </a:r>
            <a:endParaRPr lang="ar-SA" sz="2400" dirty="0"/>
          </a:p>
        </p:txBody>
      </p:sp>
      <p:sp>
        <p:nvSpPr>
          <p:cNvPr id="13" name="anim-g1-325"/>
          <p:cNvSpPr/>
          <p:nvPr/>
        </p:nvSpPr>
        <p:spPr>
          <a:xfrm>
            <a:off x="1097280" y="2720706"/>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ممكن، لكن الأرجح الطرف نفسه</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الطرف 39 عائم: لا مقاومة سحب خارجية</a:t>
            </a:r>
            <a:endParaRPr lang="ar-SA" sz="2500" dirty="0"/>
          </a:p>
        </p:txBody>
      </p:sp>
      <p:sp>
        <p:nvSpPr>
          <p:cNvPr id="18" name="anim-g1-326"/>
          <p:cNvSpPr/>
          <p:nvPr/>
        </p:nvSpPr>
        <p:spPr>
          <a:xfrm>
            <a:off x="822960" y="3432048"/>
            <a:ext cx="10545775" cy="1228344"/>
          </a:xfrm>
          <a:prstGeom prst="roundRect">
            <a:avLst>
              <a:gd name="adj" fmla="val 11911"/>
            </a:avLst>
          </a:prstGeom>
          <a:solidFill>
            <a:srgbClr val="E6F4EC"/>
          </a:solidFill>
          <a:ln w="31750">
            <a:solidFill>
              <a:srgbClr val="2E9E6B"/>
            </a:solidFill>
            <a:prstDash val="solid"/>
          </a:ln>
        </p:spPr>
      </p:sp>
      <p:sp>
        <p:nvSpPr>
          <p:cNvPr id="19" name="anim-g1-327"/>
          <p:cNvSpPr/>
          <p:nvPr/>
        </p:nvSpPr>
        <p:spPr>
          <a:xfrm>
            <a:off x="10231831" y="3569208"/>
            <a:ext cx="954024" cy="954024"/>
          </a:xfrm>
          <a:prstGeom prst="roundRect">
            <a:avLst>
              <a:gd name="adj" fmla="val 11502"/>
            </a:avLst>
          </a:prstGeom>
          <a:solidFill>
            <a:srgbClr val="2E9E6B"/>
          </a:solidFill>
          <a:ln/>
        </p:spPr>
      </p:sp>
      <p:sp>
        <p:nvSpPr>
          <p:cNvPr id="20" name="anim-g1-328"/>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21" name="anim-g1-329"/>
          <p:cNvSpPr/>
          <p:nvPr/>
        </p:nvSpPr>
        <p:spPr>
          <a:xfrm>
            <a:off x="1097280" y="3468624"/>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131B34"/>
                </a:solidFill>
                <a:latin typeface="Cairo" pitchFamily="34" charset="0"/>
                <a:ea typeface="Cairo" pitchFamily="34" charset="-122"/>
                <a:cs typeface="Cairo" pitchFamily="34" charset="-120"/>
              </a:rPr>
              <a:t>الطرف 39 عائم: لا مقاومة سحب خارجية</a:t>
            </a:r>
            <a:endParaRPr lang="ar-SA" sz="2400" dirty="0"/>
          </a:p>
        </p:txBody>
      </p:sp>
      <p:sp>
        <p:nvSpPr>
          <p:cNvPr id="22" name="anim-g1-330"/>
          <p:cNvSpPr/>
          <p:nvPr/>
        </p:nvSpPr>
        <p:spPr>
          <a:xfrm>
            <a:off x="1097280" y="4095354"/>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1D5E40"/>
                </a:solidFill>
                <a:latin typeface="Cairo" pitchFamily="34" charset="0"/>
                <a:ea typeface="Cairo" pitchFamily="34" charset="-122"/>
                <a:cs typeface="Cairo" pitchFamily="34" charset="-120"/>
              </a:rPr>
              <a:t>صحيح: 36 و39 لا سحب داخلي فيهما</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الكود فيه حلقة لا نهائية</a:t>
            </a:r>
            <a:endParaRPr lang="ar-SA" sz="2500" dirty="0"/>
          </a:p>
        </p:txBody>
      </p:sp>
      <p:sp>
        <p:nvSpPr>
          <p:cNvPr id="27" name="anim-g1-331"/>
          <p:cNvSpPr/>
          <p:nvPr/>
        </p:nvSpPr>
        <p:spPr>
          <a:xfrm>
            <a:off x="822960" y="4806696"/>
            <a:ext cx="10545775" cy="1228344"/>
          </a:xfrm>
          <a:prstGeom prst="roundRect">
            <a:avLst>
              <a:gd name="adj" fmla="val 11911"/>
            </a:avLst>
          </a:prstGeom>
          <a:solidFill>
            <a:srgbClr val="F7F7F9"/>
          </a:solidFill>
          <a:ln w="19050">
            <a:solidFill>
              <a:srgbClr val="E4DCC8"/>
            </a:solidFill>
            <a:prstDash val="solid"/>
          </a:ln>
        </p:spPr>
      </p:sp>
      <p:sp>
        <p:nvSpPr>
          <p:cNvPr id="28" name="anim-g1-332"/>
          <p:cNvSpPr/>
          <p:nvPr/>
        </p:nvSpPr>
        <p:spPr>
          <a:xfrm>
            <a:off x="10231831" y="4943856"/>
            <a:ext cx="954024" cy="954024"/>
          </a:xfrm>
          <a:prstGeom prst="roundRect">
            <a:avLst>
              <a:gd name="adj" fmla="val 11502"/>
            </a:avLst>
          </a:prstGeom>
          <a:solidFill>
            <a:srgbClr val="A3A9BA"/>
          </a:solidFill>
          <a:ln/>
        </p:spPr>
      </p:sp>
      <p:sp>
        <p:nvSpPr>
          <p:cNvPr id="29" name="anim-g1-333"/>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30" name="anim-g1-334"/>
          <p:cNvSpPr/>
          <p:nvPr/>
        </p:nvSpPr>
        <p:spPr>
          <a:xfrm>
            <a:off x="1097280" y="4843272"/>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الكود فيه حلقة لا نهائية</a:t>
            </a:r>
            <a:endParaRPr lang="ar-SA" sz="2400" dirty="0"/>
          </a:p>
        </p:txBody>
      </p:sp>
      <p:sp>
        <p:nvSpPr>
          <p:cNvPr id="31" name="anim-g1-335"/>
          <p:cNvSpPr/>
          <p:nvPr/>
        </p:nvSpPr>
        <p:spPr>
          <a:xfrm>
            <a:off x="1097280" y="5470002"/>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الحلقة لا تضغط الأزرار</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صانع الذكريات التراثية</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٣. الأزرار + الاختيار  ·  ٤٥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خلاصة المحور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marL="0" indent="0" algn="ctr" rtl="1">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مقاومة صغيرة تُسكت الأشباح، وعشرون مللي ثانية تُهدّئ الارتداد: والآن يختار الطفل محطته بثقة</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صانع الذكريات التراثية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 ٣. الأزرار + الاختيار  ·  ٤٦</a:t>
            </a:r>
            <a:endParaRPr lang="ar-SA"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marL="0" indent="0" algn="ctr" rtl="1">
              <a:buNone/>
            </a:pPr>
            <a:r>
              <a:rPr lang="ar-SA" altLang="en-US" sz="12000" dirty="0">
                <a:solidFill>
                  <a:srgbClr val="F0CC7A"/>
                </a:solidFill>
                <a:latin typeface="Cairo Black" pitchFamily="34" charset="0"/>
                <a:ea typeface="Cairo Black" pitchFamily="34" charset="-122"/>
                <a:cs typeface="Cairo Black" pitchFamily="34" charset="-120"/>
              </a:rPr>
              <a:t>٥</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marL="0" indent="0" algn="r" rtl="1">
              <a:buNone/>
            </a:pPr>
            <a:r>
              <a:rPr lang="ar-SA" altLang="en-US" sz="2000" b="1" dirty="0">
                <a:solidFill>
                  <a:srgbClr val="D9AE4B"/>
                </a:solidFill>
                <a:latin typeface="Cairo" pitchFamily="34" charset="0"/>
                <a:ea typeface="Cairo" pitchFamily="34" charset="-122"/>
                <a:cs typeface="Cairo" pitchFamily="34" charset="-120"/>
              </a:rPr>
              <a:t>المحور ٥</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marL="0" indent="0" algn="r" rtl="1">
              <a:buNone/>
            </a:pPr>
            <a:r>
              <a:rPr lang="ar-SA" altLang="en-US" sz="5600" dirty="0">
                <a:solidFill>
                  <a:srgbClr val="FFFFFF"/>
                </a:solidFill>
                <a:latin typeface="Cairo Black" pitchFamily="34" charset="0"/>
                <a:ea typeface="Cairo Black" pitchFamily="34" charset="-122"/>
                <a:cs typeface="Cairo Black" pitchFamily="34" charset="-120"/>
              </a:rPr>
              <a:t>🎠 المكوّن الرابع: المنصة الدوّارة</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marL="0" indent="0" algn="r" rtl="1">
              <a:buNone/>
            </a:pPr>
            <a:r>
              <a:rPr lang="ar-SA" altLang="en-US" sz="2200" b="1" dirty="0">
                <a:solidFill>
                  <a:srgbClr val="C9CFE6"/>
                </a:solidFill>
                <a:latin typeface="Cairo" pitchFamily="34" charset="0"/>
                <a:ea typeface="Cairo" pitchFamily="34" charset="-122"/>
                <a:cs typeface="Cairo" pitchFamily="34" charset="-120"/>
              </a:rPr>
              <a:t>28BYJ-48 وULN2003… ثم تدور المنصة إلى ما اختاره الطفل</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صانع الذكريات التراثية</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 ٤. المنصة الدوّارة  ·  ٤٧</a:t>
            </a:r>
            <a:endParaRPr lang="ar-SA" sz="1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248095" y="457200"/>
            <a:ext cx="5120640" cy="457200"/>
          </a:xfrm>
          <a:prstGeom prst="roundRect">
            <a:avLst>
              <a:gd name="adj" fmla="val 50000"/>
            </a:avLst>
          </a:prstGeom>
          <a:solidFill>
            <a:srgbClr val="F6EBCF"/>
          </a:solidFill>
          <a:ln/>
        </p:spPr>
      </p:sp>
      <p:sp>
        <p:nvSpPr>
          <p:cNvPr id="3" name="Text 1"/>
          <p:cNvSpPr/>
          <p:nvPr/>
        </p:nvSpPr>
        <p:spPr>
          <a:xfrm>
            <a:off x="6248095" y="457200"/>
            <a:ext cx="512064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بنهاية هذا المحور تستطيع أن</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أهداف المحور</a:t>
            </a:r>
            <a:endParaRPr lang="ar-SA" sz="3800" dirty="0"/>
          </a:p>
        </p:txBody>
      </p:sp>
      <p:sp>
        <p:nvSpPr>
          <p:cNvPr id="5" name="anim-g1-336"/>
          <p:cNvSpPr/>
          <p:nvPr/>
        </p:nvSpPr>
        <p:spPr>
          <a:xfrm>
            <a:off x="822960" y="1920240"/>
            <a:ext cx="10545775" cy="946404"/>
          </a:xfrm>
          <a:prstGeom prst="roundRect">
            <a:avLst>
              <a:gd name="adj" fmla="val 15459"/>
            </a:avLst>
          </a:prstGeom>
          <a:solidFill>
            <a:srgbClr val="FFFFFF"/>
          </a:solidFill>
          <a:ln w="12700">
            <a:solidFill>
              <a:srgbClr val="E4DCC8"/>
            </a:solidFill>
            <a:prstDash val="solid"/>
          </a:ln>
        </p:spPr>
      </p:sp>
      <p:sp>
        <p:nvSpPr>
          <p:cNvPr id="6" name="anim-g1-337"/>
          <p:cNvSpPr/>
          <p:nvPr/>
        </p:nvSpPr>
        <p:spPr>
          <a:xfrm>
            <a:off x="10573207" y="2109978"/>
            <a:ext cx="566928" cy="566928"/>
          </a:xfrm>
          <a:prstGeom prst="ellipse">
            <a:avLst/>
          </a:prstGeom>
          <a:solidFill>
            <a:srgbClr val="D9AE4B"/>
          </a:solidFill>
          <a:ln/>
        </p:spPr>
      </p:sp>
      <p:sp>
        <p:nvSpPr>
          <p:cNvPr id="7" name="anim-g1-338"/>
          <p:cNvSpPr/>
          <p:nvPr/>
        </p:nvSpPr>
        <p:spPr>
          <a:xfrm>
            <a:off x="10573207" y="2109978"/>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339"/>
          <p:cNvSpPr/>
          <p:nvPr/>
        </p:nvSpPr>
        <p:spPr>
          <a:xfrm>
            <a:off x="1097280" y="1920240"/>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توصل المحرك بدرايفر ULN2003 وبمصدر 6V مستقل</a:t>
            </a:r>
            <a:endParaRPr lang="ar-SA" sz="2400" dirty="0"/>
          </a:p>
        </p:txBody>
      </p:sp>
      <p:sp>
        <p:nvSpPr>
          <p:cNvPr id="9" name="anim-g2-340"/>
          <p:cNvSpPr/>
          <p:nvPr/>
        </p:nvSpPr>
        <p:spPr>
          <a:xfrm>
            <a:off x="822960" y="2976372"/>
            <a:ext cx="10545775" cy="946404"/>
          </a:xfrm>
          <a:prstGeom prst="roundRect">
            <a:avLst>
              <a:gd name="adj" fmla="val 15459"/>
            </a:avLst>
          </a:prstGeom>
          <a:solidFill>
            <a:srgbClr val="FFFFFF"/>
          </a:solidFill>
          <a:ln w="12700">
            <a:solidFill>
              <a:srgbClr val="E4DCC8"/>
            </a:solidFill>
            <a:prstDash val="solid"/>
          </a:ln>
        </p:spPr>
      </p:sp>
      <p:sp>
        <p:nvSpPr>
          <p:cNvPr id="10" name="anim-g2-341"/>
          <p:cNvSpPr/>
          <p:nvPr/>
        </p:nvSpPr>
        <p:spPr>
          <a:xfrm>
            <a:off x="10573207" y="3166110"/>
            <a:ext cx="566928" cy="566928"/>
          </a:xfrm>
          <a:prstGeom prst="ellipse">
            <a:avLst/>
          </a:prstGeom>
          <a:solidFill>
            <a:srgbClr val="D9AE4B"/>
          </a:solidFill>
          <a:ln/>
        </p:spPr>
      </p:sp>
      <p:sp>
        <p:nvSpPr>
          <p:cNvPr id="11" name="anim-g2-342"/>
          <p:cNvSpPr/>
          <p:nvPr/>
        </p:nvSpPr>
        <p:spPr>
          <a:xfrm>
            <a:off x="10573207" y="3166110"/>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343"/>
          <p:cNvSpPr/>
          <p:nvPr/>
        </p:nvSpPr>
        <p:spPr>
          <a:xfrm>
            <a:off x="1097280" y="2976372"/>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تكتب ترتيب الأطراف الصحيح للمكتبة</a:t>
            </a:r>
            <a:endParaRPr lang="ar-SA" sz="2400" dirty="0"/>
          </a:p>
        </p:txBody>
      </p:sp>
      <p:sp>
        <p:nvSpPr>
          <p:cNvPr id="13" name="anim-g3-344"/>
          <p:cNvSpPr/>
          <p:nvPr/>
        </p:nvSpPr>
        <p:spPr>
          <a:xfrm>
            <a:off x="822960" y="4032504"/>
            <a:ext cx="10545775" cy="946404"/>
          </a:xfrm>
          <a:prstGeom prst="roundRect">
            <a:avLst>
              <a:gd name="adj" fmla="val 15459"/>
            </a:avLst>
          </a:prstGeom>
          <a:solidFill>
            <a:srgbClr val="FFFFFF"/>
          </a:solidFill>
          <a:ln w="12700">
            <a:solidFill>
              <a:srgbClr val="E4DCC8"/>
            </a:solidFill>
            <a:prstDash val="solid"/>
          </a:ln>
        </p:spPr>
      </p:sp>
      <p:sp>
        <p:nvSpPr>
          <p:cNvPr id="14" name="anim-g3-345"/>
          <p:cNvSpPr/>
          <p:nvPr/>
        </p:nvSpPr>
        <p:spPr>
          <a:xfrm>
            <a:off x="10573207" y="4222242"/>
            <a:ext cx="566928" cy="566928"/>
          </a:xfrm>
          <a:prstGeom prst="ellipse">
            <a:avLst/>
          </a:prstGeom>
          <a:solidFill>
            <a:srgbClr val="D9AE4B"/>
          </a:solidFill>
          <a:ln/>
        </p:spPr>
      </p:sp>
      <p:sp>
        <p:nvSpPr>
          <p:cNvPr id="15" name="anim-g3-346"/>
          <p:cNvSpPr/>
          <p:nvPr/>
        </p:nvSpPr>
        <p:spPr>
          <a:xfrm>
            <a:off x="10573207" y="4222242"/>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347"/>
          <p:cNvSpPr/>
          <p:nvPr/>
        </p:nvSpPr>
        <p:spPr>
          <a:xfrm>
            <a:off x="1097280" y="4032504"/>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تحسب الخطوات بين المحطات وتختار الطريق الأقصر</a:t>
            </a:r>
            <a:endParaRPr lang="ar-SA" sz="2400" dirty="0"/>
          </a:p>
        </p:txBody>
      </p:sp>
      <p:sp>
        <p:nvSpPr>
          <p:cNvPr id="17" name="anim-g4-348"/>
          <p:cNvSpPr/>
          <p:nvPr/>
        </p:nvSpPr>
        <p:spPr>
          <a:xfrm>
            <a:off x="822960" y="5088636"/>
            <a:ext cx="10545775" cy="946404"/>
          </a:xfrm>
          <a:prstGeom prst="roundRect">
            <a:avLst>
              <a:gd name="adj" fmla="val 15459"/>
            </a:avLst>
          </a:prstGeom>
          <a:solidFill>
            <a:srgbClr val="FFFFFF"/>
          </a:solidFill>
          <a:ln w="12700">
            <a:solidFill>
              <a:srgbClr val="E4DCC8"/>
            </a:solidFill>
            <a:prstDash val="solid"/>
          </a:ln>
        </p:spPr>
      </p:sp>
      <p:sp>
        <p:nvSpPr>
          <p:cNvPr id="18" name="anim-g4-349"/>
          <p:cNvSpPr/>
          <p:nvPr/>
        </p:nvSpPr>
        <p:spPr>
          <a:xfrm>
            <a:off x="10573207" y="5278374"/>
            <a:ext cx="566928" cy="566928"/>
          </a:xfrm>
          <a:prstGeom prst="ellipse">
            <a:avLst/>
          </a:prstGeom>
          <a:solidFill>
            <a:srgbClr val="D9AE4B"/>
          </a:solidFill>
          <a:ln/>
        </p:spPr>
      </p:sp>
      <p:sp>
        <p:nvSpPr>
          <p:cNvPr id="19" name="anim-g4-350"/>
          <p:cNvSpPr/>
          <p:nvPr/>
        </p:nvSpPr>
        <p:spPr>
          <a:xfrm>
            <a:off x="10573207" y="5278374"/>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351"/>
          <p:cNvSpPr/>
          <p:nvPr/>
        </p:nvSpPr>
        <p:spPr>
          <a:xfrm>
            <a:off x="1097280" y="5088636"/>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تدمج: الزر يدير المنصة والشاشة تعلن</a:t>
            </a:r>
            <a:endParaRPr lang="ar-SA" sz="2400" dirty="0"/>
          </a:p>
        </p:txBody>
      </p:sp>
      <p:sp>
        <p:nvSpPr>
          <p:cNvPr id="21" name="Text 19"/>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صانع الذكريات التراثية</a:t>
            </a:r>
            <a:endParaRPr lang="ar-SA" sz="1200" dirty="0"/>
          </a:p>
        </p:txBody>
      </p:sp>
      <p:sp>
        <p:nvSpPr>
          <p:cNvPr id="22" name="Text 20"/>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٤. المنصة الدوّارة  ·  ٤٨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لماذا محرك خطوي؟</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منصة تعرف أين هي</a:t>
            </a:r>
            <a:endParaRPr lang="ar-SA" sz="3800" dirty="0"/>
          </a:p>
        </p:txBody>
      </p:sp>
      <p:sp>
        <p:nvSpPr>
          <p:cNvPr id="5" name="anim-g1-352"/>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353"/>
          <p:cNvSpPr/>
          <p:nvPr/>
        </p:nvSpPr>
        <p:spPr>
          <a:xfrm>
            <a:off x="10527487" y="2267712"/>
            <a:ext cx="566928" cy="566928"/>
          </a:xfrm>
          <a:prstGeom prst="roundRect">
            <a:avLst>
              <a:gd name="adj" fmla="val 32258"/>
            </a:avLst>
          </a:prstGeom>
          <a:solidFill>
            <a:srgbClr val="F7E6BC"/>
          </a:solidFill>
          <a:ln/>
        </p:spPr>
      </p:sp>
      <p:sp>
        <p:nvSpPr>
          <p:cNvPr id="7" name="anim-g1-354"/>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355"/>
          <p:cNvSpPr/>
          <p:nvPr/>
        </p:nvSpPr>
        <p:spPr>
          <a:xfrm>
            <a:off x="8310677"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نحو ٢٠٤٨ خطوة للدورة</a:t>
            </a:r>
            <a:endParaRPr lang="ar-SA" sz="2200" dirty="0"/>
          </a:p>
        </p:txBody>
      </p:sp>
      <p:sp>
        <p:nvSpPr>
          <p:cNvPr id="9" name="anim-g1-356"/>
          <p:cNvSpPr/>
          <p:nvPr/>
        </p:nvSpPr>
        <p:spPr>
          <a:xfrm>
            <a:off x="8310677"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فالربع (محطة واحدة) نحو ٥١٢ خطوة نظريًا</a:t>
            </a:r>
            <a:endParaRPr lang="ar-SA" sz="1900" dirty="0"/>
          </a:p>
        </p:txBody>
      </p:sp>
      <p:sp>
        <p:nvSpPr>
          <p:cNvPr id="10" name="anim-g2-357"/>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358"/>
          <p:cNvSpPr/>
          <p:nvPr/>
        </p:nvSpPr>
        <p:spPr>
          <a:xfrm>
            <a:off x="6920789" y="2267712"/>
            <a:ext cx="566928" cy="566928"/>
          </a:xfrm>
          <a:prstGeom prst="roundRect">
            <a:avLst>
              <a:gd name="adj" fmla="val 32258"/>
            </a:avLst>
          </a:prstGeom>
          <a:solidFill>
            <a:srgbClr val="F7E6BC"/>
          </a:solidFill>
          <a:ln/>
        </p:spPr>
      </p:sp>
      <p:sp>
        <p:nvSpPr>
          <p:cNvPr id="12" name="anim-g2-359"/>
          <p:cNvSpPr/>
          <p:nvPr/>
        </p:nvSpPr>
        <p:spPr>
          <a:xfrm>
            <a:off x="6920789"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360"/>
          <p:cNvSpPr/>
          <p:nvPr/>
        </p:nvSpPr>
        <p:spPr>
          <a:xfrm>
            <a:off x="4703978"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بطيء وقوي</a:t>
            </a:r>
            <a:endParaRPr lang="ar-SA" sz="2200" dirty="0"/>
          </a:p>
        </p:txBody>
      </p:sp>
      <p:sp>
        <p:nvSpPr>
          <p:cNvPr id="14" name="anim-g2-361"/>
          <p:cNvSpPr/>
          <p:nvPr/>
        </p:nvSpPr>
        <p:spPr>
          <a:xfrm>
            <a:off x="4703978"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التروس الداخلية تعطيه قوة تحمل المجسمات</a:t>
            </a:r>
            <a:endParaRPr lang="ar-SA" sz="1900" dirty="0"/>
          </a:p>
        </p:txBody>
      </p:sp>
      <p:sp>
        <p:nvSpPr>
          <p:cNvPr id="15" name="anim-g3-362"/>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363"/>
          <p:cNvSpPr/>
          <p:nvPr/>
        </p:nvSpPr>
        <p:spPr>
          <a:xfrm>
            <a:off x="3314090" y="2267712"/>
            <a:ext cx="566928" cy="566928"/>
          </a:xfrm>
          <a:prstGeom prst="roundRect">
            <a:avLst>
              <a:gd name="adj" fmla="val 32258"/>
            </a:avLst>
          </a:prstGeom>
          <a:solidFill>
            <a:srgbClr val="F7E6BC"/>
          </a:solidFill>
          <a:ln/>
        </p:spPr>
      </p:sp>
      <p:sp>
        <p:nvSpPr>
          <p:cNvPr id="17" name="anim-g3-364"/>
          <p:cNvSpPr/>
          <p:nvPr/>
        </p:nvSpPr>
        <p:spPr>
          <a:xfrm>
            <a:off x="331409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365"/>
          <p:cNvSpPr/>
          <p:nvPr/>
        </p:nvSpPr>
        <p:spPr>
          <a:xfrm>
            <a:off x="1097280"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الخيمة نقطة البداية</a:t>
            </a:r>
            <a:endParaRPr lang="ar-SA" sz="2200" dirty="0"/>
          </a:p>
        </p:txBody>
      </p:sp>
      <p:sp>
        <p:nvSpPr>
          <p:cNvPr id="19" name="anim-g3-366"/>
          <p:cNvSpPr/>
          <p:nvPr/>
        </p:nvSpPr>
        <p:spPr>
          <a:xfrm>
            <a:off x="1097280"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نبدأ دائمًا منها، ونحسب كل شيء نسبةً إليها</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صانع الذكريات التراثية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٤. المنصة الدوّارة  ·  ٤٩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Image 0" descr="C:\Users\user\projects\younes-training\heritage\.pptx-cache\s50-0.jpg"/>
          <p:cNvPicPr>
            <a:picLocks noChangeAspect="1"/>
          </p:cNvPicPr>
          <p:nvPr/>
        </p:nvPicPr>
        <p:blipFill>
          <a:blip r:embed="rId3"/>
          <a:stretch>
            <a:fillRect/>
          </a:stretch>
        </p:blipFill>
        <p:spPr>
          <a:xfrm>
            <a:off x="0" y="0"/>
            <a:ext cx="12191695" cy="6858000"/>
          </a:xfrm>
          <a:prstGeom prst="rect">
            <a:avLst/>
          </a:prstGeom>
        </p:spPr>
      </p:pic>
      <p:pic>
        <p:nvPicPr>
          <p:cNvPr id="3" name="anim-g1-367" descr="C:\Users\user\projects\younes-training\heritage\.pptx-cache\s50-1.jpg"/>
          <p:cNvPicPr>
            <a:picLocks noChangeAspect="1"/>
          </p:cNvPicPr>
          <p:nvPr/>
        </p:nvPicPr>
        <p:blipFill>
          <a:blip r:embed="rId4"/>
          <a:stretch>
            <a:fillRect/>
          </a:stretch>
        </p:blipFill>
        <p:spPr>
          <a:xfrm>
            <a:off x="0" y="0"/>
            <a:ext cx="12191695" cy="6858000"/>
          </a:xfrm>
          <a:prstGeom prst="rect">
            <a:avLst/>
          </a:prstGeom>
        </p:spPr>
      </p:pic>
      <p:pic>
        <p:nvPicPr>
          <p:cNvPr id="4" name="anim-g2-368" descr="C:\Users\user\projects\younes-training\heritage\.pptx-cache\s50-2.jpg"/>
          <p:cNvPicPr>
            <a:picLocks noChangeAspect="1"/>
          </p:cNvPicPr>
          <p:nvPr/>
        </p:nvPicPr>
        <p:blipFill>
          <a:blip r:embed="rId5"/>
          <a:stretch>
            <a:fillRect/>
          </a:stretch>
        </p:blipFill>
        <p:spPr>
          <a:xfrm>
            <a:off x="0" y="0"/>
            <a:ext cx="12191695" cy="6858000"/>
          </a:xfrm>
          <a:prstGeom prst="rect">
            <a:avLst/>
          </a:prstGeom>
        </p:spPr>
      </p:pic>
      <p:pic>
        <p:nvPicPr>
          <p:cNvPr id="5" name="anim-g3-369" descr="C:\Users\user\projects\younes-training\heritage\.pptx-cache\s50-3.jpg"/>
          <p:cNvPicPr>
            <a:picLocks noChangeAspect="1"/>
          </p:cNvPicPr>
          <p:nvPr/>
        </p:nvPicPr>
        <p:blipFill>
          <a:blip r:embed="rId6"/>
          <a:stretch>
            <a:fillRect/>
          </a:stretch>
        </p:blipFill>
        <p:spPr>
          <a:xfrm>
            <a:off x="0" y="0"/>
            <a:ext cx="12191695" cy="6858000"/>
          </a:xfrm>
          <a:prstGeom prst="rect">
            <a:avLst/>
          </a:prstGeom>
        </p:spPr>
      </p:pic>
      <p:pic>
        <p:nvPicPr>
          <p:cNvPr id="6" name="anim-g4-370" descr="C:\Users\user\projects\younes-training\heritage\.pptx-cache\s50-4.jpg"/>
          <p:cNvPicPr>
            <a:picLocks noChangeAspect="1"/>
          </p:cNvPicPr>
          <p:nvPr/>
        </p:nvPicPr>
        <p:blipFill>
          <a:blip r:embed="rId7"/>
          <a:stretch>
            <a:fillRect/>
          </a:stretch>
        </p:blipFill>
        <p:spPr>
          <a:xfrm>
            <a:off x="0" y="0"/>
            <a:ext cx="12191695" cy="6858000"/>
          </a:xfrm>
          <a:prstGeom prst="rect">
            <a:avLst/>
          </a:prstGeom>
        </p:spPr>
      </p:pic>
      <p:pic>
        <p:nvPicPr>
          <p:cNvPr id="7" name="anim-g5-371" descr="C:\Users\user\projects\younes-training\heritage\.pptx-cache\s50-5.jpg"/>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Image 0" descr="C:\Users\user\projects\younes-training\heritage\.pptx-cache\s51-0.jpg"/>
          <p:cNvPicPr>
            <a:picLocks noChangeAspect="1"/>
          </p:cNvPicPr>
          <p:nvPr/>
        </p:nvPicPr>
        <p:blipFill>
          <a:blip r:embed="rId3"/>
          <a:stretch>
            <a:fillRect/>
          </a:stretch>
        </p:blipFill>
        <p:spPr>
          <a:xfrm>
            <a:off x="0" y="0"/>
            <a:ext cx="12191695" cy="6858000"/>
          </a:xfrm>
          <a:prstGeom prst="rect">
            <a:avLst/>
          </a:prstGeom>
        </p:spPr>
      </p:pic>
      <p:pic>
        <p:nvPicPr>
          <p:cNvPr id="3" name="anim-g1-372" descr="C:\Users\user\projects\younes-training\heritage\.pptx-cache\s51-1.jpg"/>
          <p:cNvPicPr>
            <a:picLocks noChangeAspect="1"/>
          </p:cNvPicPr>
          <p:nvPr/>
        </p:nvPicPr>
        <p:blipFill>
          <a:blip r:embed="rId4"/>
          <a:stretch>
            <a:fillRect/>
          </a:stretch>
        </p:blipFill>
        <p:spPr>
          <a:xfrm>
            <a:off x="0" y="0"/>
            <a:ext cx="12191695" cy="6858000"/>
          </a:xfrm>
          <a:prstGeom prst="rect">
            <a:avLst/>
          </a:prstGeom>
        </p:spPr>
      </p:pic>
      <p:pic>
        <p:nvPicPr>
          <p:cNvPr id="4" name="anim-g2-373" descr="C:\Users\user\projects\younes-training\heritage\.pptx-cache\s51-2.jpg"/>
          <p:cNvPicPr>
            <a:picLocks noChangeAspect="1"/>
          </p:cNvPicPr>
          <p:nvPr/>
        </p:nvPicPr>
        <p:blipFill>
          <a:blip r:embed="rId5"/>
          <a:stretch>
            <a:fillRect/>
          </a:stretch>
        </p:blipFill>
        <p:spPr>
          <a:xfrm>
            <a:off x="0" y="0"/>
            <a:ext cx="12191695" cy="6858000"/>
          </a:xfrm>
          <a:prstGeom prst="rect">
            <a:avLst/>
          </a:prstGeom>
        </p:spPr>
      </p:pic>
      <p:pic>
        <p:nvPicPr>
          <p:cNvPr id="5" name="anim-g3-374" descr="C:\Users\user\projects\younes-training\heritage\.pptx-cache\s51-3.jpg"/>
          <p:cNvPicPr>
            <a:picLocks noChangeAspect="1"/>
          </p:cNvPicPr>
          <p:nvPr/>
        </p:nvPicPr>
        <p:blipFill>
          <a:blip r:embed="rId6"/>
          <a:stretch>
            <a:fillRect/>
          </a:stretch>
        </p:blipFill>
        <p:spPr>
          <a:xfrm>
            <a:off x="0" y="0"/>
            <a:ext cx="12191695" cy="6858000"/>
          </a:xfrm>
          <a:prstGeom prst="rect">
            <a:avLst/>
          </a:prstGeom>
        </p:spPr>
      </p:pic>
      <p:pic>
        <p:nvPicPr>
          <p:cNvPr id="6" name="anim-g4-375" descr="C:\Users\user\projects\younes-training\heritage\.pptx-cache\s51-4.jpg"/>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Image 0" descr="C:\Users\user\projects\younes-training\heritage\.pptx-cache\s52.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Image 0" descr="C:\Users\user\projects\younes-training\heritage\.pptx-cache\s53-0.jpg"/>
          <p:cNvPicPr>
            <a:picLocks noChangeAspect="1"/>
          </p:cNvPicPr>
          <p:nvPr/>
        </p:nvPicPr>
        <p:blipFill>
          <a:blip r:embed="rId3"/>
          <a:stretch>
            <a:fillRect/>
          </a:stretch>
        </p:blipFill>
        <p:spPr>
          <a:xfrm>
            <a:off x="0" y="0"/>
            <a:ext cx="12191695" cy="6858000"/>
          </a:xfrm>
          <a:prstGeom prst="rect">
            <a:avLst/>
          </a:prstGeom>
        </p:spPr>
      </p:pic>
      <p:pic>
        <p:nvPicPr>
          <p:cNvPr id="3" name="anim-g1-376" descr="C:\Users\user\projects\younes-training\heritage\.pptx-cache\s53-1.jpg"/>
          <p:cNvPicPr>
            <a:picLocks noChangeAspect="1"/>
          </p:cNvPicPr>
          <p:nvPr/>
        </p:nvPicPr>
        <p:blipFill>
          <a:blip r:embed="rId4"/>
          <a:stretch>
            <a:fillRect/>
          </a:stretch>
        </p:blipFill>
        <p:spPr>
          <a:xfrm>
            <a:off x="0" y="0"/>
            <a:ext cx="12191695" cy="6858000"/>
          </a:xfrm>
          <a:prstGeom prst="rect">
            <a:avLst/>
          </a:prstGeom>
        </p:spPr>
      </p:pic>
      <p:pic>
        <p:nvPicPr>
          <p:cNvPr id="4" name="anim-g2-377" descr="C:\Users\user\projects\younes-training\heritage\.pptx-cache\s53-2.jpg"/>
          <p:cNvPicPr>
            <a:picLocks noChangeAspect="1"/>
          </p:cNvPicPr>
          <p:nvPr/>
        </p:nvPicPr>
        <p:blipFill>
          <a:blip r:embed="rId5"/>
          <a:stretch>
            <a:fillRect/>
          </a:stretch>
        </p:blipFill>
        <p:spPr>
          <a:xfrm>
            <a:off x="0" y="0"/>
            <a:ext cx="12191695" cy="6858000"/>
          </a:xfrm>
          <a:prstGeom prst="rect">
            <a:avLst/>
          </a:prstGeom>
        </p:spPr>
      </p:pic>
      <p:pic>
        <p:nvPicPr>
          <p:cNvPr id="5" name="anim-g3-378" descr="C:\Users\user\projects\younes-training\heritage\.pptx-cache\s53-3.jpg"/>
          <p:cNvPicPr>
            <a:picLocks noChangeAspect="1"/>
          </p:cNvPicPr>
          <p:nvPr/>
        </p:nvPicPr>
        <p:blipFill>
          <a:blip r:embed="rId6"/>
          <a:stretch>
            <a:fillRect/>
          </a:stretch>
        </p:blipFill>
        <p:spPr>
          <a:xfrm>
            <a:off x="0" y="0"/>
            <a:ext cx="12191695" cy="6858000"/>
          </a:xfrm>
          <a:prstGeom prst="rect">
            <a:avLst/>
          </a:prstGeom>
        </p:spPr>
      </p:pic>
      <p:pic>
        <p:nvPicPr>
          <p:cNvPr id="6" name="anim-g4-379" descr="C:\Users\user\projects\younes-training\heritage\.pptx-cache\s53-4.jpg"/>
          <p:cNvPicPr>
            <a:picLocks noChangeAspect="1"/>
          </p:cNvPicPr>
          <p:nvPr/>
        </p:nvPicPr>
        <p:blipFill>
          <a:blip r:embed="rId7"/>
          <a:stretch>
            <a:fillRect/>
          </a:stretch>
        </p:blipFill>
        <p:spPr>
          <a:xfrm>
            <a:off x="0" y="0"/>
            <a:ext cx="12191695" cy="6858000"/>
          </a:xfrm>
          <a:prstGeom prst="rect">
            <a:avLst/>
          </a:prstGeom>
        </p:spPr>
      </p:pic>
      <p:pic>
        <p:nvPicPr>
          <p:cNvPr id="7" name="anim-g5-380" descr="C:\Users\user\projects\younes-training\heritage\.pptx-cache\s53-5.jpg"/>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Image 0" descr="C:\Users\user\projects\younes-training\heritage\.pptx-cache\s54-0.jpg"/>
          <p:cNvPicPr>
            <a:picLocks noChangeAspect="1"/>
          </p:cNvPicPr>
          <p:nvPr/>
        </p:nvPicPr>
        <p:blipFill>
          <a:blip r:embed="rId3"/>
          <a:stretch>
            <a:fillRect/>
          </a:stretch>
        </p:blipFill>
        <p:spPr>
          <a:xfrm>
            <a:off x="0" y="0"/>
            <a:ext cx="12191695" cy="6858000"/>
          </a:xfrm>
          <a:prstGeom prst="rect">
            <a:avLst/>
          </a:prstGeom>
        </p:spPr>
      </p:pic>
      <p:pic>
        <p:nvPicPr>
          <p:cNvPr id="3" name="anim-g1-381" descr="C:\Users\user\projects\younes-training\heritage\.pptx-cache\s54-1.jpg"/>
          <p:cNvPicPr>
            <a:picLocks noChangeAspect="1"/>
          </p:cNvPicPr>
          <p:nvPr/>
        </p:nvPicPr>
        <p:blipFill>
          <a:blip r:embed="rId4"/>
          <a:stretch>
            <a:fillRect/>
          </a:stretch>
        </p:blipFill>
        <p:spPr>
          <a:xfrm>
            <a:off x="0" y="0"/>
            <a:ext cx="12191695" cy="6858000"/>
          </a:xfrm>
          <a:prstGeom prst="rect">
            <a:avLst/>
          </a:prstGeom>
        </p:spPr>
      </p:pic>
      <p:pic>
        <p:nvPicPr>
          <p:cNvPr id="4" name="anim-g2-382" descr="C:\Users\user\projects\younes-training\heritage\.pptx-cache\s54-2.jpg"/>
          <p:cNvPicPr>
            <a:picLocks noChangeAspect="1"/>
          </p:cNvPicPr>
          <p:nvPr/>
        </p:nvPicPr>
        <p:blipFill>
          <a:blip r:embed="rId5"/>
          <a:stretch>
            <a:fillRect/>
          </a:stretch>
        </p:blipFill>
        <p:spPr>
          <a:xfrm>
            <a:off x="0" y="0"/>
            <a:ext cx="12191695" cy="6858000"/>
          </a:xfrm>
          <a:prstGeom prst="rect">
            <a:avLst/>
          </a:prstGeom>
        </p:spPr>
      </p:pic>
      <p:pic>
        <p:nvPicPr>
          <p:cNvPr id="5" name="anim-g3-383" descr="C:\Users\user\projects\younes-training\heritage\.pptx-cache\s54-3.jpg"/>
          <p:cNvPicPr>
            <a:picLocks noChangeAspect="1"/>
          </p:cNvPicPr>
          <p:nvPr/>
        </p:nvPicPr>
        <p:blipFill>
          <a:blip r:embed="rId6"/>
          <a:stretch>
            <a:fillRect/>
          </a:stretch>
        </p:blipFill>
        <p:spPr>
          <a:xfrm>
            <a:off x="0" y="0"/>
            <a:ext cx="12191695" cy="6858000"/>
          </a:xfrm>
          <a:prstGeom prst="rect">
            <a:avLst/>
          </a:prstGeom>
        </p:spPr>
      </p:pic>
      <p:pic>
        <p:nvPicPr>
          <p:cNvPr id="6" name="anim-g4-384" descr="C:\Users\user\projects\younes-training\heritage\.pptx-cache\s54-4.jpg"/>
          <p:cNvPicPr>
            <a:picLocks noChangeAspect="1"/>
          </p:cNvPicPr>
          <p:nvPr/>
        </p:nvPicPr>
        <p:blipFill>
          <a:blip r:embed="rId7"/>
          <a:stretch>
            <a:fillRect/>
          </a:stretch>
        </p:blipFill>
        <p:spPr>
          <a:xfrm>
            <a:off x="0" y="0"/>
            <a:ext cx="12191695" cy="6858000"/>
          </a:xfrm>
          <a:prstGeom prst="rect">
            <a:avLst/>
          </a:prstGeom>
        </p:spPr>
      </p:pic>
      <p:pic>
        <p:nvPicPr>
          <p:cNvPr id="7" name="anim-g5-385" descr="C:\Users\user\projects\younes-training\heritage\.pptx-cache\s54-5.jpg"/>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Image 0" descr="C:\Users\user\projects\younes-training\heritage\.pptx-cache\s55-0.jpg"/>
          <p:cNvPicPr>
            <a:picLocks noChangeAspect="1"/>
          </p:cNvPicPr>
          <p:nvPr/>
        </p:nvPicPr>
        <p:blipFill>
          <a:blip r:embed="rId3"/>
          <a:stretch>
            <a:fillRect/>
          </a:stretch>
        </p:blipFill>
        <p:spPr>
          <a:xfrm>
            <a:off x="0" y="0"/>
            <a:ext cx="12191695" cy="6858000"/>
          </a:xfrm>
          <a:prstGeom prst="rect">
            <a:avLst/>
          </a:prstGeom>
        </p:spPr>
      </p:pic>
      <p:pic>
        <p:nvPicPr>
          <p:cNvPr id="3" name="anim-g1-386" descr="C:\Users\user\projects\younes-training\heritage\.pptx-cache\s55-1.jpg"/>
          <p:cNvPicPr>
            <a:picLocks noChangeAspect="1"/>
          </p:cNvPicPr>
          <p:nvPr/>
        </p:nvPicPr>
        <p:blipFill>
          <a:blip r:embed="rId4"/>
          <a:stretch>
            <a:fillRect/>
          </a:stretch>
        </p:blipFill>
        <p:spPr>
          <a:xfrm>
            <a:off x="0" y="0"/>
            <a:ext cx="12191695" cy="6858000"/>
          </a:xfrm>
          <a:prstGeom prst="rect">
            <a:avLst/>
          </a:prstGeom>
        </p:spPr>
      </p:pic>
      <p:pic>
        <p:nvPicPr>
          <p:cNvPr id="4" name="anim-g2-387" descr="C:\Users\user\projects\younes-training\heritage\.pptx-cache\s55-2.jpg"/>
          <p:cNvPicPr>
            <a:picLocks noChangeAspect="1"/>
          </p:cNvPicPr>
          <p:nvPr/>
        </p:nvPicPr>
        <p:blipFill>
          <a:blip r:embed="rId5"/>
          <a:stretch>
            <a:fillRect/>
          </a:stretch>
        </p:blipFill>
        <p:spPr>
          <a:xfrm>
            <a:off x="0" y="0"/>
            <a:ext cx="12191695" cy="6858000"/>
          </a:xfrm>
          <a:prstGeom prst="rect">
            <a:avLst/>
          </a:prstGeom>
        </p:spPr>
      </p:pic>
      <p:pic>
        <p:nvPicPr>
          <p:cNvPr id="5" name="anim-g3-388" descr="C:\Users\user\projects\younes-training\heritage\.pptx-cache\s55-3.jpg"/>
          <p:cNvPicPr>
            <a:picLocks noChangeAspect="1"/>
          </p:cNvPicPr>
          <p:nvPr/>
        </p:nvPicPr>
        <p:blipFill>
          <a:blip r:embed="rId6"/>
          <a:stretch>
            <a:fillRect/>
          </a:stretch>
        </p:blipFill>
        <p:spPr>
          <a:xfrm>
            <a:off x="0" y="0"/>
            <a:ext cx="12191695" cy="6858000"/>
          </a:xfrm>
          <a:prstGeom prst="rect">
            <a:avLst/>
          </a:prstGeom>
        </p:spPr>
      </p:pic>
      <p:pic>
        <p:nvPicPr>
          <p:cNvPr id="6" name="anim-g4-389" descr="C:\Users\user\projects\younes-training\heritage\.pptx-cache\s55-4.jpg"/>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خلاصة المحور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marL="0" indent="0" algn="ctr">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يضغط الطفل الأحمر…</a:t>
            </a:r>
            <a:endParaRPr lang="ar-SA" sz="4400" dirty="0"/>
          </a:p>
          <a:p>
            <a:pPr marL="0" indent="0" algn="ctr">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فتدور الخيمة إليه: أربعة مكونات، كل منها اختُبر وحده، تعمل الآن معًا</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صانع الذكريات التراثية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 ٤. المنصة الدوّارة  ·  ٥٦</a:t>
            </a:r>
            <a:endParaRPr lang="ar-SA" sz="12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marL="0" indent="0" algn="ctr" rtl="1">
              <a:buNone/>
            </a:pPr>
            <a:r>
              <a:rPr lang="ar-SA" altLang="en-US" sz="12000" dirty="0">
                <a:solidFill>
                  <a:srgbClr val="F0CC7A"/>
                </a:solidFill>
                <a:latin typeface="Cairo Black" pitchFamily="34" charset="0"/>
                <a:ea typeface="Cairo Black" pitchFamily="34" charset="-122"/>
                <a:cs typeface="Cairo Black" pitchFamily="34" charset="-120"/>
              </a:rPr>
              <a:t>٦</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marL="0" indent="0" algn="r" rtl="1">
              <a:buNone/>
            </a:pPr>
            <a:r>
              <a:rPr lang="ar-SA" altLang="en-US" sz="2000" b="1" dirty="0">
                <a:solidFill>
                  <a:srgbClr val="D9AE4B"/>
                </a:solidFill>
                <a:latin typeface="Cairo" pitchFamily="34" charset="0"/>
                <a:ea typeface="Cairo" pitchFamily="34" charset="-122"/>
                <a:cs typeface="Cairo" pitchFamily="34" charset="-120"/>
              </a:rPr>
              <a:t>المحور ٦</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marL="0" indent="0" algn="r" rtl="1">
              <a:buNone/>
            </a:pPr>
            <a:r>
              <a:rPr lang="ar-SA" altLang="en-US" sz="5600" dirty="0">
                <a:solidFill>
                  <a:srgbClr val="FFFFFF"/>
                </a:solidFill>
                <a:latin typeface="Cairo Black" pitchFamily="34" charset="0"/>
                <a:ea typeface="Cairo Black" pitchFamily="34" charset="-122"/>
                <a:cs typeface="Cairo Black" pitchFamily="34" charset="-120"/>
              </a:rPr>
              <a:t>📏 المعايرة: الرقم يأتي من القياس</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marL="0" indent="0" algn="r" rtl="1">
              <a:buNone/>
            </a:pPr>
            <a:r>
              <a:rPr lang="ar-SA" altLang="en-US" sz="2200" b="1" dirty="0">
                <a:solidFill>
                  <a:srgbClr val="C9CFE6"/>
                </a:solidFill>
                <a:latin typeface="Cairo" pitchFamily="34" charset="0"/>
                <a:ea typeface="Cairo" pitchFamily="34" charset="-122"/>
                <a:cs typeface="Cairo" pitchFamily="34" charset="-120"/>
              </a:rPr>
              <a:t>عشر محاولات لكل محطة… وعامل واحد في كل مرة</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صانع الذكريات التراثية</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 المعايرة  ·  ٥٧</a:t>
            </a:r>
            <a:endParaRPr lang="ar-SA" sz="12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248095" y="457200"/>
            <a:ext cx="5120640" cy="457200"/>
          </a:xfrm>
          <a:prstGeom prst="roundRect">
            <a:avLst>
              <a:gd name="adj" fmla="val 50000"/>
            </a:avLst>
          </a:prstGeom>
          <a:solidFill>
            <a:srgbClr val="F6EBCF"/>
          </a:solidFill>
          <a:ln/>
        </p:spPr>
      </p:sp>
      <p:sp>
        <p:nvSpPr>
          <p:cNvPr id="3" name="Text 1"/>
          <p:cNvSpPr/>
          <p:nvPr/>
        </p:nvSpPr>
        <p:spPr>
          <a:xfrm>
            <a:off x="6248095" y="457200"/>
            <a:ext cx="512064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بنهاية هذا المحور تستطيع أن</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أهداف المحور</a:t>
            </a:r>
            <a:endParaRPr lang="ar-SA" sz="3800" dirty="0"/>
          </a:p>
        </p:txBody>
      </p:sp>
      <p:sp>
        <p:nvSpPr>
          <p:cNvPr id="5" name="anim-g1-390"/>
          <p:cNvSpPr/>
          <p:nvPr/>
        </p:nvSpPr>
        <p:spPr>
          <a:xfrm>
            <a:off x="822960" y="1920240"/>
            <a:ext cx="10545775" cy="946404"/>
          </a:xfrm>
          <a:prstGeom prst="roundRect">
            <a:avLst>
              <a:gd name="adj" fmla="val 15459"/>
            </a:avLst>
          </a:prstGeom>
          <a:solidFill>
            <a:srgbClr val="FFFFFF"/>
          </a:solidFill>
          <a:ln w="12700">
            <a:solidFill>
              <a:srgbClr val="E4DCC8"/>
            </a:solidFill>
            <a:prstDash val="solid"/>
          </a:ln>
        </p:spPr>
      </p:sp>
      <p:sp>
        <p:nvSpPr>
          <p:cNvPr id="6" name="anim-g1-391"/>
          <p:cNvSpPr/>
          <p:nvPr/>
        </p:nvSpPr>
        <p:spPr>
          <a:xfrm>
            <a:off x="10573207" y="2109978"/>
            <a:ext cx="566928" cy="566928"/>
          </a:xfrm>
          <a:prstGeom prst="ellipse">
            <a:avLst/>
          </a:prstGeom>
          <a:solidFill>
            <a:srgbClr val="D9AE4B"/>
          </a:solidFill>
          <a:ln/>
        </p:spPr>
      </p:sp>
      <p:sp>
        <p:nvSpPr>
          <p:cNvPr id="7" name="anim-g1-392"/>
          <p:cNvSpPr/>
          <p:nvPr/>
        </p:nvSpPr>
        <p:spPr>
          <a:xfrm>
            <a:off x="10573207" y="2109978"/>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393"/>
          <p:cNvSpPr/>
          <p:nvPr/>
        </p:nvSpPr>
        <p:spPr>
          <a:xfrm>
            <a:off x="1097280" y="1920240"/>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تفسّر لماذا تختلف الخطوات الفعلية عن النظرية</a:t>
            </a:r>
            <a:endParaRPr lang="ar-SA" sz="2400" dirty="0"/>
          </a:p>
        </p:txBody>
      </p:sp>
      <p:sp>
        <p:nvSpPr>
          <p:cNvPr id="9" name="anim-g2-394"/>
          <p:cNvSpPr/>
          <p:nvPr/>
        </p:nvSpPr>
        <p:spPr>
          <a:xfrm>
            <a:off x="822960" y="2976372"/>
            <a:ext cx="10545775" cy="946404"/>
          </a:xfrm>
          <a:prstGeom prst="roundRect">
            <a:avLst>
              <a:gd name="adj" fmla="val 15459"/>
            </a:avLst>
          </a:prstGeom>
          <a:solidFill>
            <a:srgbClr val="FFFFFF"/>
          </a:solidFill>
          <a:ln w="12700">
            <a:solidFill>
              <a:srgbClr val="E4DCC8"/>
            </a:solidFill>
            <a:prstDash val="solid"/>
          </a:ln>
        </p:spPr>
      </p:sp>
      <p:sp>
        <p:nvSpPr>
          <p:cNvPr id="10" name="anim-g2-395"/>
          <p:cNvSpPr/>
          <p:nvPr/>
        </p:nvSpPr>
        <p:spPr>
          <a:xfrm>
            <a:off x="10573207" y="3166110"/>
            <a:ext cx="566928" cy="566928"/>
          </a:xfrm>
          <a:prstGeom prst="ellipse">
            <a:avLst/>
          </a:prstGeom>
          <a:solidFill>
            <a:srgbClr val="D9AE4B"/>
          </a:solidFill>
          <a:ln/>
        </p:spPr>
      </p:sp>
      <p:sp>
        <p:nvSpPr>
          <p:cNvPr id="11" name="anim-g2-396"/>
          <p:cNvSpPr/>
          <p:nvPr/>
        </p:nvSpPr>
        <p:spPr>
          <a:xfrm>
            <a:off x="10573207" y="3166110"/>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397"/>
          <p:cNvSpPr/>
          <p:nvPr/>
        </p:nvSpPr>
        <p:spPr>
          <a:xfrm>
            <a:off x="1097280" y="2976372"/>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تنفذ خطة اختبار بعشر محاولات لكل محطة</a:t>
            </a:r>
            <a:endParaRPr lang="ar-SA" sz="2400" dirty="0"/>
          </a:p>
        </p:txBody>
      </p:sp>
      <p:sp>
        <p:nvSpPr>
          <p:cNvPr id="13" name="anim-g3-398"/>
          <p:cNvSpPr/>
          <p:nvPr/>
        </p:nvSpPr>
        <p:spPr>
          <a:xfrm>
            <a:off x="822960" y="4032504"/>
            <a:ext cx="10545775" cy="946404"/>
          </a:xfrm>
          <a:prstGeom prst="roundRect">
            <a:avLst>
              <a:gd name="adj" fmla="val 15459"/>
            </a:avLst>
          </a:prstGeom>
          <a:solidFill>
            <a:srgbClr val="FFFFFF"/>
          </a:solidFill>
          <a:ln w="12700">
            <a:solidFill>
              <a:srgbClr val="E4DCC8"/>
            </a:solidFill>
            <a:prstDash val="solid"/>
          </a:ln>
        </p:spPr>
      </p:sp>
      <p:sp>
        <p:nvSpPr>
          <p:cNvPr id="14" name="anim-g3-399"/>
          <p:cNvSpPr/>
          <p:nvPr/>
        </p:nvSpPr>
        <p:spPr>
          <a:xfrm>
            <a:off x="10573207" y="4222242"/>
            <a:ext cx="566928" cy="566928"/>
          </a:xfrm>
          <a:prstGeom prst="ellipse">
            <a:avLst/>
          </a:prstGeom>
          <a:solidFill>
            <a:srgbClr val="D9AE4B"/>
          </a:solidFill>
          <a:ln/>
        </p:spPr>
      </p:sp>
      <p:sp>
        <p:nvSpPr>
          <p:cNvPr id="15" name="anim-g3-400"/>
          <p:cNvSpPr/>
          <p:nvPr/>
        </p:nvSpPr>
        <p:spPr>
          <a:xfrm>
            <a:off x="10573207" y="4222242"/>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401"/>
          <p:cNvSpPr/>
          <p:nvPr/>
        </p:nvSpPr>
        <p:spPr>
          <a:xfrm>
            <a:off x="1097280" y="4032504"/>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تغيّر عاملًا واحدًا فقط في كل اختبار</a:t>
            </a:r>
            <a:endParaRPr lang="ar-SA" sz="2400" dirty="0"/>
          </a:p>
        </p:txBody>
      </p:sp>
      <p:sp>
        <p:nvSpPr>
          <p:cNvPr id="17" name="anim-g4-402"/>
          <p:cNvSpPr/>
          <p:nvPr/>
        </p:nvSpPr>
        <p:spPr>
          <a:xfrm>
            <a:off x="822960" y="5088636"/>
            <a:ext cx="10545775" cy="946404"/>
          </a:xfrm>
          <a:prstGeom prst="roundRect">
            <a:avLst>
              <a:gd name="adj" fmla="val 15459"/>
            </a:avLst>
          </a:prstGeom>
          <a:solidFill>
            <a:srgbClr val="FFFFFF"/>
          </a:solidFill>
          <a:ln w="12700">
            <a:solidFill>
              <a:srgbClr val="E4DCC8"/>
            </a:solidFill>
            <a:prstDash val="solid"/>
          </a:ln>
        </p:spPr>
      </p:sp>
      <p:sp>
        <p:nvSpPr>
          <p:cNvPr id="18" name="anim-g4-403"/>
          <p:cNvSpPr/>
          <p:nvPr/>
        </p:nvSpPr>
        <p:spPr>
          <a:xfrm>
            <a:off x="10573207" y="5278374"/>
            <a:ext cx="566928" cy="566928"/>
          </a:xfrm>
          <a:prstGeom prst="ellipse">
            <a:avLst/>
          </a:prstGeom>
          <a:solidFill>
            <a:srgbClr val="D9AE4B"/>
          </a:solidFill>
          <a:ln/>
        </p:spPr>
      </p:sp>
      <p:sp>
        <p:nvSpPr>
          <p:cNvPr id="19" name="anim-g4-404"/>
          <p:cNvSpPr/>
          <p:nvPr/>
        </p:nvSpPr>
        <p:spPr>
          <a:xfrm>
            <a:off x="10573207" y="5278374"/>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405"/>
          <p:cNvSpPr/>
          <p:nvPr/>
        </p:nvSpPr>
        <p:spPr>
          <a:xfrm>
            <a:off x="1097280" y="5088636"/>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تسجّل القيمة النهائية في الكود بدليل</a:t>
            </a:r>
            <a:endParaRPr lang="ar-SA" sz="2400" dirty="0"/>
          </a:p>
        </p:txBody>
      </p:sp>
      <p:sp>
        <p:nvSpPr>
          <p:cNvPr id="21" name="Text 19"/>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صانع الذكريات التراثية</a:t>
            </a:r>
            <a:endParaRPr lang="ar-SA" sz="1200" dirty="0"/>
          </a:p>
        </p:txBody>
      </p:sp>
      <p:sp>
        <p:nvSpPr>
          <p:cNvPr id="22" name="Text 20"/>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المعايرة  ·  ٥٨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027871" y="457200"/>
            <a:ext cx="2340864" cy="457200"/>
          </a:xfrm>
          <a:prstGeom prst="roundRect">
            <a:avLst>
              <a:gd name="adj" fmla="val 50000"/>
            </a:avLst>
          </a:prstGeom>
          <a:solidFill>
            <a:srgbClr val="F6EBCF"/>
          </a:solidFill>
          <a:ln/>
        </p:spPr>
      </p:sp>
      <p:sp>
        <p:nvSpPr>
          <p:cNvPr id="3" name="Text 1"/>
          <p:cNvSpPr/>
          <p:nvPr/>
        </p:nvSpPr>
        <p:spPr>
          <a:xfrm>
            <a:off x="9027871" y="457200"/>
            <a:ext cx="2340864"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لماذا يخطئ؟</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ثلاثة أسباب تبعد المنصة عن المحطة</a:t>
            </a:r>
            <a:endParaRPr lang="ar-SA" sz="3200" dirty="0"/>
          </a:p>
        </p:txBody>
      </p:sp>
      <p:sp>
        <p:nvSpPr>
          <p:cNvPr id="5" name="anim-g1-406"/>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407"/>
          <p:cNvSpPr/>
          <p:nvPr/>
        </p:nvSpPr>
        <p:spPr>
          <a:xfrm>
            <a:off x="10527487" y="2267712"/>
            <a:ext cx="566928" cy="566928"/>
          </a:xfrm>
          <a:prstGeom prst="roundRect">
            <a:avLst>
              <a:gd name="adj" fmla="val 32258"/>
            </a:avLst>
          </a:prstGeom>
          <a:solidFill>
            <a:srgbClr val="F7E6BC"/>
          </a:solidFill>
          <a:ln/>
        </p:spPr>
      </p:sp>
      <p:sp>
        <p:nvSpPr>
          <p:cNvPr id="7" name="anim-g1-408"/>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409"/>
          <p:cNvSpPr/>
          <p:nvPr/>
        </p:nvSpPr>
        <p:spPr>
          <a:xfrm>
            <a:off x="8310677"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نسبة التروس</a:t>
            </a:r>
            <a:endParaRPr lang="ar-SA" sz="2200" dirty="0"/>
          </a:p>
        </p:txBody>
      </p:sp>
      <p:sp>
        <p:nvSpPr>
          <p:cNvPr id="9" name="anim-g1-410"/>
          <p:cNvSpPr/>
          <p:nvPr/>
        </p:nvSpPr>
        <p:spPr>
          <a:xfrm>
            <a:off x="8310677"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الحقيقية نحو ١:٦٣٫٧ لا ١:٦٤: الدورة نحو ٢٠٣٨ خطوة لا ٢٠٤٨</a:t>
            </a:r>
            <a:endParaRPr lang="ar-SA" sz="1900" dirty="0"/>
          </a:p>
        </p:txBody>
      </p:sp>
      <p:sp>
        <p:nvSpPr>
          <p:cNvPr id="10" name="anim-g2-411"/>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412"/>
          <p:cNvSpPr/>
          <p:nvPr/>
        </p:nvSpPr>
        <p:spPr>
          <a:xfrm>
            <a:off x="6920789" y="2267712"/>
            <a:ext cx="566928" cy="566928"/>
          </a:xfrm>
          <a:prstGeom prst="roundRect">
            <a:avLst>
              <a:gd name="adj" fmla="val 32258"/>
            </a:avLst>
          </a:prstGeom>
          <a:solidFill>
            <a:srgbClr val="F7E6BC"/>
          </a:solidFill>
          <a:ln/>
        </p:spPr>
      </p:sp>
      <p:sp>
        <p:nvSpPr>
          <p:cNvPr id="12" name="anim-g2-413"/>
          <p:cNvSpPr/>
          <p:nvPr/>
        </p:nvSpPr>
        <p:spPr>
          <a:xfrm>
            <a:off x="6920789"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414"/>
          <p:cNvSpPr/>
          <p:nvPr/>
        </p:nvSpPr>
        <p:spPr>
          <a:xfrm>
            <a:off x="4703978"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الحمل والاحتكاك</a:t>
            </a:r>
            <a:endParaRPr lang="ar-SA" sz="2200" dirty="0"/>
          </a:p>
        </p:txBody>
      </p:sp>
      <p:sp>
        <p:nvSpPr>
          <p:cNvPr id="14" name="anim-g2-415"/>
          <p:cNvSpPr/>
          <p:nvPr/>
        </p:nvSpPr>
        <p:spPr>
          <a:xfrm>
            <a:off x="4703978"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المجسمات تثقل المنصة فتضيع خطوات، خاصة بالسرعة العالية</a:t>
            </a:r>
            <a:endParaRPr lang="ar-SA" sz="1900" dirty="0"/>
          </a:p>
        </p:txBody>
      </p:sp>
      <p:sp>
        <p:nvSpPr>
          <p:cNvPr id="15" name="anim-g3-416"/>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417"/>
          <p:cNvSpPr/>
          <p:nvPr/>
        </p:nvSpPr>
        <p:spPr>
          <a:xfrm>
            <a:off x="3314090" y="2267712"/>
            <a:ext cx="566928" cy="566928"/>
          </a:xfrm>
          <a:prstGeom prst="roundRect">
            <a:avLst>
              <a:gd name="adj" fmla="val 32258"/>
            </a:avLst>
          </a:prstGeom>
          <a:solidFill>
            <a:srgbClr val="F7E6BC"/>
          </a:solidFill>
          <a:ln/>
        </p:spPr>
      </p:sp>
      <p:sp>
        <p:nvSpPr>
          <p:cNvPr id="17" name="anim-g3-418"/>
          <p:cNvSpPr/>
          <p:nvPr/>
        </p:nvSpPr>
        <p:spPr>
          <a:xfrm>
            <a:off x="331409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419"/>
          <p:cNvSpPr/>
          <p:nvPr/>
        </p:nvSpPr>
        <p:spPr>
          <a:xfrm>
            <a:off x="1097280"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التراكم</a:t>
            </a:r>
            <a:endParaRPr lang="ar-SA" sz="2200" dirty="0"/>
          </a:p>
        </p:txBody>
      </p:sp>
      <p:sp>
        <p:nvSpPr>
          <p:cNvPr id="19" name="anim-g3-420"/>
          <p:cNvSpPr/>
          <p:nvPr/>
        </p:nvSpPr>
        <p:spPr>
          <a:xfrm>
            <a:off x="1097280"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خطأ صغير في كل حركة يكبر بعد جولات كثيرة</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صانع الذكريات التراثية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المعايرة  ·  ٥٩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خطوات الفريق</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خمس مراحل للمعايرة</a:t>
            </a:r>
            <a:endParaRPr lang="ar-SA" sz="3800" dirty="0"/>
          </a:p>
        </p:txBody>
      </p:sp>
      <p:sp>
        <p:nvSpPr>
          <p:cNvPr id="5" name="Shape 3"/>
          <p:cNvSpPr/>
          <p:nvPr/>
        </p:nvSpPr>
        <p:spPr>
          <a:xfrm>
            <a:off x="8939013" y="1874520"/>
            <a:ext cx="2429722" cy="548640"/>
          </a:xfrm>
          <a:prstGeom prst="roundRect">
            <a:avLst>
              <a:gd name="adj" fmla="val 20000"/>
            </a:avLst>
          </a:prstGeom>
          <a:solidFill>
            <a:srgbClr val="101B45"/>
          </a:solidFill>
          <a:ln/>
        </p:spPr>
      </p:sp>
      <p:sp>
        <p:nvSpPr>
          <p:cNvPr id="6" name="Text 4"/>
          <p:cNvSpPr/>
          <p:nvPr/>
        </p:nvSpPr>
        <p:spPr>
          <a:xfrm>
            <a:off x="8939013" y="1874520"/>
            <a:ext cx="2429722"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المرحلة</a:t>
            </a:r>
            <a:endParaRPr lang="ar-SA" sz="1900" dirty="0"/>
          </a:p>
        </p:txBody>
      </p:sp>
      <p:sp>
        <p:nvSpPr>
          <p:cNvPr id="7" name="Shape 5"/>
          <p:cNvSpPr/>
          <p:nvPr/>
        </p:nvSpPr>
        <p:spPr>
          <a:xfrm>
            <a:off x="4273556" y="1874520"/>
            <a:ext cx="4555729" cy="548640"/>
          </a:xfrm>
          <a:prstGeom prst="roundRect">
            <a:avLst>
              <a:gd name="adj" fmla="val 20000"/>
            </a:avLst>
          </a:prstGeom>
          <a:solidFill>
            <a:srgbClr val="101B45"/>
          </a:solidFill>
          <a:ln/>
        </p:spPr>
      </p:sp>
      <p:sp>
        <p:nvSpPr>
          <p:cNvPr id="8" name="Text 6"/>
          <p:cNvSpPr/>
          <p:nvPr/>
        </p:nvSpPr>
        <p:spPr>
          <a:xfrm>
            <a:off x="4273556" y="1874520"/>
            <a:ext cx="4555729"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ما فعله الفريق</a:t>
            </a:r>
            <a:endParaRPr lang="ar-SA" sz="1900" dirty="0"/>
          </a:p>
        </p:txBody>
      </p:sp>
      <p:sp>
        <p:nvSpPr>
          <p:cNvPr id="9" name="Shape 7"/>
          <p:cNvSpPr/>
          <p:nvPr/>
        </p:nvSpPr>
        <p:spPr>
          <a:xfrm>
            <a:off x="822960" y="1874520"/>
            <a:ext cx="3340868" cy="548640"/>
          </a:xfrm>
          <a:prstGeom prst="roundRect">
            <a:avLst>
              <a:gd name="adj" fmla="val 20000"/>
            </a:avLst>
          </a:prstGeom>
          <a:solidFill>
            <a:srgbClr val="101B45"/>
          </a:solidFill>
          <a:ln/>
        </p:spPr>
      </p:sp>
      <p:sp>
        <p:nvSpPr>
          <p:cNvPr id="10" name="Text 8"/>
          <p:cNvSpPr/>
          <p:nvPr/>
        </p:nvSpPr>
        <p:spPr>
          <a:xfrm>
            <a:off x="822960" y="1874520"/>
            <a:ext cx="3340868"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الدليل</a:t>
            </a:r>
            <a:endParaRPr lang="ar-SA" sz="1900" dirty="0"/>
          </a:p>
        </p:txBody>
      </p:sp>
      <p:sp>
        <p:nvSpPr>
          <p:cNvPr id="11" name="anim-g1-421"/>
          <p:cNvSpPr/>
          <p:nvPr/>
        </p:nvSpPr>
        <p:spPr>
          <a:xfrm>
            <a:off x="8939013" y="2514600"/>
            <a:ext cx="2429722" cy="616306"/>
          </a:xfrm>
          <a:prstGeom prst="roundRect">
            <a:avLst>
              <a:gd name="adj" fmla="val 17804"/>
            </a:avLst>
          </a:prstGeom>
          <a:solidFill>
            <a:srgbClr val="FBF3DF"/>
          </a:solidFill>
          <a:ln w="12700">
            <a:solidFill>
              <a:srgbClr val="EFDDAF"/>
            </a:solidFill>
            <a:prstDash val="solid"/>
          </a:ln>
        </p:spPr>
      </p:sp>
      <p:sp>
        <p:nvSpPr>
          <p:cNvPr id="12" name="anim-g1-422"/>
          <p:cNvSpPr/>
          <p:nvPr/>
        </p:nvSpPr>
        <p:spPr>
          <a:xfrm>
            <a:off x="9076173" y="2514600"/>
            <a:ext cx="2155402"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نقطة مرجعية</a:t>
            </a:r>
            <a:endParaRPr lang="ar-SA" sz="2100" dirty="0"/>
          </a:p>
        </p:txBody>
      </p:sp>
      <p:sp>
        <p:nvSpPr>
          <p:cNvPr id="13" name="anim-g1-423"/>
          <p:cNvSpPr/>
          <p:nvPr/>
        </p:nvSpPr>
        <p:spPr>
          <a:xfrm>
            <a:off x="4273556" y="2514600"/>
            <a:ext cx="4555729" cy="616306"/>
          </a:xfrm>
          <a:prstGeom prst="roundRect">
            <a:avLst>
              <a:gd name="adj" fmla="val 17804"/>
            </a:avLst>
          </a:prstGeom>
          <a:solidFill>
            <a:srgbClr val="FFFFFF"/>
          </a:solidFill>
          <a:ln w="12700">
            <a:solidFill>
              <a:srgbClr val="E4DCC8"/>
            </a:solidFill>
            <a:prstDash val="solid"/>
          </a:ln>
        </p:spPr>
      </p:sp>
      <p:sp>
        <p:nvSpPr>
          <p:cNvPr id="14" name="anim-g1-424"/>
          <p:cNvSpPr/>
          <p:nvPr/>
        </p:nvSpPr>
        <p:spPr>
          <a:xfrm>
            <a:off x="4410716" y="2514600"/>
            <a:ext cx="428140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ثبّتنا الخيمة موضعًا للبداية</a:t>
            </a:r>
            <a:endParaRPr lang="ar-SA" sz="2100" dirty="0"/>
          </a:p>
        </p:txBody>
      </p:sp>
      <p:sp>
        <p:nvSpPr>
          <p:cNvPr id="15" name="anim-g1-425"/>
          <p:cNvSpPr/>
          <p:nvPr/>
        </p:nvSpPr>
        <p:spPr>
          <a:xfrm>
            <a:off x="822960" y="2514600"/>
            <a:ext cx="3340868" cy="616306"/>
          </a:xfrm>
          <a:prstGeom prst="roundRect">
            <a:avLst>
              <a:gd name="adj" fmla="val 17804"/>
            </a:avLst>
          </a:prstGeom>
          <a:solidFill>
            <a:srgbClr val="E6F4EC"/>
          </a:solidFill>
          <a:ln w="12700">
            <a:solidFill>
              <a:srgbClr val="CDE9D9"/>
            </a:solidFill>
            <a:prstDash val="solid"/>
          </a:ln>
        </p:spPr>
      </p:sp>
      <p:sp>
        <p:nvSpPr>
          <p:cNvPr id="16" name="anim-g1-426"/>
          <p:cNvSpPr/>
          <p:nvPr/>
        </p:nvSpPr>
        <p:spPr>
          <a:xfrm>
            <a:off x="960120" y="2514600"/>
            <a:ext cx="306654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علامة مرجعية على القاعدة</a:t>
            </a:r>
            <a:endParaRPr lang="ar-SA" sz="2100" dirty="0"/>
          </a:p>
        </p:txBody>
      </p:sp>
      <p:sp>
        <p:nvSpPr>
          <p:cNvPr id="17" name="anim-g2-427"/>
          <p:cNvSpPr/>
          <p:nvPr/>
        </p:nvSpPr>
        <p:spPr>
          <a:xfrm>
            <a:off x="8939013" y="3240634"/>
            <a:ext cx="2429722" cy="616306"/>
          </a:xfrm>
          <a:prstGeom prst="roundRect">
            <a:avLst>
              <a:gd name="adj" fmla="val 17804"/>
            </a:avLst>
          </a:prstGeom>
          <a:solidFill>
            <a:srgbClr val="FBF3DF"/>
          </a:solidFill>
          <a:ln w="12700">
            <a:solidFill>
              <a:srgbClr val="EFDDAF"/>
            </a:solidFill>
            <a:prstDash val="solid"/>
          </a:ln>
        </p:spPr>
      </p:sp>
      <p:sp>
        <p:nvSpPr>
          <p:cNvPr id="18" name="anim-g2-428"/>
          <p:cNvSpPr/>
          <p:nvPr/>
        </p:nvSpPr>
        <p:spPr>
          <a:xfrm>
            <a:off x="9076173" y="3240634"/>
            <a:ext cx="2155402"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تجربة أولى</a:t>
            </a:r>
            <a:endParaRPr lang="ar-SA" sz="2100" dirty="0"/>
          </a:p>
        </p:txBody>
      </p:sp>
      <p:sp>
        <p:nvSpPr>
          <p:cNvPr id="19" name="anim-g2-429"/>
          <p:cNvSpPr/>
          <p:nvPr/>
        </p:nvSpPr>
        <p:spPr>
          <a:xfrm>
            <a:off x="4273556" y="3240634"/>
            <a:ext cx="4555729" cy="616306"/>
          </a:xfrm>
          <a:prstGeom prst="roundRect">
            <a:avLst>
              <a:gd name="adj" fmla="val 17804"/>
            </a:avLst>
          </a:prstGeom>
          <a:solidFill>
            <a:srgbClr val="FFFFFF"/>
          </a:solidFill>
          <a:ln w="12700">
            <a:solidFill>
              <a:srgbClr val="E4DCC8"/>
            </a:solidFill>
            <a:prstDash val="solid"/>
          </a:ln>
        </p:spPr>
      </p:sp>
      <p:sp>
        <p:nvSpPr>
          <p:cNvPr id="20" name="anim-g2-430"/>
          <p:cNvSpPr/>
          <p:nvPr/>
        </p:nvSpPr>
        <p:spPr>
          <a:xfrm>
            <a:off x="4410716" y="3240634"/>
            <a:ext cx="428140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حرّكنا المنصة بقيمة أولية</a:t>
            </a:r>
            <a:endParaRPr lang="ar-SA" sz="2100" dirty="0"/>
          </a:p>
        </p:txBody>
      </p:sp>
      <p:sp>
        <p:nvSpPr>
          <p:cNvPr id="21" name="anim-g2-431"/>
          <p:cNvSpPr/>
          <p:nvPr/>
        </p:nvSpPr>
        <p:spPr>
          <a:xfrm>
            <a:off x="822960" y="3240634"/>
            <a:ext cx="3340868" cy="616306"/>
          </a:xfrm>
          <a:prstGeom prst="roundRect">
            <a:avLst>
              <a:gd name="adj" fmla="val 17804"/>
            </a:avLst>
          </a:prstGeom>
          <a:solidFill>
            <a:srgbClr val="E6F4EC"/>
          </a:solidFill>
          <a:ln w="12700">
            <a:solidFill>
              <a:srgbClr val="CDE9D9"/>
            </a:solidFill>
            <a:prstDash val="solid"/>
          </a:ln>
        </p:spPr>
      </p:sp>
      <p:sp>
        <p:nvSpPr>
          <p:cNvPr id="22" name="anim-g2-432"/>
          <p:cNvSpPr/>
          <p:nvPr/>
        </p:nvSpPr>
        <p:spPr>
          <a:xfrm>
            <a:off x="960120" y="3240634"/>
            <a:ext cx="306654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عدد الخطوات وزاوية الخطأ</a:t>
            </a:r>
            <a:endParaRPr lang="ar-SA" sz="2100" dirty="0"/>
          </a:p>
        </p:txBody>
      </p:sp>
      <p:sp>
        <p:nvSpPr>
          <p:cNvPr id="23" name="anim-g3-433"/>
          <p:cNvSpPr/>
          <p:nvPr/>
        </p:nvSpPr>
        <p:spPr>
          <a:xfrm>
            <a:off x="8939013" y="3966667"/>
            <a:ext cx="2429722" cy="616306"/>
          </a:xfrm>
          <a:prstGeom prst="roundRect">
            <a:avLst>
              <a:gd name="adj" fmla="val 17804"/>
            </a:avLst>
          </a:prstGeom>
          <a:solidFill>
            <a:srgbClr val="FBF3DF"/>
          </a:solidFill>
          <a:ln w="12700">
            <a:solidFill>
              <a:srgbClr val="EFDDAF"/>
            </a:solidFill>
            <a:prstDash val="solid"/>
          </a:ln>
        </p:spPr>
      </p:sp>
      <p:sp>
        <p:nvSpPr>
          <p:cNvPr id="24" name="anim-g3-434"/>
          <p:cNvSpPr/>
          <p:nvPr/>
        </p:nvSpPr>
        <p:spPr>
          <a:xfrm>
            <a:off x="9076173" y="3966667"/>
            <a:ext cx="2155402"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تعديل</a:t>
            </a:r>
            <a:endParaRPr lang="ar-SA" sz="2100" dirty="0"/>
          </a:p>
        </p:txBody>
      </p:sp>
      <p:sp>
        <p:nvSpPr>
          <p:cNvPr id="25" name="anim-g3-435"/>
          <p:cNvSpPr/>
          <p:nvPr/>
        </p:nvSpPr>
        <p:spPr>
          <a:xfrm>
            <a:off x="4273556" y="3966667"/>
            <a:ext cx="4555729" cy="616306"/>
          </a:xfrm>
          <a:prstGeom prst="roundRect">
            <a:avLst>
              <a:gd name="adj" fmla="val 17804"/>
            </a:avLst>
          </a:prstGeom>
          <a:solidFill>
            <a:srgbClr val="FFFFFF"/>
          </a:solidFill>
          <a:ln w="12700">
            <a:solidFill>
              <a:srgbClr val="E4DCC8"/>
            </a:solidFill>
            <a:prstDash val="solid"/>
          </a:ln>
        </p:spPr>
      </p:sp>
      <p:sp>
        <p:nvSpPr>
          <p:cNvPr id="26" name="anim-g3-436"/>
          <p:cNvSpPr/>
          <p:nvPr/>
        </p:nvSpPr>
        <p:spPr>
          <a:xfrm>
            <a:off x="4410716" y="3966667"/>
            <a:ext cx="428140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ضبطنا عدد الخطوات أو السرعة</a:t>
            </a:r>
            <a:endParaRPr lang="ar-SA" sz="2100" dirty="0"/>
          </a:p>
        </p:txBody>
      </p:sp>
      <p:sp>
        <p:nvSpPr>
          <p:cNvPr id="27" name="anim-g3-437"/>
          <p:cNvSpPr/>
          <p:nvPr/>
        </p:nvSpPr>
        <p:spPr>
          <a:xfrm>
            <a:off x="822960" y="3966667"/>
            <a:ext cx="3340868" cy="616306"/>
          </a:xfrm>
          <a:prstGeom prst="roundRect">
            <a:avLst>
              <a:gd name="adj" fmla="val 17804"/>
            </a:avLst>
          </a:prstGeom>
          <a:solidFill>
            <a:srgbClr val="E6F4EC"/>
          </a:solidFill>
          <a:ln w="12700">
            <a:solidFill>
              <a:srgbClr val="CDE9D9"/>
            </a:solidFill>
            <a:prstDash val="solid"/>
          </a:ln>
        </p:spPr>
      </p:sp>
      <p:sp>
        <p:nvSpPr>
          <p:cNvPr id="28" name="anim-g3-438"/>
          <p:cNvSpPr/>
          <p:nvPr/>
        </p:nvSpPr>
        <p:spPr>
          <a:xfrm>
            <a:off x="960120" y="3966667"/>
            <a:ext cx="306654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القيمة الجديدة</a:t>
            </a:r>
            <a:endParaRPr lang="ar-SA" sz="2100" dirty="0"/>
          </a:p>
        </p:txBody>
      </p:sp>
      <p:sp>
        <p:nvSpPr>
          <p:cNvPr id="29" name="anim-g4-439"/>
          <p:cNvSpPr/>
          <p:nvPr/>
        </p:nvSpPr>
        <p:spPr>
          <a:xfrm>
            <a:off x="8939013" y="4692701"/>
            <a:ext cx="2429722" cy="616306"/>
          </a:xfrm>
          <a:prstGeom prst="roundRect">
            <a:avLst>
              <a:gd name="adj" fmla="val 17804"/>
            </a:avLst>
          </a:prstGeom>
          <a:solidFill>
            <a:srgbClr val="FBF3DF"/>
          </a:solidFill>
          <a:ln w="12700">
            <a:solidFill>
              <a:srgbClr val="EFDDAF"/>
            </a:solidFill>
            <a:prstDash val="solid"/>
          </a:ln>
        </p:spPr>
      </p:sp>
      <p:sp>
        <p:nvSpPr>
          <p:cNvPr id="30" name="anim-g4-440"/>
          <p:cNvSpPr/>
          <p:nvPr/>
        </p:nvSpPr>
        <p:spPr>
          <a:xfrm>
            <a:off x="9076173" y="4692701"/>
            <a:ext cx="2155402"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تكرار</a:t>
            </a:r>
            <a:endParaRPr lang="ar-SA" sz="2100" dirty="0"/>
          </a:p>
        </p:txBody>
      </p:sp>
      <p:sp>
        <p:nvSpPr>
          <p:cNvPr id="31" name="anim-g4-441"/>
          <p:cNvSpPr/>
          <p:nvPr/>
        </p:nvSpPr>
        <p:spPr>
          <a:xfrm>
            <a:off x="4273556" y="4692701"/>
            <a:ext cx="4555729" cy="616306"/>
          </a:xfrm>
          <a:prstGeom prst="roundRect">
            <a:avLst>
              <a:gd name="adj" fmla="val 17804"/>
            </a:avLst>
          </a:prstGeom>
          <a:solidFill>
            <a:srgbClr val="FFFFFF"/>
          </a:solidFill>
          <a:ln w="12700">
            <a:solidFill>
              <a:srgbClr val="E4DCC8"/>
            </a:solidFill>
            <a:prstDash val="solid"/>
          </a:ln>
        </p:spPr>
      </p:sp>
      <p:sp>
        <p:nvSpPr>
          <p:cNvPr id="32" name="anim-g4-442"/>
          <p:cNvSpPr/>
          <p:nvPr/>
        </p:nvSpPr>
        <p:spPr>
          <a:xfrm>
            <a:off x="4410716" y="4692701"/>
            <a:ext cx="428140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أعدنا القياس لكل محطة</a:t>
            </a:r>
            <a:endParaRPr lang="ar-SA" sz="2100" dirty="0"/>
          </a:p>
        </p:txBody>
      </p:sp>
      <p:sp>
        <p:nvSpPr>
          <p:cNvPr id="33" name="anim-g4-443"/>
          <p:cNvSpPr/>
          <p:nvPr/>
        </p:nvSpPr>
        <p:spPr>
          <a:xfrm>
            <a:off x="822960" y="4692701"/>
            <a:ext cx="3340868" cy="616306"/>
          </a:xfrm>
          <a:prstGeom prst="roundRect">
            <a:avLst>
              <a:gd name="adj" fmla="val 17804"/>
            </a:avLst>
          </a:prstGeom>
          <a:solidFill>
            <a:srgbClr val="E6F4EC"/>
          </a:solidFill>
          <a:ln w="12700">
            <a:solidFill>
              <a:srgbClr val="CDE9D9"/>
            </a:solidFill>
            <a:prstDash val="solid"/>
          </a:ln>
        </p:spPr>
      </p:sp>
      <p:sp>
        <p:nvSpPr>
          <p:cNvPr id="34" name="anim-g4-444"/>
          <p:cNvSpPr/>
          <p:nvPr/>
        </p:nvSpPr>
        <p:spPr>
          <a:xfrm>
            <a:off x="960120" y="4692701"/>
            <a:ext cx="306654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عدد مرات التكرار</a:t>
            </a:r>
            <a:endParaRPr lang="ar-SA" sz="2100" dirty="0"/>
          </a:p>
        </p:txBody>
      </p:sp>
      <p:sp>
        <p:nvSpPr>
          <p:cNvPr id="35" name="anim-g5-445"/>
          <p:cNvSpPr/>
          <p:nvPr/>
        </p:nvSpPr>
        <p:spPr>
          <a:xfrm>
            <a:off x="8939013" y="5418734"/>
            <a:ext cx="2429722" cy="616306"/>
          </a:xfrm>
          <a:prstGeom prst="roundRect">
            <a:avLst>
              <a:gd name="adj" fmla="val 17804"/>
            </a:avLst>
          </a:prstGeom>
          <a:solidFill>
            <a:srgbClr val="FBF3DF"/>
          </a:solidFill>
          <a:ln w="12700">
            <a:solidFill>
              <a:srgbClr val="EFDDAF"/>
            </a:solidFill>
            <a:prstDash val="solid"/>
          </a:ln>
        </p:spPr>
      </p:sp>
      <p:sp>
        <p:nvSpPr>
          <p:cNvPr id="36" name="anim-g5-446"/>
          <p:cNvSpPr/>
          <p:nvPr/>
        </p:nvSpPr>
        <p:spPr>
          <a:xfrm>
            <a:off x="9076173" y="5418734"/>
            <a:ext cx="2155402"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اعتماد</a:t>
            </a:r>
            <a:endParaRPr lang="ar-SA" sz="2100" dirty="0"/>
          </a:p>
        </p:txBody>
      </p:sp>
      <p:sp>
        <p:nvSpPr>
          <p:cNvPr id="37" name="anim-g5-447"/>
          <p:cNvSpPr/>
          <p:nvPr/>
        </p:nvSpPr>
        <p:spPr>
          <a:xfrm>
            <a:off x="4273556" y="5418734"/>
            <a:ext cx="4555729" cy="616306"/>
          </a:xfrm>
          <a:prstGeom prst="roundRect">
            <a:avLst>
              <a:gd name="adj" fmla="val 17804"/>
            </a:avLst>
          </a:prstGeom>
          <a:solidFill>
            <a:srgbClr val="FFFFFF"/>
          </a:solidFill>
          <a:ln w="12700">
            <a:solidFill>
              <a:srgbClr val="E4DCC8"/>
            </a:solidFill>
            <a:prstDash val="solid"/>
          </a:ln>
        </p:spPr>
      </p:sp>
      <p:sp>
        <p:nvSpPr>
          <p:cNvPr id="38" name="anim-g5-448"/>
          <p:cNvSpPr/>
          <p:nvPr/>
        </p:nvSpPr>
        <p:spPr>
          <a:xfrm>
            <a:off x="4410716" y="5418734"/>
            <a:ext cx="428140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سجلنا القيمة النهائية في الكود</a:t>
            </a:r>
            <a:endParaRPr lang="ar-SA" sz="2100" dirty="0"/>
          </a:p>
        </p:txBody>
      </p:sp>
      <p:sp>
        <p:nvSpPr>
          <p:cNvPr id="39" name="anim-g5-449"/>
          <p:cNvSpPr/>
          <p:nvPr/>
        </p:nvSpPr>
        <p:spPr>
          <a:xfrm>
            <a:off x="822960" y="5418734"/>
            <a:ext cx="3340868" cy="616306"/>
          </a:xfrm>
          <a:prstGeom prst="roundRect">
            <a:avLst>
              <a:gd name="adj" fmla="val 17804"/>
            </a:avLst>
          </a:prstGeom>
          <a:solidFill>
            <a:srgbClr val="E6F4EC"/>
          </a:solidFill>
          <a:ln w="12700">
            <a:solidFill>
              <a:srgbClr val="CDE9D9"/>
            </a:solidFill>
            <a:prstDash val="solid"/>
          </a:ln>
        </p:spPr>
      </p:sp>
      <p:sp>
        <p:nvSpPr>
          <p:cNvPr id="40" name="anim-g5-450"/>
          <p:cNvSpPr/>
          <p:nvPr/>
        </p:nvSpPr>
        <p:spPr>
          <a:xfrm>
            <a:off x="960120" y="5418734"/>
            <a:ext cx="306654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القيمة الفعلية</a:t>
            </a:r>
            <a:endParaRPr lang="ar-SA" sz="2100" dirty="0"/>
          </a:p>
        </p:txBody>
      </p:sp>
      <p:sp>
        <p:nvSpPr>
          <p:cNvPr id="41" name="Text 39"/>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صانع الذكريات التراثية</a:t>
            </a:r>
            <a:endParaRPr lang="ar-SA" sz="1200" dirty="0"/>
          </a:p>
        </p:txBody>
      </p:sp>
      <p:sp>
        <p:nvSpPr>
          <p:cNvPr id="42" name="Text 40"/>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المعايرة  ·  ٦٠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400"/>
                                        <p:tgtEl>
                                          <p:spTgt spid="1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40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400"/>
                                        <p:tgtEl>
                                          <p:spTgt spid="19"/>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0"/>
                                        </p:tgtEl>
                                        <p:attrNameLst>
                                          <p:attrName>style.visibility</p:attrName>
                                        </p:attrNameLst>
                                      </p:cBhvr>
                                      <p:to>
                                        <p:strVal val="visible"/>
                                      </p:to>
                                    </p:set>
                                    <p:animEffect transition="in" filter="fade">
                                      <p:cBhvr>
                                        <p:cTn id="36" dur="400"/>
                                        <p:tgtEl>
                                          <p:spTgt spid="20"/>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400"/>
                                        <p:tgtEl>
                                          <p:spTgt spid="21"/>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400"/>
                                        <p:tgtEl>
                                          <p:spTgt spid="2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400"/>
                                        <p:tgtEl>
                                          <p:spTgt spid="25"/>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400"/>
                                        <p:tgtEl>
                                          <p:spTgt spid="26"/>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400"/>
                                        <p:tgtEl>
                                          <p:spTgt spid="27"/>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400"/>
                                        <p:tgtEl>
                                          <p:spTgt spid="28"/>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400"/>
                                        <p:tgtEl>
                                          <p:spTgt spid="29"/>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0"/>
                                        </p:tgtEl>
                                        <p:attrNameLst>
                                          <p:attrName>style.visibility</p:attrName>
                                        </p:attrNameLst>
                                      </p:cBhvr>
                                      <p:to>
                                        <p:strVal val="visible"/>
                                      </p:to>
                                    </p:set>
                                    <p:animEffect transition="in" filter="fade">
                                      <p:cBhvr>
                                        <p:cTn id="70" dur="400"/>
                                        <p:tgtEl>
                                          <p:spTgt spid="30"/>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31"/>
                                        </p:tgtEl>
                                        <p:attrNameLst>
                                          <p:attrName>style.visibility</p:attrName>
                                        </p:attrNameLst>
                                      </p:cBhvr>
                                      <p:to>
                                        <p:strVal val="visible"/>
                                      </p:to>
                                    </p:set>
                                    <p:animEffect transition="in" filter="fade">
                                      <p:cBhvr>
                                        <p:cTn id="73" dur="400"/>
                                        <p:tgtEl>
                                          <p:spTgt spid="31"/>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2"/>
                                        </p:tgtEl>
                                        <p:attrNameLst>
                                          <p:attrName>style.visibility</p:attrName>
                                        </p:attrNameLst>
                                      </p:cBhvr>
                                      <p:to>
                                        <p:strVal val="visible"/>
                                      </p:to>
                                    </p:set>
                                    <p:animEffect transition="in" filter="fade">
                                      <p:cBhvr>
                                        <p:cTn id="76" dur="400"/>
                                        <p:tgtEl>
                                          <p:spTgt spid="32"/>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3"/>
                                        </p:tgtEl>
                                        <p:attrNameLst>
                                          <p:attrName>style.visibility</p:attrName>
                                        </p:attrNameLst>
                                      </p:cBhvr>
                                      <p:to>
                                        <p:strVal val="visible"/>
                                      </p:to>
                                    </p:set>
                                    <p:animEffect transition="in" filter="fade">
                                      <p:cBhvr>
                                        <p:cTn id="79" dur="400"/>
                                        <p:tgtEl>
                                          <p:spTgt spid="33"/>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34"/>
                                        </p:tgtEl>
                                        <p:attrNameLst>
                                          <p:attrName>style.visibility</p:attrName>
                                        </p:attrNameLst>
                                      </p:cBhvr>
                                      <p:to>
                                        <p:strVal val="visible"/>
                                      </p:to>
                                    </p:set>
                                    <p:animEffect transition="in" filter="fade">
                                      <p:cBhvr>
                                        <p:cTn id="82" dur="400"/>
                                        <p:tgtEl>
                                          <p:spTgt spid="34"/>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grpId="0" nodeType="clickEffect">
                                  <p:stCondLst>
                                    <p:cond delay="0"/>
                                  </p:stCondLst>
                                  <p:childTnLst>
                                    <p:set>
                                      <p:cBhvr>
                                        <p:cTn id="86" dur="1" fill="hold">
                                          <p:stCondLst>
                                            <p:cond delay="0"/>
                                          </p:stCondLst>
                                        </p:cTn>
                                        <p:tgtEl>
                                          <p:spTgt spid="35"/>
                                        </p:tgtEl>
                                        <p:attrNameLst>
                                          <p:attrName>style.visibility</p:attrName>
                                        </p:attrNameLst>
                                      </p:cBhvr>
                                      <p:to>
                                        <p:strVal val="visible"/>
                                      </p:to>
                                    </p:set>
                                    <p:animEffect transition="in" filter="fade">
                                      <p:cBhvr>
                                        <p:cTn id="87" dur="400"/>
                                        <p:tgtEl>
                                          <p:spTgt spid="35"/>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6"/>
                                        </p:tgtEl>
                                        <p:attrNameLst>
                                          <p:attrName>style.visibility</p:attrName>
                                        </p:attrNameLst>
                                      </p:cBhvr>
                                      <p:to>
                                        <p:strVal val="visible"/>
                                      </p:to>
                                    </p:set>
                                    <p:animEffect transition="in" filter="fade">
                                      <p:cBhvr>
                                        <p:cTn id="90" dur="400"/>
                                        <p:tgtEl>
                                          <p:spTgt spid="36"/>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7"/>
                                        </p:tgtEl>
                                        <p:attrNameLst>
                                          <p:attrName>style.visibility</p:attrName>
                                        </p:attrNameLst>
                                      </p:cBhvr>
                                      <p:to>
                                        <p:strVal val="visible"/>
                                      </p:to>
                                    </p:set>
                                    <p:animEffect transition="in" filter="fade">
                                      <p:cBhvr>
                                        <p:cTn id="93" dur="400"/>
                                        <p:tgtEl>
                                          <p:spTgt spid="37"/>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38"/>
                                        </p:tgtEl>
                                        <p:attrNameLst>
                                          <p:attrName>style.visibility</p:attrName>
                                        </p:attrNameLst>
                                      </p:cBhvr>
                                      <p:to>
                                        <p:strVal val="visible"/>
                                      </p:to>
                                    </p:set>
                                    <p:animEffect transition="in" filter="fade">
                                      <p:cBhvr>
                                        <p:cTn id="96" dur="400"/>
                                        <p:tgtEl>
                                          <p:spTgt spid="38"/>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fade">
                                      <p:cBhvr>
                                        <p:cTn id="99" dur="400"/>
                                        <p:tgtEl>
                                          <p:spTgt spid="39"/>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40"/>
                                        </p:tgtEl>
                                        <p:attrNameLst>
                                          <p:attrName>style.visibility</p:attrName>
                                        </p:attrNameLst>
                                      </p:cBhvr>
                                      <p:to>
                                        <p:strVal val="visible"/>
                                      </p:to>
                                    </p:set>
                                    <p:animEffect transition="in" filter="fade">
                                      <p:cBhvr>
                                        <p:cTn id="102"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Image 0" descr="C:\Users\user\projects\younes-training\heritage\.pptx-cache\s61.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442655" y="457200"/>
            <a:ext cx="2926080" cy="457200"/>
          </a:xfrm>
          <a:prstGeom prst="roundRect">
            <a:avLst>
              <a:gd name="adj" fmla="val 50000"/>
            </a:avLst>
          </a:prstGeom>
          <a:solidFill>
            <a:srgbClr val="F6EBCF"/>
          </a:solidFill>
          <a:ln/>
        </p:spPr>
      </p:sp>
      <p:sp>
        <p:nvSpPr>
          <p:cNvPr id="3" name="Text 1"/>
          <p:cNvSpPr/>
          <p:nvPr/>
        </p:nvSpPr>
        <p:spPr>
          <a:xfrm>
            <a:off x="8442655" y="457200"/>
            <a:ext cx="292608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قاعدة الفريق</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لا نغيّر أكثر من عامل واحد</a:t>
            </a:r>
            <a:endParaRPr lang="ar-SA" sz="3800" dirty="0"/>
          </a:p>
        </p:txBody>
      </p:sp>
      <p:sp>
        <p:nvSpPr>
          <p:cNvPr id="5" name="anim-g1-451"/>
          <p:cNvSpPr/>
          <p:nvPr/>
        </p:nvSpPr>
        <p:spPr>
          <a:xfrm>
            <a:off x="6233008" y="2011680"/>
            <a:ext cx="5135728" cy="4023360"/>
          </a:xfrm>
          <a:prstGeom prst="roundRect">
            <a:avLst>
              <a:gd name="adj" fmla="val 4091"/>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452"/>
          <p:cNvSpPr/>
          <p:nvPr/>
        </p:nvSpPr>
        <p:spPr>
          <a:xfrm>
            <a:off x="10527487" y="2267712"/>
            <a:ext cx="566928" cy="566928"/>
          </a:xfrm>
          <a:prstGeom prst="roundRect">
            <a:avLst>
              <a:gd name="adj" fmla="val 32258"/>
            </a:avLst>
          </a:prstGeom>
          <a:solidFill>
            <a:srgbClr val="F7E6BC"/>
          </a:solidFill>
          <a:ln/>
        </p:spPr>
      </p:sp>
      <p:sp>
        <p:nvSpPr>
          <p:cNvPr id="7" name="anim-g1-453"/>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1️⃣</a:t>
            </a:r>
            <a:endParaRPr lang="ar-SA" sz="2200" dirty="0"/>
          </a:p>
        </p:txBody>
      </p:sp>
      <p:sp>
        <p:nvSpPr>
          <p:cNvPr id="8" name="anim-g1-454"/>
          <p:cNvSpPr/>
          <p:nvPr/>
        </p:nvSpPr>
        <p:spPr>
          <a:xfrm>
            <a:off x="6507328"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عامل واحد</a:t>
            </a:r>
            <a:endParaRPr lang="ar-SA" sz="2200" dirty="0"/>
          </a:p>
        </p:txBody>
      </p:sp>
      <p:sp>
        <p:nvSpPr>
          <p:cNvPr id="9" name="anim-g1-455"/>
          <p:cNvSpPr/>
          <p:nvPr/>
        </p:nvSpPr>
        <p:spPr>
          <a:xfrm>
            <a:off x="6507328" y="3493008"/>
            <a:ext cx="458708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لو غيّرنا الخطوات والسرعة معًا وتحسّن الأداء… فمن السبب؟ لا نعرف</a:t>
            </a:r>
            <a:endParaRPr lang="ar-SA" sz="1900" dirty="0"/>
          </a:p>
        </p:txBody>
      </p:sp>
      <p:sp>
        <p:nvSpPr>
          <p:cNvPr id="10" name="anim-g2-456"/>
          <p:cNvSpPr/>
          <p:nvPr/>
        </p:nvSpPr>
        <p:spPr>
          <a:xfrm>
            <a:off x="822960" y="2011680"/>
            <a:ext cx="5135728" cy="4023360"/>
          </a:xfrm>
          <a:prstGeom prst="roundRect">
            <a:avLst>
              <a:gd name="adj" fmla="val 4091"/>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457"/>
          <p:cNvSpPr/>
          <p:nvPr/>
        </p:nvSpPr>
        <p:spPr>
          <a:xfrm>
            <a:off x="5117440" y="2267712"/>
            <a:ext cx="566928" cy="566928"/>
          </a:xfrm>
          <a:prstGeom prst="roundRect">
            <a:avLst>
              <a:gd name="adj" fmla="val 32258"/>
            </a:avLst>
          </a:prstGeom>
          <a:solidFill>
            <a:srgbClr val="F7E6BC"/>
          </a:solidFill>
          <a:ln/>
        </p:spPr>
      </p:sp>
      <p:sp>
        <p:nvSpPr>
          <p:cNvPr id="12" name="anim-g2-458"/>
          <p:cNvSpPr/>
          <p:nvPr/>
        </p:nvSpPr>
        <p:spPr>
          <a:xfrm>
            <a:off x="511744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459"/>
          <p:cNvSpPr/>
          <p:nvPr/>
        </p:nvSpPr>
        <p:spPr>
          <a:xfrm>
            <a:off x="1097280"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سجّل ثم قرّر</a:t>
            </a:r>
            <a:endParaRPr lang="ar-SA" sz="2200" dirty="0"/>
          </a:p>
        </p:txBody>
      </p:sp>
      <p:sp>
        <p:nvSpPr>
          <p:cNvPr id="14" name="anim-g2-460"/>
          <p:cNvSpPr/>
          <p:nvPr/>
        </p:nvSpPr>
        <p:spPr>
          <a:xfrm>
            <a:off x="1097280" y="3493008"/>
            <a:ext cx="458708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التاريخ، والمكوّن، والتعديل، والأثر بعد إعادة الاختبار</a:t>
            </a:r>
            <a:endParaRPr lang="ar-SA" sz="1900" dirty="0"/>
          </a:p>
        </p:txBody>
      </p:sp>
      <p:sp>
        <p:nvSpPr>
          <p:cNvPr id="15" name="Text 1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صانع الذكريات التراثية</a:t>
            </a:r>
            <a:endParaRPr lang="ar-SA" sz="1200" dirty="0"/>
          </a:p>
        </p:txBody>
      </p:sp>
      <p:sp>
        <p:nvSpPr>
          <p:cNvPr id="16" name="Text 1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المعايرة  ·  ٦٢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735263" y="457200"/>
            <a:ext cx="2633472" cy="457200"/>
          </a:xfrm>
          <a:prstGeom prst="roundRect">
            <a:avLst>
              <a:gd name="adj" fmla="val 50000"/>
            </a:avLst>
          </a:prstGeom>
          <a:solidFill>
            <a:srgbClr val="F6EBCF"/>
          </a:solidFill>
          <a:ln/>
        </p:spPr>
      </p:sp>
      <p:sp>
        <p:nvSpPr>
          <p:cNvPr id="3" name="Text 1"/>
          <p:cNvSpPr/>
          <p:nvPr/>
        </p:nvSpPr>
        <p:spPr>
          <a:xfrm>
            <a:off x="8735263" y="457200"/>
            <a:ext cx="2633472"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تطوير مخطط</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مستشعر البداية (Home Sensor)</a:t>
            </a:r>
            <a:endParaRPr lang="ar-SA" sz="3800" dirty="0"/>
          </a:p>
        </p:txBody>
      </p:sp>
      <p:sp>
        <p:nvSpPr>
          <p:cNvPr id="5" name="anim-g1-461"/>
          <p:cNvSpPr/>
          <p:nvPr/>
        </p:nvSpPr>
        <p:spPr>
          <a:xfrm>
            <a:off x="6233008" y="2011680"/>
            <a:ext cx="5135728" cy="4023360"/>
          </a:xfrm>
          <a:prstGeom prst="roundRect">
            <a:avLst>
              <a:gd name="adj" fmla="val 4091"/>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462"/>
          <p:cNvSpPr/>
          <p:nvPr/>
        </p:nvSpPr>
        <p:spPr>
          <a:xfrm>
            <a:off x="10527487" y="2267712"/>
            <a:ext cx="566928" cy="566928"/>
          </a:xfrm>
          <a:prstGeom prst="roundRect">
            <a:avLst>
              <a:gd name="adj" fmla="val 32258"/>
            </a:avLst>
          </a:prstGeom>
          <a:solidFill>
            <a:srgbClr val="F7E6BC"/>
          </a:solidFill>
          <a:ln/>
        </p:spPr>
      </p:sp>
      <p:sp>
        <p:nvSpPr>
          <p:cNvPr id="7" name="anim-g1-463"/>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464"/>
          <p:cNvSpPr/>
          <p:nvPr/>
        </p:nvSpPr>
        <p:spPr>
          <a:xfrm>
            <a:off x="6507328"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الفكرة</a:t>
            </a:r>
            <a:endParaRPr lang="ar-SA" sz="2200" dirty="0"/>
          </a:p>
        </p:txBody>
      </p:sp>
      <p:sp>
        <p:nvSpPr>
          <p:cNvPr id="9" name="anim-g1-465"/>
          <p:cNvSpPr/>
          <p:nvPr/>
        </p:nvSpPr>
        <p:spPr>
          <a:xfrm>
            <a:off x="6507328" y="3493008"/>
            <a:ext cx="458708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حساس صغير (مغناطيسي أو ضوئي) عند محطة الخيمة</a:t>
            </a:r>
            <a:endParaRPr lang="ar-SA" sz="1900" dirty="0"/>
          </a:p>
        </p:txBody>
      </p:sp>
      <p:sp>
        <p:nvSpPr>
          <p:cNvPr id="10" name="anim-g2-466"/>
          <p:cNvSpPr/>
          <p:nvPr/>
        </p:nvSpPr>
        <p:spPr>
          <a:xfrm>
            <a:off x="822960" y="2011680"/>
            <a:ext cx="5135728" cy="4023360"/>
          </a:xfrm>
          <a:prstGeom prst="roundRect">
            <a:avLst>
              <a:gd name="adj" fmla="val 4091"/>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467"/>
          <p:cNvSpPr/>
          <p:nvPr/>
        </p:nvSpPr>
        <p:spPr>
          <a:xfrm>
            <a:off x="5117440" y="2267712"/>
            <a:ext cx="566928" cy="566928"/>
          </a:xfrm>
          <a:prstGeom prst="roundRect">
            <a:avLst>
              <a:gd name="adj" fmla="val 32258"/>
            </a:avLst>
          </a:prstGeom>
          <a:solidFill>
            <a:srgbClr val="F7E6BC"/>
          </a:solidFill>
          <a:ln/>
        </p:spPr>
      </p:sp>
      <p:sp>
        <p:nvSpPr>
          <p:cNvPr id="12" name="anim-g2-468"/>
          <p:cNvSpPr/>
          <p:nvPr/>
        </p:nvSpPr>
        <p:spPr>
          <a:xfrm>
            <a:off x="511744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469"/>
          <p:cNvSpPr/>
          <p:nvPr/>
        </p:nvSpPr>
        <p:spPr>
          <a:xfrm>
            <a:off x="1097280"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الفائدة</a:t>
            </a:r>
            <a:endParaRPr lang="ar-SA" sz="2200" dirty="0"/>
          </a:p>
        </p:txBody>
      </p:sp>
      <p:sp>
        <p:nvSpPr>
          <p:cNvPr id="14" name="anim-g2-470"/>
          <p:cNvSpPr/>
          <p:nvPr/>
        </p:nvSpPr>
        <p:spPr>
          <a:xfrm>
            <a:off x="1097280" y="3493008"/>
            <a:ext cx="458708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بعد كل جولة تعود المنصة حتى يراها الحساس: الخطأ يرجع صفرًا مهما تراكم</a:t>
            </a:r>
            <a:endParaRPr lang="ar-SA" sz="1900" dirty="0"/>
          </a:p>
        </p:txBody>
      </p:sp>
      <p:sp>
        <p:nvSpPr>
          <p:cNvPr id="15" name="Text 1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صانع الذكريات التراثية</a:t>
            </a:r>
            <a:endParaRPr lang="ar-SA" sz="1200" dirty="0"/>
          </a:p>
        </p:txBody>
      </p:sp>
      <p:sp>
        <p:nvSpPr>
          <p:cNvPr id="16" name="Text 1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المعايرة  ·  ٦٣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Image 0" descr="C:\Users\user\projects\younes-training\heritage\.pptx-cache\s64-0.jpg"/>
          <p:cNvPicPr>
            <a:picLocks noChangeAspect="1"/>
          </p:cNvPicPr>
          <p:nvPr/>
        </p:nvPicPr>
        <p:blipFill>
          <a:blip r:embed="rId3"/>
          <a:stretch>
            <a:fillRect/>
          </a:stretch>
        </p:blipFill>
        <p:spPr>
          <a:xfrm>
            <a:off x="0" y="0"/>
            <a:ext cx="12191695" cy="6858000"/>
          </a:xfrm>
          <a:prstGeom prst="rect">
            <a:avLst/>
          </a:prstGeom>
        </p:spPr>
      </p:pic>
      <p:pic>
        <p:nvPicPr>
          <p:cNvPr id="3" name="anim-g1-471" descr="C:\Users\user\projects\younes-training\heritage\.pptx-cache\s64-1.jpg"/>
          <p:cNvPicPr>
            <a:picLocks noChangeAspect="1"/>
          </p:cNvPicPr>
          <p:nvPr/>
        </p:nvPicPr>
        <p:blipFill>
          <a:blip r:embed="rId4"/>
          <a:stretch>
            <a:fillRect/>
          </a:stretch>
        </p:blipFill>
        <p:spPr>
          <a:xfrm>
            <a:off x="0" y="0"/>
            <a:ext cx="12191695" cy="6858000"/>
          </a:xfrm>
          <a:prstGeom prst="rect">
            <a:avLst/>
          </a:prstGeom>
        </p:spPr>
      </p:pic>
      <p:pic>
        <p:nvPicPr>
          <p:cNvPr id="4" name="anim-g2-472" descr="C:\Users\user\projects\younes-training\heritage\.pptx-cache\s64-2.jpg"/>
          <p:cNvPicPr>
            <a:picLocks noChangeAspect="1"/>
          </p:cNvPicPr>
          <p:nvPr/>
        </p:nvPicPr>
        <p:blipFill>
          <a:blip r:embed="rId5"/>
          <a:stretch>
            <a:fillRect/>
          </a:stretch>
        </p:blipFill>
        <p:spPr>
          <a:xfrm>
            <a:off x="0" y="0"/>
            <a:ext cx="12191695" cy="6858000"/>
          </a:xfrm>
          <a:prstGeom prst="rect">
            <a:avLst/>
          </a:prstGeom>
        </p:spPr>
      </p:pic>
      <p:pic>
        <p:nvPicPr>
          <p:cNvPr id="5" name="anim-g3-473" descr="C:\Users\user\projects\younes-training\heritage\.pptx-cache\s64-3.jpg"/>
          <p:cNvPicPr>
            <a:picLocks noChangeAspect="1"/>
          </p:cNvPicPr>
          <p:nvPr/>
        </p:nvPicPr>
        <p:blipFill>
          <a:blip r:embed="rId6"/>
          <a:stretch>
            <a:fillRect/>
          </a:stretch>
        </p:blipFill>
        <p:spPr>
          <a:xfrm>
            <a:off x="0" y="0"/>
            <a:ext cx="12191695" cy="6858000"/>
          </a:xfrm>
          <a:prstGeom prst="rect">
            <a:avLst/>
          </a:prstGeom>
        </p:spPr>
      </p:pic>
      <p:pic>
        <p:nvPicPr>
          <p:cNvPr id="6" name="anim-g4-474" descr="C:\Users\user\projects\younes-training\heritage\.pptx-cache\s64-4.jpg"/>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name="Slide 6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خلاصة المحور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marL="0" indent="0" algn="ctr">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الرقم في الكود ليس تخمينًا…</a:t>
            </a:r>
            <a:endParaRPr lang="ar-SA" sz="4400" dirty="0"/>
          </a:p>
          <a:p>
            <a:pPr marL="0" indent="0" algn="ctr">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إنه نتيجة عشر محاولات، وعامل واحد، وسجلّ صادق</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صانع الذكريات التراثية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 المعايرة  ·  ٦٥</a:t>
            </a:r>
            <a:endParaRPr lang="ar-SA" sz="12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marL="0" indent="0" algn="ctr" rtl="1">
              <a:buNone/>
            </a:pPr>
            <a:r>
              <a:rPr lang="ar-SA" altLang="en-US" sz="12000" dirty="0">
                <a:solidFill>
                  <a:srgbClr val="F0CC7A"/>
                </a:solidFill>
                <a:latin typeface="Cairo Black" pitchFamily="34" charset="0"/>
                <a:ea typeface="Cairo Black" pitchFamily="34" charset="-122"/>
                <a:cs typeface="Cairo Black" pitchFamily="34" charset="-120"/>
              </a:rPr>
              <a:t>٧</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marL="0" indent="0" algn="r" rtl="1">
              <a:buNone/>
            </a:pPr>
            <a:r>
              <a:rPr lang="ar-SA" altLang="en-US" sz="2000" b="1" dirty="0">
                <a:solidFill>
                  <a:srgbClr val="D9AE4B"/>
                </a:solidFill>
                <a:latin typeface="Cairo" pitchFamily="34" charset="0"/>
                <a:ea typeface="Cairo" pitchFamily="34" charset="-122"/>
                <a:cs typeface="Cairo" pitchFamily="34" charset="-120"/>
              </a:rPr>
              <a:t>المحور ٧</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marL="0" indent="0" algn="r" rtl="1">
              <a:buNone/>
            </a:pPr>
            <a:r>
              <a:rPr lang="ar-SA" altLang="en-US" sz="5600" dirty="0">
                <a:solidFill>
                  <a:srgbClr val="FFFFFF"/>
                </a:solidFill>
                <a:latin typeface="Cairo Black" pitchFamily="34" charset="0"/>
                <a:ea typeface="Cairo Black" pitchFamily="34" charset="-122"/>
                <a:cs typeface="Cairo Black" pitchFamily="34" charset="-120"/>
              </a:rPr>
              <a:t>🔊 المكوّن الخامس: الصوت</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marL="0" indent="0" algn="r" rtl="1">
              <a:buNone/>
            </a:pPr>
            <a:r>
              <a:rPr lang="ar-SA" altLang="en-US" sz="2200" b="1" dirty="0">
                <a:solidFill>
                  <a:srgbClr val="C9CFE6"/>
                </a:solidFill>
                <a:latin typeface="Cairo" pitchFamily="34" charset="0"/>
                <a:ea typeface="Cairo" pitchFamily="34" charset="-122"/>
                <a:cs typeface="Cairo" pitchFamily="34" charset="-120"/>
              </a:rPr>
              <a:t>DFPlayer Mini وحده… ثم المنصة تصل فتحكي القصة</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صانع الذكريات التراثية</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 ٥. الصوت + القصة  ·  ٦٦</a:t>
            </a:r>
            <a:endParaRPr lang="ar-SA" sz="12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248095" y="457200"/>
            <a:ext cx="5120640" cy="457200"/>
          </a:xfrm>
          <a:prstGeom prst="roundRect">
            <a:avLst>
              <a:gd name="adj" fmla="val 50000"/>
            </a:avLst>
          </a:prstGeom>
          <a:solidFill>
            <a:srgbClr val="F6EBCF"/>
          </a:solidFill>
          <a:ln/>
        </p:spPr>
      </p:sp>
      <p:sp>
        <p:nvSpPr>
          <p:cNvPr id="3" name="Text 1"/>
          <p:cNvSpPr/>
          <p:nvPr/>
        </p:nvSpPr>
        <p:spPr>
          <a:xfrm>
            <a:off x="6248095" y="457200"/>
            <a:ext cx="512064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بنهاية هذا المحور تستطيع أن</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أهداف المحور</a:t>
            </a:r>
            <a:endParaRPr lang="ar-SA" sz="3800" dirty="0"/>
          </a:p>
        </p:txBody>
      </p:sp>
      <p:sp>
        <p:nvSpPr>
          <p:cNvPr id="5" name="anim-g1-475"/>
          <p:cNvSpPr/>
          <p:nvPr/>
        </p:nvSpPr>
        <p:spPr>
          <a:xfrm>
            <a:off x="822960" y="1920240"/>
            <a:ext cx="10545775" cy="946404"/>
          </a:xfrm>
          <a:prstGeom prst="roundRect">
            <a:avLst>
              <a:gd name="adj" fmla="val 15459"/>
            </a:avLst>
          </a:prstGeom>
          <a:solidFill>
            <a:srgbClr val="FFFFFF"/>
          </a:solidFill>
          <a:ln w="12700">
            <a:solidFill>
              <a:srgbClr val="E4DCC8"/>
            </a:solidFill>
            <a:prstDash val="solid"/>
          </a:ln>
        </p:spPr>
      </p:sp>
      <p:sp>
        <p:nvSpPr>
          <p:cNvPr id="6" name="anim-g1-476"/>
          <p:cNvSpPr/>
          <p:nvPr/>
        </p:nvSpPr>
        <p:spPr>
          <a:xfrm>
            <a:off x="10573207" y="2109978"/>
            <a:ext cx="566928" cy="566928"/>
          </a:xfrm>
          <a:prstGeom prst="ellipse">
            <a:avLst/>
          </a:prstGeom>
          <a:solidFill>
            <a:srgbClr val="D9AE4B"/>
          </a:solidFill>
          <a:ln/>
        </p:spPr>
      </p:sp>
      <p:sp>
        <p:nvSpPr>
          <p:cNvPr id="7" name="anim-g1-477"/>
          <p:cNvSpPr/>
          <p:nvPr/>
        </p:nvSpPr>
        <p:spPr>
          <a:xfrm>
            <a:off x="10573207" y="2109978"/>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478"/>
          <p:cNvSpPr/>
          <p:nvPr/>
        </p:nvSpPr>
        <p:spPr>
          <a:xfrm>
            <a:off x="1097280" y="1920240"/>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تجهّز بطاقة الذاكرة بأسماء ملفات صحيحة</a:t>
            </a:r>
            <a:endParaRPr lang="ar-SA" sz="2400" dirty="0"/>
          </a:p>
        </p:txBody>
      </p:sp>
      <p:sp>
        <p:nvSpPr>
          <p:cNvPr id="9" name="anim-g2-479"/>
          <p:cNvSpPr/>
          <p:nvPr/>
        </p:nvSpPr>
        <p:spPr>
          <a:xfrm>
            <a:off x="822960" y="2976372"/>
            <a:ext cx="10545775" cy="946404"/>
          </a:xfrm>
          <a:prstGeom prst="roundRect">
            <a:avLst>
              <a:gd name="adj" fmla="val 15459"/>
            </a:avLst>
          </a:prstGeom>
          <a:solidFill>
            <a:srgbClr val="FFFFFF"/>
          </a:solidFill>
          <a:ln w="12700">
            <a:solidFill>
              <a:srgbClr val="E4DCC8"/>
            </a:solidFill>
            <a:prstDash val="solid"/>
          </a:ln>
        </p:spPr>
      </p:sp>
      <p:sp>
        <p:nvSpPr>
          <p:cNvPr id="10" name="anim-g2-480"/>
          <p:cNvSpPr/>
          <p:nvPr/>
        </p:nvSpPr>
        <p:spPr>
          <a:xfrm>
            <a:off x="10573207" y="3166110"/>
            <a:ext cx="566928" cy="566928"/>
          </a:xfrm>
          <a:prstGeom prst="ellipse">
            <a:avLst/>
          </a:prstGeom>
          <a:solidFill>
            <a:srgbClr val="D9AE4B"/>
          </a:solidFill>
          <a:ln/>
        </p:spPr>
      </p:sp>
      <p:sp>
        <p:nvSpPr>
          <p:cNvPr id="11" name="anim-g2-481"/>
          <p:cNvSpPr/>
          <p:nvPr/>
        </p:nvSpPr>
        <p:spPr>
          <a:xfrm>
            <a:off x="10573207" y="3166110"/>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482"/>
          <p:cNvSpPr/>
          <p:nvPr/>
        </p:nvSpPr>
        <p:spPr>
          <a:xfrm>
            <a:off x="1097280" y="2976372"/>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توصل المشغّل على المنفذ التسلسلي الثاني</a:t>
            </a:r>
            <a:endParaRPr lang="ar-SA" sz="2400" dirty="0"/>
          </a:p>
        </p:txBody>
      </p:sp>
      <p:sp>
        <p:nvSpPr>
          <p:cNvPr id="13" name="anim-g3-483"/>
          <p:cNvSpPr/>
          <p:nvPr/>
        </p:nvSpPr>
        <p:spPr>
          <a:xfrm>
            <a:off x="822960" y="4032504"/>
            <a:ext cx="10545775" cy="946404"/>
          </a:xfrm>
          <a:prstGeom prst="roundRect">
            <a:avLst>
              <a:gd name="adj" fmla="val 15459"/>
            </a:avLst>
          </a:prstGeom>
          <a:solidFill>
            <a:srgbClr val="FFFFFF"/>
          </a:solidFill>
          <a:ln w="12700">
            <a:solidFill>
              <a:srgbClr val="E4DCC8"/>
            </a:solidFill>
            <a:prstDash val="solid"/>
          </a:ln>
        </p:spPr>
      </p:sp>
      <p:sp>
        <p:nvSpPr>
          <p:cNvPr id="14" name="anim-g3-484"/>
          <p:cNvSpPr/>
          <p:nvPr/>
        </p:nvSpPr>
        <p:spPr>
          <a:xfrm>
            <a:off x="10573207" y="4222242"/>
            <a:ext cx="566928" cy="566928"/>
          </a:xfrm>
          <a:prstGeom prst="ellipse">
            <a:avLst/>
          </a:prstGeom>
          <a:solidFill>
            <a:srgbClr val="D9AE4B"/>
          </a:solidFill>
          <a:ln/>
        </p:spPr>
      </p:sp>
      <p:sp>
        <p:nvSpPr>
          <p:cNvPr id="15" name="anim-g3-485"/>
          <p:cNvSpPr/>
          <p:nvPr/>
        </p:nvSpPr>
        <p:spPr>
          <a:xfrm>
            <a:off x="10573207" y="4222242"/>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486"/>
          <p:cNvSpPr/>
          <p:nvPr/>
        </p:nvSpPr>
        <p:spPr>
          <a:xfrm>
            <a:off x="1097280" y="4032504"/>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تشغّل ملفًا برقمه وتضبط الصوت</a:t>
            </a:r>
            <a:endParaRPr lang="ar-SA" sz="2400" dirty="0"/>
          </a:p>
        </p:txBody>
      </p:sp>
      <p:sp>
        <p:nvSpPr>
          <p:cNvPr id="17" name="anim-g4-487"/>
          <p:cNvSpPr/>
          <p:nvPr/>
        </p:nvSpPr>
        <p:spPr>
          <a:xfrm>
            <a:off x="822960" y="5088636"/>
            <a:ext cx="10545775" cy="946404"/>
          </a:xfrm>
          <a:prstGeom prst="roundRect">
            <a:avLst>
              <a:gd name="adj" fmla="val 15459"/>
            </a:avLst>
          </a:prstGeom>
          <a:solidFill>
            <a:srgbClr val="FFFFFF"/>
          </a:solidFill>
          <a:ln w="12700">
            <a:solidFill>
              <a:srgbClr val="E4DCC8"/>
            </a:solidFill>
            <a:prstDash val="solid"/>
          </a:ln>
        </p:spPr>
      </p:sp>
      <p:sp>
        <p:nvSpPr>
          <p:cNvPr id="18" name="anim-g4-488"/>
          <p:cNvSpPr/>
          <p:nvPr/>
        </p:nvSpPr>
        <p:spPr>
          <a:xfrm>
            <a:off x="10573207" y="5278374"/>
            <a:ext cx="566928" cy="566928"/>
          </a:xfrm>
          <a:prstGeom prst="ellipse">
            <a:avLst/>
          </a:prstGeom>
          <a:solidFill>
            <a:srgbClr val="D9AE4B"/>
          </a:solidFill>
          <a:ln/>
        </p:spPr>
      </p:sp>
      <p:sp>
        <p:nvSpPr>
          <p:cNvPr id="19" name="anim-g4-489"/>
          <p:cNvSpPr/>
          <p:nvPr/>
        </p:nvSpPr>
        <p:spPr>
          <a:xfrm>
            <a:off x="10573207" y="5278374"/>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490"/>
          <p:cNvSpPr/>
          <p:nvPr/>
        </p:nvSpPr>
        <p:spPr>
          <a:xfrm>
            <a:off x="1097280" y="5088636"/>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تدمج: كل محطة تروي معلومتها</a:t>
            </a:r>
            <a:endParaRPr lang="ar-SA" sz="2400" dirty="0"/>
          </a:p>
        </p:txBody>
      </p:sp>
      <p:sp>
        <p:nvSpPr>
          <p:cNvPr id="21" name="Text 19"/>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صانع الذكريات التراثية</a:t>
            </a:r>
            <a:endParaRPr lang="ar-SA" sz="1200" dirty="0"/>
          </a:p>
        </p:txBody>
      </p:sp>
      <p:sp>
        <p:nvSpPr>
          <p:cNvPr id="22" name="Text 20"/>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٥. الصوت + القصة  ·  ٦٧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name="Slide 6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735263" y="457200"/>
            <a:ext cx="2633472" cy="457200"/>
          </a:xfrm>
          <a:prstGeom prst="roundRect">
            <a:avLst>
              <a:gd name="adj" fmla="val 50000"/>
            </a:avLst>
          </a:prstGeom>
          <a:solidFill>
            <a:srgbClr val="F6EBCF"/>
          </a:solidFill>
          <a:ln/>
        </p:spPr>
      </p:sp>
      <p:sp>
        <p:nvSpPr>
          <p:cNvPr id="3" name="Text 1"/>
          <p:cNvSpPr/>
          <p:nvPr/>
        </p:nvSpPr>
        <p:spPr>
          <a:xfrm>
            <a:off x="8735263" y="457200"/>
            <a:ext cx="2633472"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بطاقة الذاكرة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ملفات مرقّمة… ومحتوى قابل للتغيير</a:t>
            </a:r>
            <a:endParaRPr lang="ar-SA" sz="3200" dirty="0"/>
          </a:p>
        </p:txBody>
      </p:sp>
      <p:sp>
        <p:nvSpPr>
          <p:cNvPr id="5" name="anim-g1-491"/>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492"/>
          <p:cNvSpPr/>
          <p:nvPr/>
        </p:nvSpPr>
        <p:spPr>
          <a:xfrm>
            <a:off x="10527487" y="2267712"/>
            <a:ext cx="566928" cy="566928"/>
          </a:xfrm>
          <a:prstGeom prst="roundRect">
            <a:avLst>
              <a:gd name="adj" fmla="val 32258"/>
            </a:avLst>
          </a:prstGeom>
          <a:solidFill>
            <a:srgbClr val="F7E6BC"/>
          </a:solidFill>
          <a:ln/>
        </p:spPr>
      </p:sp>
      <p:sp>
        <p:nvSpPr>
          <p:cNvPr id="7" name="anim-g1-493"/>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494"/>
          <p:cNvSpPr/>
          <p:nvPr/>
        </p:nvSpPr>
        <p:spPr>
          <a:xfrm>
            <a:off x="8310677"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0001.mp3</a:t>
            </a:r>
            <a:endParaRPr lang="ar-SA" sz="2200" dirty="0"/>
          </a:p>
        </p:txBody>
      </p:sp>
      <p:sp>
        <p:nvSpPr>
          <p:cNvPr id="9" name="anim-g1-495"/>
          <p:cNvSpPr/>
          <p:nvPr/>
        </p:nvSpPr>
        <p:spPr>
          <a:xfrm>
            <a:off x="8310677"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الترحيب</a:t>
            </a:r>
            <a:endParaRPr lang="ar-SA" sz="1900" dirty="0"/>
          </a:p>
        </p:txBody>
      </p:sp>
      <p:sp>
        <p:nvSpPr>
          <p:cNvPr id="10" name="anim-g2-496"/>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497"/>
          <p:cNvSpPr/>
          <p:nvPr/>
        </p:nvSpPr>
        <p:spPr>
          <a:xfrm>
            <a:off x="6920789" y="2267712"/>
            <a:ext cx="566928" cy="566928"/>
          </a:xfrm>
          <a:prstGeom prst="roundRect">
            <a:avLst>
              <a:gd name="adj" fmla="val 32258"/>
            </a:avLst>
          </a:prstGeom>
          <a:solidFill>
            <a:srgbClr val="F7E6BC"/>
          </a:solidFill>
          <a:ln/>
        </p:spPr>
      </p:sp>
      <p:sp>
        <p:nvSpPr>
          <p:cNvPr id="12" name="anim-g2-498"/>
          <p:cNvSpPr/>
          <p:nvPr/>
        </p:nvSpPr>
        <p:spPr>
          <a:xfrm>
            <a:off x="6920789"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499"/>
          <p:cNvSpPr/>
          <p:nvPr/>
        </p:nvSpPr>
        <p:spPr>
          <a:xfrm>
            <a:off x="4703978"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0002 – 0005</a:t>
            </a:r>
            <a:endParaRPr lang="ar-SA" sz="2200" dirty="0"/>
          </a:p>
        </p:txBody>
      </p:sp>
      <p:sp>
        <p:nvSpPr>
          <p:cNvPr id="14" name="anim-g2-500"/>
          <p:cNvSpPr/>
          <p:nvPr/>
        </p:nvSpPr>
        <p:spPr>
          <a:xfrm>
            <a:off x="4703978"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الخيمة، الفخار، الملابس، السيف</a:t>
            </a:r>
            <a:endParaRPr lang="ar-SA" sz="1900" dirty="0"/>
          </a:p>
        </p:txBody>
      </p:sp>
      <p:sp>
        <p:nvSpPr>
          <p:cNvPr id="15" name="anim-g3-501"/>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502"/>
          <p:cNvSpPr/>
          <p:nvPr/>
        </p:nvSpPr>
        <p:spPr>
          <a:xfrm>
            <a:off x="3314090" y="2267712"/>
            <a:ext cx="566928" cy="566928"/>
          </a:xfrm>
          <a:prstGeom prst="roundRect">
            <a:avLst>
              <a:gd name="adj" fmla="val 32258"/>
            </a:avLst>
          </a:prstGeom>
          <a:solidFill>
            <a:srgbClr val="F7E6BC"/>
          </a:solidFill>
          <a:ln/>
        </p:spPr>
      </p:sp>
      <p:sp>
        <p:nvSpPr>
          <p:cNvPr id="17" name="anim-g3-503"/>
          <p:cNvSpPr/>
          <p:nvPr/>
        </p:nvSpPr>
        <p:spPr>
          <a:xfrm>
            <a:off x="331409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504"/>
          <p:cNvSpPr/>
          <p:nvPr/>
        </p:nvSpPr>
        <p:spPr>
          <a:xfrm>
            <a:off x="1097280"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0006 · 0007</a:t>
            </a:r>
            <a:endParaRPr lang="ar-SA" sz="2200" dirty="0"/>
          </a:p>
        </p:txBody>
      </p:sp>
      <p:sp>
        <p:nvSpPr>
          <p:cNvPr id="19" name="anim-g3-505"/>
          <p:cNvSpPr/>
          <p:nvPr/>
        </p:nvSpPr>
        <p:spPr>
          <a:xfrm>
            <a:off x="1097280"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أحسنت · حاول مرة أخرى</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صانع الذكريات التراثية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٥. الصوت + القصة  ·  ٦٨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Image 0" descr="C:\Users\user\projects\younes-training\heritage\.pptx-cache\s69-0.jpg"/>
          <p:cNvPicPr>
            <a:picLocks noChangeAspect="1"/>
          </p:cNvPicPr>
          <p:nvPr/>
        </p:nvPicPr>
        <p:blipFill>
          <a:blip r:embed="rId3"/>
          <a:stretch>
            <a:fillRect/>
          </a:stretch>
        </p:blipFill>
        <p:spPr>
          <a:xfrm>
            <a:off x="0" y="0"/>
            <a:ext cx="12191695" cy="6858000"/>
          </a:xfrm>
          <a:prstGeom prst="rect">
            <a:avLst/>
          </a:prstGeom>
        </p:spPr>
      </p:pic>
      <p:pic>
        <p:nvPicPr>
          <p:cNvPr id="3" name="anim-g1-506" descr="C:\Users\user\projects\younes-training\heritage\.pptx-cache\s69-1.jpg"/>
          <p:cNvPicPr>
            <a:picLocks noChangeAspect="1"/>
          </p:cNvPicPr>
          <p:nvPr/>
        </p:nvPicPr>
        <p:blipFill>
          <a:blip r:embed="rId4"/>
          <a:stretch>
            <a:fillRect/>
          </a:stretch>
        </p:blipFill>
        <p:spPr>
          <a:xfrm>
            <a:off x="0" y="0"/>
            <a:ext cx="12191695" cy="6858000"/>
          </a:xfrm>
          <a:prstGeom prst="rect">
            <a:avLst/>
          </a:prstGeom>
        </p:spPr>
      </p:pic>
      <p:pic>
        <p:nvPicPr>
          <p:cNvPr id="4" name="anim-g2-507" descr="C:\Users\user\projects\younes-training\heritage\.pptx-cache\s69-2.jpg"/>
          <p:cNvPicPr>
            <a:picLocks noChangeAspect="1"/>
          </p:cNvPicPr>
          <p:nvPr/>
        </p:nvPicPr>
        <p:blipFill>
          <a:blip r:embed="rId5"/>
          <a:stretch>
            <a:fillRect/>
          </a:stretch>
        </p:blipFill>
        <p:spPr>
          <a:xfrm>
            <a:off x="0" y="0"/>
            <a:ext cx="12191695" cy="6858000"/>
          </a:xfrm>
          <a:prstGeom prst="rect">
            <a:avLst/>
          </a:prstGeom>
        </p:spPr>
      </p:pic>
      <p:pic>
        <p:nvPicPr>
          <p:cNvPr id="5" name="anim-g3-508" descr="C:\Users\user\projects\younes-training\heritage\.pptx-cache\s69-3.jpg"/>
          <p:cNvPicPr>
            <a:picLocks noChangeAspect="1"/>
          </p:cNvPicPr>
          <p:nvPr/>
        </p:nvPicPr>
        <p:blipFill>
          <a:blip r:embed="rId6"/>
          <a:stretch>
            <a:fillRect/>
          </a:stretch>
        </p:blipFill>
        <p:spPr>
          <a:xfrm>
            <a:off x="0" y="0"/>
            <a:ext cx="12191695" cy="6858000"/>
          </a:xfrm>
          <a:prstGeom prst="rect">
            <a:avLst/>
          </a:prstGeom>
        </p:spPr>
      </p:pic>
      <p:pic>
        <p:nvPicPr>
          <p:cNvPr id="6" name="anim-g4-509" descr="C:\Users\user\projects\younes-training\heritage\.pptx-cache\s69-4.jpg"/>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Image 0" descr="C:\Users\user\projects\younes-training\heritage\.pptx-cache\s70.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Image 0" descr="C:\Users\user\projects\younes-training\heritage\.pptx-cache\s71.jpg"/>
          <p:cNvPicPr>
            <a:picLocks noChangeAspect="1"/>
          </p:cNvPicPr>
          <p:nvPr/>
        </p:nvPicPr>
        <p:blipFill>
          <a:blip r:embed="rId17"/>
          <a:stretch>
            <a:fillRect/>
          </a:stretch>
        </p:blipFill>
        <p:spPr>
          <a:xfrm>
            <a:off x="0" y="0"/>
            <a:ext cx="12191695" cy="6858000"/>
          </a:xfrm>
          <a:prstGeom prst="rect">
            <a:avLst/>
          </a:prstGeom>
        </p:spPr>
      </p:pic>
      <p:pic>
        <p:nvPicPr>
          <p:cNvPr id="4" name="audio-510">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18"/>
          <a:stretch>
            <a:fillRect/>
          </a:stretch>
        </p:blipFill>
        <p:spPr>
          <a:xfrm>
            <a:off x="6273643" y="2050355"/>
            <a:ext cx="368291" cy="368300"/>
          </a:xfrm>
          <a:prstGeom prst="rect">
            <a:avLst/>
          </a:prstGeom>
        </p:spPr>
      </p:pic>
      <p:pic>
        <p:nvPicPr>
          <p:cNvPr id="7" name="audio-511">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18"/>
          <a:stretch>
            <a:fillRect/>
          </a:stretch>
        </p:blipFill>
        <p:spPr>
          <a:xfrm>
            <a:off x="971526" y="2050355"/>
            <a:ext cx="368291" cy="368300"/>
          </a:xfrm>
          <a:prstGeom prst="rect">
            <a:avLst/>
          </a:prstGeom>
        </p:spPr>
      </p:pic>
      <p:pic>
        <p:nvPicPr>
          <p:cNvPr id="10" name="audio-512">
            <a:hlinkClick r:id="" action="ppaction://media"/>
          </p:cNvPr>
          <p:cNvPicPr>
            <a:picLocks noChangeAspect="1"/>
          </p:cNvPicPr>
          <p:nvPr>
            <a:audioFile r:link="rId6"/>
            <p:extLst>
              <p:ext uri="{DAA4B4D4-6D71-4841-9C94-3DE7FCFB9230}">
                <p14:media xmlns:p14="http://schemas.microsoft.com/office/powerpoint/2010/main" r:embed="rId5"/>
              </p:ext>
            </p:extLst>
          </p:nvPr>
        </p:nvPicPr>
        <p:blipFill>
          <a:blip r:embed="rId18"/>
          <a:stretch>
            <a:fillRect/>
          </a:stretch>
        </p:blipFill>
        <p:spPr>
          <a:xfrm>
            <a:off x="6273643" y="2887266"/>
            <a:ext cx="368291" cy="368300"/>
          </a:xfrm>
          <a:prstGeom prst="rect">
            <a:avLst/>
          </a:prstGeom>
        </p:spPr>
      </p:pic>
      <p:pic>
        <p:nvPicPr>
          <p:cNvPr id="13" name="audio-513">
            <a:hlinkClick r:id="" action="ppaction://media"/>
          </p:cNvPr>
          <p:cNvPicPr>
            <a:picLocks noChangeAspect="1"/>
          </p:cNvPicPr>
          <p:nvPr>
            <a:audioFile r:link="rId8"/>
            <p:extLst>
              <p:ext uri="{DAA4B4D4-6D71-4841-9C94-3DE7FCFB9230}">
                <p14:media xmlns:p14="http://schemas.microsoft.com/office/powerpoint/2010/main" r:embed="rId7"/>
              </p:ext>
            </p:extLst>
          </p:nvPr>
        </p:nvPicPr>
        <p:blipFill>
          <a:blip r:embed="rId18"/>
          <a:stretch>
            <a:fillRect/>
          </a:stretch>
        </p:blipFill>
        <p:spPr>
          <a:xfrm>
            <a:off x="971526" y="2887266"/>
            <a:ext cx="368291" cy="368300"/>
          </a:xfrm>
          <a:prstGeom prst="rect">
            <a:avLst/>
          </a:prstGeom>
        </p:spPr>
      </p:pic>
      <p:pic>
        <p:nvPicPr>
          <p:cNvPr id="16" name="audio-514">
            <a:hlinkClick r:id="" action="ppaction://media"/>
          </p:cNvPr>
          <p:cNvPicPr>
            <a:picLocks noChangeAspect="1"/>
          </p:cNvPicPr>
          <p:nvPr>
            <a:audioFile r:link="rId10"/>
            <p:extLst>
              <p:ext uri="{DAA4B4D4-6D71-4841-9C94-3DE7FCFB9230}">
                <p14:media xmlns:p14="http://schemas.microsoft.com/office/powerpoint/2010/main" r:embed="rId9"/>
              </p:ext>
            </p:extLst>
          </p:nvPr>
        </p:nvPicPr>
        <p:blipFill>
          <a:blip r:embed="rId18"/>
          <a:stretch>
            <a:fillRect/>
          </a:stretch>
        </p:blipFill>
        <p:spPr>
          <a:xfrm>
            <a:off x="6273643" y="3724176"/>
            <a:ext cx="368291" cy="368300"/>
          </a:xfrm>
          <a:prstGeom prst="rect">
            <a:avLst/>
          </a:prstGeom>
        </p:spPr>
      </p:pic>
      <p:pic>
        <p:nvPicPr>
          <p:cNvPr id="19" name="audio-515">
            <a:hlinkClick r:id="" action="ppaction://media"/>
          </p:cNvPr>
          <p:cNvPicPr>
            <a:picLocks noChangeAspect="1"/>
          </p:cNvPicPr>
          <p:nvPr>
            <a:audioFile r:link="rId12"/>
            <p:extLst>
              <p:ext uri="{DAA4B4D4-6D71-4841-9C94-3DE7FCFB9230}">
                <p14:media xmlns:p14="http://schemas.microsoft.com/office/powerpoint/2010/main" r:embed="rId11"/>
              </p:ext>
            </p:extLst>
          </p:nvPr>
        </p:nvPicPr>
        <p:blipFill>
          <a:blip r:embed="rId18"/>
          <a:stretch>
            <a:fillRect/>
          </a:stretch>
        </p:blipFill>
        <p:spPr>
          <a:xfrm>
            <a:off x="971526" y="3724176"/>
            <a:ext cx="368291" cy="368300"/>
          </a:xfrm>
          <a:prstGeom prst="rect">
            <a:avLst/>
          </a:prstGeom>
        </p:spPr>
      </p:pic>
      <p:pic>
        <p:nvPicPr>
          <p:cNvPr id="22" name="audio-516">
            <a:hlinkClick r:id="" action="ppaction://media"/>
          </p:cNvPr>
          <p:cNvPicPr>
            <a:picLocks noChangeAspect="1"/>
          </p:cNvPicPr>
          <p:nvPr>
            <a:audioFile r:link="rId14"/>
            <p:extLst>
              <p:ext uri="{DAA4B4D4-6D71-4841-9C94-3DE7FCFB9230}">
                <p14:media xmlns:p14="http://schemas.microsoft.com/office/powerpoint/2010/main" r:embed="rId13"/>
              </p:ext>
            </p:extLst>
          </p:nvPr>
        </p:nvPicPr>
        <p:blipFill>
          <a:blip r:embed="rId18"/>
          <a:stretch>
            <a:fillRect/>
          </a:stretch>
        </p:blipFill>
        <p:spPr>
          <a:xfrm>
            <a:off x="6273643" y="4561086"/>
            <a:ext cx="368291" cy="368300"/>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4"/>
                    </p:tgtEl>
                  </p:cond>
                </p:stCondLst>
                <p:endSync evt="end" delay="0">
                  <p:rtn val="all"/>
                </p:endSync>
                <p:childTnLst>
                  <p:par>
                    <p:cTn id="3" fill="hold">
                      <p:stCondLst>
                        <p:cond delay="0"/>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nextCondLst>
                <p:cond evt="onClick" delay="0">
                  <p:tgtEl>
                    <p:spTgt spid="4"/>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1" presetClass="mediacall" presetSubtype="0" fill="hold" nodeType="clickEffect">
                                  <p:stCondLst>
                                    <p:cond delay="0"/>
                                  </p:stCondLst>
                                  <p:childTnLst>
                                    <p:cmd type="call" cmd="playFrom(0.0)">
                                      <p:cBhvr>
                                        <p:cTn id="11" dur="1" fill="hold"/>
                                        <p:tgtEl>
                                          <p:spTgt spid="7"/>
                                        </p:tgtEl>
                                      </p:cBhvr>
                                    </p:cmd>
                                  </p:childTnLst>
                                </p:cTn>
                              </p:par>
                            </p:childTnLst>
                          </p:cTn>
                        </p:par>
                      </p:childTnLst>
                    </p:cTn>
                  </p:par>
                </p:childTnLst>
              </p:cTn>
              <p:nextCondLst>
                <p:cond evt="onClick" delay="0">
                  <p:tgtEl>
                    <p:spTgt spid="7"/>
                  </p:tgtEl>
                </p:cond>
              </p:nextCondLst>
            </p:seq>
            <p:seq concurrent="1" nextAc="seek">
              <p:cTn id="12" restart="whenNotActive" fill="hold" evtFilter="cancelBubble" nodeType="interactiveSeq">
                <p:stCondLst>
                  <p:cond evt="onClick" delay="0">
                    <p:tgtEl>
                      <p:spTgt spid="10"/>
                    </p:tgtEl>
                  </p:cond>
                </p:stCondLst>
                <p:endSync evt="end" delay="0">
                  <p:rtn val="all"/>
                </p:endSync>
                <p:childTnLst>
                  <p:par>
                    <p:cTn id="13" fill="hold">
                      <p:stCondLst>
                        <p:cond delay="0"/>
                      </p:stCondLst>
                      <p:childTnLst>
                        <p:par>
                          <p:cTn id="14" fill="hold">
                            <p:stCondLst>
                              <p:cond delay="0"/>
                            </p:stCondLst>
                            <p:childTnLst>
                              <p:par>
                                <p:cTn id="15" presetID="1" presetClass="mediacall" presetSubtype="0" fill="hold" nodeType="clickEffect">
                                  <p:stCondLst>
                                    <p:cond delay="0"/>
                                  </p:stCondLst>
                                  <p:childTnLst>
                                    <p:cmd type="call" cmd="playFrom(0.0)">
                                      <p:cBhvr>
                                        <p:cTn id="16" dur="1" fill="hold"/>
                                        <p:tgtEl>
                                          <p:spTgt spid="10"/>
                                        </p:tgtEl>
                                      </p:cBhvr>
                                    </p:cmd>
                                  </p:childTnLst>
                                </p:cTn>
                              </p:par>
                            </p:childTnLst>
                          </p:cTn>
                        </p:par>
                      </p:childTnLst>
                    </p:cTn>
                  </p:par>
                </p:childTnLst>
              </p:cTn>
              <p:nextCondLst>
                <p:cond evt="onClick" delay="0">
                  <p:tgtEl>
                    <p:spTgt spid="10"/>
                  </p:tgtEl>
                </p:cond>
              </p:nextCondLst>
            </p:seq>
            <p:seq concurrent="1" nextAc="seek">
              <p:cTn id="17" restart="whenNotActive" fill="hold" evtFilter="cancelBubble" nodeType="interactiveSeq">
                <p:stCondLst>
                  <p:cond evt="onClick" delay="0">
                    <p:tgtEl>
                      <p:spTgt spid="13"/>
                    </p:tgtEl>
                  </p:cond>
                </p:stCondLst>
                <p:endSync evt="end" delay="0">
                  <p:rtn val="all"/>
                </p:endSync>
                <p:childTnLst>
                  <p:par>
                    <p:cTn id="18" fill="hold">
                      <p:stCondLst>
                        <p:cond delay="0"/>
                      </p:stCondLst>
                      <p:childTnLst>
                        <p:par>
                          <p:cTn id="19" fill="hold">
                            <p:stCondLst>
                              <p:cond delay="0"/>
                            </p:stCondLst>
                            <p:childTnLst>
                              <p:par>
                                <p:cTn id="20" presetID="1" presetClass="mediacall" presetSubtype="0" fill="hold" nodeType="clickEffect">
                                  <p:stCondLst>
                                    <p:cond delay="0"/>
                                  </p:stCondLst>
                                  <p:childTnLst>
                                    <p:cmd type="call" cmd="playFrom(0.0)">
                                      <p:cBhvr>
                                        <p:cTn id="21" dur="1" fill="hold"/>
                                        <p:tgtEl>
                                          <p:spTgt spid="13"/>
                                        </p:tgtEl>
                                      </p:cBhvr>
                                    </p:cmd>
                                  </p:childTnLst>
                                </p:cTn>
                              </p:par>
                            </p:childTnLst>
                          </p:cTn>
                        </p:par>
                      </p:childTnLst>
                    </p:cTn>
                  </p:par>
                </p:childTnLst>
              </p:cTn>
              <p:nextCondLst>
                <p:cond evt="onClick" delay="0">
                  <p:tgtEl>
                    <p:spTgt spid="13"/>
                  </p:tgtEl>
                </p:cond>
              </p:nextCondLst>
            </p:seq>
            <p:seq concurrent="1" nextAc="seek">
              <p:cTn id="22" restart="whenNotActive" fill="hold" evtFilter="cancelBubble" nodeType="interactiveSeq">
                <p:stCondLst>
                  <p:cond evt="onClick" delay="0">
                    <p:tgtEl>
                      <p:spTgt spid="16"/>
                    </p:tgtEl>
                  </p:cond>
                </p:stCondLst>
                <p:endSync evt="end" delay="0">
                  <p:rtn val="all"/>
                </p:endSync>
                <p:childTnLst>
                  <p:par>
                    <p:cTn id="23" fill="hold">
                      <p:stCondLst>
                        <p:cond delay="0"/>
                      </p:stCondLst>
                      <p:childTnLst>
                        <p:par>
                          <p:cTn id="24" fill="hold">
                            <p:stCondLst>
                              <p:cond delay="0"/>
                            </p:stCondLst>
                            <p:childTnLst>
                              <p:par>
                                <p:cTn id="25" presetID="1" presetClass="mediacall" presetSubtype="0" fill="hold" nodeType="clickEffect">
                                  <p:stCondLst>
                                    <p:cond delay="0"/>
                                  </p:stCondLst>
                                  <p:childTnLst>
                                    <p:cmd type="call" cmd="playFrom(0.0)">
                                      <p:cBhvr>
                                        <p:cTn id="26" dur="1" fill="hold"/>
                                        <p:tgtEl>
                                          <p:spTgt spid="16"/>
                                        </p:tgtEl>
                                      </p:cBhvr>
                                    </p:cmd>
                                  </p:childTnLst>
                                </p:cTn>
                              </p:par>
                            </p:childTnLst>
                          </p:cTn>
                        </p:par>
                      </p:childTnLst>
                    </p:cTn>
                  </p:par>
                </p:childTnLst>
              </p:cTn>
              <p:nextCondLst>
                <p:cond evt="onClick" delay="0">
                  <p:tgtEl>
                    <p:spTgt spid="16"/>
                  </p:tgtEl>
                </p:cond>
              </p:nextCondLst>
            </p:seq>
            <p:seq concurrent="1" nextAc="seek">
              <p:cTn id="27" restart="whenNotActive" fill="hold" evtFilter="cancelBubble" nodeType="interactiveSeq">
                <p:stCondLst>
                  <p:cond evt="onClick" delay="0">
                    <p:tgtEl>
                      <p:spTgt spid="19"/>
                    </p:tgtEl>
                  </p:cond>
                </p:stCondLst>
                <p:endSync evt="end" delay="0">
                  <p:rtn val="all"/>
                </p:endSync>
                <p:childTnLst>
                  <p:par>
                    <p:cTn id="28" fill="hold">
                      <p:stCondLst>
                        <p:cond delay="0"/>
                      </p:stCondLst>
                      <p:childTnLst>
                        <p:par>
                          <p:cTn id="29" fill="hold">
                            <p:stCondLst>
                              <p:cond delay="0"/>
                            </p:stCondLst>
                            <p:childTnLst>
                              <p:par>
                                <p:cTn id="30" presetID="1" presetClass="mediacall" presetSubtype="0" fill="hold" nodeType="clickEffect">
                                  <p:stCondLst>
                                    <p:cond delay="0"/>
                                  </p:stCondLst>
                                  <p:childTnLst>
                                    <p:cmd type="call" cmd="playFrom(0.0)">
                                      <p:cBhvr>
                                        <p:cTn id="31" dur="1" fill="hold"/>
                                        <p:tgtEl>
                                          <p:spTgt spid="19"/>
                                        </p:tgtEl>
                                      </p:cBhvr>
                                    </p:cmd>
                                  </p:childTnLst>
                                </p:cTn>
                              </p:par>
                            </p:childTnLst>
                          </p:cTn>
                        </p:par>
                      </p:childTnLst>
                    </p:cTn>
                  </p:par>
                </p:childTnLst>
              </p:cTn>
              <p:nextCondLst>
                <p:cond evt="onClick" delay="0">
                  <p:tgtEl>
                    <p:spTgt spid="19"/>
                  </p:tgtEl>
                </p:cond>
              </p:nextCondLst>
            </p:seq>
            <p:seq concurrent="1" nextAc="seek">
              <p:cTn id="32" restart="whenNotActive" fill="hold" evtFilter="cancelBubble" nodeType="interactiveSeq">
                <p:stCondLst>
                  <p:cond evt="onClick" delay="0">
                    <p:tgtEl>
                      <p:spTgt spid="22"/>
                    </p:tgtEl>
                  </p:cond>
                </p:stCondLst>
                <p:endSync evt="end" delay="0">
                  <p:rtn val="all"/>
                </p:endSync>
                <p:childTnLst>
                  <p:par>
                    <p:cTn id="33" fill="hold">
                      <p:stCondLst>
                        <p:cond delay="0"/>
                      </p:stCondLst>
                      <p:childTnLst>
                        <p:par>
                          <p:cTn id="34" fill="hold">
                            <p:stCondLst>
                              <p:cond delay="0"/>
                            </p:stCondLst>
                            <p:childTnLst>
                              <p:par>
                                <p:cTn id="35" presetID="1" presetClass="mediacall" presetSubtype="0" fill="hold" nodeType="clickEffect">
                                  <p:stCondLst>
                                    <p:cond delay="0"/>
                                  </p:stCondLst>
                                  <p:childTnLst>
                                    <p:cmd type="call" cmd="playFrom(0.0)">
                                      <p:cBhvr>
                                        <p:cTn id="36" dur="1" fill="hold"/>
                                        <p:tgtEl>
                                          <p:spTgt spid="22"/>
                                        </p:tgtEl>
                                      </p:cBhvr>
                                    </p:cmd>
                                  </p:childTnLst>
                                </p:cTn>
                              </p:par>
                            </p:childTnLst>
                          </p:cTn>
                        </p:par>
                      </p:childTnLst>
                    </p:cTn>
                  </p:par>
                </p:childTnLst>
              </p:cTn>
              <p:nextCondLst>
                <p:cond evt="onClick" delay="0">
                  <p:tgtEl>
                    <p:spTgt spid="22"/>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Image 0" descr="C:\Users\user\projects\younes-training\heritage\.pptx-cache\s72-0.jpg"/>
          <p:cNvPicPr>
            <a:picLocks noChangeAspect="1"/>
          </p:cNvPicPr>
          <p:nvPr/>
        </p:nvPicPr>
        <p:blipFill>
          <a:blip r:embed="rId3"/>
          <a:stretch>
            <a:fillRect/>
          </a:stretch>
        </p:blipFill>
        <p:spPr>
          <a:xfrm>
            <a:off x="0" y="0"/>
            <a:ext cx="12191695" cy="6858000"/>
          </a:xfrm>
          <a:prstGeom prst="rect">
            <a:avLst/>
          </a:prstGeom>
        </p:spPr>
      </p:pic>
      <p:pic>
        <p:nvPicPr>
          <p:cNvPr id="3" name="anim-g1-517" descr="C:\Users\user\projects\younes-training\heritage\.pptx-cache\s72-1.jpg"/>
          <p:cNvPicPr>
            <a:picLocks noChangeAspect="1"/>
          </p:cNvPicPr>
          <p:nvPr/>
        </p:nvPicPr>
        <p:blipFill>
          <a:blip r:embed="rId4"/>
          <a:stretch>
            <a:fillRect/>
          </a:stretch>
        </p:blipFill>
        <p:spPr>
          <a:xfrm>
            <a:off x="0" y="0"/>
            <a:ext cx="12191695" cy="6858000"/>
          </a:xfrm>
          <a:prstGeom prst="rect">
            <a:avLst/>
          </a:prstGeom>
        </p:spPr>
      </p:pic>
      <p:pic>
        <p:nvPicPr>
          <p:cNvPr id="4" name="anim-g2-518" descr="C:\Users\user\projects\younes-training\heritage\.pptx-cache\s72-2.jpg"/>
          <p:cNvPicPr>
            <a:picLocks noChangeAspect="1"/>
          </p:cNvPicPr>
          <p:nvPr/>
        </p:nvPicPr>
        <p:blipFill>
          <a:blip r:embed="rId5"/>
          <a:stretch>
            <a:fillRect/>
          </a:stretch>
        </p:blipFill>
        <p:spPr>
          <a:xfrm>
            <a:off x="0" y="0"/>
            <a:ext cx="12191695" cy="6858000"/>
          </a:xfrm>
          <a:prstGeom prst="rect">
            <a:avLst/>
          </a:prstGeom>
        </p:spPr>
      </p:pic>
      <p:pic>
        <p:nvPicPr>
          <p:cNvPr id="5" name="anim-g3-519" descr="C:\Users\user\projects\younes-training\heritage\.pptx-cache\s72-3.jpg"/>
          <p:cNvPicPr>
            <a:picLocks noChangeAspect="1"/>
          </p:cNvPicPr>
          <p:nvPr/>
        </p:nvPicPr>
        <p:blipFill>
          <a:blip r:embed="rId6"/>
          <a:stretch>
            <a:fillRect/>
          </a:stretch>
        </p:blipFill>
        <p:spPr>
          <a:xfrm>
            <a:off x="0" y="0"/>
            <a:ext cx="12191695" cy="6858000"/>
          </a:xfrm>
          <a:prstGeom prst="rect">
            <a:avLst/>
          </a:prstGeom>
        </p:spPr>
      </p:pic>
      <p:pic>
        <p:nvPicPr>
          <p:cNvPr id="6" name="anim-g4-520" descr="C:\Users\user\projects\younes-training\heritage\.pptx-cache\s72-4.jpg"/>
          <p:cNvPicPr>
            <a:picLocks noChangeAspect="1"/>
          </p:cNvPicPr>
          <p:nvPr/>
        </p:nvPicPr>
        <p:blipFill>
          <a:blip r:embed="rId7"/>
          <a:stretch>
            <a:fillRect/>
          </a:stretch>
        </p:blipFill>
        <p:spPr>
          <a:xfrm>
            <a:off x="0" y="0"/>
            <a:ext cx="12191695" cy="6858000"/>
          </a:xfrm>
          <a:prstGeom prst="rect">
            <a:avLst/>
          </a:prstGeom>
        </p:spPr>
      </p:pic>
      <p:pic>
        <p:nvPicPr>
          <p:cNvPr id="7" name="anim-g5-521" descr="C:\Users\user\projects\younes-training\heritage\.pptx-cache\s72-5.jpg"/>
          <p:cNvPicPr>
            <a:picLocks noChangeAspect="1"/>
          </p:cNvPicPr>
          <p:nvPr/>
        </p:nvPicPr>
        <p:blipFill>
          <a:blip r:embed="rId8"/>
          <a:stretch>
            <a:fillRect/>
          </a:stretch>
        </p:blipFill>
        <p:spPr>
          <a:xfrm>
            <a:off x="0" y="0"/>
            <a:ext cx="12191695" cy="6858000"/>
          </a:xfrm>
          <a:prstGeom prst="rect">
            <a:avLst/>
          </a:prstGeom>
        </p:spPr>
      </p:pic>
      <p:pic>
        <p:nvPicPr>
          <p:cNvPr id="8" name="anim-g6-522" descr="C:\Users\user\projects\younes-training\heritage\.pptx-cache\s72-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Image 0" descr="C:\Users\user\projects\younes-training\heritage\.pptx-cache\s73-0.jpg"/>
          <p:cNvPicPr>
            <a:picLocks noChangeAspect="1"/>
          </p:cNvPicPr>
          <p:nvPr/>
        </p:nvPicPr>
        <p:blipFill>
          <a:blip r:embed="rId3"/>
          <a:stretch>
            <a:fillRect/>
          </a:stretch>
        </p:blipFill>
        <p:spPr>
          <a:xfrm>
            <a:off x="0" y="0"/>
            <a:ext cx="12191695" cy="6858000"/>
          </a:xfrm>
          <a:prstGeom prst="rect">
            <a:avLst/>
          </a:prstGeom>
        </p:spPr>
      </p:pic>
      <p:pic>
        <p:nvPicPr>
          <p:cNvPr id="3" name="anim-g1-523" descr="C:\Users\user\projects\younes-training\heritage\.pptx-cache\s73-1.jpg"/>
          <p:cNvPicPr>
            <a:picLocks noChangeAspect="1"/>
          </p:cNvPicPr>
          <p:nvPr/>
        </p:nvPicPr>
        <p:blipFill>
          <a:blip r:embed="rId4"/>
          <a:stretch>
            <a:fillRect/>
          </a:stretch>
        </p:blipFill>
        <p:spPr>
          <a:xfrm>
            <a:off x="0" y="0"/>
            <a:ext cx="12191695" cy="6858000"/>
          </a:xfrm>
          <a:prstGeom prst="rect">
            <a:avLst/>
          </a:prstGeom>
        </p:spPr>
      </p:pic>
      <p:pic>
        <p:nvPicPr>
          <p:cNvPr id="4" name="anim-g2-524" descr="C:\Users\user\projects\younes-training\heritage\.pptx-cache\s73-2.jpg"/>
          <p:cNvPicPr>
            <a:picLocks noChangeAspect="1"/>
          </p:cNvPicPr>
          <p:nvPr/>
        </p:nvPicPr>
        <p:blipFill>
          <a:blip r:embed="rId5"/>
          <a:stretch>
            <a:fillRect/>
          </a:stretch>
        </p:blipFill>
        <p:spPr>
          <a:xfrm>
            <a:off x="0" y="0"/>
            <a:ext cx="12191695" cy="6858000"/>
          </a:xfrm>
          <a:prstGeom prst="rect">
            <a:avLst/>
          </a:prstGeom>
        </p:spPr>
      </p:pic>
      <p:pic>
        <p:nvPicPr>
          <p:cNvPr id="5" name="anim-g3-525" descr="C:\Users\user\projects\younes-training\heritage\.pptx-cache\s73-3.jpg"/>
          <p:cNvPicPr>
            <a:picLocks noChangeAspect="1"/>
          </p:cNvPicPr>
          <p:nvPr/>
        </p:nvPicPr>
        <p:blipFill>
          <a:blip r:embed="rId6"/>
          <a:stretch>
            <a:fillRect/>
          </a:stretch>
        </p:blipFill>
        <p:spPr>
          <a:xfrm>
            <a:off x="0" y="0"/>
            <a:ext cx="12191695" cy="6858000"/>
          </a:xfrm>
          <a:prstGeom prst="rect">
            <a:avLst/>
          </a:prstGeom>
        </p:spPr>
      </p:pic>
      <p:pic>
        <p:nvPicPr>
          <p:cNvPr id="6" name="anim-g4-526" descr="C:\Users\user\projects\younes-training\heritage\.pptx-cache\s73-4.jpg"/>
          <p:cNvPicPr>
            <a:picLocks noChangeAspect="1"/>
          </p:cNvPicPr>
          <p:nvPr/>
        </p:nvPicPr>
        <p:blipFill>
          <a:blip r:embed="rId7"/>
          <a:stretch>
            <a:fillRect/>
          </a:stretch>
        </p:blipFill>
        <p:spPr>
          <a:xfrm>
            <a:off x="0" y="0"/>
            <a:ext cx="12191695" cy="6858000"/>
          </a:xfrm>
          <a:prstGeom prst="rect">
            <a:avLst/>
          </a:prstGeom>
        </p:spPr>
      </p:pic>
      <p:pic>
        <p:nvPicPr>
          <p:cNvPr id="7" name="anim-g5-527" descr="C:\Users\user\projects\younes-training\heritage\.pptx-cache\s73-5.jpg"/>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Image 0" descr="C:\Users\user\projects\younes-training\heritage\.pptx-cache\s74-0.jpg"/>
          <p:cNvPicPr>
            <a:picLocks noChangeAspect="1"/>
          </p:cNvPicPr>
          <p:nvPr/>
        </p:nvPicPr>
        <p:blipFill>
          <a:blip r:embed="rId3"/>
          <a:stretch>
            <a:fillRect/>
          </a:stretch>
        </p:blipFill>
        <p:spPr>
          <a:xfrm>
            <a:off x="0" y="0"/>
            <a:ext cx="12191695" cy="6858000"/>
          </a:xfrm>
          <a:prstGeom prst="rect">
            <a:avLst/>
          </a:prstGeom>
        </p:spPr>
      </p:pic>
      <p:pic>
        <p:nvPicPr>
          <p:cNvPr id="3" name="anim-g1-528" descr="C:\Users\user\projects\younes-training\heritage\.pptx-cache\s74-1.jpg"/>
          <p:cNvPicPr>
            <a:picLocks noChangeAspect="1"/>
          </p:cNvPicPr>
          <p:nvPr/>
        </p:nvPicPr>
        <p:blipFill>
          <a:blip r:embed="rId4"/>
          <a:stretch>
            <a:fillRect/>
          </a:stretch>
        </p:blipFill>
        <p:spPr>
          <a:xfrm>
            <a:off x="0" y="0"/>
            <a:ext cx="12191695" cy="6858000"/>
          </a:xfrm>
          <a:prstGeom prst="rect">
            <a:avLst/>
          </a:prstGeom>
        </p:spPr>
      </p:pic>
      <p:pic>
        <p:nvPicPr>
          <p:cNvPr id="4" name="anim-g2-529" descr="C:\Users\user\projects\younes-training\heritage\.pptx-cache\s74-2.jpg"/>
          <p:cNvPicPr>
            <a:picLocks noChangeAspect="1"/>
          </p:cNvPicPr>
          <p:nvPr/>
        </p:nvPicPr>
        <p:blipFill>
          <a:blip r:embed="rId5"/>
          <a:stretch>
            <a:fillRect/>
          </a:stretch>
        </p:blipFill>
        <p:spPr>
          <a:xfrm>
            <a:off x="0" y="0"/>
            <a:ext cx="12191695" cy="6858000"/>
          </a:xfrm>
          <a:prstGeom prst="rect">
            <a:avLst/>
          </a:prstGeom>
        </p:spPr>
      </p:pic>
      <p:pic>
        <p:nvPicPr>
          <p:cNvPr id="5" name="anim-g3-530" descr="C:\Users\user\projects\younes-training\heritage\.pptx-cache\s74-3.jpg"/>
          <p:cNvPicPr>
            <a:picLocks noChangeAspect="1"/>
          </p:cNvPicPr>
          <p:nvPr/>
        </p:nvPicPr>
        <p:blipFill>
          <a:blip r:embed="rId6"/>
          <a:stretch>
            <a:fillRect/>
          </a:stretch>
        </p:blipFill>
        <p:spPr>
          <a:xfrm>
            <a:off x="0" y="0"/>
            <a:ext cx="12191695" cy="6858000"/>
          </a:xfrm>
          <a:prstGeom prst="rect">
            <a:avLst/>
          </a:prstGeom>
        </p:spPr>
      </p:pic>
      <p:pic>
        <p:nvPicPr>
          <p:cNvPr id="6" name="anim-g4-531" descr="C:\Users\user\projects\younes-training\heritage\.pptx-cache\s74-4.jpg"/>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p:cSld name="Slide 7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خلاصة المحور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marL="0" indent="0" algn="ctr">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ملف صغير على بطاقة…</a:t>
            </a:r>
            <a:endParaRPr lang="ar-SA" sz="4400" dirty="0"/>
          </a:p>
          <a:p>
            <a:pPr marL="0" indent="0" algn="ctr">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يجعل الخيمة تحكي عن الضيافة، والسيف يحكي عن العرضة</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صانع الذكريات التراثية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 ٥. الصوت + القصة  ·  ٧٥</a:t>
            </a:r>
            <a:endParaRPr lang="ar-SA" sz="12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marL="0" indent="0" algn="ctr" rtl="1">
              <a:buNone/>
            </a:pPr>
            <a:r>
              <a:rPr lang="ar-SA" altLang="en-US" sz="12000" dirty="0">
                <a:solidFill>
                  <a:srgbClr val="F0CC7A"/>
                </a:solidFill>
                <a:latin typeface="Cairo Black" pitchFamily="34" charset="0"/>
                <a:ea typeface="Cairo Black" pitchFamily="34" charset="-122"/>
                <a:cs typeface="Cairo Black" pitchFamily="34" charset="-120"/>
              </a:rPr>
              <a:t>٨</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marL="0" indent="0" algn="r" rtl="1">
              <a:buNone/>
            </a:pPr>
            <a:r>
              <a:rPr lang="ar-SA" altLang="en-US" sz="2000" b="1" dirty="0">
                <a:solidFill>
                  <a:srgbClr val="D9AE4B"/>
                </a:solidFill>
                <a:latin typeface="Cairo" pitchFamily="34" charset="0"/>
                <a:ea typeface="Cairo" pitchFamily="34" charset="-122"/>
                <a:cs typeface="Cairo" pitchFamily="34" charset="-120"/>
              </a:rPr>
              <a:t>المحور ٨</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marL="0" indent="0" algn="r" rtl="1">
              <a:buNone/>
            </a:pPr>
            <a:r>
              <a:rPr lang="ar-SA" altLang="en-US" sz="5600" dirty="0">
                <a:solidFill>
                  <a:srgbClr val="FFFFFF"/>
                </a:solidFill>
                <a:latin typeface="Cairo Black" pitchFamily="34" charset="0"/>
                <a:ea typeface="Cairo Black" pitchFamily="34" charset="-122"/>
                <a:cs typeface="Cairo Black" pitchFamily="34" charset="-120"/>
              </a:rPr>
              <a:t>🟢 المكوّن السادس: السؤال والإجابة</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marL="0" indent="0" algn="r" rtl="1">
              <a:buNone/>
            </a:pPr>
            <a:r>
              <a:rPr lang="ar-SA" altLang="en-US" sz="2200" b="1" dirty="0">
                <a:solidFill>
                  <a:srgbClr val="C9CFE6"/>
                </a:solidFill>
                <a:latin typeface="Cairo" pitchFamily="34" charset="0"/>
                <a:ea typeface="Cairo" pitchFamily="34" charset="-122"/>
                <a:cs typeface="Cairo" pitchFamily="34" charset="-120"/>
              </a:rPr>
              <a:t>ليد أخضر وليد أحمر وزرّان… والطفل يجيب</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صانع الذكريات التراثية</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 ٦. السؤال والإجابة  ·  ٧٦</a:t>
            </a:r>
            <a:endParaRPr lang="ar-SA" sz="12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248095" y="457200"/>
            <a:ext cx="5120640" cy="457200"/>
          </a:xfrm>
          <a:prstGeom prst="roundRect">
            <a:avLst>
              <a:gd name="adj" fmla="val 50000"/>
            </a:avLst>
          </a:prstGeom>
          <a:solidFill>
            <a:srgbClr val="F6EBCF"/>
          </a:solidFill>
          <a:ln/>
        </p:spPr>
      </p:sp>
      <p:sp>
        <p:nvSpPr>
          <p:cNvPr id="3" name="Text 1"/>
          <p:cNvSpPr/>
          <p:nvPr/>
        </p:nvSpPr>
        <p:spPr>
          <a:xfrm>
            <a:off x="6248095" y="457200"/>
            <a:ext cx="512064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بنهاية هذا المحور تستطيع أن</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أهداف المحور</a:t>
            </a:r>
            <a:endParaRPr lang="ar-SA" sz="3800" dirty="0"/>
          </a:p>
        </p:txBody>
      </p:sp>
      <p:sp>
        <p:nvSpPr>
          <p:cNvPr id="5" name="anim-g1-532"/>
          <p:cNvSpPr/>
          <p:nvPr/>
        </p:nvSpPr>
        <p:spPr>
          <a:xfrm>
            <a:off x="822960" y="1920240"/>
            <a:ext cx="10545775" cy="946404"/>
          </a:xfrm>
          <a:prstGeom prst="roundRect">
            <a:avLst>
              <a:gd name="adj" fmla="val 15459"/>
            </a:avLst>
          </a:prstGeom>
          <a:solidFill>
            <a:srgbClr val="FFFFFF"/>
          </a:solidFill>
          <a:ln w="12700">
            <a:solidFill>
              <a:srgbClr val="E4DCC8"/>
            </a:solidFill>
            <a:prstDash val="solid"/>
          </a:ln>
        </p:spPr>
      </p:sp>
      <p:sp>
        <p:nvSpPr>
          <p:cNvPr id="6" name="anim-g1-533"/>
          <p:cNvSpPr/>
          <p:nvPr/>
        </p:nvSpPr>
        <p:spPr>
          <a:xfrm>
            <a:off x="10573207" y="2109978"/>
            <a:ext cx="566928" cy="566928"/>
          </a:xfrm>
          <a:prstGeom prst="ellipse">
            <a:avLst/>
          </a:prstGeom>
          <a:solidFill>
            <a:srgbClr val="D9AE4B"/>
          </a:solidFill>
          <a:ln/>
        </p:spPr>
      </p:sp>
      <p:sp>
        <p:nvSpPr>
          <p:cNvPr id="7" name="anim-g1-534"/>
          <p:cNvSpPr/>
          <p:nvPr/>
        </p:nvSpPr>
        <p:spPr>
          <a:xfrm>
            <a:off x="10573207" y="2109978"/>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535"/>
          <p:cNvSpPr/>
          <p:nvPr/>
        </p:nvSpPr>
        <p:spPr>
          <a:xfrm>
            <a:off x="1097280" y="1920240"/>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توصل الليدين بمقاومتيهما</a:t>
            </a:r>
            <a:endParaRPr lang="ar-SA" sz="2400" dirty="0"/>
          </a:p>
        </p:txBody>
      </p:sp>
      <p:sp>
        <p:nvSpPr>
          <p:cNvPr id="9" name="anim-g2-536"/>
          <p:cNvSpPr/>
          <p:nvPr/>
        </p:nvSpPr>
        <p:spPr>
          <a:xfrm>
            <a:off x="822960" y="2976372"/>
            <a:ext cx="10545775" cy="946404"/>
          </a:xfrm>
          <a:prstGeom prst="roundRect">
            <a:avLst>
              <a:gd name="adj" fmla="val 15459"/>
            </a:avLst>
          </a:prstGeom>
          <a:solidFill>
            <a:srgbClr val="FFFFFF"/>
          </a:solidFill>
          <a:ln w="12700">
            <a:solidFill>
              <a:srgbClr val="E4DCC8"/>
            </a:solidFill>
            <a:prstDash val="solid"/>
          </a:ln>
        </p:spPr>
      </p:sp>
      <p:sp>
        <p:nvSpPr>
          <p:cNvPr id="10" name="anim-g2-537"/>
          <p:cNvSpPr/>
          <p:nvPr/>
        </p:nvSpPr>
        <p:spPr>
          <a:xfrm>
            <a:off x="10573207" y="3166110"/>
            <a:ext cx="566928" cy="566928"/>
          </a:xfrm>
          <a:prstGeom prst="ellipse">
            <a:avLst/>
          </a:prstGeom>
          <a:solidFill>
            <a:srgbClr val="D9AE4B"/>
          </a:solidFill>
          <a:ln/>
        </p:spPr>
      </p:sp>
      <p:sp>
        <p:nvSpPr>
          <p:cNvPr id="11" name="anim-g2-538"/>
          <p:cNvSpPr/>
          <p:nvPr/>
        </p:nvSpPr>
        <p:spPr>
          <a:xfrm>
            <a:off x="10573207" y="3166110"/>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539"/>
          <p:cNvSpPr/>
          <p:nvPr/>
        </p:nvSpPr>
        <p:spPr>
          <a:xfrm>
            <a:off x="1097280" y="2976372"/>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تقرأ الإجابة من زرين وتعيد -1 إن لم يُضغط شيء</a:t>
            </a:r>
            <a:endParaRPr lang="ar-SA" sz="2400" dirty="0"/>
          </a:p>
        </p:txBody>
      </p:sp>
      <p:sp>
        <p:nvSpPr>
          <p:cNvPr id="13" name="anim-g3-540"/>
          <p:cNvSpPr/>
          <p:nvPr/>
        </p:nvSpPr>
        <p:spPr>
          <a:xfrm>
            <a:off x="822960" y="4032504"/>
            <a:ext cx="10545775" cy="946404"/>
          </a:xfrm>
          <a:prstGeom prst="roundRect">
            <a:avLst>
              <a:gd name="adj" fmla="val 15459"/>
            </a:avLst>
          </a:prstGeom>
          <a:solidFill>
            <a:srgbClr val="FFFFFF"/>
          </a:solidFill>
          <a:ln w="12700">
            <a:solidFill>
              <a:srgbClr val="E4DCC8"/>
            </a:solidFill>
            <a:prstDash val="solid"/>
          </a:ln>
        </p:spPr>
      </p:sp>
      <p:sp>
        <p:nvSpPr>
          <p:cNvPr id="14" name="anim-g3-541"/>
          <p:cNvSpPr/>
          <p:nvPr/>
        </p:nvSpPr>
        <p:spPr>
          <a:xfrm>
            <a:off x="10573207" y="4222242"/>
            <a:ext cx="566928" cy="566928"/>
          </a:xfrm>
          <a:prstGeom prst="ellipse">
            <a:avLst/>
          </a:prstGeom>
          <a:solidFill>
            <a:srgbClr val="D9AE4B"/>
          </a:solidFill>
          <a:ln/>
        </p:spPr>
      </p:sp>
      <p:sp>
        <p:nvSpPr>
          <p:cNvPr id="15" name="anim-g3-542"/>
          <p:cNvSpPr/>
          <p:nvPr/>
        </p:nvSpPr>
        <p:spPr>
          <a:xfrm>
            <a:off x="10573207" y="4222242"/>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543"/>
          <p:cNvSpPr/>
          <p:nvPr/>
        </p:nvSpPr>
        <p:spPr>
          <a:xfrm>
            <a:off x="1097280" y="4032504"/>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تعرض النتيجة بالضوء والصوت معًا</a:t>
            </a:r>
            <a:endParaRPr lang="ar-SA" sz="2400" dirty="0"/>
          </a:p>
        </p:txBody>
      </p:sp>
      <p:sp>
        <p:nvSpPr>
          <p:cNvPr id="17" name="anim-g4-544"/>
          <p:cNvSpPr/>
          <p:nvPr/>
        </p:nvSpPr>
        <p:spPr>
          <a:xfrm>
            <a:off x="822960" y="5088636"/>
            <a:ext cx="10545775" cy="946404"/>
          </a:xfrm>
          <a:prstGeom prst="roundRect">
            <a:avLst>
              <a:gd name="adj" fmla="val 15459"/>
            </a:avLst>
          </a:prstGeom>
          <a:solidFill>
            <a:srgbClr val="FFFFFF"/>
          </a:solidFill>
          <a:ln w="12700">
            <a:solidFill>
              <a:srgbClr val="E4DCC8"/>
            </a:solidFill>
            <a:prstDash val="solid"/>
          </a:ln>
        </p:spPr>
      </p:sp>
      <p:sp>
        <p:nvSpPr>
          <p:cNvPr id="18" name="anim-g4-545"/>
          <p:cNvSpPr/>
          <p:nvPr/>
        </p:nvSpPr>
        <p:spPr>
          <a:xfrm>
            <a:off x="10573207" y="5278374"/>
            <a:ext cx="566928" cy="566928"/>
          </a:xfrm>
          <a:prstGeom prst="ellipse">
            <a:avLst/>
          </a:prstGeom>
          <a:solidFill>
            <a:srgbClr val="D9AE4B"/>
          </a:solidFill>
          <a:ln/>
        </p:spPr>
      </p:sp>
      <p:sp>
        <p:nvSpPr>
          <p:cNvPr id="19" name="anim-g4-546"/>
          <p:cNvSpPr/>
          <p:nvPr/>
        </p:nvSpPr>
        <p:spPr>
          <a:xfrm>
            <a:off x="10573207" y="5278374"/>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547"/>
          <p:cNvSpPr/>
          <p:nvPr/>
        </p:nvSpPr>
        <p:spPr>
          <a:xfrm>
            <a:off x="1097280" y="5088636"/>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تدمج: معلومة ← سؤال ← نتيجة</a:t>
            </a:r>
            <a:endParaRPr lang="ar-SA" sz="2400" dirty="0"/>
          </a:p>
        </p:txBody>
      </p:sp>
      <p:sp>
        <p:nvSpPr>
          <p:cNvPr id="21" name="Text 19"/>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صانع الذكريات التراثية</a:t>
            </a:r>
            <a:endParaRPr lang="ar-SA" sz="1200" dirty="0"/>
          </a:p>
        </p:txBody>
      </p:sp>
      <p:sp>
        <p:nvSpPr>
          <p:cNvPr id="22" name="Text 20"/>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٦. السؤال والإجابة  ·  ٧٧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78.xml><?xml version="1.0" encoding="utf-8"?>
<p:sld xmlns:a="http://schemas.openxmlformats.org/drawingml/2006/main" xmlns:r="http://schemas.openxmlformats.org/officeDocument/2006/relationships" xmlns:p="http://schemas.openxmlformats.org/presentationml/2006/main">
  <p:cSld name="Slide 7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150047" y="457200"/>
            <a:ext cx="3218688" cy="457200"/>
          </a:xfrm>
          <a:prstGeom prst="roundRect">
            <a:avLst>
              <a:gd name="adj" fmla="val 50000"/>
            </a:avLst>
          </a:prstGeom>
          <a:solidFill>
            <a:srgbClr val="F6EBCF"/>
          </a:solidFill>
          <a:ln/>
        </p:spPr>
      </p:sp>
      <p:sp>
        <p:nvSpPr>
          <p:cNvPr id="3" name="Text 1"/>
          <p:cNvSpPr/>
          <p:nvPr/>
        </p:nvSpPr>
        <p:spPr>
          <a:xfrm>
            <a:off x="8150047" y="457200"/>
            <a:ext cx="321868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تغذية راجعة فورية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عينان وأذنان: الطفل يعرف النتيجة فورًا</a:t>
            </a:r>
            <a:endParaRPr lang="ar-SA" sz="3200" dirty="0"/>
          </a:p>
        </p:txBody>
      </p:sp>
      <p:sp>
        <p:nvSpPr>
          <p:cNvPr id="5" name="anim-g1-548"/>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549"/>
          <p:cNvSpPr/>
          <p:nvPr/>
        </p:nvSpPr>
        <p:spPr>
          <a:xfrm>
            <a:off x="10527487" y="2267712"/>
            <a:ext cx="566928" cy="566928"/>
          </a:xfrm>
          <a:prstGeom prst="roundRect">
            <a:avLst>
              <a:gd name="adj" fmla="val 32258"/>
            </a:avLst>
          </a:prstGeom>
          <a:solidFill>
            <a:srgbClr val="F7E6BC"/>
          </a:solidFill>
          <a:ln/>
        </p:spPr>
      </p:sp>
      <p:sp>
        <p:nvSpPr>
          <p:cNvPr id="7" name="anim-g1-550"/>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551"/>
          <p:cNvSpPr/>
          <p:nvPr/>
        </p:nvSpPr>
        <p:spPr>
          <a:xfrm>
            <a:off x="8310677"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أخضر ← 4</a:t>
            </a:r>
            <a:endParaRPr lang="ar-SA" sz="2200" dirty="0"/>
          </a:p>
        </p:txBody>
      </p:sp>
      <p:sp>
        <p:nvSpPr>
          <p:cNvPr id="9" name="anim-g1-552"/>
          <p:cNvSpPr/>
          <p:nvPr/>
        </p:nvSpPr>
        <p:spPr>
          <a:xfrm>
            <a:off x="8310677"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إجابة صحيحة، مع «أحسنت» من السماعة</a:t>
            </a:r>
            <a:endParaRPr lang="ar-SA" sz="1900" dirty="0"/>
          </a:p>
        </p:txBody>
      </p:sp>
      <p:sp>
        <p:nvSpPr>
          <p:cNvPr id="10" name="anim-g2-553"/>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554"/>
          <p:cNvSpPr/>
          <p:nvPr/>
        </p:nvSpPr>
        <p:spPr>
          <a:xfrm>
            <a:off x="6920789" y="2267712"/>
            <a:ext cx="566928" cy="566928"/>
          </a:xfrm>
          <a:prstGeom prst="roundRect">
            <a:avLst>
              <a:gd name="adj" fmla="val 32258"/>
            </a:avLst>
          </a:prstGeom>
          <a:solidFill>
            <a:srgbClr val="F7E6BC"/>
          </a:solidFill>
          <a:ln/>
        </p:spPr>
      </p:sp>
      <p:sp>
        <p:nvSpPr>
          <p:cNvPr id="12" name="anim-g2-555"/>
          <p:cNvSpPr/>
          <p:nvPr/>
        </p:nvSpPr>
        <p:spPr>
          <a:xfrm>
            <a:off x="6920789"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556"/>
          <p:cNvSpPr/>
          <p:nvPr/>
        </p:nvSpPr>
        <p:spPr>
          <a:xfrm>
            <a:off x="4703978"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أحمر ← 5</a:t>
            </a:r>
            <a:endParaRPr lang="ar-SA" sz="2200" dirty="0"/>
          </a:p>
        </p:txBody>
      </p:sp>
      <p:sp>
        <p:nvSpPr>
          <p:cNvPr id="14" name="anim-g2-557"/>
          <p:cNvSpPr/>
          <p:nvPr/>
        </p:nvSpPr>
        <p:spPr>
          <a:xfrm>
            <a:off x="4703978"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ليست صحيحة… مع تشجيع لا عقاب</a:t>
            </a:r>
            <a:endParaRPr lang="ar-SA" sz="1900" dirty="0"/>
          </a:p>
        </p:txBody>
      </p:sp>
      <p:sp>
        <p:nvSpPr>
          <p:cNvPr id="15" name="anim-g3-558"/>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559"/>
          <p:cNvSpPr/>
          <p:nvPr/>
        </p:nvSpPr>
        <p:spPr>
          <a:xfrm>
            <a:off x="3314090" y="2267712"/>
            <a:ext cx="566928" cy="566928"/>
          </a:xfrm>
          <a:prstGeom prst="roundRect">
            <a:avLst>
              <a:gd name="adj" fmla="val 32258"/>
            </a:avLst>
          </a:prstGeom>
          <a:solidFill>
            <a:srgbClr val="F7E6BC"/>
          </a:solidFill>
          <a:ln/>
        </p:spPr>
      </p:sp>
      <p:sp>
        <p:nvSpPr>
          <p:cNvPr id="17" name="anim-g3-560"/>
          <p:cNvSpPr/>
          <p:nvPr/>
        </p:nvSpPr>
        <p:spPr>
          <a:xfrm>
            <a:off x="331409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561"/>
          <p:cNvSpPr/>
          <p:nvPr/>
        </p:nvSpPr>
        <p:spPr>
          <a:xfrm>
            <a:off x="1097280"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أ ← 36 · ب ← 39</a:t>
            </a:r>
            <a:endParaRPr lang="ar-SA" sz="2200" dirty="0"/>
          </a:p>
        </p:txBody>
      </p:sp>
      <p:sp>
        <p:nvSpPr>
          <p:cNvPr id="19" name="anim-g3-562"/>
          <p:cNvSpPr/>
          <p:nvPr/>
        </p:nvSpPr>
        <p:spPr>
          <a:xfrm>
            <a:off x="1097280"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زرّان فقط: سؤال بخيارين مناسب للطفل الصغير</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صانع الذكريات التراثية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٦. السؤال والإجابة  ·  ٧٨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Image 0" descr="C:\Users\user\projects\younes-training\heritage\.pptx-cache\s79-0.jpg"/>
          <p:cNvPicPr>
            <a:picLocks noChangeAspect="1"/>
          </p:cNvPicPr>
          <p:nvPr/>
        </p:nvPicPr>
        <p:blipFill>
          <a:blip r:embed="rId3"/>
          <a:stretch>
            <a:fillRect/>
          </a:stretch>
        </p:blipFill>
        <p:spPr>
          <a:xfrm>
            <a:off x="0" y="0"/>
            <a:ext cx="12191695" cy="6858000"/>
          </a:xfrm>
          <a:prstGeom prst="rect">
            <a:avLst/>
          </a:prstGeom>
        </p:spPr>
      </p:pic>
      <p:pic>
        <p:nvPicPr>
          <p:cNvPr id="3" name="anim-g1-563" descr="C:\Users\user\projects\younes-training\heritage\.pptx-cache\s79-1.jpg"/>
          <p:cNvPicPr>
            <a:picLocks noChangeAspect="1"/>
          </p:cNvPicPr>
          <p:nvPr/>
        </p:nvPicPr>
        <p:blipFill>
          <a:blip r:embed="rId4"/>
          <a:stretch>
            <a:fillRect/>
          </a:stretch>
        </p:blipFill>
        <p:spPr>
          <a:xfrm>
            <a:off x="0" y="0"/>
            <a:ext cx="12191695" cy="6858000"/>
          </a:xfrm>
          <a:prstGeom prst="rect">
            <a:avLst/>
          </a:prstGeom>
        </p:spPr>
      </p:pic>
      <p:pic>
        <p:nvPicPr>
          <p:cNvPr id="4" name="anim-g2-564" descr="C:\Users\user\projects\younes-training\heritage\.pptx-cache\s79-2.jpg"/>
          <p:cNvPicPr>
            <a:picLocks noChangeAspect="1"/>
          </p:cNvPicPr>
          <p:nvPr/>
        </p:nvPicPr>
        <p:blipFill>
          <a:blip r:embed="rId5"/>
          <a:stretch>
            <a:fillRect/>
          </a:stretch>
        </p:blipFill>
        <p:spPr>
          <a:xfrm>
            <a:off x="0" y="0"/>
            <a:ext cx="12191695" cy="6858000"/>
          </a:xfrm>
          <a:prstGeom prst="rect">
            <a:avLst/>
          </a:prstGeom>
        </p:spPr>
      </p:pic>
      <p:pic>
        <p:nvPicPr>
          <p:cNvPr id="5" name="anim-g3-565" descr="C:\Users\user\projects\younes-training\heritage\.pptx-cache\s79-3.jpg"/>
          <p:cNvPicPr>
            <a:picLocks noChangeAspect="1"/>
          </p:cNvPicPr>
          <p:nvPr/>
        </p:nvPicPr>
        <p:blipFill>
          <a:blip r:embed="rId6"/>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Image 0" descr="C:\Users\user\projects\younes-training\heritage\.pptx-cache\s80-0.jpg"/>
          <p:cNvPicPr>
            <a:picLocks noChangeAspect="1"/>
          </p:cNvPicPr>
          <p:nvPr/>
        </p:nvPicPr>
        <p:blipFill>
          <a:blip r:embed="rId3"/>
          <a:stretch>
            <a:fillRect/>
          </a:stretch>
        </p:blipFill>
        <p:spPr>
          <a:xfrm>
            <a:off x="0" y="0"/>
            <a:ext cx="12191695" cy="6858000"/>
          </a:xfrm>
          <a:prstGeom prst="rect">
            <a:avLst/>
          </a:prstGeom>
        </p:spPr>
      </p:pic>
      <p:pic>
        <p:nvPicPr>
          <p:cNvPr id="3" name="anim-g1-566" descr="C:\Users\user\projects\younes-training\heritage\.pptx-cache\s80-1.jpg"/>
          <p:cNvPicPr>
            <a:picLocks noChangeAspect="1"/>
          </p:cNvPicPr>
          <p:nvPr/>
        </p:nvPicPr>
        <p:blipFill>
          <a:blip r:embed="rId4"/>
          <a:stretch>
            <a:fillRect/>
          </a:stretch>
        </p:blipFill>
        <p:spPr>
          <a:xfrm>
            <a:off x="0" y="0"/>
            <a:ext cx="12191695" cy="6858000"/>
          </a:xfrm>
          <a:prstGeom prst="rect">
            <a:avLst/>
          </a:prstGeom>
        </p:spPr>
      </p:pic>
      <p:pic>
        <p:nvPicPr>
          <p:cNvPr id="4" name="anim-g2-567" descr="C:\Users\user\projects\younes-training\heritage\.pptx-cache\s80-2.jpg"/>
          <p:cNvPicPr>
            <a:picLocks noChangeAspect="1"/>
          </p:cNvPicPr>
          <p:nvPr/>
        </p:nvPicPr>
        <p:blipFill>
          <a:blip r:embed="rId5"/>
          <a:stretch>
            <a:fillRect/>
          </a:stretch>
        </p:blipFill>
        <p:spPr>
          <a:xfrm>
            <a:off x="0" y="0"/>
            <a:ext cx="12191695" cy="6858000"/>
          </a:xfrm>
          <a:prstGeom prst="rect">
            <a:avLst/>
          </a:prstGeom>
        </p:spPr>
      </p:pic>
      <p:pic>
        <p:nvPicPr>
          <p:cNvPr id="5" name="anim-g3-568" descr="C:\Users\user\projects\younes-training\heritage\.pptx-cache\s80-3.jpg"/>
          <p:cNvPicPr>
            <a:picLocks noChangeAspect="1"/>
          </p:cNvPicPr>
          <p:nvPr/>
        </p:nvPicPr>
        <p:blipFill>
          <a:blip r:embed="rId6"/>
          <a:stretch>
            <a:fillRect/>
          </a:stretch>
        </p:blipFill>
        <p:spPr>
          <a:xfrm>
            <a:off x="0" y="0"/>
            <a:ext cx="12191695" cy="6858000"/>
          </a:xfrm>
          <a:prstGeom prst="rect">
            <a:avLst/>
          </a:prstGeom>
        </p:spPr>
      </p:pic>
      <p:pic>
        <p:nvPicPr>
          <p:cNvPr id="6" name="anim-g4-569" descr="C:\Users\user\projects\younes-training\heritage\.pptx-cache\s80-4.jpg"/>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Image 0" descr="C:\Users\user\projects\younes-training\heritage\.pptx-cache\s81-0.jpg"/>
          <p:cNvPicPr>
            <a:picLocks noChangeAspect="1"/>
          </p:cNvPicPr>
          <p:nvPr/>
        </p:nvPicPr>
        <p:blipFill>
          <a:blip r:embed="rId3"/>
          <a:stretch>
            <a:fillRect/>
          </a:stretch>
        </p:blipFill>
        <p:spPr>
          <a:xfrm>
            <a:off x="0" y="0"/>
            <a:ext cx="12191695" cy="6858000"/>
          </a:xfrm>
          <a:prstGeom prst="rect">
            <a:avLst/>
          </a:prstGeom>
        </p:spPr>
      </p:pic>
      <p:pic>
        <p:nvPicPr>
          <p:cNvPr id="3" name="anim-g1-570" descr="C:\Users\user\projects\younes-training\heritage\.pptx-cache\s81-1.jpg"/>
          <p:cNvPicPr>
            <a:picLocks noChangeAspect="1"/>
          </p:cNvPicPr>
          <p:nvPr/>
        </p:nvPicPr>
        <p:blipFill>
          <a:blip r:embed="rId4"/>
          <a:stretch>
            <a:fillRect/>
          </a:stretch>
        </p:blipFill>
        <p:spPr>
          <a:xfrm>
            <a:off x="0" y="0"/>
            <a:ext cx="12191695" cy="6858000"/>
          </a:xfrm>
          <a:prstGeom prst="rect">
            <a:avLst/>
          </a:prstGeom>
        </p:spPr>
      </p:pic>
      <p:pic>
        <p:nvPicPr>
          <p:cNvPr id="4" name="anim-g2-571" descr="C:\Users\user\projects\younes-training\heritage\.pptx-cache\s81-2.jpg"/>
          <p:cNvPicPr>
            <a:picLocks noChangeAspect="1"/>
          </p:cNvPicPr>
          <p:nvPr/>
        </p:nvPicPr>
        <p:blipFill>
          <a:blip r:embed="rId5"/>
          <a:stretch>
            <a:fillRect/>
          </a:stretch>
        </p:blipFill>
        <p:spPr>
          <a:xfrm>
            <a:off x="0" y="0"/>
            <a:ext cx="12191695" cy="6858000"/>
          </a:xfrm>
          <a:prstGeom prst="rect">
            <a:avLst/>
          </a:prstGeom>
        </p:spPr>
      </p:pic>
      <p:pic>
        <p:nvPicPr>
          <p:cNvPr id="5" name="anim-g3-572" descr="C:\Users\user\projects\younes-training\heritage\.pptx-cache\s81-3.jpg"/>
          <p:cNvPicPr>
            <a:picLocks noChangeAspect="1"/>
          </p:cNvPicPr>
          <p:nvPr/>
        </p:nvPicPr>
        <p:blipFill>
          <a:blip r:embed="rId6"/>
          <a:stretch>
            <a:fillRect/>
          </a:stretch>
        </p:blipFill>
        <p:spPr>
          <a:xfrm>
            <a:off x="0" y="0"/>
            <a:ext cx="12191695" cy="6858000"/>
          </a:xfrm>
          <a:prstGeom prst="rect">
            <a:avLst/>
          </a:prstGeom>
        </p:spPr>
      </p:pic>
      <p:pic>
        <p:nvPicPr>
          <p:cNvPr id="6" name="anim-g4-573" descr="C:\Users\user\projects\younes-training\heritage\.pptx-cache\s81-4.jpg"/>
          <p:cNvPicPr>
            <a:picLocks noChangeAspect="1"/>
          </p:cNvPicPr>
          <p:nvPr/>
        </p:nvPicPr>
        <p:blipFill>
          <a:blip r:embed="rId7"/>
          <a:stretch>
            <a:fillRect/>
          </a:stretch>
        </p:blipFill>
        <p:spPr>
          <a:xfrm>
            <a:off x="0" y="0"/>
            <a:ext cx="12191695" cy="6858000"/>
          </a:xfrm>
          <a:prstGeom prst="rect">
            <a:avLst/>
          </a:prstGeom>
        </p:spPr>
      </p:pic>
      <p:pic>
        <p:nvPicPr>
          <p:cNvPr id="7" name="anim-g5-574" descr="C:\Users\user\projects\younes-training\heritage\.pptx-cache\s81-5.jpg"/>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Image 0" descr="C:\Users\user\projects\younes-training\heritage\.pptx-cache\s82-0.jpg"/>
          <p:cNvPicPr>
            <a:picLocks noChangeAspect="1"/>
          </p:cNvPicPr>
          <p:nvPr/>
        </p:nvPicPr>
        <p:blipFill>
          <a:blip r:embed="rId3"/>
          <a:stretch>
            <a:fillRect/>
          </a:stretch>
        </p:blipFill>
        <p:spPr>
          <a:xfrm>
            <a:off x="0" y="0"/>
            <a:ext cx="12191695" cy="6858000"/>
          </a:xfrm>
          <a:prstGeom prst="rect">
            <a:avLst/>
          </a:prstGeom>
        </p:spPr>
      </p:pic>
      <p:pic>
        <p:nvPicPr>
          <p:cNvPr id="3" name="anim-g1-575" descr="C:\Users\user\projects\younes-training\heritage\.pptx-cache\s82-1.jpg"/>
          <p:cNvPicPr>
            <a:picLocks noChangeAspect="1"/>
          </p:cNvPicPr>
          <p:nvPr/>
        </p:nvPicPr>
        <p:blipFill>
          <a:blip r:embed="rId4"/>
          <a:stretch>
            <a:fillRect/>
          </a:stretch>
        </p:blipFill>
        <p:spPr>
          <a:xfrm>
            <a:off x="0" y="0"/>
            <a:ext cx="12191695" cy="6858000"/>
          </a:xfrm>
          <a:prstGeom prst="rect">
            <a:avLst/>
          </a:prstGeom>
        </p:spPr>
      </p:pic>
      <p:pic>
        <p:nvPicPr>
          <p:cNvPr id="4" name="anim-g2-576" descr="C:\Users\user\projects\younes-training\heritage\.pptx-cache\s82-2.jpg"/>
          <p:cNvPicPr>
            <a:picLocks noChangeAspect="1"/>
          </p:cNvPicPr>
          <p:nvPr/>
        </p:nvPicPr>
        <p:blipFill>
          <a:blip r:embed="rId5"/>
          <a:stretch>
            <a:fillRect/>
          </a:stretch>
        </p:blipFill>
        <p:spPr>
          <a:xfrm>
            <a:off x="0" y="0"/>
            <a:ext cx="12191695" cy="6858000"/>
          </a:xfrm>
          <a:prstGeom prst="rect">
            <a:avLst/>
          </a:prstGeom>
        </p:spPr>
      </p:pic>
      <p:pic>
        <p:nvPicPr>
          <p:cNvPr id="5" name="anim-g3-577" descr="C:\Users\user\projects\younes-training\heritage\.pptx-cache\s82-3.jpg"/>
          <p:cNvPicPr>
            <a:picLocks noChangeAspect="1"/>
          </p:cNvPicPr>
          <p:nvPr/>
        </p:nvPicPr>
        <p:blipFill>
          <a:blip r:embed="rId6"/>
          <a:stretch>
            <a:fillRect/>
          </a:stretch>
        </p:blipFill>
        <p:spPr>
          <a:xfrm>
            <a:off x="0" y="0"/>
            <a:ext cx="12191695" cy="6858000"/>
          </a:xfrm>
          <a:prstGeom prst="rect">
            <a:avLst/>
          </a:prstGeom>
        </p:spPr>
      </p:pic>
      <p:pic>
        <p:nvPicPr>
          <p:cNvPr id="6" name="anim-g4-578" descr="C:\Users\user\projects\younes-training\heritage\.pptx-cache\s82-4.jpg"/>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name="Slide 8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خلاصة المحور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marL="0" indent="0" algn="ctr">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ستة مكونات: الطفل يقترب، ويختار، ويرى، ويسمع، ويجيب…</a:t>
            </a:r>
            <a:endParaRPr lang="ar-SA" sz="4400" dirty="0"/>
          </a:p>
          <a:p>
            <a:pPr marL="0" indent="0" algn="ctr">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وينتظر مكافأته</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صانع الذكريات التراثية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 ٦. السؤال والإجابة  ·  ٨٣</a:t>
            </a:r>
            <a:endParaRPr lang="ar-SA" sz="12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marL="0" indent="0" algn="ctr" rtl="1">
              <a:buNone/>
            </a:pPr>
            <a:r>
              <a:rPr lang="ar-SA" altLang="en-US" sz="12000" dirty="0">
                <a:solidFill>
                  <a:srgbClr val="F0CC7A"/>
                </a:solidFill>
                <a:latin typeface="Cairo Black" pitchFamily="34" charset="0"/>
                <a:ea typeface="Cairo Black" pitchFamily="34" charset="-122"/>
                <a:cs typeface="Cairo Black" pitchFamily="34" charset="-120"/>
              </a:rPr>
              <a:t>٩</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marL="0" indent="0" algn="r" rtl="1">
              <a:buNone/>
            </a:pPr>
            <a:r>
              <a:rPr lang="ar-SA" altLang="en-US" sz="2000" b="1" dirty="0">
                <a:solidFill>
                  <a:srgbClr val="D9AE4B"/>
                </a:solidFill>
                <a:latin typeface="Cairo" pitchFamily="34" charset="0"/>
                <a:ea typeface="Cairo" pitchFamily="34" charset="-122"/>
                <a:cs typeface="Cairo" pitchFamily="34" charset="-120"/>
              </a:rPr>
              <a:t>المحور ٩</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marL="0" indent="0" algn="r" rtl="1">
              <a:buNone/>
            </a:pPr>
            <a:r>
              <a:rPr lang="ar-SA" altLang="en-US" sz="5600" dirty="0">
                <a:solidFill>
                  <a:srgbClr val="FFFFFF"/>
                </a:solidFill>
                <a:latin typeface="Cairo Black" pitchFamily="34" charset="0"/>
                <a:ea typeface="Cairo Black" pitchFamily="34" charset="-122"/>
                <a:cs typeface="Cairo Black" pitchFamily="34" charset="-120"/>
              </a:rPr>
              <a:t>🪙 المكوّن السابع: عملة الذكرى</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marL="0" indent="0" algn="r" rtl="1">
              <a:buNone/>
            </a:pPr>
            <a:r>
              <a:rPr lang="ar-SA" altLang="en-US" sz="2200" b="1" dirty="0">
                <a:solidFill>
                  <a:srgbClr val="C9CFE6"/>
                </a:solidFill>
                <a:latin typeface="Cairo" pitchFamily="34" charset="0"/>
                <a:ea typeface="Cairo" pitchFamily="34" charset="-122"/>
                <a:cs typeface="Cairo" pitchFamily="34" charset="-120"/>
              </a:rPr>
              <a:t>سيرفو + ترس + قضيب مسنن… والإجابة الصحيحة تصير ذكرى في اليد</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صانع الذكريات التراثية</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 ٧. عملة الذكرى  ·  ٨٤</a:t>
            </a:r>
            <a:endParaRPr lang="ar-SA" sz="12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248095" y="457200"/>
            <a:ext cx="5120640" cy="457200"/>
          </a:xfrm>
          <a:prstGeom prst="roundRect">
            <a:avLst>
              <a:gd name="adj" fmla="val 50000"/>
            </a:avLst>
          </a:prstGeom>
          <a:solidFill>
            <a:srgbClr val="F6EBCF"/>
          </a:solidFill>
          <a:ln/>
        </p:spPr>
      </p:sp>
      <p:sp>
        <p:nvSpPr>
          <p:cNvPr id="3" name="Text 1"/>
          <p:cNvSpPr/>
          <p:nvPr/>
        </p:nvSpPr>
        <p:spPr>
          <a:xfrm>
            <a:off x="6248095" y="457200"/>
            <a:ext cx="512064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بنهاية هذا المحور تستطيع أن</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أهداف المحور</a:t>
            </a:r>
            <a:endParaRPr lang="ar-SA" sz="3800" dirty="0"/>
          </a:p>
        </p:txBody>
      </p:sp>
      <p:sp>
        <p:nvSpPr>
          <p:cNvPr id="5" name="anim-g1-579"/>
          <p:cNvSpPr/>
          <p:nvPr/>
        </p:nvSpPr>
        <p:spPr>
          <a:xfrm>
            <a:off x="822960" y="1920240"/>
            <a:ext cx="10545775" cy="946404"/>
          </a:xfrm>
          <a:prstGeom prst="roundRect">
            <a:avLst>
              <a:gd name="adj" fmla="val 15459"/>
            </a:avLst>
          </a:prstGeom>
          <a:solidFill>
            <a:srgbClr val="FFFFFF"/>
          </a:solidFill>
          <a:ln w="12700">
            <a:solidFill>
              <a:srgbClr val="E4DCC8"/>
            </a:solidFill>
            <a:prstDash val="solid"/>
          </a:ln>
        </p:spPr>
      </p:sp>
      <p:sp>
        <p:nvSpPr>
          <p:cNvPr id="6" name="anim-g1-580"/>
          <p:cNvSpPr/>
          <p:nvPr/>
        </p:nvSpPr>
        <p:spPr>
          <a:xfrm>
            <a:off x="10573207" y="2109978"/>
            <a:ext cx="566928" cy="566928"/>
          </a:xfrm>
          <a:prstGeom prst="ellipse">
            <a:avLst/>
          </a:prstGeom>
          <a:solidFill>
            <a:srgbClr val="D9AE4B"/>
          </a:solidFill>
          <a:ln/>
        </p:spPr>
      </p:sp>
      <p:sp>
        <p:nvSpPr>
          <p:cNvPr id="7" name="anim-g1-581"/>
          <p:cNvSpPr/>
          <p:nvPr/>
        </p:nvSpPr>
        <p:spPr>
          <a:xfrm>
            <a:off x="10573207" y="2109978"/>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582"/>
          <p:cNvSpPr/>
          <p:nvPr/>
        </p:nvSpPr>
        <p:spPr>
          <a:xfrm>
            <a:off x="1097280" y="1920240"/>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تشرح تحويل الدوران إلى حركة خطية بالترس والقضيب</a:t>
            </a:r>
            <a:endParaRPr lang="ar-SA" sz="2400" dirty="0"/>
          </a:p>
        </p:txBody>
      </p:sp>
      <p:sp>
        <p:nvSpPr>
          <p:cNvPr id="9" name="anim-g2-583"/>
          <p:cNvSpPr/>
          <p:nvPr/>
        </p:nvSpPr>
        <p:spPr>
          <a:xfrm>
            <a:off x="822960" y="2976372"/>
            <a:ext cx="10545775" cy="946404"/>
          </a:xfrm>
          <a:prstGeom prst="roundRect">
            <a:avLst>
              <a:gd name="adj" fmla="val 15459"/>
            </a:avLst>
          </a:prstGeom>
          <a:solidFill>
            <a:srgbClr val="FFFFFF"/>
          </a:solidFill>
          <a:ln w="12700">
            <a:solidFill>
              <a:srgbClr val="E4DCC8"/>
            </a:solidFill>
            <a:prstDash val="solid"/>
          </a:ln>
        </p:spPr>
      </p:sp>
      <p:sp>
        <p:nvSpPr>
          <p:cNvPr id="10" name="anim-g2-584"/>
          <p:cNvSpPr/>
          <p:nvPr/>
        </p:nvSpPr>
        <p:spPr>
          <a:xfrm>
            <a:off x="10573207" y="3166110"/>
            <a:ext cx="566928" cy="566928"/>
          </a:xfrm>
          <a:prstGeom prst="ellipse">
            <a:avLst/>
          </a:prstGeom>
          <a:solidFill>
            <a:srgbClr val="D9AE4B"/>
          </a:solidFill>
          <a:ln/>
        </p:spPr>
      </p:sp>
      <p:sp>
        <p:nvSpPr>
          <p:cNvPr id="11" name="anim-g2-585"/>
          <p:cNvSpPr/>
          <p:nvPr/>
        </p:nvSpPr>
        <p:spPr>
          <a:xfrm>
            <a:off x="10573207" y="3166110"/>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586"/>
          <p:cNvSpPr/>
          <p:nvPr/>
        </p:nvSpPr>
        <p:spPr>
          <a:xfrm>
            <a:off x="1097280" y="2976372"/>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تحسب مسافة الدفع s = r × θ</a:t>
            </a:r>
            <a:endParaRPr lang="ar-SA" sz="2400" dirty="0"/>
          </a:p>
        </p:txBody>
      </p:sp>
      <p:sp>
        <p:nvSpPr>
          <p:cNvPr id="13" name="anim-g3-587"/>
          <p:cNvSpPr/>
          <p:nvPr/>
        </p:nvSpPr>
        <p:spPr>
          <a:xfrm>
            <a:off x="822960" y="4032504"/>
            <a:ext cx="10545775" cy="946404"/>
          </a:xfrm>
          <a:prstGeom prst="roundRect">
            <a:avLst>
              <a:gd name="adj" fmla="val 15459"/>
            </a:avLst>
          </a:prstGeom>
          <a:solidFill>
            <a:srgbClr val="FFFFFF"/>
          </a:solidFill>
          <a:ln w="12700">
            <a:solidFill>
              <a:srgbClr val="E4DCC8"/>
            </a:solidFill>
            <a:prstDash val="solid"/>
          </a:ln>
        </p:spPr>
      </p:sp>
      <p:sp>
        <p:nvSpPr>
          <p:cNvPr id="14" name="anim-g3-588"/>
          <p:cNvSpPr/>
          <p:nvPr/>
        </p:nvSpPr>
        <p:spPr>
          <a:xfrm>
            <a:off x="10573207" y="4222242"/>
            <a:ext cx="566928" cy="566928"/>
          </a:xfrm>
          <a:prstGeom prst="ellipse">
            <a:avLst/>
          </a:prstGeom>
          <a:solidFill>
            <a:srgbClr val="D9AE4B"/>
          </a:solidFill>
          <a:ln/>
        </p:spPr>
      </p:sp>
      <p:sp>
        <p:nvSpPr>
          <p:cNvPr id="15" name="anim-g3-589"/>
          <p:cNvSpPr/>
          <p:nvPr/>
        </p:nvSpPr>
        <p:spPr>
          <a:xfrm>
            <a:off x="10573207" y="4222242"/>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590"/>
          <p:cNvSpPr/>
          <p:nvPr/>
        </p:nvSpPr>
        <p:spPr>
          <a:xfrm>
            <a:off x="1097280" y="4032504"/>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تبرمج السيرفو مع قفل يمنع تكرار المكافأة</a:t>
            </a:r>
            <a:endParaRPr lang="ar-SA" sz="2400" dirty="0"/>
          </a:p>
        </p:txBody>
      </p:sp>
      <p:sp>
        <p:nvSpPr>
          <p:cNvPr id="17" name="anim-g4-591"/>
          <p:cNvSpPr/>
          <p:nvPr/>
        </p:nvSpPr>
        <p:spPr>
          <a:xfrm>
            <a:off x="822960" y="5088636"/>
            <a:ext cx="10545775" cy="946404"/>
          </a:xfrm>
          <a:prstGeom prst="roundRect">
            <a:avLst>
              <a:gd name="adj" fmla="val 15459"/>
            </a:avLst>
          </a:prstGeom>
          <a:solidFill>
            <a:srgbClr val="FFFFFF"/>
          </a:solidFill>
          <a:ln w="12700">
            <a:solidFill>
              <a:srgbClr val="E4DCC8"/>
            </a:solidFill>
            <a:prstDash val="solid"/>
          </a:ln>
        </p:spPr>
      </p:sp>
      <p:sp>
        <p:nvSpPr>
          <p:cNvPr id="18" name="anim-g4-592"/>
          <p:cNvSpPr/>
          <p:nvPr/>
        </p:nvSpPr>
        <p:spPr>
          <a:xfrm>
            <a:off x="10573207" y="5278374"/>
            <a:ext cx="566928" cy="566928"/>
          </a:xfrm>
          <a:prstGeom prst="ellipse">
            <a:avLst/>
          </a:prstGeom>
          <a:solidFill>
            <a:srgbClr val="D9AE4B"/>
          </a:solidFill>
          <a:ln/>
        </p:spPr>
      </p:sp>
      <p:sp>
        <p:nvSpPr>
          <p:cNvPr id="19" name="anim-g4-593"/>
          <p:cNvSpPr/>
          <p:nvPr/>
        </p:nvSpPr>
        <p:spPr>
          <a:xfrm>
            <a:off x="10573207" y="5278374"/>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594"/>
          <p:cNvSpPr/>
          <p:nvPr/>
        </p:nvSpPr>
        <p:spPr>
          <a:xfrm>
            <a:off x="1097280" y="5088636"/>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تدمج: الإجابة الصحيحة تُخرج العملة</a:t>
            </a:r>
            <a:endParaRPr lang="ar-SA" sz="2400" dirty="0"/>
          </a:p>
        </p:txBody>
      </p:sp>
      <p:sp>
        <p:nvSpPr>
          <p:cNvPr id="21" name="Text 19"/>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صانع الذكريات التراثية</a:t>
            </a:r>
            <a:endParaRPr lang="ar-SA" sz="1200" dirty="0"/>
          </a:p>
        </p:txBody>
      </p:sp>
      <p:sp>
        <p:nvSpPr>
          <p:cNvPr id="22" name="Text 20"/>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٧. عملة الذكرى  ·  ٨٥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name="Slide 8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كيف تعمل الآلية؟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من دوران صغير… إلى عملة في يد طفل</a:t>
            </a:r>
            <a:endParaRPr lang="ar-SA" sz="3200" dirty="0"/>
          </a:p>
        </p:txBody>
      </p:sp>
      <p:sp>
        <p:nvSpPr>
          <p:cNvPr id="5" name="anim-g1-595"/>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596"/>
          <p:cNvSpPr/>
          <p:nvPr/>
        </p:nvSpPr>
        <p:spPr>
          <a:xfrm>
            <a:off x="10527487" y="2267712"/>
            <a:ext cx="566928" cy="566928"/>
          </a:xfrm>
          <a:prstGeom prst="roundRect">
            <a:avLst>
              <a:gd name="adj" fmla="val 32258"/>
            </a:avLst>
          </a:prstGeom>
          <a:solidFill>
            <a:srgbClr val="F7E6BC"/>
          </a:solidFill>
          <a:ln/>
        </p:spPr>
      </p:sp>
      <p:sp>
        <p:nvSpPr>
          <p:cNvPr id="7" name="anim-g1-597"/>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598"/>
          <p:cNvSpPr/>
          <p:nvPr/>
        </p:nvSpPr>
        <p:spPr>
          <a:xfrm>
            <a:off x="6507328"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السيرفو يدير الترس (Pinion)</a:t>
            </a:r>
            <a:endParaRPr lang="ar-SA" sz="2200" dirty="0"/>
          </a:p>
        </p:txBody>
      </p:sp>
      <p:sp>
        <p:nvSpPr>
          <p:cNvPr id="9" name="anim-g1-599"/>
          <p:cNvSpPr/>
          <p:nvPr/>
        </p:nvSpPr>
        <p:spPr>
          <a:xfrm>
            <a:off x="6507328"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بزاوية محددة نكتبها في الكود</a:t>
            </a:r>
            <a:endParaRPr lang="ar-SA" sz="1900" dirty="0"/>
          </a:p>
        </p:txBody>
      </p:sp>
      <p:sp>
        <p:nvSpPr>
          <p:cNvPr id="10" name="anim-g2-600"/>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601"/>
          <p:cNvSpPr/>
          <p:nvPr/>
        </p:nvSpPr>
        <p:spPr>
          <a:xfrm>
            <a:off x="5117440" y="2267712"/>
            <a:ext cx="566928" cy="566928"/>
          </a:xfrm>
          <a:prstGeom prst="roundRect">
            <a:avLst>
              <a:gd name="adj" fmla="val 32258"/>
            </a:avLst>
          </a:prstGeom>
          <a:solidFill>
            <a:srgbClr val="F7E6BC"/>
          </a:solidFill>
          <a:ln/>
        </p:spPr>
      </p:sp>
      <p:sp>
        <p:nvSpPr>
          <p:cNvPr id="12" name="anim-g2-602"/>
          <p:cNvSpPr/>
          <p:nvPr/>
        </p:nvSpPr>
        <p:spPr>
          <a:xfrm>
            <a:off x="511744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603"/>
          <p:cNvSpPr/>
          <p:nvPr/>
        </p:nvSpPr>
        <p:spPr>
          <a:xfrm>
            <a:off x="1097280"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الترس يتشابك مع القضيب (Rack)</a:t>
            </a:r>
            <a:endParaRPr lang="ar-SA" sz="2200" dirty="0"/>
          </a:p>
        </p:txBody>
      </p:sp>
      <p:sp>
        <p:nvSpPr>
          <p:cNvPr id="14" name="anim-g2-604"/>
          <p:cNvSpPr/>
          <p:nvPr/>
        </p:nvSpPr>
        <p:spPr>
          <a:xfrm>
            <a:off x="1097280"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فيتحول الدوران إلى حركة في خط مستقيم</a:t>
            </a:r>
            <a:endParaRPr lang="ar-SA" sz="1900" dirty="0"/>
          </a:p>
        </p:txBody>
      </p:sp>
      <p:sp>
        <p:nvSpPr>
          <p:cNvPr id="15" name="anim-g3-605"/>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606"/>
          <p:cNvSpPr/>
          <p:nvPr/>
        </p:nvSpPr>
        <p:spPr>
          <a:xfrm>
            <a:off x="10527487" y="4393692"/>
            <a:ext cx="566928" cy="566928"/>
          </a:xfrm>
          <a:prstGeom prst="roundRect">
            <a:avLst>
              <a:gd name="adj" fmla="val 32258"/>
            </a:avLst>
          </a:prstGeom>
          <a:solidFill>
            <a:srgbClr val="F7E6BC"/>
          </a:solidFill>
          <a:ln/>
        </p:spPr>
      </p:sp>
      <p:sp>
        <p:nvSpPr>
          <p:cNvPr id="17" name="anim-g3-607"/>
          <p:cNvSpPr/>
          <p:nvPr/>
        </p:nvSpPr>
        <p:spPr>
          <a:xfrm>
            <a:off x="10527487"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608"/>
          <p:cNvSpPr/>
          <p:nvPr/>
        </p:nvSpPr>
        <p:spPr>
          <a:xfrm>
            <a:off x="6507328"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القضيب يدفع العملة</a:t>
            </a:r>
            <a:endParaRPr lang="ar-SA" sz="2200" dirty="0"/>
          </a:p>
        </p:txBody>
      </p:sp>
      <p:sp>
        <p:nvSpPr>
          <p:cNvPr id="19" name="anim-g3-609"/>
          <p:cNvSpPr/>
          <p:nvPr/>
        </p:nvSpPr>
        <p:spPr>
          <a:xfrm>
            <a:off x="6507328"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من أسفل الخزان إلى فتحة «خذ ذكراك» دون لمس يدوي</a:t>
            </a:r>
            <a:endParaRPr lang="ar-SA" sz="1900" dirty="0"/>
          </a:p>
        </p:txBody>
      </p:sp>
      <p:sp>
        <p:nvSpPr>
          <p:cNvPr id="20" name="anim-g4-610"/>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21" name="anim-g4-611"/>
          <p:cNvSpPr/>
          <p:nvPr/>
        </p:nvSpPr>
        <p:spPr>
          <a:xfrm>
            <a:off x="5117440" y="4393692"/>
            <a:ext cx="566928" cy="566928"/>
          </a:xfrm>
          <a:prstGeom prst="roundRect">
            <a:avLst>
              <a:gd name="adj" fmla="val 32258"/>
            </a:avLst>
          </a:prstGeom>
          <a:solidFill>
            <a:srgbClr val="F7E6BC"/>
          </a:solidFill>
          <a:ln/>
        </p:spPr>
      </p:sp>
      <p:sp>
        <p:nvSpPr>
          <p:cNvPr id="22" name="anim-g4-612"/>
          <p:cNvSpPr/>
          <p:nvPr/>
        </p:nvSpPr>
        <p:spPr>
          <a:xfrm>
            <a:off x="5117440"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613"/>
          <p:cNvSpPr/>
          <p:nvPr/>
        </p:nvSpPr>
        <p:spPr>
          <a:xfrm>
            <a:off x="1097280"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يعود السيرفو</a:t>
            </a:r>
            <a:endParaRPr lang="ar-SA" sz="2200" dirty="0"/>
          </a:p>
        </p:txBody>
      </p:sp>
      <p:sp>
        <p:nvSpPr>
          <p:cNvPr id="24" name="anim-g4-614"/>
          <p:cNvSpPr/>
          <p:nvPr/>
        </p:nvSpPr>
        <p:spPr>
          <a:xfrm>
            <a:off x="1097280"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إلى وضع الاستعداد للجولة التالية</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صانع الذكريات التراثية</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٧. عملة الذكرى  ·  ٨٦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Image 0" descr="C:\Users\user\projects\younes-training\heritage\.pptx-cache\s87-0.jpg"/>
          <p:cNvPicPr>
            <a:picLocks noChangeAspect="1"/>
          </p:cNvPicPr>
          <p:nvPr/>
        </p:nvPicPr>
        <p:blipFill>
          <a:blip r:embed="rId3"/>
          <a:stretch>
            <a:fillRect/>
          </a:stretch>
        </p:blipFill>
        <p:spPr>
          <a:xfrm>
            <a:off x="0" y="0"/>
            <a:ext cx="12191695" cy="6858000"/>
          </a:xfrm>
          <a:prstGeom prst="rect">
            <a:avLst/>
          </a:prstGeom>
        </p:spPr>
      </p:pic>
      <p:pic>
        <p:nvPicPr>
          <p:cNvPr id="3" name="anim-g1-615" descr="C:\Users\user\projects\younes-training\heritage\.pptx-cache\s87-1.jpg"/>
          <p:cNvPicPr>
            <a:picLocks noChangeAspect="1"/>
          </p:cNvPicPr>
          <p:nvPr/>
        </p:nvPicPr>
        <p:blipFill>
          <a:blip r:embed="rId4"/>
          <a:stretch>
            <a:fillRect/>
          </a:stretch>
        </p:blipFill>
        <p:spPr>
          <a:xfrm>
            <a:off x="0" y="0"/>
            <a:ext cx="12191695" cy="6858000"/>
          </a:xfrm>
          <a:prstGeom prst="rect">
            <a:avLst/>
          </a:prstGeom>
        </p:spPr>
      </p:pic>
      <p:pic>
        <p:nvPicPr>
          <p:cNvPr id="4" name="anim-g2-616" descr="C:\Users\user\projects\younes-training\heritage\.pptx-cache\s87-2.jpg"/>
          <p:cNvPicPr>
            <a:picLocks noChangeAspect="1"/>
          </p:cNvPicPr>
          <p:nvPr/>
        </p:nvPicPr>
        <p:blipFill>
          <a:blip r:embed="rId5"/>
          <a:stretch>
            <a:fillRect/>
          </a:stretch>
        </p:blipFill>
        <p:spPr>
          <a:xfrm>
            <a:off x="0" y="0"/>
            <a:ext cx="12191695" cy="6858000"/>
          </a:xfrm>
          <a:prstGeom prst="rect">
            <a:avLst/>
          </a:prstGeom>
        </p:spPr>
      </p:pic>
      <p:pic>
        <p:nvPicPr>
          <p:cNvPr id="5" name="anim-g3-617" descr="C:\Users\user\projects\younes-training\heritage\.pptx-cache\s87-3.jpg"/>
          <p:cNvPicPr>
            <a:picLocks noChangeAspect="1"/>
          </p:cNvPicPr>
          <p:nvPr/>
        </p:nvPicPr>
        <p:blipFill>
          <a:blip r:embed="rId6"/>
          <a:stretch>
            <a:fillRect/>
          </a:stretch>
        </p:blipFill>
        <p:spPr>
          <a:xfrm>
            <a:off x="0" y="0"/>
            <a:ext cx="12191695" cy="6858000"/>
          </a:xfrm>
          <a:prstGeom prst="rect">
            <a:avLst/>
          </a:prstGeom>
        </p:spPr>
      </p:pic>
      <p:pic>
        <p:nvPicPr>
          <p:cNvPr id="6" name="anim-g4-618" descr="C:\Users\user\projects\younes-training\heritage\.pptx-cache\s87-4.jpg"/>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Image 0" descr="C:\Users\user\projects\younes-training\heritage\.pptx-cache\s88.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Image 0" descr="C:\Users\user\projects\younes-training\heritage\.pptx-cache\s89-0.jpg"/>
          <p:cNvPicPr>
            <a:picLocks noChangeAspect="1"/>
          </p:cNvPicPr>
          <p:nvPr/>
        </p:nvPicPr>
        <p:blipFill>
          <a:blip r:embed="rId3"/>
          <a:stretch>
            <a:fillRect/>
          </a:stretch>
        </p:blipFill>
        <p:spPr>
          <a:xfrm>
            <a:off x="0" y="0"/>
            <a:ext cx="12191695" cy="6858000"/>
          </a:xfrm>
          <a:prstGeom prst="rect">
            <a:avLst/>
          </a:prstGeom>
        </p:spPr>
      </p:pic>
      <p:pic>
        <p:nvPicPr>
          <p:cNvPr id="3" name="anim-g1-619" descr="C:\Users\user\projects\younes-training\heritage\.pptx-cache\s89-1.jpg"/>
          <p:cNvPicPr>
            <a:picLocks noChangeAspect="1"/>
          </p:cNvPicPr>
          <p:nvPr/>
        </p:nvPicPr>
        <p:blipFill>
          <a:blip r:embed="rId4"/>
          <a:stretch>
            <a:fillRect/>
          </a:stretch>
        </p:blipFill>
        <p:spPr>
          <a:xfrm>
            <a:off x="0" y="0"/>
            <a:ext cx="12191695" cy="6858000"/>
          </a:xfrm>
          <a:prstGeom prst="rect">
            <a:avLst/>
          </a:prstGeom>
        </p:spPr>
      </p:pic>
      <p:pic>
        <p:nvPicPr>
          <p:cNvPr id="4" name="anim-g2-620" descr="C:\Users\user\projects\younes-training\heritage\.pptx-cache\s89-2.jpg"/>
          <p:cNvPicPr>
            <a:picLocks noChangeAspect="1"/>
          </p:cNvPicPr>
          <p:nvPr/>
        </p:nvPicPr>
        <p:blipFill>
          <a:blip r:embed="rId5"/>
          <a:stretch>
            <a:fillRect/>
          </a:stretch>
        </p:blipFill>
        <p:spPr>
          <a:xfrm>
            <a:off x="0" y="0"/>
            <a:ext cx="12191695" cy="6858000"/>
          </a:xfrm>
          <a:prstGeom prst="rect">
            <a:avLst/>
          </a:prstGeom>
        </p:spPr>
      </p:pic>
      <p:pic>
        <p:nvPicPr>
          <p:cNvPr id="5" name="anim-g3-621" descr="C:\Users\user\projects\younes-training\heritage\.pptx-cache\s89-3.jpg"/>
          <p:cNvPicPr>
            <a:picLocks noChangeAspect="1"/>
          </p:cNvPicPr>
          <p:nvPr/>
        </p:nvPicPr>
        <p:blipFill>
          <a:blip r:embed="rId6"/>
          <a:stretch>
            <a:fillRect/>
          </a:stretch>
        </p:blipFill>
        <p:spPr>
          <a:xfrm>
            <a:off x="0" y="0"/>
            <a:ext cx="12191695" cy="6858000"/>
          </a:xfrm>
          <a:prstGeom prst="rect">
            <a:avLst/>
          </a:prstGeom>
        </p:spPr>
      </p:pic>
      <p:pic>
        <p:nvPicPr>
          <p:cNvPr id="6" name="anim-g4-622" descr="C:\Users\user\projects\younes-training\heritage\.pptx-cache\s89-4.jpg"/>
          <p:cNvPicPr>
            <a:picLocks noChangeAspect="1"/>
          </p:cNvPicPr>
          <p:nvPr/>
        </p:nvPicPr>
        <p:blipFill>
          <a:blip r:embed="rId7"/>
          <a:stretch>
            <a:fillRect/>
          </a:stretch>
        </p:blipFill>
        <p:spPr>
          <a:xfrm>
            <a:off x="0" y="0"/>
            <a:ext cx="12191695" cy="6858000"/>
          </a:xfrm>
          <a:prstGeom prst="rect">
            <a:avLst/>
          </a:prstGeom>
        </p:spPr>
      </p:pic>
      <p:pic>
        <p:nvPicPr>
          <p:cNvPr id="7" name="anim-g5-623" descr="C:\Users\user\projects\younes-training\heritage\.pptx-cache\s89-5.jpg"/>
          <p:cNvPicPr>
            <a:picLocks noChangeAspect="1"/>
          </p:cNvPicPr>
          <p:nvPr/>
        </p:nvPicPr>
        <p:blipFill>
          <a:blip r:embed="rId8"/>
          <a:stretch>
            <a:fillRect/>
          </a:stretch>
        </p:blipFill>
        <p:spPr>
          <a:xfrm>
            <a:off x="0" y="0"/>
            <a:ext cx="12191695" cy="6858000"/>
          </a:xfrm>
          <a:prstGeom prst="rect">
            <a:avLst/>
          </a:prstGeom>
        </p:spPr>
      </p:pic>
      <p:pic>
        <p:nvPicPr>
          <p:cNvPr id="8" name="anim-g6-624" descr="C:\Users\user\projects\younes-training\heritage\.pptx-cache\s89-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Image 0" descr="C:\Users\user\projects\younes-training\heritage\.pptx-cache\s90-0.jpg"/>
          <p:cNvPicPr>
            <a:picLocks noChangeAspect="1"/>
          </p:cNvPicPr>
          <p:nvPr/>
        </p:nvPicPr>
        <p:blipFill>
          <a:blip r:embed="rId3"/>
          <a:stretch>
            <a:fillRect/>
          </a:stretch>
        </p:blipFill>
        <p:spPr>
          <a:xfrm>
            <a:off x="0" y="0"/>
            <a:ext cx="12191695" cy="6858000"/>
          </a:xfrm>
          <a:prstGeom prst="rect">
            <a:avLst/>
          </a:prstGeom>
        </p:spPr>
      </p:pic>
      <p:pic>
        <p:nvPicPr>
          <p:cNvPr id="3" name="anim-g1-625" descr="C:\Users\user\projects\younes-training\heritage\.pptx-cache\s90-1.jpg"/>
          <p:cNvPicPr>
            <a:picLocks noChangeAspect="1"/>
          </p:cNvPicPr>
          <p:nvPr/>
        </p:nvPicPr>
        <p:blipFill>
          <a:blip r:embed="rId4"/>
          <a:stretch>
            <a:fillRect/>
          </a:stretch>
        </p:blipFill>
        <p:spPr>
          <a:xfrm>
            <a:off x="0" y="0"/>
            <a:ext cx="12191695" cy="6858000"/>
          </a:xfrm>
          <a:prstGeom prst="rect">
            <a:avLst/>
          </a:prstGeom>
        </p:spPr>
      </p:pic>
      <p:pic>
        <p:nvPicPr>
          <p:cNvPr id="4" name="anim-g2-626" descr="C:\Users\user\projects\younes-training\heritage\.pptx-cache\s90-2.jpg"/>
          <p:cNvPicPr>
            <a:picLocks noChangeAspect="1"/>
          </p:cNvPicPr>
          <p:nvPr/>
        </p:nvPicPr>
        <p:blipFill>
          <a:blip r:embed="rId5"/>
          <a:stretch>
            <a:fillRect/>
          </a:stretch>
        </p:blipFill>
        <p:spPr>
          <a:xfrm>
            <a:off x="0" y="0"/>
            <a:ext cx="12191695" cy="6858000"/>
          </a:xfrm>
          <a:prstGeom prst="rect">
            <a:avLst/>
          </a:prstGeom>
        </p:spPr>
      </p:pic>
      <p:pic>
        <p:nvPicPr>
          <p:cNvPr id="5" name="anim-g3-627" descr="C:\Users\user\projects\younes-training\heritage\.pptx-cache\s90-3.jpg"/>
          <p:cNvPicPr>
            <a:picLocks noChangeAspect="1"/>
          </p:cNvPicPr>
          <p:nvPr/>
        </p:nvPicPr>
        <p:blipFill>
          <a:blip r:embed="rId6"/>
          <a:stretch>
            <a:fillRect/>
          </a:stretch>
        </p:blipFill>
        <p:spPr>
          <a:xfrm>
            <a:off x="0" y="0"/>
            <a:ext cx="12191695" cy="6858000"/>
          </a:xfrm>
          <a:prstGeom prst="rect">
            <a:avLst/>
          </a:prstGeom>
        </p:spPr>
      </p:pic>
      <p:pic>
        <p:nvPicPr>
          <p:cNvPr id="6" name="anim-g4-628" descr="C:\Users\user\projects\younes-training\heritage\.pptx-cache\s90-4.jpg"/>
          <p:cNvPicPr>
            <a:picLocks noChangeAspect="1"/>
          </p:cNvPicPr>
          <p:nvPr/>
        </p:nvPicPr>
        <p:blipFill>
          <a:blip r:embed="rId7"/>
          <a:stretch>
            <a:fillRect/>
          </a:stretch>
        </p:blipFill>
        <p:spPr>
          <a:xfrm>
            <a:off x="0" y="0"/>
            <a:ext cx="12191695" cy="6858000"/>
          </a:xfrm>
          <a:prstGeom prst="rect">
            <a:avLst/>
          </a:prstGeom>
        </p:spPr>
      </p:pic>
      <p:pic>
        <p:nvPicPr>
          <p:cNvPr id="7" name="anim-g5-629" descr="C:\Users\user\projects\younes-training\heritage\.pptx-cache\s90-5.jpg"/>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Image 0" descr="C:\Users\user\projects\younes-training\heritage\.pptx-cache\s91-0.jpg"/>
          <p:cNvPicPr>
            <a:picLocks noChangeAspect="1"/>
          </p:cNvPicPr>
          <p:nvPr/>
        </p:nvPicPr>
        <p:blipFill>
          <a:blip r:embed="rId3"/>
          <a:stretch>
            <a:fillRect/>
          </a:stretch>
        </p:blipFill>
        <p:spPr>
          <a:xfrm>
            <a:off x="0" y="0"/>
            <a:ext cx="12191695" cy="6858000"/>
          </a:xfrm>
          <a:prstGeom prst="rect">
            <a:avLst/>
          </a:prstGeom>
        </p:spPr>
      </p:pic>
      <p:pic>
        <p:nvPicPr>
          <p:cNvPr id="3" name="anim-g1-630" descr="C:\Users\user\projects\younes-training\heritage\.pptx-cache\s91-1.jpg"/>
          <p:cNvPicPr>
            <a:picLocks noChangeAspect="1"/>
          </p:cNvPicPr>
          <p:nvPr/>
        </p:nvPicPr>
        <p:blipFill>
          <a:blip r:embed="rId4"/>
          <a:stretch>
            <a:fillRect/>
          </a:stretch>
        </p:blipFill>
        <p:spPr>
          <a:xfrm>
            <a:off x="0" y="0"/>
            <a:ext cx="12191695" cy="6858000"/>
          </a:xfrm>
          <a:prstGeom prst="rect">
            <a:avLst/>
          </a:prstGeom>
        </p:spPr>
      </p:pic>
      <p:pic>
        <p:nvPicPr>
          <p:cNvPr id="4" name="anim-g2-631" descr="C:\Users\user\projects\younes-training\heritage\.pptx-cache\s91-2.jpg"/>
          <p:cNvPicPr>
            <a:picLocks noChangeAspect="1"/>
          </p:cNvPicPr>
          <p:nvPr/>
        </p:nvPicPr>
        <p:blipFill>
          <a:blip r:embed="rId5"/>
          <a:stretch>
            <a:fillRect/>
          </a:stretch>
        </p:blipFill>
        <p:spPr>
          <a:xfrm>
            <a:off x="0" y="0"/>
            <a:ext cx="12191695" cy="6858000"/>
          </a:xfrm>
          <a:prstGeom prst="rect">
            <a:avLst/>
          </a:prstGeom>
        </p:spPr>
      </p:pic>
      <p:pic>
        <p:nvPicPr>
          <p:cNvPr id="5" name="anim-g3-632" descr="C:\Users\user\projects\younes-training\heritage\.pptx-cache\s91-3.jpg"/>
          <p:cNvPicPr>
            <a:picLocks noChangeAspect="1"/>
          </p:cNvPicPr>
          <p:nvPr/>
        </p:nvPicPr>
        <p:blipFill>
          <a:blip r:embed="rId6"/>
          <a:stretch>
            <a:fillRect/>
          </a:stretch>
        </p:blipFill>
        <p:spPr>
          <a:xfrm>
            <a:off x="0" y="0"/>
            <a:ext cx="12191695" cy="6858000"/>
          </a:xfrm>
          <a:prstGeom prst="rect">
            <a:avLst/>
          </a:prstGeom>
        </p:spPr>
      </p:pic>
      <p:pic>
        <p:nvPicPr>
          <p:cNvPr id="6" name="anim-g4-633" descr="C:\Users\user\projects\younes-training\heritage\.pptx-cache\s91-4.jpg"/>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p:cSld name="Slide 9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اختبر نفسك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لماذا لا يحصل الطفل على عملة عند كل محطة تلقائيًا؟</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لتوفير العملات</a:t>
            </a:r>
            <a:endParaRPr lang="ar-SA" sz="2500" dirty="0"/>
          </a:p>
        </p:txBody>
      </p:sp>
      <p:sp>
        <p:nvSpPr>
          <p:cNvPr id="9" name="anim-g1-634"/>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635"/>
          <p:cNvSpPr/>
          <p:nvPr/>
        </p:nvSpPr>
        <p:spPr>
          <a:xfrm>
            <a:off x="10231831" y="2194560"/>
            <a:ext cx="954024" cy="954024"/>
          </a:xfrm>
          <a:prstGeom prst="roundRect">
            <a:avLst>
              <a:gd name="adj" fmla="val 11502"/>
            </a:avLst>
          </a:prstGeom>
          <a:solidFill>
            <a:srgbClr val="A3A9BA"/>
          </a:solidFill>
          <a:ln/>
        </p:spPr>
      </p:sp>
      <p:sp>
        <p:nvSpPr>
          <p:cNvPr id="11" name="anim-g1-636"/>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637"/>
          <p:cNvSpPr/>
          <p:nvPr/>
        </p:nvSpPr>
        <p:spPr>
          <a:xfrm>
            <a:off x="1097280" y="2093976"/>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لتوفير العملات</a:t>
            </a:r>
            <a:endParaRPr lang="ar-SA" sz="2400" dirty="0"/>
          </a:p>
        </p:txBody>
      </p:sp>
      <p:sp>
        <p:nvSpPr>
          <p:cNvPr id="13" name="anim-g1-638"/>
          <p:cNvSpPr/>
          <p:nvPr/>
        </p:nvSpPr>
        <p:spPr>
          <a:xfrm>
            <a:off x="1097280" y="2720706"/>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ليس السبب الأساسي</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لأن السيرفو بطيء</a:t>
            </a:r>
            <a:endParaRPr lang="ar-SA" sz="2500" dirty="0"/>
          </a:p>
        </p:txBody>
      </p:sp>
      <p:sp>
        <p:nvSpPr>
          <p:cNvPr id="18" name="anim-g1-639"/>
          <p:cNvSpPr/>
          <p:nvPr/>
        </p:nvSpPr>
        <p:spPr>
          <a:xfrm>
            <a:off x="822960" y="3432048"/>
            <a:ext cx="10545775" cy="1228344"/>
          </a:xfrm>
          <a:prstGeom prst="roundRect">
            <a:avLst>
              <a:gd name="adj" fmla="val 11911"/>
            </a:avLst>
          </a:prstGeom>
          <a:solidFill>
            <a:srgbClr val="F7F7F9"/>
          </a:solidFill>
          <a:ln w="19050">
            <a:solidFill>
              <a:srgbClr val="E4DCC8"/>
            </a:solidFill>
            <a:prstDash val="solid"/>
          </a:ln>
        </p:spPr>
      </p:sp>
      <p:sp>
        <p:nvSpPr>
          <p:cNvPr id="19" name="anim-g1-640"/>
          <p:cNvSpPr/>
          <p:nvPr/>
        </p:nvSpPr>
        <p:spPr>
          <a:xfrm>
            <a:off x="10231831" y="3569208"/>
            <a:ext cx="954024" cy="954024"/>
          </a:xfrm>
          <a:prstGeom prst="roundRect">
            <a:avLst>
              <a:gd name="adj" fmla="val 11502"/>
            </a:avLst>
          </a:prstGeom>
          <a:solidFill>
            <a:srgbClr val="A3A9BA"/>
          </a:solidFill>
          <a:ln/>
        </p:spPr>
      </p:sp>
      <p:sp>
        <p:nvSpPr>
          <p:cNvPr id="20" name="anim-g1-641"/>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21" name="anim-g1-642"/>
          <p:cNvSpPr/>
          <p:nvPr/>
        </p:nvSpPr>
        <p:spPr>
          <a:xfrm>
            <a:off x="1097280" y="3468624"/>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لأن السيرفو بطيء</a:t>
            </a:r>
            <a:endParaRPr lang="ar-SA" sz="2400" dirty="0"/>
          </a:p>
        </p:txBody>
      </p:sp>
      <p:sp>
        <p:nvSpPr>
          <p:cNvPr id="22" name="anim-g1-643"/>
          <p:cNvSpPr/>
          <p:nvPr/>
        </p:nvSpPr>
        <p:spPr>
          <a:xfrm>
            <a:off x="1097280" y="4095354"/>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السيرفو سريع بما يكفي</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لأن المكافأة مرتبطة بالتعلم: تُمنح بعد إجابة صحيحة</a:t>
            </a:r>
            <a:endParaRPr lang="ar-SA" sz="2500" dirty="0"/>
          </a:p>
        </p:txBody>
      </p:sp>
      <p:sp>
        <p:nvSpPr>
          <p:cNvPr id="27" name="anim-g1-644"/>
          <p:cNvSpPr/>
          <p:nvPr/>
        </p:nvSpPr>
        <p:spPr>
          <a:xfrm>
            <a:off x="822960" y="4806696"/>
            <a:ext cx="10545775" cy="1228344"/>
          </a:xfrm>
          <a:prstGeom prst="roundRect">
            <a:avLst>
              <a:gd name="adj" fmla="val 11911"/>
            </a:avLst>
          </a:prstGeom>
          <a:solidFill>
            <a:srgbClr val="E6F4EC"/>
          </a:solidFill>
          <a:ln w="31750">
            <a:solidFill>
              <a:srgbClr val="2E9E6B"/>
            </a:solidFill>
            <a:prstDash val="solid"/>
          </a:ln>
        </p:spPr>
      </p:sp>
      <p:sp>
        <p:nvSpPr>
          <p:cNvPr id="28" name="anim-g1-645"/>
          <p:cNvSpPr/>
          <p:nvPr/>
        </p:nvSpPr>
        <p:spPr>
          <a:xfrm>
            <a:off x="10231831" y="4943856"/>
            <a:ext cx="954024" cy="954024"/>
          </a:xfrm>
          <a:prstGeom prst="roundRect">
            <a:avLst>
              <a:gd name="adj" fmla="val 11502"/>
            </a:avLst>
          </a:prstGeom>
          <a:solidFill>
            <a:srgbClr val="2E9E6B"/>
          </a:solidFill>
          <a:ln/>
        </p:spPr>
      </p:sp>
      <p:sp>
        <p:nvSpPr>
          <p:cNvPr id="29" name="anim-g1-646"/>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30" name="anim-g1-647"/>
          <p:cNvSpPr/>
          <p:nvPr/>
        </p:nvSpPr>
        <p:spPr>
          <a:xfrm>
            <a:off x="1097280" y="4843272"/>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131B34"/>
                </a:solidFill>
                <a:latin typeface="Cairo" pitchFamily="34" charset="0"/>
                <a:ea typeface="Cairo" pitchFamily="34" charset="-122"/>
                <a:cs typeface="Cairo" pitchFamily="34" charset="-120"/>
              </a:rPr>
              <a:t>لأن المكافأة مرتبطة بالتعلم: تُمنح بعد إجابة صحيحة</a:t>
            </a:r>
            <a:endParaRPr lang="ar-SA" sz="2400" dirty="0"/>
          </a:p>
        </p:txBody>
      </p:sp>
      <p:sp>
        <p:nvSpPr>
          <p:cNvPr id="31" name="anim-g1-648"/>
          <p:cNvSpPr/>
          <p:nvPr/>
        </p:nvSpPr>
        <p:spPr>
          <a:xfrm>
            <a:off x="1097280" y="5470002"/>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1D5E40"/>
                </a:solidFill>
                <a:latin typeface="Cairo" pitchFamily="34" charset="0"/>
                <a:ea typeface="Cairo" pitchFamily="34" charset="-122"/>
                <a:cs typeface="Cairo" pitchFamily="34" charset="-120"/>
              </a:rPr>
              <a:t>صحيح: «العملة ليست مكافأة عشوائية»… إنها ذكرى معلومة تعلّمها</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صانع الذكريات التراثية</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٧. عملة الذكرى  ·  ٩٢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name="Slide 9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خلاصة المحور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marL="0" indent="0" algn="ctr" rtl="1">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ترس يدور، وقضيب يدفع، وعملة خشبية تخرج: المعلومة صارت ذكرى يحملها الطفل إلى بيته</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صانع الذكريات التراثية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 ٧. عملة الذكرى  ·  ٩٣</a:t>
            </a:r>
            <a:endParaRPr lang="ar-SA" sz="12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marL="0" indent="0" algn="ctr" rtl="1">
              <a:buNone/>
            </a:pPr>
            <a:r>
              <a:rPr lang="ar-SA" altLang="en-US" sz="12000" dirty="0">
                <a:solidFill>
                  <a:srgbClr val="F0CC7A"/>
                </a:solidFill>
                <a:latin typeface="Cairo Black" pitchFamily="34" charset="0"/>
                <a:ea typeface="Cairo Black" pitchFamily="34" charset="-122"/>
                <a:cs typeface="Cairo Black" pitchFamily="34" charset="-120"/>
              </a:rPr>
              <a:t>١٠</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marL="0" indent="0" algn="r" rtl="1">
              <a:buNone/>
            </a:pPr>
            <a:r>
              <a:rPr lang="ar-SA" altLang="en-US" sz="2000" b="1" dirty="0">
                <a:solidFill>
                  <a:srgbClr val="D9AE4B"/>
                </a:solidFill>
                <a:latin typeface="Cairo" pitchFamily="34" charset="0"/>
                <a:ea typeface="Cairo" pitchFamily="34" charset="-122"/>
                <a:cs typeface="Cairo" pitchFamily="34" charset="-120"/>
              </a:rPr>
              <a:t>المحور ١٠</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marL="0" indent="0" algn="r" rtl="1">
              <a:buNone/>
            </a:pPr>
            <a:r>
              <a:rPr lang="ar-SA" altLang="en-US" sz="5600" dirty="0">
                <a:solidFill>
                  <a:srgbClr val="FFFFFF"/>
                </a:solidFill>
                <a:latin typeface="Cairo Black" pitchFamily="34" charset="0"/>
                <a:ea typeface="Cairo Black" pitchFamily="34" charset="-122"/>
                <a:cs typeface="Cairo Black" pitchFamily="34" charset="-120"/>
              </a:rPr>
              <a:t>⚡ الطاقة الآمنة والتركيب الكامل</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marL="0" indent="0" algn="r" rtl="1">
              <a:buNone/>
            </a:pPr>
            <a:r>
              <a:rPr lang="ar-SA" altLang="en-US" sz="2200" b="1" dirty="0">
                <a:solidFill>
                  <a:srgbClr val="C9CFE6"/>
                </a:solidFill>
                <a:latin typeface="Cairo" pitchFamily="34" charset="0"/>
                <a:ea typeface="Cairo" pitchFamily="34" charset="-122"/>
                <a:cs typeface="Cairo" pitchFamily="34" charset="-120"/>
              </a:rPr>
              <a:t>سبعة مكونات في صندوق واحد… بلا مفاجآت</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صانع الذكريات التراثية</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 الطاقة والتركيب الكامل  ·  ٩٤</a:t>
            </a:r>
            <a:endParaRPr lang="ar-SA" sz="12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248095" y="457200"/>
            <a:ext cx="5120640" cy="457200"/>
          </a:xfrm>
          <a:prstGeom prst="roundRect">
            <a:avLst>
              <a:gd name="adj" fmla="val 50000"/>
            </a:avLst>
          </a:prstGeom>
          <a:solidFill>
            <a:srgbClr val="F6EBCF"/>
          </a:solidFill>
          <a:ln/>
        </p:spPr>
      </p:sp>
      <p:sp>
        <p:nvSpPr>
          <p:cNvPr id="3" name="Text 1"/>
          <p:cNvSpPr/>
          <p:nvPr/>
        </p:nvSpPr>
        <p:spPr>
          <a:xfrm>
            <a:off x="6248095" y="457200"/>
            <a:ext cx="512064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بنهاية هذا المحور تستطيع أن</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أهداف المحور</a:t>
            </a:r>
            <a:endParaRPr lang="ar-SA" sz="3800" dirty="0"/>
          </a:p>
        </p:txBody>
      </p:sp>
      <p:sp>
        <p:nvSpPr>
          <p:cNvPr id="5" name="anim-g1-649"/>
          <p:cNvSpPr/>
          <p:nvPr/>
        </p:nvSpPr>
        <p:spPr>
          <a:xfrm>
            <a:off x="822960" y="1920240"/>
            <a:ext cx="10545775" cy="1298448"/>
          </a:xfrm>
          <a:prstGeom prst="roundRect">
            <a:avLst>
              <a:gd name="adj" fmla="val 11268"/>
            </a:avLst>
          </a:prstGeom>
          <a:solidFill>
            <a:srgbClr val="FFFFFF"/>
          </a:solidFill>
          <a:ln w="12700">
            <a:solidFill>
              <a:srgbClr val="E4DCC8"/>
            </a:solidFill>
            <a:prstDash val="solid"/>
          </a:ln>
        </p:spPr>
      </p:sp>
      <p:sp>
        <p:nvSpPr>
          <p:cNvPr id="6" name="anim-g1-650"/>
          <p:cNvSpPr/>
          <p:nvPr/>
        </p:nvSpPr>
        <p:spPr>
          <a:xfrm>
            <a:off x="10573207" y="2286000"/>
            <a:ext cx="566928" cy="566928"/>
          </a:xfrm>
          <a:prstGeom prst="ellipse">
            <a:avLst/>
          </a:prstGeom>
          <a:solidFill>
            <a:srgbClr val="D9AE4B"/>
          </a:solidFill>
          <a:ln/>
        </p:spPr>
      </p:sp>
      <p:sp>
        <p:nvSpPr>
          <p:cNvPr id="7" name="anim-g1-651"/>
          <p:cNvSpPr/>
          <p:nvPr/>
        </p:nvSpPr>
        <p:spPr>
          <a:xfrm>
            <a:off x="10573207" y="2286000"/>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652"/>
          <p:cNvSpPr/>
          <p:nvPr/>
        </p:nvSpPr>
        <p:spPr>
          <a:xfrm>
            <a:off x="1097280" y="1920240"/>
            <a:ext cx="9247327" cy="1298448"/>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تشرح لماذا نفصل مصادر طاقة المحركات</a:t>
            </a:r>
            <a:endParaRPr lang="ar-SA" sz="2400" dirty="0"/>
          </a:p>
        </p:txBody>
      </p:sp>
      <p:sp>
        <p:nvSpPr>
          <p:cNvPr id="9" name="anim-g2-653"/>
          <p:cNvSpPr/>
          <p:nvPr/>
        </p:nvSpPr>
        <p:spPr>
          <a:xfrm>
            <a:off x="822960" y="3328416"/>
            <a:ext cx="10545775" cy="1298448"/>
          </a:xfrm>
          <a:prstGeom prst="roundRect">
            <a:avLst>
              <a:gd name="adj" fmla="val 11268"/>
            </a:avLst>
          </a:prstGeom>
          <a:solidFill>
            <a:srgbClr val="FFFFFF"/>
          </a:solidFill>
          <a:ln w="12700">
            <a:solidFill>
              <a:srgbClr val="E4DCC8"/>
            </a:solidFill>
            <a:prstDash val="solid"/>
          </a:ln>
        </p:spPr>
      </p:sp>
      <p:sp>
        <p:nvSpPr>
          <p:cNvPr id="10" name="anim-g2-654"/>
          <p:cNvSpPr/>
          <p:nvPr/>
        </p:nvSpPr>
        <p:spPr>
          <a:xfrm>
            <a:off x="10573207" y="3694176"/>
            <a:ext cx="566928" cy="566928"/>
          </a:xfrm>
          <a:prstGeom prst="ellipse">
            <a:avLst/>
          </a:prstGeom>
          <a:solidFill>
            <a:srgbClr val="D9AE4B"/>
          </a:solidFill>
          <a:ln/>
        </p:spPr>
      </p:sp>
      <p:sp>
        <p:nvSpPr>
          <p:cNvPr id="11" name="anim-g2-655"/>
          <p:cNvSpPr/>
          <p:nvPr/>
        </p:nvSpPr>
        <p:spPr>
          <a:xfrm>
            <a:off x="10573207" y="3694176"/>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656"/>
          <p:cNvSpPr/>
          <p:nvPr/>
        </p:nvSpPr>
        <p:spPr>
          <a:xfrm>
            <a:off x="1097280" y="3328416"/>
            <a:ext cx="9247327" cy="1298448"/>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تصل الأرضي المشترك وتفحصه</a:t>
            </a:r>
            <a:endParaRPr lang="ar-SA" sz="2400" dirty="0"/>
          </a:p>
        </p:txBody>
      </p:sp>
      <p:sp>
        <p:nvSpPr>
          <p:cNvPr id="13" name="anim-g3-657"/>
          <p:cNvSpPr/>
          <p:nvPr/>
        </p:nvSpPr>
        <p:spPr>
          <a:xfrm>
            <a:off x="822960" y="4736592"/>
            <a:ext cx="10545775" cy="1298448"/>
          </a:xfrm>
          <a:prstGeom prst="roundRect">
            <a:avLst>
              <a:gd name="adj" fmla="val 11268"/>
            </a:avLst>
          </a:prstGeom>
          <a:solidFill>
            <a:srgbClr val="FFFFFF"/>
          </a:solidFill>
          <a:ln w="12700">
            <a:solidFill>
              <a:srgbClr val="E4DCC8"/>
            </a:solidFill>
            <a:prstDash val="solid"/>
          </a:ln>
        </p:spPr>
      </p:sp>
      <p:sp>
        <p:nvSpPr>
          <p:cNvPr id="14" name="anim-g3-658"/>
          <p:cNvSpPr/>
          <p:nvPr/>
        </p:nvSpPr>
        <p:spPr>
          <a:xfrm>
            <a:off x="10573207" y="5102352"/>
            <a:ext cx="566928" cy="566928"/>
          </a:xfrm>
          <a:prstGeom prst="ellipse">
            <a:avLst/>
          </a:prstGeom>
          <a:solidFill>
            <a:srgbClr val="D9AE4B"/>
          </a:solidFill>
          <a:ln/>
        </p:spPr>
      </p:sp>
      <p:sp>
        <p:nvSpPr>
          <p:cNvPr id="15" name="anim-g3-659"/>
          <p:cNvSpPr/>
          <p:nvPr/>
        </p:nvSpPr>
        <p:spPr>
          <a:xfrm>
            <a:off x="10573207" y="5102352"/>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660"/>
          <p:cNvSpPr/>
          <p:nvPr/>
        </p:nvSpPr>
        <p:spPr>
          <a:xfrm>
            <a:off x="1097280" y="4736592"/>
            <a:ext cx="9247327" cy="1298448"/>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تركّب المنظومة كاملة بأطرافها الحقيقية</a:t>
            </a:r>
            <a:endParaRPr lang="ar-SA" sz="24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صانع الذكريات التراثية</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الطاقة والتركيب الكامل  ·  ٩٥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name="Slide 9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027871" y="457200"/>
            <a:ext cx="2340864" cy="457200"/>
          </a:xfrm>
          <a:prstGeom prst="roundRect">
            <a:avLst>
              <a:gd name="adj" fmla="val 50000"/>
            </a:avLst>
          </a:prstGeom>
          <a:solidFill>
            <a:srgbClr val="F6EBCF"/>
          </a:solidFill>
          <a:ln/>
        </p:spPr>
      </p:sp>
      <p:sp>
        <p:nvSpPr>
          <p:cNvPr id="3" name="Text 1"/>
          <p:cNvSpPr/>
          <p:nvPr/>
        </p:nvSpPr>
        <p:spPr>
          <a:xfrm>
            <a:off x="9027871" y="457200"/>
            <a:ext cx="2340864"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قرار الفريق</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ثلاثة مصادر… وأرضي واحد</a:t>
            </a:r>
            <a:endParaRPr lang="ar-SA" sz="3800" dirty="0"/>
          </a:p>
        </p:txBody>
      </p:sp>
      <p:sp>
        <p:nvSpPr>
          <p:cNvPr id="5" name="anim-g1-661"/>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662"/>
          <p:cNvSpPr/>
          <p:nvPr/>
        </p:nvSpPr>
        <p:spPr>
          <a:xfrm>
            <a:off x="10527487" y="2267712"/>
            <a:ext cx="566928" cy="566928"/>
          </a:xfrm>
          <a:prstGeom prst="roundRect">
            <a:avLst>
              <a:gd name="adj" fmla="val 32258"/>
            </a:avLst>
          </a:prstGeom>
          <a:solidFill>
            <a:srgbClr val="F7E6BC"/>
          </a:solidFill>
          <a:ln/>
        </p:spPr>
      </p:sp>
      <p:sp>
        <p:nvSpPr>
          <p:cNvPr id="7" name="anim-g1-663"/>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664"/>
          <p:cNvSpPr/>
          <p:nvPr/>
        </p:nvSpPr>
        <p:spPr>
          <a:xfrm>
            <a:off x="8310677"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6V للمنصة</a:t>
            </a:r>
            <a:endParaRPr lang="ar-SA" sz="2200" dirty="0"/>
          </a:p>
        </p:txBody>
      </p:sp>
      <p:sp>
        <p:nvSpPr>
          <p:cNvPr id="9" name="anim-g1-665"/>
          <p:cNvSpPr/>
          <p:nvPr/>
        </p:nvSpPr>
        <p:spPr>
          <a:xfrm>
            <a:off x="8310677"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المحرك الخطوي يسحب تيارًا ثابتًا أثناء الحركة</a:t>
            </a:r>
            <a:endParaRPr lang="ar-SA" sz="1900" dirty="0"/>
          </a:p>
        </p:txBody>
      </p:sp>
      <p:sp>
        <p:nvSpPr>
          <p:cNvPr id="10" name="anim-g2-666"/>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667"/>
          <p:cNvSpPr/>
          <p:nvPr/>
        </p:nvSpPr>
        <p:spPr>
          <a:xfrm>
            <a:off x="6920789" y="2267712"/>
            <a:ext cx="566928" cy="566928"/>
          </a:xfrm>
          <a:prstGeom prst="roundRect">
            <a:avLst>
              <a:gd name="adj" fmla="val 32258"/>
            </a:avLst>
          </a:prstGeom>
          <a:solidFill>
            <a:srgbClr val="F7E6BC"/>
          </a:solidFill>
          <a:ln/>
        </p:spPr>
      </p:sp>
      <p:sp>
        <p:nvSpPr>
          <p:cNvPr id="12" name="anim-g2-668"/>
          <p:cNvSpPr/>
          <p:nvPr/>
        </p:nvSpPr>
        <p:spPr>
          <a:xfrm>
            <a:off x="6920789"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669"/>
          <p:cNvSpPr/>
          <p:nvPr/>
        </p:nvSpPr>
        <p:spPr>
          <a:xfrm>
            <a:off x="4703978"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4.5V للسيرفو</a:t>
            </a:r>
            <a:endParaRPr lang="ar-SA" sz="2200" dirty="0"/>
          </a:p>
        </p:txBody>
      </p:sp>
      <p:sp>
        <p:nvSpPr>
          <p:cNvPr id="14" name="anim-g2-670"/>
          <p:cNvSpPr/>
          <p:nvPr/>
        </p:nvSpPr>
        <p:spPr>
          <a:xfrm>
            <a:off x="4703978"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السيرفو يسحب دفعة تيار مفاجئة عند الحركة</a:t>
            </a:r>
            <a:endParaRPr lang="ar-SA" sz="1900" dirty="0"/>
          </a:p>
        </p:txBody>
      </p:sp>
      <p:sp>
        <p:nvSpPr>
          <p:cNvPr id="15" name="anim-g3-671"/>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672"/>
          <p:cNvSpPr/>
          <p:nvPr/>
        </p:nvSpPr>
        <p:spPr>
          <a:xfrm>
            <a:off x="3314090" y="2267712"/>
            <a:ext cx="566928" cy="566928"/>
          </a:xfrm>
          <a:prstGeom prst="roundRect">
            <a:avLst>
              <a:gd name="adj" fmla="val 32258"/>
            </a:avLst>
          </a:prstGeom>
          <a:solidFill>
            <a:srgbClr val="F7E6BC"/>
          </a:solidFill>
          <a:ln/>
        </p:spPr>
      </p:sp>
      <p:sp>
        <p:nvSpPr>
          <p:cNvPr id="17" name="anim-g3-673"/>
          <p:cNvSpPr/>
          <p:nvPr/>
        </p:nvSpPr>
        <p:spPr>
          <a:xfrm>
            <a:off x="331409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674"/>
          <p:cNvSpPr/>
          <p:nvPr/>
        </p:nvSpPr>
        <p:spPr>
          <a:xfrm>
            <a:off x="1097280"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GND مشترك</a:t>
            </a:r>
            <a:endParaRPr lang="ar-SA" sz="2200" dirty="0"/>
          </a:p>
        </p:txBody>
      </p:sp>
      <p:sp>
        <p:nvSpPr>
          <p:cNvPr id="19" name="anim-g3-675"/>
          <p:cNvSpPr/>
          <p:nvPr/>
        </p:nvSpPr>
        <p:spPr>
          <a:xfrm>
            <a:off x="1097280"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بين المصادر ولوحة ESP32: مرجع واحد للإشارات</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صانع الذكريات التراثية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الطاقة والتركيب الكامل  ·  ٩٦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Image 0" descr="C:\Users\user\projects\younes-training\heritage\.pptx-cache\s97-0.jpg"/>
          <p:cNvPicPr>
            <a:picLocks noChangeAspect="1"/>
          </p:cNvPicPr>
          <p:nvPr/>
        </p:nvPicPr>
        <p:blipFill>
          <a:blip r:embed="rId3"/>
          <a:stretch>
            <a:fillRect/>
          </a:stretch>
        </p:blipFill>
        <p:spPr>
          <a:xfrm>
            <a:off x="0" y="0"/>
            <a:ext cx="12191695" cy="6858000"/>
          </a:xfrm>
          <a:prstGeom prst="rect">
            <a:avLst/>
          </a:prstGeom>
        </p:spPr>
      </p:pic>
      <p:pic>
        <p:nvPicPr>
          <p:cNvPr id="3" name="anim-g1-676" descr="C:\Users\user\projects\younes-training\heritage\.pptx-cache\s97-1.jpg"/>
          <p:cNvPicPr>
            <a:picLocks noChangeAspect="1"/>
          </p:cNvPicPr>
          <p:nvPr/>
        </p:nvPicPr>
        <p:blipFill>
          <a:blip r:embed="rId4"/>
          <a:stretch>
            <a:fillRect/>
          </a:stretch>
        </p:blipFill>
        <p:spPr>
          <a:xfrm>
            <a:off x="0" y="0"/>
            <a:ext cx="12191695" cy="6858000"/>
          </a:xfrm>
          <a:prstGeom prst="rect">
            <a:avLst/>
          </a:prstGeom>
        </p:spPr>
      </p:pic>
      <p:pic>
        <p:nvPicPr>
          <p:cNvPr id="4" name="anim-g2-677" descr="C:\Users\user\projects\younes-training\heritage\.pptx-cache\s97-2.jpg"/>
          <p:cNvPicPr>
            <a:picLocks noChangeAspect="1"/>
          </p:cNvPicPr>
          <p:nvPr/>
        </p:nvPicPr>
        <p:blipFill>
          <a:blip r:embed="rId5"/>
          <a:stretch>
            <a:fillRect/>
          </a:stretch>
        </p:blipFill>
        <p:spPr>
          <a:xfrm>
            <a:off x="0" y="0"/>
            <a:ext cx="12191695" cy="6858000"/>
          </a:xfrm>
          <a:prstGeom prst="rect">
            <a:avLst/>
          </a:prstGeom>
        </p:spPr>
      </p:pic>
      <p:pic>
        <p:nvPicPr>
          <p:cNvPr id="5" name="anim-g3-678" descr="C:\Users\user\projects\younes-training\heritage\.pptx-cache\s97-3.jpg"/>
          <p:cNvPicPr>
            <a:picLocks noChangeAspect="1"/>
          </p:cNvPicPr>
          <p:nvPr/>
        </p:nvPicPr>
        <p:blipFill>
          <a:blip r:embed="rId6"/>
          <a:stretch>
            <a:fillRect/>
          </a:stretch>
        </p:blipFill>
        <p:spPr>
          <a:xfrm>
            <a:off x="0" y="0"/>
            <a:ext cx="12191695" cy="6858000"/>
          </a:xfrm>
          <a:prstGeom prst="rect">
            <a:avLst/>
          </a:prstGeom>
        </p:spPr>
      </p:pic>
      <p:pic>
        <p:nvPicPr>
          <p:cNvPr id="6" name="anim-g4-679" descr="C:\Users\user\projects\younes-training\heritage\.pptx-cache\s97-4.jpg"/>
          <p:cNvPicPr>
            <a:picLocks noChangeAspect="1"/>
          </p:cNvPicPr>
          <p:nvPr/>
        </p:nvPicPr>
        <p:blipFill>
          <a:blip r:embed="rId7"/>
          <a:stretch>
            <a:fillRect/>
          </a:stretch>
        </p:blipFill>
        <p:spPr>
          <a:xfrm>
            <a:off x="0" y="0"/>
            <a:ext cx="12191695" cy="6858000"/>
          </a:xfrm>
          <a:prstGeom prst="rect">
            <a:avLst/>
          </a:prstGeom>
        </p:spPr>
      </p:pic>
      <p:pic>
        <p:nvPicPr>
          <p:cNvPr id="7" name="anim-g5-680" descr="C:\Users\user\projects\younes-training\heritage\.pptx-cache\s97-5.jpg"/>
          <p:cNvPicPr>
            <a:picLocks noChangeAspect="1"/>
          </p:cNvPicPr>
          <p:nvPr/>
        </p:nvPicPr>
        <p:blipFill>
          <a:blip r:embed="rId8"/>
          <a:stretch>
            <a:fillRect/>
          </a:stretch>
        </p:blipFill>
        <p:spPr>
          <a:xfrm>
            <a:off x="0" y="0"/>
            <a:ext cx="12191695" cy="6858000"/>
          </a:xfrm>
          <a:prstGeom prst="rect">
            <a:avLst/>
          </a:prstGeom>
        </p:spPr>
      </p:pic>
      <p:pic>
        <p:nvPicPr>
          <p:cNvPr id="8" name="anim-g6-681" descr="C:\Users\user\projects\younes-training\heritage\.pptx-cache\s97-6.jpg"/>
          <p:cNvPicPr>
            <a:picLocks noChangeAspect="1"/>
          </p:cNvPicPr>
          <p:nvPr/>
        </p:nvPicPr>
        <p:blipFill>
          <a:blip r:embed="rId9"/>
          <a:stretch>
            <a:fillRect/>
          </a:stretch>
        </p:blipFill>
        <p:spPr>
          <a:xfrm>
            <a:off x="0" y="0"/>
            <a:ext cx="12191695" cy="6858000"/>
          </a:xfrm>
          <a:prstGeom prst="rect">
            <a:avLst/>
          </a:prstGeom>
        </p:spPr>
      </p:pic>
      <p:pic>
        <p:nvPicPr>
          <p:cNvPr id="9" name="anim-g7-682" descr="C:\Users\user\projects\younes-training\heritage\.pptx-cache\s97-7.jpg"/>
          <p:cNvPicPr>
            <a:picLocks noChangeAspect="1"/>
          </p:cNvPicPr>
          <p:nvPr/>
        </p:nvPicPr>
        <p:blipFill>
          <a:blip r:embed="rId10"/>
          <a:stretch>
            <a:fillRect/>
          </a:stretch>
        </p:blipFill>
        <p:spPr>
          <a:xfrm>
            <a:off x="0" y="0"/>
            <a:ext cx="12191695" cy="6858000"/>
          </a:xfrm>
          <a:prstGeom prst="rect">
            <a:avLst/>
          </a:prstGeom>
        </p:spPr>
      </p:pic>
      <p:pic>
        <p:nvPicPr>
          <p:cNvPr id="10" name="anim-g8-683" descr="C:\Users\user\projects\younes-training\heritage\.pptx-cache\s97-8.jpg"/>
          <p:cNvPicPr>
            <a:picLocks noChangeAspect="1"/>
          </p:cNvPicPr>
          <p:nvPr/>
        </p:nvPicPr>
        <p:blipFill>
          <a:blip r:embed="rId11"/>
          <a:stretch>
            <a:fillRect/>
          </a:stretch>
        </p:blipFill>
        <p:spPr>
          <a:xfrm>
            <a:off x="0" y="0"/>
            <a:ext cx="12191695" cy="6858000"/>
          </a:xfrm>
          <a:prstGeom prst="rect">
            <a:avLst/>
          </a:prstGeom>
        </p:spPr>
      </p:pic>
      <p:pic>
        <p:nvPicPr>
          <p:cNvPr id="11" name="anim-g9-684" descr="C:\Users\user\projects\younes-training\heritage\.pptx-cache\s97-9.jpg"/>
          <p:cNvPicPr>
            <a:picLocks noChangeAspect="1"/>
          </p:cNvPicPr>
          <p:nvPr/>
        </p:nvPicPr>
        <p:blipFill>
          <a:blip r:embed="rId12"/>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400"/>
                                        <p:tgtEl>
                                          <p:spTgt spid="10"/>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4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8.xml><?xml version="1.0" encoding="utf-8"?>
<p:sld xmlns:a="http://schemas.openxmlformats.org/drawingml/2006/main" xmlns:r="http://schemas.openxmlformats.org/officeDocument/2006/relationships" xmlns:p="http://schemas.openxmlformats.org/presentationml/2006/main">
  <p:cSld name="Slide 9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قصص من الفريق</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مشكلات حقيقية… بصيغة هندسية</a:t>
            </a:r>
            <a:endParaRPr lang="ar-SA" sz="3800" dirty="0"/>
          </a:p>
        </p:txBody>
      </p:sp>
      <p:sp>
        <p:nvSpPr>
          <p:cNvPr id="5" name="Shape 3"/>
          <p:cNvSpPr/>
          <p:nvPr/>
        </p:nvSpPr>
        <p:spPr>
          <a:xfrm>
            <a:off x="8500313" y="1874520"/>
            <a:ext cx="2868422" cy="548640"/>
          </a:xfrm>
          <a:prstGeom prst="roundRect">
            <a:avLst>
              <a:gd name="adj" fmla="val 20000"/>
            </a:avLst>
          </a:prstGeom>
          <a:solidFill>
            <a:srgbClr val="101B45"/>
          </a:solidFill>
          <a:ln/>
        </p:spPr>
      </p:sp>
      <p:sp>
        <p:nvSpPr>
          <p:cNvPr id="6" name="Text 4"/>
          <p:cNvSpPr/>
          <p:nvPr/>
        </p:nvSpPr>
        <p:spPr>
          <a:xfrm>
            <a:off x="8500313" y="1874520"/>
            <a:ext cx="2868422"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المشكلة</a:t>
            </a:r>
            <a:endParaRPr lang="ar-SA" sz="1900" dirty="0"/>
          </a:p>
        </p:txBody>
      </p:sp>
      <p:sp>
        <p:nvSpPr>
          <p:cNvPr id="7" name="Shape 5"/>
          <p:cNvSpPr/>
          <p:nvPr/>
        </p:nvSpPr>
        <p:spPr>
          <a:xfrm>
            <a:off x="4661637" y="1874520"/>
            <a:ext cx="3728949" cy="548640"/>
          </a:xfrm>
          <a:prstGeom prst="roundRect">
            <a:avLst>
              <a:gd name="adj" fmla="val 20000"/>
            </a:avLst>
          </a:prstGeom>
          <a:solidFill>
            <a:srgbClr val="101B45"/>
          </a:solidFill>
          <a:ln/>
        </p:spPr>
      </p:sp>
      <p:sp>
        <p:nvSpPr>
          <p:cNvPr id="8" name="Text 6"/>
          <p:cNvSpPr/>
          <p:nvPr/>
        </p:nvSpPr>
        <p:spPr>
          <a:xfrm>
            <a:off x="4661637" y="1874520"/>
            <a:ext cx="3728949"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الفرضية والاختبار</a:t>
            </a:r>
            <a:endParaRPr lang="ar-SA" sz="1900" dirty="0"/>
          </a:p>
        </p:txBody>
      </p:sp>
      <p:sp>
        <p:nvSpPr>
          <p:cNvPr id="9" name="Shape 7"/>
          <p:cNvSpPr/>
          <p:nvPr/>
        </p:nvSpPr>
        <p:spPr>
          <a:xfrm>
            <a:off x="822960" y="1874520"/>
            <a:ext cx="3728949" cy="548640"/>
          </a:xfrm>
          <a:prstGeom prst="roundRect">
            <a:avLst>
              <a:gd name="adj" fmla="val 20000"/>
            </a:avLst>
          </a:prstGeom>
          <a:solidFill>
            <a:srgbClr val="101B45"/>
          </a:solidFill>
          <a:ln/>
        </p:spPr>
      </p:sp>
      <p:sp>
        <p:nvSpPr>
          <p:cNvPr id="10" name="Text 8"/>
          <p:cNvSpPr/>
          <p:nvPr/>
        </p:nvSpPr>
        <p:spPr>
          <a:xfrm>
            <a:off x="822960" y="1874520"/>
            <a:ext cx="3728949"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الدرس</a:t>
            </a:r>
            <a:endParaRPr lang="ar-SA" sz="1900" dirty="0"/>
          </a:p>
        </p:txBody>
      </p:sp>
      <p:sp>
        <p:nvSpPr>
          <p:cNvPr id="11" name="anim-g1-685"/>
          <p:cNvSpPr/>
          <p:nvPr/>
        </p:nvSpPr>
        <p:spPr>
          <a:xfrm>
            <a:off x="8500313" y="2514600"/>
            <a:ext cx="2868422" cy="797814"/>
          </a:xfrm>
          <a:prstGeom prst="roundRect">
            <a:avLst>
              <a:gd name="adj" fmla="val 13754"/>
            </a:avLst>
          </a:prstGeom>
          <a:solidFill>
            <a:srgbClr val="FBF3DF"/>
          </a:solidFill>
          <a:ln w="12700">
            <a:solidFill>
              <a:srgbClr val="EFDDAF"/>
            </a:solidFill>
            <a:prstDash val="solid"/>
          </a:ln>
        </p:spPr>
      </p:sp>
      <p:sp>
        <p:nvSpPr>
          <p:cNvPr id="12" name="anim-g1-686"/>
          <p:cNvSpPr/>
          <p:nvPr/>
        </p:nvSpPr>
        <p:spPr>
          <a:xfrm>
            <a:off x="8637473" y="2514600"/>
            <a:ext cx="2594102" cy="797814"/>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تعطّل لوحة ESP32</a:t>
            </a:r>
            <a:endParaRPr lang="ar-SA" sz="2100" dirty="0"/>
          </a:p>
        </p:txBody>
      </p:sp>
      <p:sp>
        <p:nvSpPr>
          <p:cNvPr id="13" name="anim-g1-687"/>
          <p:cNvSpPr/>
          <p:nvPr/>
        </p:nvSpPr>
        <p:spPr>
          <a:xfrm>
            <a:off x="4661637" y="2514600"/>
            <a:ext cx="3728949" cy="797814"/>
          </a:xfrm>
          <a:prstGeom prst="roundRect">
            <a:avLst>
              <a:gd name="adj" fmla="val 13754"/>
            </a:avLst>
          </a:prstGeom>
          <a:solidFill>
            <a:srgbClr val="FFFFFF"/>
          </a:solidFill>
          <a:ln w="12700">
            <a:solidFill>
              <a:srgbClr val="E4DCC8"/>
            </a:solidFill>
            <a:prstDash val="solid"/>
          </a:ln>
        </p:spPr>
      </p:sp>
      <p:sp>
        <p:nvSpPr>
          <p:cNvPr id="14" name="anim-g1-688"/>
          <p:cNvSpPr/>
          <p:nvPr/>
        </p:nvSpPr>
        <p:spPr>
          <a:xfrm>
            <a:off x="4798797" y="2514600"/>
            <a:ext cx="3454629" cy="797814"/>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كود بسيط على لوحة بديلة لعزل السبب</a:t>
            </a:r>
            <a:endParaRPr lang="ar-SA" sz="2100" dirty="0"/>
          </a:p>
        </p:txBody>
      </p:sp>
      <p:sp>
        <p:nvSpPr>
          <p:cNvPr id="15" name="anim-g1-689"/>
          <p:cNvSpPr/>
          <p:nvPr/>
        </p:nvSpPr>
        <p:spPr>
          <a:xfrm>
            <a:off x="822960" y="2514600"/>
            <a:ext cx="3728949" cy="797814"/>
          </a:xfrm>
          <a:prstGeom prst="roundRect">
            <a:avLst>
              <a:gd name="adj" fmla="val 13754"/>
            </a:avLst>
          </a:prstGeom>
          <a:solidFill>
            <a:srgbClr val="E6F4EC"/>
          </a:solidFill>
          <a:ln w="12700">
            <a:solidFill>
              <a:srgbClr val="CDE9D9"/>
            </a:solidFill>
            <a:prstDash val="solid"/>
          </a:ln>
        </p:spPr>
      </p:sp>
      <p:sp>
        <p:nvSpPr>
          <p:cNvPr id="16" name="anim-g1-690"/>
          <p:cNvSpPr/>
          <p:nvPr/>
        </p:nvSpPr>
        <p:spPr>
          <a:xfrm>
            <a:off x="960120" y="2514600"/>
            <a:ext cx="3454629" cy="797814"/>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ابدأ بأبسط اختبار قبل تغيير أجزاء كثيرة</a:t>
            </a:r>
            <a:endParaRPr lang="ar-SA" sz="2100" dirty="0"/>
          </a:p>
        </p:txBody>
      </p:sp>
      <p:sp>
        <p:nvSpPr>
          <p:cNvPr id="17" name="anim-g2-691"/>
          <p:cNvSpPr/>
          <p:nvPr/>
        </p:nvSpPr>
        <p:spPr>
          <a:xfrm>
            <a:off x="8500313" y="3422142"/>
            <a:ext cx="2868422" cy="797814"/>
          </a:xfrm>
          <a:prstGeom prst="roundRect">
            <a:avLst>
              <a:gd name="adj" fmla="val 13754"/>
            </a:avLst>
          </a:prstGeom>
          <a:solidFill>
            <a:srgbClr val="FBF3DF"/>
          </a:solidFill>
          <a:ln w="12700">
            <a:solidFill>
              <a:srgbClr val="EFDDAF"/>
            </a:solidFill>
            <a:prstDash val="solid"/>
          </a:ln>
        </p:spPr>
      </p:sp>
      <p:sp>
        <p:nvSpPr>
          <p:cNvPr id="18" name="anim-g2-692"/>
          <p:cNvSpPr/>
          <p:nvPr/>
        </p:nvSpPr>
        <p:spPr>
          <a:xfrm>
            <a:off x="8637473" y="3422142"/>
            <a:ext cx="2594102" cy="797814"/>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سيرفو غير مستقر</a:t>
            </a:r>
            <a:endParaRPr lang="ar-SA" sz="2100" dirty="0"/>
          </a:p>
        </p:txBody>
      </p:sp>
      <p:sp>
        <p:nvSpPr>
          <p:cNvPr id="19" name="anim-g2-693"/>
          <p:cNvSpPr/>
          <p:nvPr/>
        </p:nvSpPr>
        <p:spPr>
          <a:xfrm>
            <a:off x="4661637" y="3422142"/>
            <a:ext cx="3728949" cy="797814"/>
          </a:xfrm>
          <a:prstGeom prst="roundRect">
            <a:avLst>
              <a:gd name="adj" fmla="val 13754"/>
            </a:avLst>
          </a:prstGeom>
          <a:solidFill>
            <a:srgbClr val="FFFFFF"/>
          </a:solidFill>
          <a:ln w="12700">
            <a:solidFill>
              <a:srgbClr val="E4DCC8"/>
            </a:solidFill>
            <a:prstDash val="solid"/>
          </a:ln>
        </p:spPr>
      </p:sp>
      <p:sp>
        <p:nvSpPr>
          <p:cNvPr id="20" name="anim-g2-694"/>
          <p:cNvSpPr/>
          <p:nvPr/>
        </p:nvSpPr>
        <p:spPr>
          <a:xfrm>
            <a:off x="4798797" y="3422142"/>
            <a:ext cx="3454629" cy="797814"/>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تغيير المنفذ وفحص التغذية والأرضي</a:t>
            </a:r>
            <a:endParaRPr lang="ar-SA" sz="2100" dirty="0"/>
          </a:p>
        </p:txBody>
      </p:sp>
      <p:sp>
        <p:nvSpPr>
          <p:cNvPr id="21" name="anim-g2-695"/>
          <p:cNvSpPr/>
          <p:nvPr/>
        </p:nvSpPr>
        <p:spPr>
          <a:xfrm>
            <a:off x="822960" y="3422142"/>
            <a:ext cx="3728949" cy="797814"/>
          </a:xfrm>
          <a:prstGeom prst="roundRect">
            <a:avLst>
              <a:gd name="adj" fmla="val 13754"/>
            </a:avLst>
          </a:prstGeom>
          <a:solidFill>
            <a:srgbClr val="E6F4EC"/>
          </a:solidFill>
          <a:ln w="12700">
            <a:solidFill>
              <a:srgbClr val="CDE9D9"/>
            </a:solidFill>
            <a:prstDash val="solid"/>
          </a:ln>
        </p:spPr>
      </p:sp>
      <p:sp>
        <p:nvSpPr>
          <p:cNvPr id="22" name="anim-g2-696"/>
          <p:cNvSpPr/>
          <p:nvPr/>
        </p:nvSpPr>
        <p:spPr>
          <a:xfrm>
            <a:off x="960120" y="3422142"/>
            <a:ext cx="3454629" cy="797814"/>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ليست كل مشكلة برمجية</a:t>
            </a:r>
            <a:endParaRPr lang="ar-SA" sz="2100" dirty="0"/>
          </a:p>
        </p:txBody>
      </p:sp>
      <p:sp>
        <p:nvSpPr>
          <p:cNvPr id="23" name="anim-g3-697"/>
          <p:cNvSpPr/>
          <p:nvPr/>
        </p:nvSpPr>
        <p:spPr>
          <a:xfrm>
            <a:off x="8500313" y="4329684"/>
            <a:ext cx="2868422" cy="797814"/>
          </a:xfrm>
          <a:prstGeom prst="roundRect">
            <a:avLst>
              <a:gd name="adj" fmla="val 13754"/>
            </a:avLst>
          </a:prstGeom>
          <a:solidFill>
            <a:srgbClr val="FBF3DF"/>
          </a:solidFill>
          <a:ln w="12700">
            <a:solidFill>
              <a:srgbClr val="EFDDAF"/>
            </a:solidFill>
            <a:prstDash val="solid"/>
          </a:ln>
        </p:spPr>
      </p:sp>
      <p:sp>
        <p:nvSpPr>
          <p:cNvPr id="24" name="anim-g3-698"/>
          <p:cNvSpPr/>
          <p:nvPr/>
        </p:nvSpPr>
        <p:spPr>
          <a:xfrm>
            <a:off x="8637473" y="4329684"/>
            <a:ext cx="2594102" cy="797814"/>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المحرك مختلف داخل النظام</a:t>
            </a:r>
            <a:endParaRPr lang="ar-SA" sz="2100" dirty="0"/>
          </a:p>
        </p:txBody>
      </p:sp>
      <p:sp>
        <p:nvSpPr>
          <p:cNvPr id="25" name="anim-g3-699"/>
          <p:cNvSpPr/>
          <p:nvPr/>
        </p:nvSpPr>
        <p:spPr>
          <a:xfrm>
            <a:off x="4661637" y="4329684"/>
            <a:ext cx="3728949" cy="797814"/>
          </a:xfrm>
          <a:prstGeom prst="roundRect">
            <a:avLst>
              <a:gd name="adj" fmla="val 13754"/>
            </a:avLst>
          </a:prstGeom>
          <a:solidFill>
            <a:srgbClr val="FFFFFF"/>
          </a:solidFill>
          <a:ln w="12700">
            <a:solidFill>
              <a:srgbClr val="E4DCC8"/>
            </a:solidFill>
            <a:prstDash val="solid"/>
          </a:ln>
        </p:spPr>
      </p:sp>
      <p:sp>
        <p:nvSpPr>
          <p:cNvPr id="26" name="anim-g3-700"/>
          <p:cNvSpPr/>
          <p:nvPr/>
        </p:nvSpPr>
        <p:spPr>
          <a:xfrm>
            <a:off x="4798797" y="4329684"/>
            <a:ext cx="3454629" cy="797814"/>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اختباره منفردًا ثم مع الحمل الفعلي</a:t>
            </a:r>
            <a:endParaRPr lang="ar-SA" sz="2100" dirty="0"/>
          </a:p>
        </p:txBody>
      </p:sp>
      <p:sp>
        <p:nvSpPr>
          <p:cNvPr id="27" name="anim-g3-701"/>
          <p:cNvSpPr/>
          <p:nvPr/>
        </p:nvSpPr>
        <p:spPr>
          <a:xfrm>
            <a:off x="822960" y="4329684"/>
            <a:ext cx="3728949" cy="797814"/>
          </a:xfrm>
          <a:prstGeom prst="roundRect">
            <a:avLst>
              <a:gd name="adj" fmla="val 13754"/>
            </a:avLst>
          </a:prstGeom>
          <a:solidFill>
            <a:srgbClr val="E6F4EC"/>
          </a:solidFill>
          <a:ln w="12700">
            <a:solidFill>
              <a:srgbClr val="CDE9D9"/>
            </a:solidFill>
            <a:prstDash val="solid"/>
          </a:ln>
        </p:spPr>
      </p:sp>
      <p:sp>
        <p:nvSpPr>
          <p:cNvPr id="28" name="anim-g3-702"/>
          <p:cNvSpPr/>
          <p:nvPr/>
        </p:nvSpPr>
        <p:spPr>
          <a:xfrm>
            <a:off x="960120" y="4329684"/>
            <a:ext cx="3454629" cy="797814"/>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الدمج التدريجي يكشف أثر الحمل والطاقة</a:t>
            </a:r>
            <a:endParaRPr lang="ar-SA" sz="2100" dirty="0"/>
          </a:p>
        </p:txBody>
      </p:sp>
      <p:sp>
        <p:nvSpPr>
          <p:cNvPr id="29" name="anim-g4-703"/>
          <p:cNvSpPr/>
          <p:nvPr/>
        </p:nvSpPr>
        <p:spPr>
          <a:xfrm>
            <a:off x="8500313" y="5237226"/>
            <a:ext cx="2868422" cy="797814"/>
          </a:xfrm>
          <a:prstGeom prst="roundRect">
            <a:avLst>
              <a:gd name="adj" fmla="val 13754"/>
            </a:avLst>
          </a:prstGeom>
          <a:solidFill>
            <a:srgbClr val="FBF3DF"/>
          </a:solidFill>
          <a:ln w="12700">
            <a:solidFill>
              <a:srgbClr val="EFDDAF"/>
            </a:solidFill>
            <a:prstDash val="solid"/>
          </a:ln>
        </p:spPr>
      </p:sp>
      <p:sp>
        <p:nvSpPr>
          <p:cNvPr id="30" name="anim-g4-704"/>
          <p:cNvSpPr/>
          <p:nvPr/>
        </p:nvSpPr>
        <p:spPr>
          <a:xfrm>
            <a:off x="8637473" y="5237226"/>
            <a:ext cx="2594102" cy="797814"/>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توقف غير دقيق</a:t>
            </a:r>
            <a:endParaRPr lang="ar-SA" sz="2100" dirty="0"/>
          </a:p>
        </p:txBody>
      </p:sp>
      <p:sp>
        <p:nvSpPr>
          <p:cNvPr id="31" name="anim-g4-705"/>
          <p:cNvSpPr/>
          <p:nvPr/>
        </p:nvSpPr>
        <p:spPr>
          <a:xfrm>
            <a:off x="4661637" y="5237226"/>
            <a:ext cx="3728949" cy="797814"/>
          </a:xfrm>
          <a:prstGeom prst="roundRect">
            <a:avLst>
              <a:gd name="adj" fmla="val 13754"/>
            </a:avLst>
          </a:prstGeom>
          <a:solidFill>
            <a:srgbClr val="FFFFFF"/>
          </a:solidFill>
          <a:ln w="12700">
            <a:solidFill>
              <a:srgbClr val="E4DCC8"/>
            </a:solidFill>
            <a:prstDash val="solid"/>
          </a:ln>
        </p:spPr>
      </p:sp>
      <p:sp>
        <p:nvSpPr>
          <p:cNvPr id="32" name="anim-g4-706"/>
          <p:cNvSpPr/>
          <p:nvPr/>
        </p:nvSpPr>
        <p:spPr>
          <a:xfrm>
            <a:off x="4798797" y="5237226"/>
            <a:ext cx="3454629" cy="797814"/>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تكرار القياس وتعديل الخطوات والسرعة</a:t>
            </a:r>
            <a:endParaRPr lang="ar-SA" sz="2100" dirty="0"/>
          </a:p>
        </p:txBody>
      </p:sp>
      <p:sp>
        <p:nvSpPr>
          <p:cNvPr id="33" name="anim-g4-707"/>
          <p:cNvSpPr/>
          <p:nvPr/>
        </p:nvSpPr>
        <p:spPr>
          <a:xfrm>
            <a:off x="822960" y="5237226"/>
            <a:ext cx="3728949" cy="797814"/>
          </a:xfrm>
          <a:prstGeom prst="roundRect">
            <a:avLst>
              <a:gd name="adj" fmla="val 13754"/>
            </a:avLst>
          </a:prstGeom>
          <a:solidFill>
            <a:srgbClr val="E6F4EC"/>
          </a:solidFill>
          <a:ln w="12700">
            <a:solidFill>
              <a:srgbClr val="CDE9D9"/>
            </a:solidFill>
            <a:prstDash val="solid"/>
          </a:ln>
        </p:spPr>
      </p:sp>
      <p:sp>
        <p:nvSpPr>
          <p:cNvPr id="34" name="anim-g4-708"/>
          <p:cNvSpPr/>
          <p:nvPr/>
        </p:nvSpPr>
        <p:spPr>
          <a:xfrm>
            <a:off x="960120" y="5237226"/>
            <a:ext cx="3454629" cy="797814"/>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القيمة النهائية من قياس ميداني</a:t>
            </a:r>
            <a:endParaRPr lang="ar-SA" sz="2100" dirty="0"/>
          </a:p>
        </p:txBody>
      </p:sp>
      <p:sp>
        <p:nvSpPr>
          <p:cNvPr id="35" name="Text 3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صانع الذكريات التراثية</a:t>
            </a:r>
            <a:endParaRPr lang="ar-SA" sz="1200" dirty="0"/>
          </a:p>
        </p:txBody>
      </p:sp>
      <p:sp>
        <p:nvSpPr>
          <p:cNvPr id="36" name="Text 3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الطاقة والتركيب الكامل  ·  ٩٨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400"/>
                                        <p:tgtEl>
                                          <p:spTgt spid="1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40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400"/>
                                        <p:tgtEl>
                                          <p:spTgt spid="19"/>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0"/>
                                        </p:tgtEl>
                                        <p:attrNameLst>
                                          <p:attrName>style.visibility</p:attrName>
                                        </p:attrNameLst>
                                      </p:cBhvr>
                                      <p:to>
                                        <p:strVal val="visible"/>
                                      </p:to>
                                    </p:set>
                                    <p:animEffect transition="in" filter="fade">
                                      <p:cBhvr>
                                        <p:cTn id="36" dur="400"/>
                                        <p:tgtEl>
                                          <p:spTgt spid="20"/>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400"/>
                                        <p:tgtEl>
                                          <p:spTgt spid="21"/>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400"/>
                                        <p:tgtEl>
                                          <p:spTgt spid="2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400"/>
                                        <p:tgtEl>
                                          <p:spTgt spid="25"/>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400"/>
                                        <p:tgtEl>
                                          <p:spTgt spid="26"/>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400"/>
                                        <p:tgtEl>
                                          <p:spTgt spid="27"/>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400"/>
                                        <p:tgtEl>
                                          <p:spTgt spid="28"/>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400"/>
                                        <p:tgtEl>
                                          <p:spTgt spid="29"/>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0"/>
                                        </p:tgtEl>
                                        <p:attrNameLst>
                                          <p:attrName>style.visibility</p:attrName>
                                        </p:attrNameLst>
                                      </p:cBhvr>
                                      <p:to>
                                        <p:strVal val="visible"/>
                                      </p:to>
                                    </p:set>
                                    <p:animEffect transition="in" filter="fade">
                                      <p:cBhvr>
                                        <p:cTn id="70" dur="400"/>
                                        <p:tgtEl>
                                          <p:spTgt spid="30"/>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31"/>
                                        </p:tgtEl>
                                        <p:attrNameLst>
                                          <p:attrName>style.visibility</p:attrName>
                                        </p:attrNameLst>
                                      </p:cBhvr>
                                      <p:to>
                                        <p:strVal val="visible"/>
                                      </p:to>
                                    </p:set>
                                    <p:animEffect transition="in" filter="fade">
                                      <p:cBhvr>
                                        <p:cTn id="73" dur="400"/>
                                        <p:tgtEl>
                                          <p:spTgt spid="31"/>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2"/>
                                        </p:tgtEl>
                                        <p:attrNameLst>
                                          <p:attrName>style.visibility</p:attrName>
                                        </p:attrNameLst>
                                      </p:cBhvr>
                                      <p:to>
                                        <p:strVal val="visible"/>
                                      </p:to>
                                    </p:set>
                                    <p:animEffect transition="in" filter="fade">
                                      <p:cBhvr>
                                        <p:cTn id="76" dur="400"/>
                                        <p:tgtEl>
                                          <p:spTgt spid="32"/>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3"/>
                                        </p:tgtEl>
                                        <p:attrNameLst>
                                          <p:attrName>style.visibility</p:attrName>
                                        </p:attrNameLst>
                                      </p:cBhvr>
                                      <p:to>
                                        <p:strVal val="visible"/>
                                      </p:to>
                                    </p:set>
                                    <p:animEffect transition="in" filter="fade">
                                      <p:cBhvr>
                                        <p:cTn id="79" dur="400"/>
                                        <p:tgtEl>
                                          <p:spTgt spid="33"/>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34"/>
                                        </p:tgtEl>
                                        <p:attrNameLst>
                                          <p:attrName>style.visibility</p:attrName>
                                        </p:attrNameLst>
                                      </p:cBhvr>
                                      <p:to>
                                        <p:strVal val="visible"/>
                                      </p:to>
                                    </p:set>
                                    <p:animEffect transition="in" filter="fade">
                                      <p:cBhvr>
                                        <p:cTn id="8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Image 0" descr="C:\Users\user\projects\younes-training\heritage\.pptx-cache\s99.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خلاصة المحور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marL="0" indent="0" algn="ctr" rtl="1">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محرك على مصدره، وسيرفو على مصدره، وأرضي واحد يجمعهم: صندوق يعمل طوال يوم المعرض</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صانع الذكريات التراثية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 الطاقة والتركيب الكامل  ·  ١٠٠</a:t>
            </a:r>
            <a:endParaRPr lang="ar-SA" sz="12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marL="0" indent="0" algn="ctr" rtl="1">
              <a:buNone/>
            </a:pPr>
            <a:r>
              <a:rPr lang="ar-SA" altLang="en-US" sz="12000" dirty="0">
                <a:solidFill>
                  <a:srgbClr val="F0CC7A"/>
                </a:solidFill>
                <a:latin typeface="Cairo Black" pitchFamily="34" charset="0"/>
                <a:ea typeface="Cairo Black" pitchFamily="34" charset="-122"/>
                <a:cs typeface="Cairo Black" pitchFamily="34" charset="-120"/>
              </a:rPr>
              <a:t>١١</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marL="0" indent="0" algn="r" rtl="1">
              <a:buNone/>
            </a:pPr>
            <a:r>
              <a:rPr lang="ar-SA" altLang="en-US" sz="2000" b="1" dirty="0">
                <a:solidFill>
                  <a:srgbClr val="D9AE4B"/>
                </a:solidFill>
                <a:latin typeface="Cairo" pitchFamily="34" charset="0"/>
                <a:ea typeface="Cairo" pitchFamily="34" charset="-122"/>
                <a:cs typeface="Cairo" pitchFamily="34" charset="-120"/>
              </a:rPr>
              <a:t>المحور ١١</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marL="0" indent="0" algn="r" rtl="1">
              <a:buNone/>
            </a:pPr>
            <a:r>
              <a:rPr lang="ar-SA" altLang="en-US" sz="5600" dirty="0">
                <a:solidFill>
                  <a:srgbClr val="FFFFFF"/>
                </a:solidFill>
                <a:latin typeface="Cairo Black" pitchFamily="34" charset="0"/>
                <a:ea typeface="Cairo Black" pitchFamily="34" charset="-122"/>
                <a:cs typeface="Cairo Black" pitchFamily="34" charset="-120"/>
              </a:rPr>
              <a:t>🔀 آلة الحالات</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marL="0" indent="0" algn="r" rtl="1">
              <a:buNone/>
            </a:pPr>
            <a:r>
              <a:rPr lang="ar-SA" altLang="en-US" sz="2200" b="1" dirty="0">
                <a:solidFill>
                  <a:srgbClr val="C9CFE6"/>
                </a:solidFill>
                <a:latin typeface="Cairo" pitchFamily="34" charset="0"/>
                <a:ea typeface="Cairo" pitchFamily="34" charset="-122"/>
                <a:cs typeface="Cairo" pitchFamily="34" charset="-120"/>
              </a:rPr>
              <a:t>من كود «يعمل» إلى كود عالمي: لا delay طويلة، ولا أزرار في غير وقتها</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صانع الذكريات التراثية</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 آلة الحالات  ·  ١٠١</a:t>
            </a:r>
            <a:endParaRPr lang="ar-SA" sz="12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248095" y="457200"/>
            <a:ext cx="5120640" cy="457200"/>
          </a:xfrm>
          <a:prstGeom prst="roundRect">
            <a:avLst>
              <a:gd name="adj" fmla="val 50000"/>
            </a:avLst>
          </a:prstGeom>
          <a:solidFill>
            <a:srgbClr val="F6EBCF"/>
          </a:solidFill>
          <a:ln/>
        </p:spPr>
      </p:sp>
      <p:sp>
        <p:nvSpPr>
          <p:cNvPr id="3" name="Text 1"/>
          <p:cNvSpPr/>
          <p:nvPr/>
        </p:nvSpPr>
        <p:spPr>
          <a:xfrm>
            <a:off x="6248095" y="457200"/>
            <a:ext cx="512064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بنهاية هذا المحور تستطيع أن</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أهداف المحور</a:t>
            </a:r>
            <a:endParaRPr lang="ar-SA" sz="3800" dirty="0"/>
          </a:p>
        </p:txBody>
      </p:sp>
      <p:sp>
        <p:nvSpPr>
          <p:cNvPr id="5" name="anim-g1-709"/>
          <p:cNvSpPr/>
          <p:nvPr/>
        </p:nvSpPr>
        <p:spPr>
          <a:xfrm>
            <a:off x="822960" y="1920240"/>
            <a:ext cx="10545775" cy="946404"/>
          </a:xfrm>
          <a:prstGeom prst="roundRect">
            <a:avLst>
              <a:gd name="adj" fmla="val 15459"/>
            </a:avLst>
          </a:prstGeom>
          <a:solidFill>
            <a:srgbClr val="FFFFFF"/>
          </a:solidFill>
          <a:ln w="12700">
            <a:solidFill>
              <a:srgbClr val="E4DCC8"/>
            </a:solidFill>
            <a:prstDash val="solid"/>
          </a:ln>
        </p:spPr>
      </p:sp>
      <p:sp>
        <p:nvSpPr>
          <p:cNvPr id="6" name="anim-g1-710"/>
          <p:cNvSpPr/>
          <p:nvPr/>
        </p:nvSpPr>
        <p:spPr>
          <a:xfrm>
            <a:off x="10573207" y="2109978"/>
            <a:ext cx="566928" cy="566928"/>
          </a:xfrm>
          <a:prstGeom prst="ellipse">
            <a:avLst/>
          </a:prstGeom>
          <a:solidFill>
            <a:srgbClr val="D9AE4B"/>
          </a:solidFill>
          <a:ln/>
        </p:spPr>
      </p:sp>
      <p:sp>
        <p:nvSpPr>
          <p:cNvPr id="7" name="anim-g1-711"/>
          <p:cNvSpPr/>
          <p:nvPr/>
        </p:nvSpPr>
        <p:spPr>
          <a:xfrm>
            <a:off x="10573207" y="2109978"/>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712"/>
          <p:cNvSpPr/>
          <p:nvPr/>
        </p:nvSpPr>
        <p:spPr>
          <a:xfrm>
            <a:off x="1097280" y="1920240"/>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تقسّم الجولة إلى ست حالات واضحة</a:t>
            </a:r>
            <a:endParaRPr lang="ar-SA" sz="2400" dirty="0"/>
          </a:p>
        </p:txBody>
      </p:sp>
      <p:sp>
        <p:nvSpPr>
          <p:cNvPr id="9" name="anim-g2-713"/>
          <p:cNvSpPr/>
          <p:nvPr/>
        </p:nvSpPr>
        <p:spPr>
          <a:xfrm>
            <a:off x="822960" y="2976372"/>
            <a:ext cx="10545775" cy="946404"/>
          </a:xfrm>
          <a:prstGeom prst="roundRect">
            <a:avLst>
              <a:gd name="adj" fmla="val 15459"/>
            </a:avLst>
          </a:prstGeom>
          <a:solidFill>
            <a:srgbClr val="FFFFFF"/>
          </a:solidFill>
          <a:ln w="12700">
            <a:solidFill>
              <a:srgbClr val="E4DCC8"/>
            </a:solidFill>
            <a:prstDash val="solid"/>
          </a:ln>
        </p:spPr>
      </p:sp>
      <p:sp>
        <p:nvSpPr>
          <p:cNvPr id="10" name="anim-g2-714"/>
          <p:cNvSpPr/>
          <p:nvPr/>
        </p:nvSpPr>
        <p:spPr>
          <a:xfrm>
            <a:off x="10573207" y="3166110"/>
            <a:ext cx="566928" cy="566928"/>
          </a:xfrm>
          <a:prstGeom prst="ellipse">
            <a:avLst/>
          </a:prstGeom>
          <a:solidFill>
            <a:srgbClr val="D9AE4B"/>
          </a:solidFill>
          <a:ln/>
        </p:spPr>
      </p:sp>
      <p:sp>
        <p:nvSpPr>
          <p:cNvPr id="11" name="anim-g2-715"/>
          <p:cNvSpPr/>
          <p:nvPr/>
        </p:nvSpPr>
        <p:spPr>
          <a:xfrm>
            <a:off x="10573207" y="3166110"/>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716"/>
          <p:cNvSpPr/>
          <p:nvPr/>
        </p:nvSpPr>
        <p:spPr>
          <a:xfrm>
            <a:off x="1097280" y="2976372"/>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تكتبها بـ enum وswitch</a:t>
            </a:r>
            <a:endParaRPr lang="ar-SA" sz="2400" dirty="0"/>
          </a:p>
        </p:txBody>
      </p:sp>
      <p:sp>
        <p:nvSpPr>
          <p:cNvPr id="13" name="anim-g3-717"/>
          <p:cNvSpPr/>
          <p:nvPr/>
        </p:nvSpPr>
        <p:spPr>
          <a:xfrm>
            <a:off x="822960" y="4032504"/>
            <a:ext cx="10545775" cy="946404"/>
          </a:xfrm>
          <a:prstGeom prst="roundRect">
            <a:avLst>
              <a:gd name="adj" fmla="val 15459"/>
            </a:avLst>
          </a:prstGeom>
          <a:solidFill>
            <a:srgbClr val="FFFFFF"/>
          </a:solidFill>
          <a:ln w="12700">
            <a:solidFill>
              <a:srgbClr val="E4DCC8"/>
            </a:solidFill>
            <a:prstDash val="solid"/>
          </a:ln>
        </p:spPr>
      </p:sp>
      <p:sp>
        <p:nvSpPr>
          <p:cNvPr id="14" name="anim-g3-718"/>
          <p:cNvSpPr/>
          <p:nvPr/>
        </p:nvSpPr>
        <p:spPr>
          <a:xfrm>
            <a:off x="10573207" y="4222242"/>
            <a:ext cx="566928" cy="566928"/>
          </a:xfrm>
          <a:prstGeom prst="ellipse">
            <a:avLst/>
          </a:prstGeom>
          <a:solidFill>
            <a:srgbClr val="D9AE4B"/>
          </a:solidFill>
          <a:ln/>
        </p:spPr>
      </p:sp>
      <p:sp>
        <p:nvSpPr>
          <p:cNvPr id="15" name="anim-g3-719"/>
          <p:cNvSpPr/>
          <p:nvPr/>
        </p:nvSpPr>
        <p:spPr>
          <a:xfrm>
            <a:off x="10573207" y="4222242"/>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720"/>
          <p:cNvSpPr/>
          <p:nvPr/>
        </p:nvSpPr>
        <p:spPr>
          <a:xfrm>
            <a:off x="1097280" y="4032504"/>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تقفل الأزرار التي لا تناسب الحالة</a:t>
            </a:r>
            <a:endParaRPr lang="ar-SA" sz="2400" dirty="0"/>
          </a:p>
        </p:txBody>
      </p:sp>
      <p:sp>
        <p:nvSpPr>
          <p:cNvPr id="17" name="anim-g4-721"/>
          <p:cNvSpPr/>
          <p:nvPr/>
        </p:nvSpPr>
        <p:spPr>
          <a:xfrm>
            <a:off x="822960" y="5088636"/>
            <a:ext cx="10545775" cy="946404"/>
          </a:xfrm>
          <a:prstGeom prst="roundRect">
            <a:avLst>
              <a:gd name="adj" fmla="val 15459"/>
            </a:avLst>
          </a:prstGeom>
          <a:solidFill>
            <a:srgbClr val="FFFFFF"/>
          </a:solidFill>
          <a:ln w="12700">
            <a:solidFill>
              <a:srgbClr val="E4DCC8"/>
            </a:solidFill>
            <a:prstDash val="solid"/>
          </a:ln>
        </p:spPr>
      </p:sp>
      <p:sp>
        <p:nvSpPr>
          <p:cNvPr id="18" name="anim-g4-722"/>
          <p:cNvSpPr/>
          <p:nvPr/>
        </p:nvSpPr>
        <p:spPr>
          <a:xfrm>
            <a:off x="10573207" y="5278374"/>
            <a:ext cx="566928" cy="566928"/>
          </a:xfrm>
          <a:prstGeom prst="ellipse">
            <a:avLst/>
          </a:prstGeom>
          <a:solidFill>
            <a:srgbClr val="D9AE4B"/>
          </a:solidFill>
          <a:ln/>
        </p:spPr>
      </p:sp>
      <p:sp>
        <p:nvSpPr>
          <p:cNvPr id="19" name="anim-g4-723"/>
          <p:cNvSpPr/>
          <p:nvPr/>
        </p:nvSpPr>
        <p:spPr>
          <a:xfrm>
            <a:off x="10573207" y="5278374"/>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724"/>
          <p:cNvSpPr/>
          <p:nvPr/>
        </p:nvSpPr>
        <p:spPr>
          <a:xfrm>
            <a:off x="1097280" y="5088636"/>
            <a:ext cx="9247327" cy="946404"/>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تدير الحركة والصوت دون حبس (non-blocking)</a:t>
            </a:r>
            <a:endParaRPr lang="ar-SA" sz="2400" dirty="0"/>
          </a:p>
        </p:txBody>
      </p:sp>
      <p:sp>
        <p:nvSpPr>
          <p:cNvPr id="21" name="Text 19"/>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صانع الذكريات التراثية</a:t>
            </a:r>
            <a:endParaRPr lang="ar-SA" sz="1200" dirty="0"/>
          </a:p>
        </p:txBody>
      </p:sp>
      <p:sp>
        <p:nvSpPr>
          <p:cNvPr id="22" name="Text 20"/>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آلة الحالات  ·  ١٠٢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name="Slide 10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833311" y="457200"/>
            <a:ext cx="4535424" cy="457200"/>
          </a:xfrm>
          <a:prstGeom prst="roundRect">
            <a:avLst>
              <a:gd name="adj" fmla="val 50000"/>
            </a:avLst>
          </a:prstGeom>
          <a:solidFill>
            <a:srgbClr val="F6EBCF"/>
          </a:solidFill>
          <a:ln/>
        </p:spPr>
      </p:sp>
      <p:sp>
        <p:nvSpPr>
          <p:cNvPr id="3" name="Text 1"/>
          <p:cNvSpPr/>
          <p:nvPr/>
        </p:nvSpPr>
        <p:spPr>
          <a:xfrm>
            <a:off x="6833311" y="457200"/>
            <a:ext cx="4535424"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جدول الحالات من ملف الفريق</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ست حالات… كل منها تنتظر شيئًا واحدًا</a:t>
            </a:r>
            <a:endParaRPr lang="ar-SA" sz="3200" dirty="0"/>
          </a:p>
        </p:txBody>
      </p:sp>
      <p:sp>
        <p:nvSpPr>
          <p:cNvPr id="5" name="Shape 3"/>
          <p:cNvSpPr/>
          <p:nvPr/>
        </p:nvSpPr>
        <p:spPr>
          <a:xfrm>
            <a:off x="8787155" y="1874520"/>
            <a:ext cx="2581580" cy="548640"/>
          </a:xfrm>
          <a:prstGeom prst="roundRect">
            <a:avLst>
              <a:gd name="adj" fmla="val 20000"/>
            </a:avLst>
          </a:prstGeom>
          <a:solidFill>
            <a:srgbClr val="101B45"/>
          </a:solidFill>
          <a:ln/>
        </p:spPr>
      </p:sp>
      <p:sp>
        <p:nvSpPr>
          <p:cNvPr id="6" name="Text 4"/>
          <p:cNvSpPr/>
          <p:nvPr/>
        </p:nvSpPr>
        <p:spPr>
          <a:xfrm>
            <a:off x="8787155" y="1874520"/>
            <a:ext cx="2581580"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الحالة</a:t>
            </a:r>
            <a:endParaRPr lang="ar-SA" sz="1900" dirty="0"/>
          </a:p>
        </p:txBody>
      </p:sp>
      <p:sp>
        <p:nvSpPr>
          <p:cNvPr id="7" name="Shape 5"/>
          <p:cNvSpPr/>
          <p:nvPr/>
        </p:nvSpPr>
        <p:spPr>
          <a:xfrm>
            <a:off x="4948479" y="1874520"/>
            <a:ext cx="3728949" cy="548640"/>
          </a:xfrm>
          <a:prstGeom prst="roundRect">
            <a:avLst>
              <a:gd name="adj" fmla="val 20000"/>
            </a:avLst>
          </a:prstGeom>
          <a:solidFill>
            <a:srgbClr val="101B45"/>
          </a:solidFill>
          <a:ln/>
        </p:spPr>
      </p:sp>
      <p:sp>
        <p:nvSpPr>
          <p:cNvPr id="8" name="Text 6"/>
          <p:cNvSpPr/>
          <p:nvPr/>
        </p:nvSpPr>
        <p:spPr>
          <a:xfrm>
            <a:off x="4948479" y="1874520"/>
            <a:ext cx="3728949"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ماذا تنتظر؟</a:t>
            </a:r>
            <a:endParaRPr lang="ar-SA" sz="1900" dirty="0"/>
          </a:p>
        </p:txBody>
      </p:sp>
      <p:sp>
        <p:nvSpPr>
          <p:cNvPr id="9" name="Shape 7"/>
          <p:cNvSpPr/>
          <p:nvPr/>
        </p:nvSpPr>
        <p:spPr>
          <a:xfrm>
            <a:off x="822960" y="1874520"/>
            <a:ext cx="4015791" cy="548640"/>
          </a:xfrm>
          <a:prstGeom prst="roundRect">
            <a:avLst>
              <a:gd name="adj" fmla="val 20000"/>
            </a:avLst>
          </a:prstGeom>
          <a:solidFill>
            <a:srgbClr val="101B45"/>
          </a:solidFill>
          <a:ln/>
        </p:spPr>
      </p:sp>
      <p:sp>
        <p:nvSpPr>
          <p:cNvPr id="10" name="Text 8"/>
          <p:cNvSpPr/>
          <p:nvPr/>
        </p:nvSpPr>
        <p:spPr>
          <a:xfrm>
            <a:off x="822960" y="1874520"/>
            <a:ext cx="4015791"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الانتقال</a:t>
            </a:r>
            <a:endParaRPr lang="ar-SA" sz="1900" dirty="0"/>
          </a:p>
        </p:txBody>
      </p:sp>
      <p:sp>
        <p:nvSpPr>
          <p:cNvPr id="11" name="anim-g1-725"/>
          <p:cNvSpPr/>
          <p:nvPr/>
        </p:nvSpPr>
        <p:spPr>
          <a:xfrm>
            <a:off x="8787155" y="2514600"/>
            <a:ext cx="2581580" cy="495300"/>
          </a:xfrm>
          <a:prstGeom prst="roundRect">
            <a:avLst>
              <a:gd name="adj" fmla="val 22154"/>
            </a:avLst>
          </a:prstGeom>
          <a:solidFill>
            <a:srgbClr val="FBF3DF"/>
          </a:solidFill>
          <a:ln w="12700">
            <a:solidFill>
              <a:srgbClr val="EFDDAF"/>
            </a:solidFill>
            <a:prstDash val="solid"/>
          </a:ln>
        </p:spPr>
      </p:sp>
      <p:sp>
        <p:nvSpPr>
          <p:cNvPr id="12" name="anim-g1-726"/>
          <p:cNvSpPr/>
          <p:nvPr/>
        </p:nvSpPr>
        <p:spPr>
          <a:xfrm>
            <a:off x="8924315" y="2514600"/>
            <a:ext cx="2307260" cy="495300"/>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WAIT انتظار زائر</a:t>
            </a:r>
            <a:endParaRPr lang="ar-SA" sz="2100" dirty="0"/>
          </a:p>
        </p:txBody>
      </p:sp>
      <p:sp>
        <p:nvSpPr>
          <p:cNvPr id="13" name="anim-g1-727"/>
          <p:cNvSpPr/>
          <p:nvPr/>
        </p:nvSpPr>
        <p:spPr>
          <a:xfrm>
            <a:off x="4948479" y="2514600"/>
            <a:ext cx="3728949" cy="495300"/>
          </a:xfrm>
          <a:prstGeom prst="roundRect">
            <a:avLst>
              <a:gd name="adj" fmla="val 22154"/>
            </a:avLst>
          </a:prstGeom>
          <a:solidFill>
            <a:srgbClr val="FFFFFF"/>
          </a:solidFill>
          <a:ln w="12700">
            <a:solidFill>
              <a:srgbClr val="E4DCC8"/>
            </a:solidFill>
            <a:prstDash val="solid"/>
          </a:ln>
        </p:spPr>
      </p:sp>
      <p:sp>
        <p:nvSpPr>
          <p:cNvPr id="14" name="anim-g1-728"/>
          <p:cNvSpPr/>
          <p:nvPr/>
        </p:nvSpPr>
        <p:spPr>
          <a:xfrm>
            <a:off x="5085639" y="2514600"/>
            <a:ext cx="3454629" cy="495300"/>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مسافة مناسبة من HC-SR04</a:t>
            </a:r>
            <a:endParaRPr lang="ar-SA" sz="2100" dirty="0"/>
          </a:p>
        </p:txBody>
      </p:sp>
      <p:sp>
        <p:nvSpPr>
          <p:cNvPr id="15" name="anim-g1-729"/>
          <p:cNvSpPr/>
          <p:nvPr/>
        </p:nvSpPr>
        <p:spPr>
          <a:xfrm>
            <a:off x="822960" y="2514600"/>
            <a:ext cx="4015791" cy="495300"/>
          </a:xfrm>
          <a:prstGeom prst="roundRect">
            <a:avLst>
              <a:gd name="adj" fmla="val 22154"/>
            </a:avLst>
          </a:prstGeom>
          <a:solidFill>
            <a:srgbClr val="E6F4EC"/>
          </a:solidFill>
          <a:ln w="12700">
            <a:solidFill>
              <a:srgbClr val="CDE9D9"/>
            </a:solidFill>
            <a:prstDash val="solid"/>
          </a:ln>
        </p:spPr>
      </p:sp>
      <p:sp>
        <p:nvSpPr>
          <p:cNvPr id="16" name="anim-g1-730"/>
          <p:cNvSpPr/>
          <p:nvPr/>
        </p:nvSpPr>
        <p:spPr>
          <a:xfrm>
            <a:off x="960120" y="2514600"/>
            <a:ext cx="3741471" cy="495300"/>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ترحيب ← CHOOSE</a:t>
            </a:r>
            <a:endParaRPr lang="ar-SA" sz="2100" dirty="0"/>
          </a:p>
        </p:txBody>
      </p:sp>
      <p:sp>
        <p:nvSpPr>
          <p:cNvPr id="17" name="anim-g2-731"/>
          <p:cNvSpPr/>
          <p:nvPr/>
        </p:nvSpPr>
        <p:spPr>
          <a:xfrm>
            <a:off x="8787155" y="3119628"/>
            <a:ext cx="2581580" cy="495300"/>
          </a:xfrm>
          <a:prstGeom prst="roundRect">
            <a:avLst>
              <a:gd name="adj" fmla="val 22154"/>
            </a:avLst>
          </a:prstGeom>
          <a:solidFill>
            <a:srgbClr val="FBF3DF"/>
          </a:solidFill>
          <a:ln w="12700">
            <a:solidFill>
              <a:srgbClr val="EFDDAF"/>
            </a:solidFill>
            <a:prstDash val="solid"/>
          </a:ln>
        </p:spPr>
      </p:sp>
      <p:sp>
        <p:nvSpPr>
          <p:cNvPr id="18" name="anim-g2-732"/>
          <p:cNvSpPr/>
          <p:nvPr/>
        </p:nvSpPr>
        <p:spPr>
          <a:xfrm>
            <a:off x="8924315" y="3119628"/>
            <a:ext cx="2307260" cy="495300"/>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CHOOSE اختيار عنصر</a:t>
            </a:r>
            <a:endParaRPr lang="ar-SA" sz="2100" dirty="0"/>
          </a:p>
        </p:txBody>
      </p:sp>
      <p:sp>
        <p:nvSpPr>
          <p:cNvPr id="19" name="anim-g2-733"/>
          <p:cNvSpPr/>
          <p:nvPr/>
        </p:nvSpPr>
        <p:spPr>
          <a:xfrm>
            <a:off x="4948479" y="3119628"/>
            <a:ext cx="3728949" cy="495300"/>
          </a:xfrm>
          <a:prstGeom prst="roundRect">
            <a:avLst>
              <a:gd name="adj" fmla="val 22154"/>
            </a:avLst>
          </a:prstGeom>
          <a:solidFill>
            <a:srgbClr val="FFFFFF"/>
          </a:solidFill>
          <a:ln w="12700">
            <a:solidFill>
              <a:srgbClr val="E4DCC8"/>
            </a:solidFill>
            <a:prstDash val="solid"/>
          </a:ln>
        </p:spPr>
      </p:sp>
      <p:sp>
        <p:nvSpPr>
          <p:cNvPr id="20" name="anim-g2-734"/>
          <p:cNvSpPr/>
          <p:nvPr/>
        </p:nvSpPr>
        <p:spPr>
          <a:xfrm>
            <a:off x="5085639" y="3119628"/>
            <a:ext cx="3454629" cy="495300"/>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ضغط أحد أزرار المحطات</a:t>
            </a:r>
            <a:endParaRPr lang="ar-SA" sz="2100" dirty="0"/>
          </a:p>
        </p:txBody>
      </p:sp>
      <p:sp>
        <p:nvSpPr>
          <p:cNvPr id="21" name="anim-g2-735"/>
          <p:cNvSpPr/>
          <p:nvPr/>
        </p:nvSpPr>
        <p:spPr>
          <a:xfrm>
            <a:off x="822960" y="3119628"/>
            <a:ext cx="4015791" cy="495300"/>
          </a:xfrm>
          <a:prstGeom prst="roundRect">
            <a:avLst>
              <a:gd name="adj" fmla="val 22154"/>
            </a:avLst>
          </a:prstGeom>
          <a:solidFill>
            <a:srgbClr val="E6F4EC"/>
          </a:solidFill>
          <a:ln w="12700">
            <a:solidFill>
              <a:srgbClr val="CDE9D9"/>
            </a:solidFill>
            <a:prstDash val="solid"/>
          </a:ln>
        </p:spPr>
      </p:sp>
      <p:sp>
        <p:nvSpPr>
          <p:cNvPr id="22" name="anim-g2-736"/>
          <p:cNvSpPr/>
          <p:nvPr/>
        </p:nvSpPr>
        <p:spPr>
          <a:xfrm>
            <a:off x="960120" y="3119628"/>
            <a:ext cx="3741471" cy="495300"/>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دوران ومحتوى ← BUSY</a:t>
            </a:r>
            <a:endParaRPr lang="ar-SA" sz="2100" dirty="0"/>
          </a:p>
        </p:txBody>
      </p:sp>
      <p:sp>
        <p:nvSpPr>
          <p:cNvPr id="23" name="anim-g3-737"/>
          <p:cNvSpPr/>
          <p:nvPr/>
        </p:nvSpPr>
        <p:spPr>
          <a:xfrm>
            <a:off x="8787155" y="3724656"/>
            <a:ext cx="2581580" cy="495300"/>
          </a:xfrm>
          <a:prstGeom prst="roundRect">
            <a:avLst>
              <a:gd name="adj" fmla="val 22154"/>
            </a:avLst>
          </a:prstGeom>
          <a:solidFill>
            <a:srgbClr val="FBF3DF"/>
          </a:solidFill>
          <a:ln w="12700">
            <a:solidFill>
              <a:srgbClr val="EFDDAF"/>
            </a:solidFill>
            <a:prstDash val="solid"/>
          </a:ln>
        </p:spPr>
      </p:sp>
      <p:sp>
        <p:nvSpPr>
          <p:cNvPr id="24" name="anim-g3-738"/>
          <p:cNvSpPr/>
          <p:nvPr/>
        </p:nvSpPr>
        <p:spPr>
          <a:xfrm>
            <a:off x="8924315" y="3724656"/>
            <a:ext cx="2307260" cy="495300"/>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BUSY انشغال</a:t>
            </a:r>
            <a:endParaRPr lang="ar-SA" sz="2100" dirty="0"/>
          </a:p>
        </p:txBody>
      </p:sp>
      <p:sp>
        <p:nvSpPr>
          <p:cNvPr id="25" name="anim-g3-739"/>
          <p:cNvSpPr/>
          <p:nvPr/>
        </p:nvSpPr>
        <p:spPr>
          <a:xfrm>
            <a:off x="4948479" y="3724656"/>
            <a:ext cx="3728949" cy="495300"/>
          </a:xfrm>
          <a:prstGeom prst="roundRect">
            <a:avLst>
              <a:gd name="adj" fmla="val 22154"/>
            </a:avLst>
          </a:prstGeom>
          <a:solidFill>
            <a:srgbClr val="FFFFFF"/>
          </a:solidFill>
          <a:ln w="12700">
            <a:solidFill>
              <a:srgbClr val="E4DCC8"/>
            </a:solidFill>
            <a:prstDash val="solid"/>
          </a:ln>
        </p:spPr>
      </p:sp>
      <p:sp>
        <p:nvSpPr>
          <p:cNvPr id="26" name="anim-g3-740"/>
          <p:cNvSpPr/>
          <p:nvPr/>
        </p:nvSpPr>
        <p:spPr>
          <a:xfrm>
            <a:off x="5085639" y="3724656"/>
            <a:ext cx="3454629" cy="495300"/>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انتهاء الحركة والصوت</a:t>
            </a:r>
            <a:endParaRPr lang="ar-SA" sz="2100" dirty="0"/>
          </a:p>
        </p:txBody>
      </p:sp>
      <p:sp>
        <p:nvSpPr>
          <p:cNvPr id="27" name="anim-g3-741"/>
          <p:cNvSpPr/>
          <p:nvPr/>
        </p:nvSpPr>
        <p:spPr>
          <a:xfrm>
            <a:off x="822960" y="3724656"/>
            <a:ext cx="4015791" cy="495300"/>
          </a:xfrm>
          <a:prstGeom prst="roundRect">
            <a:avLst>
              <a:gd name="adj" fmla="val 22154"/>
            </a:avLst>
          </a:prstGeom>
          <a:solidFill>
            <a:srgbClr val="E6F4EC"/>
          </a:solidFill>
          <a:ln w="12700">
            <a:solidFill>
              <a:srgbClr val="CDE9D9"/>
            </a:solidFill>
            <a:prstDash val="solid"/>
          </a:ln>
        </p:spPr>
      </p:sp>
      <p:sp>
        <p:nvSpPr>
          <p:cNvPr id="28" name="anim-g3-742"/>
          <p:cNvSpPr/>
          <p:nvPr/>
        </p:nvSpPr>
        <p:spPr>
          <a:xfrm>
            <a:off x="960120" y="3724656"/>
            <a:ext cx="3741471" cy="495300"/>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السؤال الأول ← ANS1</a:t>
            </a:r>
            <a:endParaRPr lang="ar-SA" sz="2100" dirty="0"/>
          </a:p>
        </p:txBody>
      </p:sp>
      <p:sp>
        <p:nvSpPr>
          <p:cNvPr id="29" name="anim-g4-743"/>
          <p:cNvSpPr/>
          <p:nvPr/>
        </p:nvSpPr>
        <p:spPr>
          <a:xfrm>
            <a:off x="8787155" y="4329684"/>
            <a:ext cx="2581580" cy="495300"/>
          </a:xfrm>
          <a:prstGeom prst="roundRect">
            <a:avLst>
              <a:gd name="adj" fmla="val 22154"/>
            </a:avLst>
          </a:prstGeom>
          <a:solidFill>
            <a:srgbClr val="FBF3DF"/>
          </a:solidFill>
          <a:ln w="12700">
            <a:solidFill>
              <a:srgbClr val="EFDDAF"/>
            </a:solidFill>
            <a:prstDash val="solid"/>
          </a:ln>
        </p:spPr>
      </p:sp>
      <p:sp>
        <p:nvSpPr>
          <p:cNvPr id="30" name="anim-g4-744"/>
          <p:cNvSpPr/>
          <p:nvPr/>
        </p:nvSpPr>
        <p:spPr>
          <a:xfrm>
            <a:off x="8924315" y="4329684"/>
            <a:ext cx="2307260" cy="495300"/>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ANS1 إجابة أولى</a:t>
            </a:r>
            <a:endParaRPr lang="ar-SA" sz="2100" dirty="0"/>
          </a:p>
        </p:txBody>
      </p:sp>
      <p:sp>
        <p:nvSpPr>
          <p:cNvPr id="31" name="anim-g4-745"/>
          <p:cNvSpPr/>
          <p:nvPr/>
        </p:nvSpPr>
        <p:spPr>
          <a:xfrm>
            <a:off x="4948479" y="4329684"/>
            <a:ext cx="3728949" cy="495300"/>
          </a:xfrm>
          <a:prstGeom prst="roundRect">
            <a:avLst>
              <a:gd name="adj" fmla="val 22154"/>
            </a:avLst>
          </a:prstGeom>
          <a:solidFill>
            <a:srgbClr val="FFFFFF"/>
          </a:solidFill>
          <a:ln w="12700">
            <a:solidFill>
              <a:srgbClr val="E4DCC8"/>
            </a:solidFill>
            <a:prstDash val="solid"/>
          </a:ln>
        </p:spPr>
      </p:sp>
      <p:sp>
        <p:nvSpPr>
          <p:cNvPr id="32" name="anim-g4-746"/>
          <p:cNvSpPr/>
          <p:nvPr/>
        </p:nvSpPr>
        <p:spPr>
          <a:xfrm>
            <a:off x="5085639" y="4329684"/>
            <a:ext cx="3454629" cy="495300"/>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إجابة الطفل</a:t>
            </a:r>
            <a:endParaRPr lang="ar-SA" sz="2100" dirty="0"/>
          </a:p>
        </p:txBody>
      </p:sp>
      <p:sp>
        <p:nvSpPr>
          <p:cNvPr id="33" name="anim-g4-747"/>
          <p:cNvSpPr/>
          <p:nvPr/>
        </p:nvSpPr>
        <p:spPr>
          <a:xfrm>
            <a:off x="822960" y="4329684"/>
            <a:ext cx="4015791" cy="495300"/>
          </a:xfrm>
          <a:prstGeom prst="roundRect">
            <a:avLst>
              <a:gd name="adj" fmla="val 22154"/>
            </a:avLst>
          </a:prstGeom>
          <a:solidFill>
            <a:srgbClr val="E6F4EC"/>
          </a:solidFill>
          <a:ln w="12700">
            <a:solidFill>
              <a:srgbClr val="CDE9D9"/>
            </a:solidFill>
            <a:prstDash val="solid"/>
          </a:ln>
        </p:spPr>
      </p:sp>
      <p:sp>
        <p:nvSpPr>
          <p:cNvPr id="34" name="anim-g4-748"/>
          <p:cNvSpPr/>
          <p:nvPr/>
        </p:nvSpPr>
        <p:spPr>
          <a:xfrm>
            <a:off x="960120" y="4329684"/>
            <a:ext cx="3741471" cy="495300"/>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عملة ← CHOOSE · أو مساعد ← ANS2</a:t>
            </a:r>
            <a:endParaRPr lang="ar-SA" sz="2100" dirty="0"/>
          </a:p>
        </p:txBody>
      </p:sp>
      <p:sp>
        <p:nvSpPr>
          <p:cNvPr id="35" name="anim-g5-749"/>
          <p:cNvSpPr/>
          <p:nvPr/>
        </p:nvSpPr>
        <p:spPr>
          <a:xfrm>
            <a:off x="8787155" y="4934712"/>
            <a:ext cx="2581580" cy="495300"/>
          </a:xfrm>
          <a:prstGeom prst="roundRect">
            <a:avLst>
              <a:gd name="adj" fmla="val 22154"/>
            </a:avLst>
          </a:prstGeom>
          <a:solidFill>
            <a:srgbClr val="FBF3DF"/>
          </a:solidFill>
          <a:ln w="12700">
            <a:solidFill>
              <a:srgbClr val="EFDDAF"/>
            </a:solidFill>
            <a:prstDash val="solid"/>
          </a:ln>
        </p:spPr>
      </p:sp>
      <p:sp>
        <p:nvSpPr>
          <p:cNvPr id="36" name="anim-g5-750"/>
          <p:cNvSpPr/>
          <p:nvPr/>
        </p:nvSpPr>
        <p:spPr>
          <a:xfrm>
            <a:off x="8924315" y="4934712"/>
            <a:ext cx="2307260" cy="495300"/>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ANS2 إجابة ثانية</a:t>
            </a:r>
            <a:endParaRPr lang="ar-SA" sz="2100" dirty="0"/>
          </a:p>
        </p:txBody>
      </p:sp>
      <p:sp>
        <p:nvSpPr>
          <p:cNvPr id="37" name="anim-g5-751"/>
          <p:cNvSpPr/>
          <p:nvPr/>
        </p:nvSpPr>
        <p:spPr>
          <a:xfrm>
            <a:off x="4948479" y="4934712"/>
            <a:ext cx="3728949" cy="495300"/>
          </a:xfrm>
          <a:prstGeom prst="roundRect">
            <a:avLst>
              <a:gd name="adj" fmla="val 22154"/>
            </a:avLst>
          </a:prstGeom>
          <a:solidFill>
            <a:srgbClr val="FFFFFF"/>
          </a:solidFill>
          <a:ln w="12700">
            <a:solidFill>
              <a:srgbClr val="E4DCC8"/>
            </a:solidFill>
            <a:prstDash val="solid"/>
          </a:ln>
        </p:spPr>
      </p:sp>
      <p:sp>
        <p:nvSpPr>
          <p:cNvPr id="38" name="anim-g5-752"/>
          <p:cNvSpPr/>
          <p:nvPr/>
        </p:nvSpPr>
        <p:spPr>
          <a:xfrm>
            <a:off x="5085639" y="4934712"/>
            <a:ext cx="3454629" cy="495300"/>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إجابة بعد المساعدة</a:t>
            </a:r>
            <a:endParaRPr lang="ar-SA" sz="2100" dirty="0"/>
          </a:p>
        </p:txBody>
      </p:sp>
      <p:sp>
        <p:nvSpPr>
          <p:cNvPr id="39" name="anim-g5-753"/>
          <p:cNvSpPr/>
          <p:nvPr/>
        </p:nvSpPr>
        <p:spPr>
          <a:xfrm>
            <a:off x="822960" y="4934712"/>
            <a:ext cx="4015791" cy="495300"/>
          </a:xfrm>
          <a:prstGeom prst="roundRect">
            <a:avLst>
              <a:gd name="adj" fmla="val 22154"/>
            </a:avLst>
          </a:prstGeom>
          <a:solidFill>
            <a:srgbClr val="E6F4EC"/>
          </a:solidFill>
          <a:ln w="12700">
            <a:solidFill>
              <a:srgbClr val="CDE9D9"/>
            </a:solidFill>
            <a:prstDash val="solid"/>
          </a:ln>
        </p:spPr>
      </p:sp>
      <p:sp>
        <p:nvSpPr>
          <p:cNvPr id="40" name="anim-g5-754"/>
          <p:cNvSpPr/>
          <p:nvPr/>
        </p:nvSpPr>
        <p:spPr>
          <a:xfrm>
            <a:off x="960120" y="4934712"/>
            <a:ext cx="3741471" cy="495300"/>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مع أو دون عملة ← CHOOSE</a:t>
            </a:r>
            <a:endParaRPr lang="ar-SA" sz="2100" dirty="0"/>
          </a:p>
        </p:txBody>
      </p:sp>
      <p:sp>
        <p:nvSpPr>
          <p:cNvPr id="41" name="anim-g6-755"/>
          <p:cNvSpPr/>
          <p:nvPr/>
        </p:nvSpPr>
        <p:spPr>
          <a:xfrm>
            <a:off x="8787155" y="5539740"/>
            <a:ext cx="2581580" cy="495300"/>
          </a:xfrm>
          <a:prstGeom prst="roundRect">
            <a:avLst>
              <a:gd name="adj" fmla="val 22154"/>
            </a:avLst>
          </a:prstGeom>
          <a:solidFill>
            <a:srgbClr val="FBF3DF"/>
          </a:solidFill>
          <a:ln w="12700">
            <a:solidFill>
              <a:srgbClr val="EFDDAF"/>
            </a:solidFill>
            <a:prstDash val="solid"/>
          </a:ln>
        </p:spPr>
      </p:sp>
      <p:sp>
        <p:nvSpPr>
          <p:cNvPr id="42" name="anim-g6-756"/>
          <p:cNvSpPr/>
          <p:nvPr/>
        </p:nvSpPr>
        <p:spPr>
          <a:xfrm>
            <a:off x="8924315" y="5539740"/>
            <a:ext cx="2307260" cy="495300"/>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DONE نهاية الجولة</a:t>
            </a:r>
            <a:endParaRPr lang="ar-SA" sz="2100" dirty="0"/>
          </a:p>
        </p:txBody>
      </p:sp>
      <p:sp>
        <p:nvSpPr>
          <p:cNvPr id="43" name="anim-g6-757"/>
          <p:cNvSpPr/>
          <p:nvPr/>
        </p:nvSpPr>
        <p:spPr>
          <a:xfrm>
            <a:off x="4948479" y="5539740"/>
            <a:ext cx="3728949" cy="495300"/>
          </a:xfrm>
          <a:prstGeom prst="roundRect">
            <a:avLst>
              <a:gd name="adj" fmla="val 22154"/>
            </a:avLst>
          </a:prstGeom>
          <a:solidFill>
            <a:srgbClr val="FFFFFF"/>
          </a:solidFill>
          <a:ln w="12700">
            <a:solidFill>
              <a:srgbClr val="E4DCC8"/>
            </a:solidFill>
            <a:prstDash val="solid"/>
          </a:ln>
        </p:spPr>
      </p:sp>
      <p:sp>
        <p:nvSpPr>
          <p:cNvPr id="44" name="anim-g6-758"/>
          <p:cNvSpPr/>
          <p:nvPr/>
        </p:nvSpPr>
        <p:spPr>
          <a:xfrm>
            <a:off x="5085639" y="5539740"/>
            <a:ext cx="3454629" cy="495300"/>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انتهاء الوقت أو العملات الأربع</a:t>
            </a:r>
            <a:endParaRPr lang="ar-SA" sz="2100" dirty="0"/>
          </a:p>
        </p:txBody>
      </p:sp>
      <p:sp>
        <p:nvSpPr>
          <p:cNvPr id="45" name="anim-g6-759"/>
          <p:cNvSpPr/>
          <p:nvPr/>
        </p:nvSpPr>
        <p:spPr>
          <a:xfrm>
            <a:off x="822960" y="5539740"/>
            <a:ext cx="4015791" cy="495300"/>
          </a:xfrm>
          <a:prstGeom prst="roundRect">
            <a:avLst>
              <a:gd name="adj" fmla="val 22154"/>
            </a:avLst>
          </a:prstGeom>
          <a:solidFill>
            <a:srgbClr val="E6F4EC"/>
          </a:solidFill>
          <a:ln w="12700">
            <a:solidFill>
              <a:srgbClr val="CDE9D9"/>
            </a:solidFill>
            <a:prstDash val="solid"/>
          </a:ln>
        </p:spPr>
      </p:sp>
      <p:sp>
        <p:nvSpPr>
          <p:cNvPr id="46" name="anim-g6-760"/>
          <p:cNvSpPr/>
          <p:nvPr/>
        </p:nvSpPr>
        <p:spPr>
          <a:xfrm>
            <a:off x="960120" y="5539740"/>
            <a:ext cx="3741471" cy="495300"/>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إعادة الضبط ← WAIT</a:t>
            </a:r>
            <a:endParaRPr lang="ar-SA" sz="2100" dirty="0"/>
          </a:p>
        </p:txBody>
      </p:sp>
      <p:sp>
        <p:nvSpPr>
          <p:cNvPr id="47" name="Text 45"/>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صانع الذكريات التراثية</a:t>
            </a:r>
            <a:endParaRPr lang="ar-SA" sz="1200" dirty="0"/>
          </a:p>
        </p:txBody>
      </p:sp>
      <p:sp>
        <p:nvSpPr>
          <p:cNvPr id="48" name="Text 46"/>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آلة الحالات  ·  ١٠٣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400"/>
                                        <p:tgtEl>
                                          <p:spTgt spid="1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40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400"/>
                                        <p:tgtEl>
                                          <p:spTgt spid="19"/>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0"/>
                                        </p:tgtEl>
                                        <p:attrNameLst>
                                          <p:attrName>style.visibility</p:attrName>
                                        </p:attrNameLst>
                                      </p:cBhvr>
                                      <p:to>
                                        <p:strVal val="visible"/>
                                      </p:to>
                                    </p:set>
                                    <p:animEffect transition="in" filter="fade">
                                      <p:cBhvr>
                                        <p:cTn id="36" dur="400"/>
                                        <p:tgtEl>
                                          <p:spTgt spid="20"/>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400"/>
                                        <p:tgtEl>
                                          <p:spTgt spid="21"/>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400"/>
                                        <p:tgtEl>
                                          <p:spTgt spid="2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400"/>
                                        <p:tgtEl>
                                          <p:spTgt spid="25"/>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400"/>
                                        <p:tgtEl>
                                          <p:spTgt spid="26"/>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400"/>
                                        <p:tgtEl>
                                          <p:spTgt spid="27"/>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400"/>
                                        <p:tgtEl>
                                          <p:spTgt spid="28"/>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400"/>
                                        <p:tgtEl>
                                          <p:spTgt spid="29"/>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0"/>
                                        </p:tgtEl>
                                        <p:attrNameLst>
                                          <p:attrName>style.visibility</p:attrName>
                                        </p:attrNameLst>
                                      </p:cBhvr>
                                      <p:to>
                                        <p:strVal val="visible"/>
                                      </p:to>
                                    </p:set>
                                    <p:animEffect transition="in" filter="fade">
                                      <p:cBhvr>
                                        <p:cTn id="70" dur="400"/>
                                        <p:tgtEl>
                                          <p:spTgt spid="30"/>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31"/>
                                        </p:tgtEl>
                                        <p:attrNameLst>
                                          <p:attrName>style.visibility</p:attrName>
                                        </p:attrNameLst>
                                      </p:cBhvr>
                                      <p:to>
                                        <p:strVal val="visible"/>
                                      </p:to>
                                    </p:set>
                                    <p:animEffect transition="in" filter="fade">
                                      <p:cBhvr>
                                        <p:cTn id="73" dur="400"/>
                                        <p:tgtEl>
                                          <p:spTgt spid="31"/>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2"/>
                                        </p:tgtEl>
                                        <p:attrNameLst>
                                          <p:attrName>style.visibility</p:attrName>
                                        </p:attrNameLst>
                                      </p:cBhvr>
                                      <p:to>
                                        <p:strVal val="visible"/>
                                      </p:to>
                                    </p:set>
                                    <p:animEffect transition="in" filter="fade">
                                      <p:cBhvr>
                                        <p:cTn id="76" dur="400"/>
                                        <p:tgtEl>
                                          <p:spTgt spid="32"/>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3"/>
                                        </p:tgtEl>
                                        <p:attrNameLst>
                                          <p:attrName>style.visibility</p:attrName>
                                        </p:attrNameLst>
                                      </p:cBhvr>
                                      <p:to>
                                        <p:strVal val="visible"/>
                                      </p:to>
                                    </p:set>
                                    <p:animEffect transition="in" filter="fade">
                                      <p:cBhvr>
                                        <p:cTn id="79" dur="400"/>
                                        <p:tgtEl>
                                          <p:spTgt spid="33"/>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34"/>
                                        </p:tgtEl>
                                        <p:attrNameLst>
                                          <p:attrName>style.visibility</p:attrName>
                                        </p:attrNameLst>
                                      </p:cBhvr>
                                      <p:to>
                                        <p:strVal val="visible"/>
                                      </p:to>
                                    </p:set>
                                    <p:animEffect transition="in" filter="fade">
                                      <p:cBhvr>
                                        <p:cTn id="82" dur="400"/>
                                        <p:tgtEl>
                                          <p:spTgt spid="34"/>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grpId="0" nodeType="clickEffect">
                                  <p:stCondLst>
                                    <p:cond delay="0"/>
                                  </p:stCondLst>
                                  <p:childTnLst>
                                    <p:set>
                                      <p:cBhvr>
                                        <p:cTn id="86" dur="1" fill="hold">
                                          <p:stCondLst>
                                            <p:cond delay="0"/>
                                          </p:stCondLst>
                                        </p:cTn>
                                        <p:tgtEl>
                                          <p:spTgt spid="35"/>
                                        </p:tgtEl>
                                        <p:attrNameLst>
                                          <p:attrName>style.visibility</p:attrName>
                                        </p:attrNameLst>
                                      </p:cBhvr>
                                      <p:to>
                                        <p:strVal val="visible"/>
                                      </p:to>
                                    </p:set>
                                    <p:animEffect transition="in" filter="fade">
                                      <p:cBhvr>
                                        <p:cTn id="87" dur="400"/>
                                        <p:tgtEl>
                                          <p:spTgt spid="35"/>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6"/>
                                        </p:tgtEl>
                                        <p:attrNameLst>
                                          <p:attrName>style.visibility</p:attrName>
                                        </p:attrNameLst>
                                      </p:cBhvr>
                                      <p:to>
                                        <p:strVal val="visible"/>
                                      </p:to>
                                    </p:set>
                                    <p:animEffect transition="in" filter="fade">
                                      <p:cBhvr>
                                        <p:cTn id="90" dur="400"/>
                                        <p:tgtEl>
                                          <p:spTgt spid="36"/>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7"/>
                                        </p:tgtEl>
                                        <p:attrNameLst>
                                          <p:attrName>style.visibility</p:attrName>
                                        </p:attrNameLst>
                                      </p:cBhvr>
                                      <p:to>
                                        <p:strVal val="visible"/>
                                      </p:to>
                                    </p:set>
                                    <p:animEffect transition="in" filter="fade">
                                      <p:cBhvr>
                                        <p:cTn id="93" dur="400"/>
                                        <p:tgtEl>
                                          <p:spTgt spid="37"/>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38"/>
                                        </p:tgtEl>
                                        <p:attrNameLst>
                                          <p:attrName>style.visibility</p:attrName>
                                        </p:attrNameLst>
                                      </p:cBhvr>
                                      <p:to>
                                        <p:strVal val="visible"/>
                                      </p:to>
                                    </p:set>
                                    <p:animEffect transition="in" filter="fade">
                                      <p:cBhvr>
                                        <p:cTn id="96" dur="400"/>
                                        <p:tgtEl>
                                          <p:spTgt spid="38"/>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fade">
                                      <p:cBhvr>
                                        <p:cTn id="99" dur="400"/>
                                        <p:tgtEl>
                                          <p:spTgt spid="39"/>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40"/>
                                        </p:tgtEl>
                                        <p:attrNameLst>
                                          <p:attrName>style.visibility</p:attrName>
                                        </p:attrNameLst>
                                      </p:cBhvr>
                                      <p:to>
                                        <p:strVal val="visible"/>
                                      </p:to>
                                    </p:set>
                                    <p:animEffect transition="in" filter="fade">
                                      <p:cBhvr>
                                        <p:cTn id="102" dur="400"/>
                                        <p:tgtEl>
                                          <p:spTgt spid="40"/>
                                        </p:tgtEl>
                                      </p:cBhvr>
                                    </p:animEffect>
                                  </p:childTnLst>
                                </p:cTn>
                              </p:par>
                            </p:childTnLst>
                          </p:cTn>
                        </p:par>
                      </p:childTnLst>
                    </p:cTn>
                  </p:par>
                  <p:par>
                    <p:cTn id="103" fill="hold">
                      <p:stCondLst>
                        <p:cond delay="indefinite"/>
                      </p:stCondLst>
                      <p:childTnLst>
                        <p:par>
                          <p:cTn id="104" fill="hold">
                            <p:stCondLst>
                              <p:cond delay="0"/>
                            </p:stCondLst>
                            <p:childTnLst>
                              <p:par>
                                <p:cTn id="105" presetID="10" presetClass="entr" presetSubtype="0" fill="hold" grpId="0" nodeType="clickEffect">
                                  <p:stCondLst>
                                    <p:cond delay="0"/>
                                  </p:stCondLst>
                                  <p:childTnLst>
                                    <p:set>
                                      <p:cBhvr>
                                        <p:cTn id="106" dur="1" fill="hold">
                                          <p:stCondLst>
                                            <p:cond delay="0"/>
                                          </p:stCondLst>
                                        </p:cTn>
                                        <p:tgtEl>
                                          <p:spTgt spid="41"/>
                                        </p:tgtEl>
                                        <p:attrNameLst>
                                          <p:attrName>style.visibility</p:attrName>
                                        </p:attrNameLst>
                                      </p:cBhvr>
                                      <p:to>
                                        <p:strVal val="visible"/>
                                      </p:to>
                                    </p:set>
                                    <p:animEffect transition="in" filter="fade">
                                      <p:cBhvr>
                                        <p:cTn id="107" dur="400"/>
                                        <p:tgtEl>
                                          <p:spTgt spid="4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42"/>
                                        </p:tgtEl>
                                        <p:attrNameLst>
                                          <p:attrName>style.visibility</p:attrName>
                                        </p:attrNameLst>
                                      </p:cBhvr>
                                      <p:to>
                                        <p:strVal val="visible"/>
                                      </p:to>
                                    </p:set>
                                    <p:animEffect transition="in" filter="fade">
                                      <p:cBhvr>
                                        <p:cTn id="110" dur="400"/>
                                        <p:tgtEl>
                                          <p:spTgt spid="42"/>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43"/>
                                        </p:tgtEl>
                                        <p:attrNameLst>
                                          <p:attrName>style.visibility</p:attrName>
                                        </p:attrNameLst>
                                      </p:cBhvr>
                                      <p:to>
                                        <p:strVal val="visible"/>
                                      </p:to>
                                    </p:set>
                                    <p:animEffect transition="in" filter="fade">
                                      <p:cBhvr>
                                        <p:cTn id="113" dur="400"/>
                                        <p:tgtEl>
                                          <p:spTgt spid="43"/>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44"/>
                                        </p:tgtEl>
                                        <p:attrNameLst>
                                          <p:attrName>style.visibility</p:attrName>
                                        </p:attrNameLst>
                                      </p:cBhvr>
                                      <p:to>
                                        <p:strVal val="visible"/>
                                      </p:to>
                                    </p:set>
                                    <p:animEffect transition="in" filter="fade">
                                      <p:cBhvr>
                                        <p:cTn id="116" dur="400"/>
                                        <p:tgtEl>
                                          <p:spTgt spid="44"/>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45"/>
                                        </p:tgtEl>
                                        <p:attrNameLst>
                                          <p:attrName>style.visibility</p:attrName>
                                        </p:attrNameLst>
                                      </p:cBhvr>
                                      <p:to>
                                        <p:strVal val="visible"/>
                                      </p:to>
                                    </p:set>
                                    <p:animEffect transition="in" filter="fade">
                                      <p:cBhvr>
                                        <p:cTn id="119" dur="400"/>
                                        <p:tgtEl>
                                          <p:spTgt spid="45"/>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46"/>
                                        </p:tgtEl>
                                        <p:attrNameLst>
                                          <p:attrName>style.visibility</p:attrName>
                                        </p:attrNameLst>
                                      </p:cBhvr>
                                      <p:to>
                                        <p:strVal val="visible"/>
                                      </p:to>
                                    </p:set>
                                    <p:animEffect transition="in" filter="fade">
                                      <p:cBhvr>
                                        <p:cTn id="122" dur="4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Lst>
  </p:timing>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Image 0" descr="C:\Users\user\projects\younes-training\heritage\.pptx-cache\s104.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Image 0" descr="C:\Users\user\projects\younes-training\heritage\.pptx-cache\s105-0.jpg"/>
          <p:cNvPicPr>
            <a:picLocks noChangeAspect="1"/>
          </p:cNvPicPr>
          <p:nvPr/>
        </p:nvPicPr>
        <p:blipFill>
          <a:blip r:embed="rId3"/>
          <a:stretch>
            <a:fillRect/>
          </a:stretch>
        </p:blipFill>
        <p:spPr>
          <a:xfrm>
            <a:off x="0" y="0"/>
            <a:ext cx="12191695" cy="6858000"/>
          </a:xfrm>
          <a:prstGeom prst="rect">
            <a:avLst/>
          </a:prstGeom>
        </p:spPr>
      </p:pic>
      <p:pic>
        <p:nvPicPr>
          <p:cNvPr id="3" name="anim-g1-761" descr="C:\Users\user\projects\younes-training\heritage\.pptx-cache\s105-1.jpg"/>
          <p:cNvPicPr>
            <a:picLocks noChangeAspect="1"/>
          </p:cNvPicPr>
          <p:nvPr/>
        </p:nvPicPr>
        <p:blipFill>
          <a:blip r:embed="rId4"/>
          <a:stretch>
            <a:fillRect/>
          </a:stretch>
        </p:blipFill>
        <p:spPr>
          <a:xfrm>
            <a:off x="0" y="0"/>
            <a:ext cx="12191695" cy="6858000"/>
          </a:xfrm>
          <a:prstGeom prst="rect">
            <a:avLst/>
          </a:prstGeom>
        </p:spPr>
      </p:pic>
      <p:pic>
        <p:nvPicPr>
          <p:cNvPr id="4" name="anim-g2-762" descr="C:\Users\user\projects\younes-training\heritage\.pptx-cache\s105-2.jpg"/>
          <p:cNvPicPr>
            <a:picLocks noChangeAspect="1"/>
          </p:cNvPicPr>
          <p:nvPr/>
        </p:nvPicPr>
        <p:blipFill>
          <a:blip r:embed="rId5"/>
          <a:stretch>
            <a:fillRect/>
          </a:stretch>
        </p:blipFill>
        <p:spPr>
          <a:xfrm>
            <a:off x="0" y="0"/>
            <a:ext cx="12191695" cy="6858000"/>
          </a:xfrm>
          <a:prstGeom prst="rect">
            <a:avLst/>
          </a:prstGeom>
        </p:spPr>
      </p:pic>
      <p:pic>
        <p:nvPicPr>
          <p:cNvPr id="5" name="anim-g3-763" descr="C:\Users\user\projects\younes-training\heritage\.pptx-cache\s105-3.jpg"/>
          <p:cNvPicPr>
            <a:picLocks noChangeAspect="1"/>
          </p:cNvPicPr>
          <p:nvPr/>
        </p:nvPicPr>
        <p:blipFill>
          <a:blip r:embed="rId6"/>
          <a:stretch>
            <a:fillRect/>
          </a:stretch>
        </p:blipFill>
        <p:spPr>
          <a:xfrm>
            <a:off x="0" y="0"/>
            <a:ext cx="12191695" cy="6858000"/>
          </a:xfrm>
          <a:prstGeom prst="rect">
            <a:avLst/>
          </a:prstGeom>
        </p:spPr>
      </p:pic>
      <p:pic>
        <p:nvPicPr>
          <p:cNvPr id="6" name="anim-g4-764" descr="C:\Users\user\projects\younes-training\heritage\.pptx-cache\s105-4.jpg"/>
          <p:cNvPicPr>
            <a:picLocks noChangeAspect="1"/>
          </p:cNvPicPr>
          <p:nvPr/>
        </p:nvPicPr>
        <p:blipFill>
          <a:blip r:embed="rId7"/>
          <a:stretch>
            <a:fillRect/>
          </a:stretch>
        </p:blipFill>
        <p:spPr>
          <a:xfrm>
            <a:off x="0" y="0"/>
            <a:ext cx="12191695" cy="6858000"/>
          </a:xfrm>
          <a:prstGeom prst="rect">
            <a:avLst/>
          </a:prstGeom>
        </p:spPr>
      </p:pic>
      <p:pic>
        <p:nvPicPr>
          <p:cNvPr id="7" name="anim-g5-765" descr="C:\Users\user\projects\younes-training\heritage\.pptx-cache\s105-5.jpg"/>
          <p:cNvPicPr>
            <a:picLocks noChangeAspect="1"/>
          </p:cNvPicPr>
          <p:nvPr/>
        </p:nvPicPr>
        <p:blipFill>
          <a:blip r:embed="rId8"/>
          <a:stretch>
            <a:fillRect/>
          </a:stretch>
        </p:blipFill>
        <p:spPr>
          <a:xfrm>
            <a:off x="0" y="0"/>
            <a:ext cx="12191695" cy="6858000"/>
          </a:xfrm>
          <a:prstGeom prst="rect">
            <a:avLst/>
          </a:prstGeom>
        </p:spPr>
      </p:pic>
      <p:pic>
        <p:nvPicPr>
          <p:cNvPr id="8" name="anim-g6-766" descr="C:\Users\user\projects\younes-training\heritage\.pptx-cache\s105-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Image 0" descr="C:\Users\user\projects\younes-training\heritage\.pptx-cache\s106-0.jpg"/>
          <p:cNvPicPr>
            <a:picLocks noChangeAspect="1"/>
          </p:cNvPicPr>
          <p:nvPr/>
        </p:nvPicPr>
        <p:blipFill>
          <a:blip r:embed="rId3"/>
          <a:stretch>
            <a:fillRect/>
          </a:stretch>
        </p:blipFill>
        <p:spPr>
          <a:xfrm>
            <a:off x="0" y="0"/>
            <a:ext cx="12191695" cy="6858000"/>
          </a:xfrm>
          <a:prstGeom prst="rect">
            <a:avLst/>
          </a:prstGeom>
        </p:spPr>
      </p:pic>
      <p:pic>
        <p:nvPicPr>
          <p:cNvPr id="3" name="anim-g1-767" descr="C:\Users\user\projects\younes-training\heritage\.pptx-cache\s106-1.jpg"/>
          <p:cNvPicPr>
            <a:picLocks noChangeAspect="1"/>
          </p:cNvPicPr>
          <p:nvPr/>
        </p:nvPicPr>
        <p:blipFill>
          <a:blip r:embed="rId4"/>
          <a:stretch>
            <a:fillRect/>
          </a:stretch>
        </p:blipFill>
        <p:spPr>
          <a:xfrm>
            <a:off x="0" y="0"/>
            <a:ext cx="12191695" cy="6858000"/>
          </a:xfrm>
          <a:prstGeom prst="rect">
            <a:avLst/>
          </a:prstGeom>
        </p:spPr>
      </p:pic>
      <p:pic>
        <p:nvPicPr>
          <p:cNvPr id="4" name="anim-g2-768" descr="C:\Users\user\projects\younes-training\heritage\.pptx-cache\s106-2.jpg"/>
          <p:cNvPicPr>
            <a:picLocks noChangeAspect="1"/>
          </p:cNvPicPr>
          <p:nvPr/>
        </p:nvPicPr>
        <p:blipFill>
          <a:blip r:embed="rId5"/>
          <a:stretch>
            <a:fillRect/>
          </a:stretch>
        </p:blipFill>
        <p:spPr>
          <a:xfrm>
            <a:off x="0" y="0"/>
            <a:ext cx="12191695" cy="6858000"/>
          </a:xfrm>
          <a:prstGeom prst="rect">
            <a:avLst/>
          </a:prstGeom>
        </p:spPr>
      </p:pic>
      <p:pic>
        <p:nvPicPr>
          <p:cNvPr id="5" name="anim-g3-769" descr="C:\Users\user\projects\younes-training\heritage\.pptx-cache\s106-3.jpg"/>
          <p:cNvPicPr>
            <a:picLocks noChangeAspect="1"/>
          </p:cNvPicPr>
          <p:nvPr/>
        </p:nvPicPr>
        <p:blipFill>
          <a:blip r:embed="rId6"/>
          <a:stretch>
            <a:fillRect/>
          </a:stretch>
        </p:blipFill>
        <p:spPr>
          <a:xfrm>
            <a:off x="0" y="0"/>
            <a:ext cx="12191695" cy="6858000"/>
          </a:xfrm>
          <a:prstGeom prst="rect">
            <a:avLst/>
          </a:prstGeom>
        </p:spPr>
      </p:pic>
      <p:pic>
        <p:nvPicPr>
          <p:cNvPr id="6" name="anim-g4-770" descr="C:\Users\user\projects\younes-training\heritage\.pptx-cache\s106-4.jpg"/>
          <p:cNvPicPr>
            <a:picLocks noChangeAspect="1"/>
          </p:cNvPicPr>
          <p:nvPr/>
        </p:nvPicPr>
        <p:blipFill>
          <a:blip r:embed="rId7"/>
          <a:stretch>
            <a:fillRect/>
          </a:stretch>
        </p:blipFill>
        <p:spPr>
          <a:xfrm>
            <a:off x="0" y="0"/>
            <a:ext cx="12191695" cy="6858000"/>
          </a:xfrm>
          <a:prstGeom prst="rect">
            <a:avLst/>
          </a:prstGeom>
        </p:spPr>
      </p:pic>
      <p:pic>
        <p:nvPicPr>
          <p:cNvPr id="7" name="anim-g5-771" descr="C:\Users\user\projects\younes-training\heritage\.pptx-cache\s106-5.jpg"/>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Image 0" descr="C:\Users\user\projects\younes-training\heritage\.pptx-cache\s107-0.jpg"/>
          <p:cNvPicPr>
            <a:picLocks noChangeAspect="1"/>
          </p:cNvPicPr>
          <p:nvPr/>
        </p:nvPicPr>
        <p:blipFill>
          <a:blip r:embed="rId3"/>
          <a:stretch>
            <a:fillRect/>
          </a:stretch>
        </p:blipFill>
        <p:spPr>
          <a:xfrm>
            <a:off x="0" y="0"/>
            <a:ext cx="12191695" cy="6858000"/>
          </a:xfrm>
          <a:prstGeom prst="rect">
            <a:avLst/>
          </a:prstGeom>
        </p:spPr>
      </p:pic>
      <p:pic>
        <p:nvPicPr>
          <p:cNvPr id="3" name="anim-g1-772" descr="C:\Users\user\projects\younes-training\heritage\.pptx-cache\s107-1.jpg"/>
          <p:cNvPicPr>
            <a:picLocks noChangeAspect="1"/>
          </p:cNvPicPr>
          <p:nvPr/>
        </p:nvPicPr>
        <p:blipFill>
          <a:blip r:embed="rId4"/>
          <a:stretch>
            <a:fillRect/>
          </a:stretch>
        </p:blipFill>
        <p:spPr>
          <a:xfrm>
            <a:off x="0" y="0"/>
            <a:ext cx="12191695" cy="6858000"/>
          </a:xfrm>
          <a:prstGeom prst="rect">
            <a:avLst/>
          </a:prstGeom>
        </p:spPr>
      </p:pic>
      <p:pic>
        <p:nvPicPr>
          <p:cNvPr id="4" name="anim-g2-773" descr="C:\Users\user\projects\younes-training\heritage\.pptx-cache\s107-2.jpg"/>
          <p:cNvPicPr>
            <a:picLocks noChangeAspect="1"/>
          </p:cNvPicPr>
          <p:nvPr/>
        </p:nvPicPr>
        <p:blipFill>
          <a:blip r:embed="rId5"/>
          <a:stretch>
            <a:fillRect/>
          </a:stretch>
        </p:blipFill>
        <p:spPr>
          <a:xfrm>
            <a:off x="0" y="0"/>
            <a:ext cx="12191695" cy="6858000"/>
          </a:xfrm>
          <a:prstGeom prst="rect">
            <a:avLst/>
          </a:prstGeom>
        </p:spPr>
      </p:pic>
      <p:pic>
        <p:nvPicPr>
          <p:cNvPr id="5" name="anim-g3-774" descr="C:\Users\user\projects\younes-training\heritage\.pptx-cache\s107-3.jpg"/>
          <p:cNvPicPr>
            <a:picLocks noChangeAspect="1"/>
          </p:cNvPicPr>
          <p:nvPr/>
        </p:nvPicPr>
        <p:blipFill>
          <a:blip r:embed="rId6"/>
          <a:stretch>
            <a:fillRect/>
          </a:stretch>
        </p:blipFill>
        <p:spPr>
          <a:xfrm>
            <a:off x="0" y="0"/>
            <a:ext cx="12191695" cy="6858000"/>
          </a:xfrm>
          <a:prstGeom prst="rect">
            <a:avLst/>
          </a:prstGeom>
        </p:spPr>
      </p:pic>
      <p:pic>
        <p:nvPicPr>
          <p:cNvPr id="6" name="anim-g4-775" descr="C:\Users\user\projects\younes-training\heritage\.pptx-cache\s107-4.jpg"/>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8.xml><?xml version="1.0" encoding="utf-8"?>
<p:sld xmlns:a="http://schemas.openxmlformats.org/drawingml/2006/main" xmlns:r="http://schemas.openxmlformats.org/officeDocument/2006/relationships" xmlns:p="http://schemas.openxmlformats.org/presentationml/2006/main">
  <p:cSld name="Slide 10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اختبر نفسك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طفل يضغط زر «السيف» والمنصة ما زالت تدور إلى الخيمة. ماذا يحدث؟</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تتوقف وتذهب للسيف</a:t>
            </a:r>
            <a:endParaRPr lang="ar-SA" sz="2500" dirty="0"/>
          </a:p>
        </p:txBody>
      </p:sp>
      <p:sp>
        <p:nvSpPr>
          <p:cNvPr id="9" name="anim-g1-776"/>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777"/>
          <p:cNvSpPr/>
          <p:nvPr/>
        </p:nvSpPr>
        <p:spPr>
          <a:xfrm>
            <a:off x="10231831" y="2194560"/>
            <a:ext cx="954024" cy="954024"/>
          </a:xfrm>
          <a:prstGeom prst="roundRect">
            <a:avLst>
              <a:gd name="adj" fmla="val 11502"/>
            </a:avLst>
          </a:prstGeom>
          <a:solidFill>
            <a:srgbClr val="A3A9BA"/>
          </a:solidFill>
          <a:ln/>
        </p:spPr>
      </p:sp>
      <p:sp>
        <p:nvSpPr>
          <p:cNvPr id="11" name="anim-g1-778"/>
          <p:cNvSpPr/>
          <p:nvPr/>
        </p:nvSpPr>
        <p:spPr>
          <a:xfrm>
            <a:off x="10231831" y="2194560"/>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779"/>
          <p:cNvSpPr/>
          <p:nvPr/>
        </p:nvSpPr>
        <p:spPr>
          <a:xfrm>
            <a:off x="1097280" y="2093976"/>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تتوقف وتذهب للسيف</a:t>
            </a:r>
            <a:endParaRPr lang="ar-SA" sz="2400" dirty="0"/>
          </a:p>
        </p:txBody>
      </p:sp>
      <p:sp>
        <p:nvSpPr>
          <p:cNvPr id="13" name="anim-g1-780"/>
          <p:cNvSpPr/>
          <p:nvPr/>
        </p:nvSpPr>
        <p:spPr>
          <a:xfrm>
            <a:off x="1097280" y="2720706"/>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هذا ما يحدث بلا آلة حالات: فوضى</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لا شيء: الحالة BUSY لا تقرأ أزرار المحطات</a:t>
            </a:r>
            <a:endParaRPr lang="ar-SA" sz="2500" dirty="0"/>
          </a:p>
        </p:txBody>
      </p:sp>
      <p:sp>
        <p:nvSpPr>
          <p:cNvPr id="18" name="anim-g1-781"/>
          <p:cNvSpPr/>
          <p:nvPr/>
        </p:nvSpPr>
        <p:spPr>
          <a:xfrm>
            <a:off x="822960" y="3432048"/>
            <a:ext cx="10545775" cy="1228344"/>
          </a:xfrm>
          <a:prstGeom prst="roundRect">
            <a:avLst>
              <a:gd name="adj" fmla="val 11911"/>
            </a:avLst>
          </a:prstGeom>
          <a:solidFill>
            <a:srgbClr val="E6F4EC"/>
          </a:solidFill>
          <a:ln w="31750">
            <a:solidFill>
              <a:srgbClr val="2E9E6B"/>
            </a:solidFill>
            <a:prstDash val="solid"/>
          </a:ln>
        </p:spPr>
      </p:sp>
      <p:sp>
        <p:nvSpPr>
          <p:cNvPr id="19" name="anim-g1-782"/>
          <p:cNvSpPr/>
          <p:nvPr/>
        </p:nvSpPr>
        <p:spPr>
          <a:xfrm>
            <a:off x="10231831" y="3569208"/>
            <a:ext cx="954024" cy="954024"/>
          </a:xfrm>
          <a:prstGeom prst="roundRect">
            <a:avLst>
              <a:gd name="adj" fmla="val 11502"/>
            </a:avLst>
          </a:prstGeom>
          <a:solidFill>
            <a:srgbClr val="2E9E6B"/>
          </a:solidFill>
          <a:ln/>
        </p:spPr>
      </p:sp>
      <p:sp>
        <p:nvSpPr>
          <p:cNvPr id="20" name="anim-g1-783"/>
          <p:cNvSpPr/>
          <p:nvPr/>
        </p:nvSpPr>
        <p:spPr>
          <a:xfrm>
            <a:off x="10231831" y="3569208"/>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21" name="anim-g1-784"/>
          <p:cNvSpPr/>
          <p:nvPr/>
        </p:nvSpPr>
        <p:spPr>
          <a:xfrm>
            <a:off x="1097280" y="3468624"/>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131B34"/>
                </a:solidFill>
                <a:latin typeface="Cairo" pitchFamily="34" charset="0"/>
                <a:ea typeface="Cairo" pitchFamily="34" charset="-122"/>
                <a:cs typeface="Cairo" pitchFamily="34" charset="-120"/>
              </a:rPr>
              <a:t>لا شيء: الحالة BUSY لا تقرأ أزرار المحطات</a:t>
            </a:r>
            <a:endParaRPr lang="ar-SA" sz="2400" dirty="0"/>
          </a:p>
        </p:txBody>
      </p:sp>
      <p:sp>
        <p:nvSpPr>
          <p:cNvPr id="22" name="anim-g1-785"/>
          <p:cNvSpPr/>
          <p:nvPr/>
        </p:nvSpPr>
        <p:spPr>
          <a:xfrm>
            <a:off x="1097280" y="4095354"/>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1D5E40"/>
                </a:solidFill>
                <a:latin typeface="Cairo" pitchFamily="34" charset="0"/>
                <a:ea typeface="Cairo" pitchFamily="34" charset="-122"/>
                <a:cs typeface="Cairo" pitchFamily="34" charset="-120"/>
              </a:rPr>
              <a:t>صحيح: قفل مقصود يحمي التجربة والتشغيل</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marL="0" indent="0" algn="r" rtl="1">
              <a:buNone/>
            </a:pPr>
            <a:r>
              <a:rPr lang="ar-SA" altLang="en-US" sz="2500" b="1" dirty="0">
                <a:solidFill>
                  <a:srgbClr val="131B34"/>
                </a:solidFill>
                <a:latin typeface="Cairo" pitchFamily="34" charset="0"/>
                <a:ea typeface="Cairo" pitchFamily="34" charset="-122"/>
                <a:cs typeface="Cairo" pitchFamily="34" charset="-120"/>
              </a:rPr>
              <a:t>يتعطل الروبوت</a:t>
            </a:r>
            <a:endParaRPr lang="ar-SA" sz="2500" dirty="0"/>
          </a:p>
        </p:txBody>
      </p:sp>
      <p:sp>
        <p:nvSpPr>
          <p:cNvPr id="27" name="anim-g1-786"/>
          <p:cNvSpPr/>
          <p:nvPr/>
        </p:nvSpPr>
        <p:spPr>
          <a:xfrm>
            <a:off x="822960" y="4806696"/>
            <a:ext cx="10545775" cy="1228344"/>
          </a:xfrm>
          <a:prstGeom prst="roundRect">
            <a:avLst>
              <a:gd name="adj" fmla="val 11911"/>
            </a:avLst>
          </a:prstGeom>
          <a:solidFill>
            <a:srgbClr val="F7F7F9"/>
          </a:solidFill>
          <a:ln w="19050">
            <a:solidFill>
              <a:srgbClr val="E4DCC8"/>
            </a:solidFill>
            <a:prstDash val="solid"/>
          </a:ln>
        </p:spPr>
      </p:sp>
      <p:sp>
        <p:nvSpPr>
          <p:cNvPr id="28" name="anim-g1-787"/>
          <p:cNvSpPr/>
          <p:nvPr/>
        </p:nvSpPr>
        <p:spPr>
          <a:xfrm>
            <a:off x="10231831" y="4943856"/>
            <a:ext cx="954024" cy="954024"/>
          </a:xfrm>
          <a:prstGeom prst="roundRect">
            <a:avLst>
              <a:gd name="adj" fmla="val 11502"/>
            </a:avLst>
          </a:prstGeom>
          <a:solidFill>
            <a:srgbClr val="A3A9BA"/>
          </a:solidFill>
          <a:ln/>
        </p:spPr>
      </p:sp>
      <p:sp>
        <p:nvSpPr>
          <p:cNvPr id="29" name="anim-g1-788"/>
          <p:cNvSpPr/>
          <p:nvPr/>
        </p:nvSpPr>
        <p:spPr>
          <a:xfrm>
            <a:off x="10231831" y="4943856"/>
            <a:ext cx="954024" cy="954024"/>
          </a:xfrm>
          <a:prstGeom prst="rect">
            <a:avLst/>
          </a:prstGeom>
          <a:noFill/>
          <a:ln/>
        </p:spPr>
        <p:txBody>
          <a:bodyPr wrap="square" lIns="0" tIns="0" rIns="0" bIns="0" rtlCol="0" anchor="ctr">
            <a:normAutofit/>
          </a:bodyPr>
          <a:lstStyle/>
          <a:p>
            <a:pPr marL="0" indent="0" algn="ctr" rtl="1">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30" name="anim-g1-789"/>
          <p:cNvSpPr/>
          <p:nvPr/>
        </p:nvSpPr>
        <p:spPr>
          <a:xfrm>
            <a:off x="1097280" y="4843272"/>
            <a:ext cx="8951671" cy="614172"/>
          </a:xfrm>
          <a:prstGeom prst="rect">
            <a:avLst/>
          </a:prstGeom>
          <a:noFill/>
          <a:ln/>
        </p:spPr>
        <p:txBody>
          <a:bodyPr wrap="square" lIns="0" tIns="0" rIns="0" bIns="0" rtlCol="0" anchor="ctr">
            <a:normAutofit/>
          </a:bodyPr>
          <a:lstStyle/>
          <a:p>
            <a:pPr marL="0" indent="0" algn="r" rtl="1">
              <a:buNone/>
            </a:pPr>
            <a:r>
              <a:rPr lang="ar-SA" altLang="en-US" sz="2400" b="1" dirty="0">
                <a:solidFill>
                  <a:srgbClr val="8A90A3"/>
                </a:solidFill>
                <a:latin typeface="Cairo" pitchFamily="34" charset="0"/>
                <a:ea typeface="Cairo" pitchFamily="34" charset="-122"/>
                <a:cs typeface="Cairo" pitchFamily="34" charset="-120"/>
              </a:rPr>
              <a:t>يتعطل الروبوت</a:t>
            </a:r>
            <a:endParaRPr lang="ar-SA" sz="2400" dirty="0"/>
          </a:p>
        </p:txBody>
      </p:sp>
      <p:sp>
        <p:nvSpPr>
          <p:cNvPr id="31" name="anim-g1-790"/>
          <p:cNvSpPr/>
          <p:nvPr/>
        </p:nvSpPr>
        <p:spPr>
          <a:xfrm>
            <a:off x="1097280" y="5470002"/>
            <a:ext cx="8951671" cy="515904"/>
          </a:xfrm>
          <a:prstGeom prst="rect">
            <a:avLst/>
          </a:prstGeom>
          <a:noFill/>
          <a:ln/>
        </p:spPr>
        <p:txBody>
          <a:bodyPr wrap="square" lIns="0" tIns="0" rIns="0" bIns="0" rtlCol="0" anchor="ctr">
            <a:normAutofit/>
          </a:bodyPr>
          <a:lstStyle/>
          <a:p>
            <a:pPr marL="0" indent="0" algn="r" rtl="1">
              <a:buNone/>
            </a:pPr>
            <a:r>
              <a:rPr lang="ar-SA" altLang="en-US" sz="1800" b="1" dirty="0">
                <a:solidFill>
                  <a:srgbClr val="9A4A4A"/>
                </a:solidFill>
                <a:latin typeface="Cairo" pitchFamily="34" charset="0"/>
                <a:ea typeface="Cairo" pitchFamily="34" charset="-122"/>
                <a:cs typeface="Cairo" pitchFamily="34" charset="-120"/>
              </a:rPr>
              <a:t>آلة الحالات تمنع ذلك</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صانع الذكريات التراثية</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آلة الحالات  ·  ١٠٨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name="Slide 10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خلاصة المحور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marL="0" indent="0" algn="ctr">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ست حالات، وswitch واحدة، ولا delay طويلة: الروبوت يرى ويسمع ويتحرك…</a:t>
            </a:r>
            <a:endParaRPr lang="ar-SA" sz="4400" dirty="0"/>
          </a:p>
          <a:p>
            <a:pPr marL="0" indent="0" algn="ctr">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في الوقت نفسه</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صانع الذكريات التراثية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 آلة الحالات  ·  ١٠٩</a:t>
            </a:r>
            <a:endParaRPr lang="ar-SA" sz="12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marL="0" indent="0" algn="ctr" rtl="1">
              <a:buNone/>
            </a:pPr>
            <a:r>
              <a:rPr lang="ar-SA" altLang="en-US" sz="12000" dirty="0">
                <a:solidFill>
                  <a:srgbClr val="F0CC7A"/>
                </a:solidFill>
                <a:latin typeface="Cairo Black" pitchFamily="34" charset="0"/>
                <a:ea typeface="Cairo Black" pitchFamily="34" charset="-122"/>
                <a:cs typeface="Cairo Black" pitchFamily="34" charset="-120"/>
              </a:rPr>
              <a:t>١٢</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marL="0" indent="0" algn="r" rtl="1">
              <a:buNone/>
            </a:pPr>
            <a:r>
              <a:rPr lang="ar-SA" altLang="en-US" sz="2000" b="1" dirty="0">
                <a:solidFill>
                  <a:srgbClr val="D9AE4B"/>
                </a:solidFill>
                <a:latin typeface="Cairo" pitchFamily="34" charset="0"/>
                <a:ea typeface="Cairo" pitchFamily="34" charset="-122"/>
                <a:cs typeface="Cairo" pitchFamily="34" charset="-120"/>
              </a:rPr>
              <a:t>المحور ١٢</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marL="0" indent="0" algn="r" rtl="1">
              <a:buNone/>
            </a:pPr>
            <a:r>
              <a:rPr lang="ar-SA" altLang="en-US" sz="5600" dirty="0">
                <a:solidFill>
                  <a:srgbClr val="FFFFFF"/>
                </a:solidFill>
                <a:latin typeface="Cairo Black" pitchFamily="34" charset="0"/>
                <a:ea typeface="Cairo Black" pitchFamily="34" charset="-122"/>
                <a:cs typeface="Cairo Black" pitchFamily="34" charset="-120"/>
              </a:rPr>
              <a:t>🧠 روبوت يقرر</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marL="0" indent="0" algn="r" rtl="1">
              <a:buNone/>
            </a:pPr>
            <a:r>
              <a:rPr lang="ar-SA" altLang="en-US" sz="2200" b="1" dirty="0">
                <a:solidFill>
                  <a:srgbClr val="C9CFE6"/>
                </a:solidFill>
                <a:latin typeface="Cairo" pitchFamily="34" charset="0"/>
                <a:ea typeface="Cairo" pitchFamily="34" charset="-122"/>
                <a:cs typeface="Cairo" pitchFamily="34" charset="-120"/>
              </a:rPr>
              <a:t>لا رحلة واحدة للجميع: القرار يتغير بحسب إجابة الطفل</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صانع الذكريات التراثية</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 القرار المستقل  ·  ١١٠</a:t>
            </a:r>
            <a:endParaRPr lang="ar-SA" sz="12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248095" y="457200"/>
            <a:ext cx="5120640" cy="457200"/>
          </a:xfrm>
          <a:prstGeom prst="roundRect">
            <a:avLst>
              <a:gd name="adj" fmla="val 50000"/>
            </a:avLst>
          </a:prstGeom>
          <a:solidFill>
            <a:srgbClr val="F6EBCF"/>
          </a:solidFill>
          <a:ln/>
        </p:spPr>
      </p:sp>
      <p:sp>
        <p:nvSpPr>
          <p:cNvPr id="3" name="Text 1"/>
          <p:cNvSpPr/>
          <p:nvPr/>
        </p:nvSpPr>
        <p:spPr>
          <a:xfrm>
            <a:off x="6248095" y="457200"/>
            <a:ext cx="512064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بنهاية هذا المحور تستطيع أن</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أهداف المحور</a:t>
            </a:r>
            <a:endParaRPr lang="ar-SA" sz="3800" dirty="0"/>
          </a:p>
        </p:txBody>
      </p:sp>
      <p:sp>
        <p:nvSpPr>
          <p:cNvPr id="5" name="anim-g1-791"/>
          <p:cNvSpPr/>
          <p:nvPr/>
        </p:nvSpPr>
        <p:spPr>
          <a:xfrm>
            <a:off x="822960" y="1920240"/>
            <a:ext cx="10545775" cy="1298448"/>
          </a:xfrm>
          <a:prstGeom prst="roundRect">
            <a:avLst>
              <a:gd name="adj" fmla="val 11268"/>
            </a:avLst>
          </a:prstGeom>
          <a:solidFill>
            <a:srgbClr val="FFFFFF"/>
          </a:solidFill>
          <a:ln w="12700">
            <a:solidFill>
              <a:srgbClr val="E4DCC8"/>
            </a:solidFill>
            <a:prstDash val="solid"/>
          </a:ln>
        </p:spPr>
      </p:sp>
      <p:sp>
        <p:nvSpPr>
          <p:cNvPr id="6" name="anim-g1-792"/>
          <p:cNvSpPr/>
          <p:nvPr/>
        </p:nvSpPr>
        <p:spPr>
          <a:xfrm>
            <a:off x="10573207" y="2286000"/>
            <a:ext cx="566928" cy="566928"/>
          </a:xfrm>
          <a:prstGeom prst="ellipse">
            <a:avLst/>
          </a:prstGeom>
          <a:solidFill>
            <a:srgbClr val="D9AE4B"/>
          </a:solidFill>
          <a:ln/>
        </p:spPr>
      </p:sp>
      <p:sp>
        <p:nvSpPr>
          <p:cNvPr id="7" name="anim-g1-793"/>
          <p:cNvSpPr/>
          <p:nvPr/>
        </p:nvSpPr>
        <p:spPr>
          <a:xfrm>
            <a:off x="10573207" y="2286000"/>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794"/>
          <p:cNvSpPr/>
          <p:nvPr/>
        </p:nvSpPr>
        <p:spPr>
          <a:xfrm>
            <a:off x="1097280" y="1920240"/>
            <a:ext cx="9247327" cy="1298448"/>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ترسم شجرة القرار بمساراتها الثلاثة</a:t>
            </a:r>
            <a:endParaRPr lang="ar-SA" sz="2400" dirty="0"/>
          </a:p>
        </p:txBody>
      </p:sp>
      <p:sp>
        <p:nvSpPr>
          <p:cNvPr id="9" name="anim-g2-795"/>
          <p:cNvSpPr/>
          <p:nvPr/>
        </p:nvSpPr>
        <p:spPr>
          <a:xfrm>
            <a:off x="822960" y="3328416"/>
            <a:ext cx="10545775" cy="1298448"/>
          </a:xfrm>
          <a:prstGeom prst="roundRect">
            <a:avLst>
              <a:gd name="adj" fmla="val 11268"/>
            </a:avLst>
          </a:prstGeom>
          <a:solidFill>
            <a:srgbClr val="FFFFFF"/>
          </a:solidFill>
          <a:ln w="12700">
            <a:solidFill>
              <a:srgbClr val="E4DCC8"/>
            </a:solidFill>
            <a:prstDash val="solid"/>
          </a:ln>
        </p:spPr>
      </p:sp>
      <p:sp>
        <p:nvSpPr>
          <p:cNvPr id="10" name="anim-g2-796"/>
          <p:cNvSpPr/>
          <p:nvPr/>
        </p:nvSpPr>
        <p:spPr>
          <a:xfrm>
            <a:off x="10573207" y="3694176"/>
            <a:ext cx="566928" cy="566928"/>
          </a:xfrm>
          <a:prstGeom prst="ellipse">
            <a:avLst/>
          </a:prstGeom>
          <a:solidFill>
            <a:srgbClr val="D9AE4B"/>
          </a:solidFill>
          <a:ln/>
        </p:spPr>
      </p:sp>
      <p:sp>
        <p:nvSpPr>
          <p:cNvPr id="11" name="anim-g2-797"/>
          <p:cNvSpPr/>
          <p:nvPr/>
        </p:nvSpPr>
        <p:spPr>
          <a:xfrm>
            <a:off x="10573207" y="3694176"/>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798"/>
          <p:cNvSpPr/>
          <p:nvPr/>
        </p:nvSpPr>
        <p:spPr>
          <a:xfrm>
            <a:off x="1097280" y="3328416"/>
            <a:ext cx="9247327" cy="1298448"/>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تكتب دالتي الإجابة الأولى والثانية</a:t>
            </a:r>
            <a:endParaRPr lang="ar-SA" sz="2400" dirty="0"/>
          </a:p>
        </p:txBody>
      </p:sp>
      <p:sp>
        <p:nvSpPr>
          <p:cNvPr id="13" name="anim-g3-799"/>
          <p:cNvSpPr/>
          <p:nvPr/>
        </p:nvSpPr>
        <p:spPr>
          <a:xfrm>
            <a:off x="822960" y="4736592"/>
            <a:ext cx="10545775" cy="1298448"/>
          </a:xfrm>
          <a:prstGeom prst="roundRect">
            <a:avLst>
              <a:gd name="adj" fmla="val 11268"/>
            </a:avLst>
          </a:prstGeom>
          <a:solidFill>
            <a:srgbClr val="FFFFFF"/>
          </a:solidFill>
          <a:ln w="12700">
            <a:solidFill>
              <a:srgbClr val="E4DCC8"/>
            </a:solidFill>
            <a:prstDash val="solid"/>
          </a:ln>
        </p:spPr>
      </p:sp>
      <p:sp>
        <p:nvSpPr>
          <p:cNvPr id="14" name="anim-g3-800"/>
          <p:cNvSpPr/>
          <p:nvPr/>
        </p:nvSpPr>
        <p:spPr>
          <a:xfrm>
            <a:off x="10573207" y="5102352"/>
            <a:ext cx="566928" cy="566928"/>
          </a:xfrm>
          <a:prstGeom prst="ellipse">
            <a:avLst/>
          </a:prstGeom>
          <a:solidFill>
            <a:srgbClr val="D9AE4B"/>
          </a:solidFill>
          <a:ln/>
        </p:spPr>
      </p:sp>
      <p:sp>
        <p:nvSpPr>
          <p:cNvPr id="15" name="anim-g3-801"/>
          <p:cNvSpPr/>
          <p:nvPr/>
        </p:nvSpPr>
        <p:spPr>
          <a:xfrm>
            <a:off x="10573207" y="5102352"/>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802"/>
          <p:cNvSpPr/>
          <p:nvPr/>
        </p:nvSpPr>
        <p:spPr>
          <a:xfrm>
            <a:off x="1097280" y="4736592"/>
            <a:ext cx="9247327" cy="1298448"/>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تصمم سؤالًا مساعدًا يعلّم لا يعاقب</a:t>
            </a:r>
            <a:endParaRPr lang="ar-SA" sz="24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صانع الذكريات التراثية</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القرار المستقل  ·  ١١١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12.xml><?xml version="1.0" encoding="utf-8"?>
<p:sld xmlns:a="http://schemas.openxmlformats.org/drawingml/2006/main" xmlns:r="http://schemas.openxmlformats.org/officeDocument/2006/relationships" xmlns:p="http://schemas.openxmlformats.org/presentationml/2006/main">
  <p:cSld name="Slide 11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418527" y="457200"/>
            <a:ext cx="3950208" cy="457200"/>
          </a:xfrm>
          <a:prstGeom prst="roundRect">
            <a:avLst>
              <a:gd name="adj" fmla="val 50000"/>
            </a:avLst>
          </a:prstGeom>
          <a:solidFill>
            <a:srgbClr val="F6EBCF"/>
          </a:solidFill>
          <a:ln/>
        </p:spPr>
      </p:sp>
      <p:sp>
        <p:nvSpPr>
          <p:cNvPr id="3" name="Text 1"/>
          <p:cNvSpPr/>
          <p:nvPr/>
        </p:nvSpPr>
        <p:spPr>
          <a:xfrm>
            <a:off x="7418527" y="457200"/>
            <a:ext cx="395020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المسارات من ملف الفريق</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ثلاثة مسارات… لثلاثة أطفال مختلفين</a:t>
            </a:r>
            <a:endParaRPr lang="ar-SA" sz="3200" dirty="0"/>
          </a:p>
        </p:txBody>
      </p:sp>
      <p:sp>
        <p:nvSpPr>
          <p:cNvPr id="5" name="Shape 3"/>
          <p:cNvSpPr/>
          <p:nvPr/>
        </p:nvSpPr>
        <p:spPr>
          <a:xfrm>
            <a:off x="9705569" y="1874520"/>
            <a:ext cx="1663166" cy="548640"/>
          </a:xfrm>
          <a:prstGeom prst="roundRect">
            <a:avLst>
              <a:gd name="adj" fmla="val 20000"/>
            </a:avLst>
          </a:prstGeom>
          <a:solidFill>
            <a:srgbClr val="101B45"/>
          </a:solidFill>
          <a:ln/>
        </p:spPr>
      </p:sp>
      <p:sp>
        <p:nvSpPr>
          <p:cNvPr id="6" name="Text 4"/>
          <p:cNvSpPr/>
          <p:nvPr/>
        </p:nvSpPr>
        <p:spPr>
          <a:xfrm>
            <a:off x="9705569" y="1874520"/>
            <a:ext cx="1663166"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المسار</a:t>
            </a:r>
            <a:endParaRPr lang="ar-SA" sz="1900" dirty="0"/>
          </a:p>
        </p:txBody>
      </p:sp>
      <p:sp>
        <p:nvSpPr>
          <p:cNvPr id="7" name="Shape 5"/>
          <p:cNvSpPr/>
          <p:nvPr/>
        </p:nvSpPr>
        <p:spPr>
          <a:xfrm>
            <a:off x="6982295" y="1874520"/>
            <a:ext cx="2613547" cy="548640"/>
          </a:xfrm>
          <a:prstGeom prst="roundRect">
            <a:avLst>
              <a:gd name="adj" fmla="val 20000"/>
            </a:avLst>
          </a:prstGeom>
          <a:solidFill>
            <a:srgbClr val="101B45"/>
          </a:solidFill>
          <a:ln/>
        </p:spPr>
      </p:sp>
      <p:sp>
        <p:nvSpPr>
          <p:cNvPr id="8" name="Text 6"/>
          <p:cNvSpPr/>
          <p:nvPr/>
        </p:nvSpPr>
        <p:spPr>
          <a:xfrm>
            <a:off x="6982295" y="1874520"/>
            <a:ext cx="2613547"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استجابة الطفل</a:t>
            </a:r>
            <a:endParaRPr lang="ar-SA" sz="1900" dirty="0"/>
          </a:p>
        </p:txBody>
      </p:sp>
      <p:sp>
        <p:nvSpPr>
          <p:cNvPr id="9" name="Shape 7"/>
          <p:cNvSpPr/>
          <p:nvPr/>
        </p:nvSpPr>
        <p:spPr>
          <a:xfrm>
            <a:off x="3308639" y="1874520"/>
            <a:ext cx="3563927" cy="548640"/>
          </a:xfrm>
          <a:prstGeom prst="roundRect">
            <a:avLst>
              <a:gd name="adj" fmla="val 20000"/>
            </a:avLst>
          </a:prstGeom>
          <a:solidFill>
            <a:srgbClr val="101B45"/>
          </a:solidFill>
          <a:ln/>
        </p:spPr>
      </p:sp>
      <p:sp>
        <p:nvSpPr>
          <p:cNvPr id="10" name="Text 8"/>
          <p:cNvSpPr/>
          <p:nvPr/>
        </p:nvSpPr>
        <p:spPr>
          <a:xfrm>
            <a:off x="3308639" y="1874520"/>
            <a:ext cx="3563927"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قرار الروبوت</a:t>
            </a:r>
            <a:endParaRPr lang="ar-SA" sz="1900" dirty="0"/>
          </a:p>
        </p:txBody>
      </p:sp>
      <p:sp>
        <p:nvSpPr>
          <p:cNvPr id="11" name="Shape 9"/>
          <p:cNvSpPr/>
          <p:nvPr/>
        </p:nvSpPr>
        <p:spPr>
          <a:xfrm>
            <a:off x="822960" y="1874520"/>
            <a:ext cx="2375951" cy="548640"/>
          </a:xfrm>
          <a:prstGeom prst="roundRect">
            <a:avLst>
              <a:gd name="adj" fmla="val 20000"/>
            </a:avLst>
          </a:prstGeom>
          <a:solidFill>
            <a:srgbClr val="101B45"/>
          </a:solidFill>
          <a:ln/>
        </p:spPr>
      </p:sp>
      <p:sp>
        <p:nvSpPr>
          <p:cNvPr id="12" name="Text 10"/>
          <p:cNvSpPr/>
          <p:nvPr/>
        </p:nvSpPr>
        <p:spPr>
          <a:xfrm>
            <a:off x="822960" y="1874520"/>
            <a:ext cx="2375951"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الناتج</a:t>
            </a:r>
            <a:endParaRPr lang="ar-SA" sz="1900" dirty="0"/>
          </a:p>
        </p:txBody>
      </p:sp>
      <p:sp>
        <p:nvSpPr>
          <p:cNvPr id="13" name="anim-g1-803"/>
          <p:cNvSpPr/>
          <p:nvPr/>
        </p:nvSpPr>
        <p:spPr>
          <a:xfrm>
            <a:off x="9705569" y="2514600"/>
            <a:ext cx="1663166" cy="1100328"/>
          </a:xfrm>
          <a:prstGeom prst="roundRect">
            <a:avLst>
              <a:gd name="adj" fmla="val 9972"/>
            </a:avLst>
          </a:prstGeom>
          <a:solidFill>
            <a:srgbClr val="FBF3DF"/>
          </a:solidFill>
          <a:ln w="12700">
            <a:solidFill>
              <a:srgbClr val="EFDDAF"/>
            </a:solidFill>
            <a:prstDash val="solid"/>
          </a:ln>
        </p:spPr>
      </p:sp>
      <p:sp>
        <p:nvSpPr>
          <p:cNvPr id="14" name="anim-g1-804"/>
          <p:cNvSpPr/>
          <p:nvPr/>
        </p:nvSpPr>
        <p:spPr>
          <a:xfrm>
            <a:off x="9842729" y="2514600"/>
            <a:ext cx="1388846" cy="1100328"/>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أ</a:t>
            </a:r>
            <a:endParaRPr lang="ar-SA" sz="2100" dirty="0"/>
          </a:p>
        </p:txBody>
      </p:sp>
      <p:sp>
        <p:nvSpPr>
          <p:cNvPr id="15" name="anim-g1-805"/>
          <p:cNvSpPr/>
          <p:nvPr/>
        </p:nvSpPr>
        <p:spPr>
          <a:xfrm>
            <a:off x="6982295" y="2514600"/>
            <a:ext cx="2613547" cy="1100328"/>
          </a:xfrm>
          <a:prstGeom prst="roundRect">
            <a:avLst>
              <a:gd name="adj" fmla="val 9972"/>
            </a:avLst>
          </a:prstGeom>
          <a:solidFill>
            <a:srgbClr val="FFFFFF"/>
          </a:solidFill>
          <a:ln w="12700">
            <a:solidFill>
              <a:srgbClr val="E4DCC8"/>
            </a:solidFill>
            <a:prstDash val="solid"/>
          </a:ln>
        </p:spPr>
      </p:sp>
      <p:sp>
        <p:nvSpPr>
          <p:cNvPr id="16" name="anim-g1-806"/>
          <p:cNvSpPr/>
          <p:nvPr/>
        </p:nvSpPr>
        <p:spPr>
          <a:xfrm>
            <a:off x="7119455" y="2514600"/>
            <a:ext cx="2339227" cy="1100328"/>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صحيحة من أول مرة</a:t>
            </a:r>
            <a:endParaRPr lang="ar-SA" sz="2100" dirty="0"/>
          </a:p>
        </p:txBody>
      </p:sp>
      <p:sp>
        <p:nvSpPr>
          <p:cNvPr id="17" name="anim-g1-807"/>
          <p:cNvSpPr/>
          <p:nvPr/>
        </p:nvSpPr>
        <p:spPr>
          <a:xfrm>
            <a:off x="3308639" y="2514600"/>
            <a:ext cx="3563927" cy="1100328"/>
          </a:xfrm>
          <a:prstGeom prst="roundRect">
            <a:avLst>
              <a:gd name="adj" fmla="val 9972"/>
            </a:avLst>
          </a:prstGeom>
          <a:solidFill>
            <a:srgbClr val="FFFFFF"/>
          </a:solidFill>
          <a:ln w="12700">
            <a:solidFill>
              <a:srgbClr val="E4DCC8"/>
            </a:solidFill>
            <a:prstDash val="solid"/>
          </a:ln>
        </p:spPr>
      </p:sp>
      <p:sp>
        <p:nvSpPr>
          <p:cNvPr id="18" name="anim-g1-808"/>
          <p:cNvSpPr/>
          <p:nvPr/>
        </p:nvSpPr>
        <p:spPr>
          <a:xfrm>
            <a:off x="3445799" y="2514600"/>
            <a:ext cx="3289607" cy="1100328"/>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تغذية راجعة إيجابية ويُفعّل Servo</a:t>
            </a:r>
            <a:endParaRPr lang="ar-SA" sz="2100" dirty="0"/>
          </a:p>
        </p:txBody>
      </p:sp>
      <p:sp>
        <p:nvSpPr>
          <p:cNvPr id="19" name="anim-g1-809"/>
          <p:cNvSpPr/>
          <p:nvPr/>
        </p:nvSpPr>
        <p:spPr>
          <a:xfrm>
            <a:off x="822960" y="2514600"/>
            <a:ext cx="2375951" cy="1100328"/>
          </a:xfrm>
          <a:prstGeom prst="roundRect">
            <a:avLst>
              <a:gd name="adj" fmla="val 9972"/>
            </a:avLst>
          </a:prstGeom>
          <a:solidFill>
            <a:srgbClr val="E6F4EC"/>
          </a:solidFill>
          <a:ln w="12700">
            <a:solidFill>
              <a:srgbClr val="CDE9D9"/>
            </a:solidFill>
            <a:prstDash val="solid"/>
          </a:ln>
        </p:spPr>
      </p:sp>
      <p:sp>
        <p:nvSpPr>
          <p:cNvPr id="20" name="anim-g1-810"/>
          <p:cNvSpPr/>
          <p:nvPr/>
        </p:nvSpPr>
        <p:spPr>
          <a:xfrm>
            <a:off x="960120" y="2514600"/>
            <a:ext cx="2101631" cy="1100328"/>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 عملة الذكرى</a:t>
            </a:r>
            <a:endParaRPr lang="ar-SA" sz="2100" dirty="0"/>
          </a:p>
        </p:txBody>
      </p:sp>
      <p:sp>
        <p:nvSpPr>
          <p:cNvPr id="21" name="anim-g2-811"/>
          <p:cNvSpPr/>
          <p:nvPr/>
        </p:nvSpPr>
        <p:spPr>
          <a:xfrm>
            <a:off x="9705569" y="3724656"/>
            <a:ext cx="1663166" cy="1100328"/>
          </a:xfrm>
          <a:prstGeom prst="roundRect">
            <a:avLst>
              <a:gd name="adj" fmla="val 9972"/>
            </a:avLst>
          </a:prstGeom>
          <a:solidFill>
            <a:srgbClr val="FBF3DF"/>
          </a:solidFill>
          <a:ln w="12700">
            <a:solidFill>
              <a:srgbClr val="EFDDAF"/>
            </a:solidFill>
            <a:prstDash val="solid"/>
          </a:ln>
        </p:spPr>
      </p:sp>
      <p:sp>
        <p:nvSpPr>
          <p:cNvPr id="22" name="anim-g2-812"/>
          <p:cNvSpPr/>
          <p:nvPr/>
        </p:nvSpPr>
        <p:spPr>
          <a:xfrm>
            <a:off x="9842729" y="3724656"/>
            <a:ext cx="1388846" cy="1100328"/>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ب</a:t>
            </a:r>
            <a:endParaRPr lang="ar-SA" sz="2100" dirty="0"/>
          </a:p>
        </p:txBody>
      </p:sp>
      <p:sp>
        <p:nvSpPr>
          <p:cNvPr id="23" name="anim-g2-813"/>
          <p:cNvSpPr/>
          <p:nvPr/>
        </p:nvSpPr>
        <p:spPr>
          <a:xfrm>
            <a:off x="6982295" y="3724656"/>
            <a:ext cx="2613547" cy="1100328"/>
          </a:xfrm>
          <a:prstGeom prst="roundRect">
            <a:avLst>
              <a:gd name="adj" fmla="val 9972"/>
            </a:avLst>
          </a:prstGeom>
          <a:solidFill>
            <a:srgbClr val="FFFFFF"/>
          </a:solidFill>
          <a:ln w="12700">
            <a:solidFill>
              <a:srgbClr val="E4DCC8"/>
            </a:solidFill>
            <a:prstDash val="solid"/>
          </a:ln>
        </p:spPr>
      </p:sp>
      <p:sp>
        <p:nvSpPr>
          <p:cNvPr id="24" name="anim-g2-814"/>
          <p:cNvSpPr/>
          <p:nvPr/>
        </p:nvSpPr>
        <p:spPr>
          <a:xfrm>
            <a:off x="7119455" y="3724656"/>
            <a:ext cx="2339227" cy="1100328"/>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خاطئة أولًا</a:t>
            </a:r>
            <a:endParaRPr lang="ar-SA" sz="2100" dirty="0"/>
          </a:p>
        </p:txBody>
      </p:sp>
      <p:sp>
        <p:nvSpPr>
          <p:cNvPr id="25" name="anim-g2-815"/>
          <p:cNvSpPr/>
          <p:nvPr/>
        </p:nvSpPr>
        <p:spPr>
          <a:xfrm>
            <a:off x="3308639" y="3724656"/>
            <a:ext cx="3563927" cy="1100328"/>
          </a:xfrm>
          <a:prstGeom prst="roundRect">
            <a:avLst>
              <a:gd name="adj" fmla="val 9972"/>
            </a:avLst>
          </a:prstGeom>
          <a:solidFill>
            <a:srgbClr val="FFFFFF"/>
          </a:solidFill>
          <a:ln w="12700">
            <a:solidFill>
              <a:srgbClr val="E4DCC8"/>
            </a:solidFill>
            <a:prstDash val="solid"/>
          </a:ln>
        </p:spPr>
      </p:sp>
      <p:sp>
        <p:nvSpPr>
          <p:cNvPr id="26" name="anim-g2-816"/>
          <p:cNvSpPr/>
          <p:nvPr/>
        </p:nvSpPr>
        <p:spPr>
          <a:xfrm>
            <a:off x="3445799" y="3724656"/>
            <a:ext cx="3289607" cy="1100328"/>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سؤال ثانٍ بمساعدة إضافية</a:t>
            </a:r>
            <a:endParaRPr lang="ar-SA" sz="2100" dirty="0"/>
          </a:p>
        </p:txBody>
      </p:sp>
      <p:sp>
        <p:nvSpPr>
          <p:cNvPr id="27" name="anim-g2-817"/>
          <p:cNvSpPr/>
          <p:nvPr/>
        </p:nvSpPr>
        <p:spPr>
          <a:xfrm>
            <a:off x="822960" y="3724656"/>
            <a:ext cx="2375951" cy="1100328"/>
          </a:xfrm>
          <a:prstGeom prst="roundRect">
            <a:avLst>
              <a:gd name="adj" fmla="val 9972"/>
            </a:avLst>
          </a:prstGeom>
          <a:solidFill>
            <a:srgbClr val="E6F4EC"/>
          </a:solidFill>
          <a:ln w="12700">
            <a:solidFill>
              <a:srgbClr val="CDE9D9"/>
            </a:solidFill>
            <a:prstDash val="solid"/>
          </a:ln>
        </p:spPr>
      </p:sp>
      <p:sp>
        <p:nvSpPr>
          <p:cNvPr id="28" name="anim-g2-818"/>
          <p:cNvSpPr/>
          <p:nvPr/>
        </p:nvSpPr>
        <p:spPr>
          <a:xfrm>
            <a:off x="960120" y="3724656"/>
            <a:ext cx="2101631" cy="1100328"/>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 فرصة تعلّم ثانية</a:t>
            </a:r>
            <a:endParaRPr lang="ar-SA" sz="2100" dirty="0"/>
          </a:p>
        </p:txBody>
      </p:sp>
      <p:sp>
        <p:nvSpPr>
          <p:cNvPr id="29" name="anim-g3-819"/>
          <p:cNvSpPr/>
          <p:nvPr/>
        </p:nvSpPr>
        <p:spPr>
          <a:xfrm>
            <a:off x="9705569" y="4934712"/>
            <a:ext cx="1663166" cy="1100328"/>
          </a:xfrm>
          <a:prstGeom prst="roundRect">
            <a:avLst>
              <a:gd name="adj" fmla="val 9972"/>
            </a:avLst>
          </a:prstGeom>
          <a:solidFill>
            <a:srgbClr val="FBF3DF"/>
          </a:solidFill>
          <a:ln w="12700">
            <a:solidFill>
              <a:srgbClr val="EFDDAF"/>
            </a:solidFill>
            <a:prstDash val="solid"/>
          </a:ln>
        </p:spPr>
      </p:sp>
      <p:sp>
        <p:nvSpPr>
          <p:cNvPr id="30" name="anim-g3-820"/>
          <p:cNvSpPr/>
          <p:nvPr/>
        </p:nvSpPr>
        <p:spPr>
          <a:xfrm>
            <a:off x="9842729" y="4934712"/>
            <a:ext cx="1388846" cy="1100328"/>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ب٢</a:t>
            </a:r>
            <a:endParaRPr lang="ar-SA" sz="2100" dirty="0"/>
          </a:p>
        </p:txBody>
      </p:sp>
      <p:sp>
        <p:nvSpPr>
          <p:cNvPr id="31" name="anim-g3-821"/>
          <p:cNvSpPr/>
          <p:nvPr/>
        </p:nvSpPr>
        <p:spPr>
          <a:xfrm>
            <a:off x="6982295" y="4934712"/>
            <a:ext cx="2613547" cy="1100328"/>
          </a:xfrm>
          <a:prstGeom prst="roundRect">
            <a:avLst>
              <a:gd name="adj" fmla="val 9972"/>
            </a:avLst>
          </a:prstGeom>
          <a:solidFill>
            <a:srgbClr val="FFFFFF"/>
          </a:solidFill>
          <a:ln w="12700">
            <a:solidFill>
              <a:srgbClr val="E4DCC8"/>
            </a:solidFill>
            <a:prstDash val="solid"/>
          </a:ln>
        </p:spPr>
      </p:sp>
      <p:sp>
        <p:nvSpPr>
          <p:cNvPr id="32" name="anim-g3-822"/>
          <p:cNvSpPr/>
          <p:nvPr/>
        </p:nvSpPr>
        <p:spPr>
          <a:xfrm>
            <a:off x="7119455" y="4934712"/>
            <a:ext cx="2339227" cy="1100328"/>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خاطئة في الثانية أيضًا</a:t>
            </a:r>
            <a:endParaRPr lang="ar-SA" sz="2100" dirty="0"/>
          </a:p>
        </p:txBody>
      </p:sp>
      <p:sp>
        <p:nvSpPr>
          <p:cNvPr id="33" name="anim-g3-823"/>
          <p:cNvSpPr/>
          <p:nvPr/>
        </p:nvSpPr>
        <p:spPr>
          <a:xfrm>
            <a:off x="3308639" y="4934712"/>
            <a:ext cx="3563927" cy="1100328"/>
          </a:xfrm>
          <a:prstGeom prst="roundRect">
            <a:avLst>
              <a:gd name="adj" fmla="val 9972"/>
            </a:avLst>
          </a:prstGeom>
          <a:solidFill>
            <a:srgbClr val="FFFFFF"/>
          </a:solidFill>
          <a:ln w="12700">
            <a:solidFill>
              <a:srgbClr val="E4DCC8"/>
            </a:solidFill>
            <a:prstDash val="solid"/>
          </a:ln>
        </p:spPr>
      </p:sp>
      <p:sp>
        <p:nvSpPr>
          <p:cNvPr id="34" name="anim-g3-824"/>
          <p:cNvSpPr/>
          <p:nvPr/>
        </p:nvSpPr>
        <p:spPr>
          <a:xfrm>
            <a:off x="3445799" y="4934712"/>
            <a:ext cx="3289607" cy="1100328"/>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ينهي المحطة دون العملة</a:t>
            </a:r>
            <a:endParaRPr lang="ar-SA" sz="2100" dirty="0"/>
          </a:p>
        </p:txBody>
      </p:sp>
      <p:sp>
        <p:nvSpPr>
          <p:cNvPr id="35" name="anim-g3-825"/>
          <p:cNvSpPr/>
          <p:nvPr/>
        </p:nvSpPr>
        <p:spPr>
          <a:xfrm>
            <a:off x="822960" y="4934712"/>
            <a:ext cx="2375951" cy="1100328"/>
          </a:xfrm>
          <a:prstGeom prst="roundRect">
            <a:avLst>
              <a:gd name="adj" fmla="val 9972"/>
            </a:avLst>
          </a:prstGeom>
          <a:solidFill>
            <a:srgbClr val="E6F4EC"/>
          </a:solidFill>
          <a:ln w="12700">
            <a:solidFill>
              <a:srgbClr val="CDE9D9"/>
            </a:solidFill>
            <a:prstDash val="solid"/>
          </a:ln>
        </p:spPr>
      </p:sp>
      <p:sp>
        <p:nvSpPr>
          <p:cNvPr id="36" name="anim-g3-826"/>
          <p:cNvSpPr/>
          <p:nvPr/>
        </p:nvSpPr>
        <p:spPr>
          <a:xfrm>
            <a:off x="960120" y="4934712"/>
            <a:ext cx="2101631" cy="1100328"/>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 الجولة التالية</a:t>
            </a:r>
            <a:endParaRPr lang="ar-SA" sz="2100" dirty="0"/>
          </a:p>
        </p:txBody>
      </p:sp>
      <p:sp>
        <p:nvSpPr>
          <p:cNvPr id="37" name="Text 35"/>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صانع الذكريات التراثية</a:t>
            </a:r>
            <a:endParaRPr lang="ar-SA" sz="1200" dirty="0"/>
          </a:p>
        </p:txBody>
      </p:sp>
      <p:sp>
        <p:nvSpPr>
          <p:cNvPr id="38" name="Text 36"/>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القرار المستقل  ·  ١١٢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400"/>
                                        <p:tgtEl>
                                          <p:spTgt spid="1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fade">
                                      <p:cBhvr>
                                        <p:cTn id="13" dur="400"/>
                                        <p:tgtEl>
                                          <p:spTgt spid="1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6"/>
                                        </p:tgtEl>
                                        <p:attrNameLst>
                                          <p:attrName>style.visibility</p:attrName>
                                        </p:attrNameLst>
                                      </p:cBhvr>
                                      <p:to>
                                        <p:strVal val="visible"/>
                                      </p:to>
                                    </p:set>
                                    <p:animEffect transition="in" filter="fade">
                                      <p:cBhvr>
                                        <p:cTn id="16" dur="400"/>
                                        <p:tgtEl>
                                          <p:spTgt spid="1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00"/>
                                        <p:tgtEl>
                                          <p:spTgt spid="1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21"/>
                                        </p:tgtEl>
                                        <p:attrNameLst>
                                          <p:attrName>style.visibility</p:attrName>
                                        </p:attrNameLst>
                                      </p:cBhvr>
                                      <p:to>
                                        <p:strVal val="visible"/>
                                      </p:to>
                                    </p:set>
                                    <p:animEffect transition="in" filter="fade">
                                      <p:cBhvr>
                                        <p:cTn id="33" dur="400"/>
                                        <p:tgtEl>
                                          <p:spTgt spid="21"/>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2"/>
                                        </p:tgtEl>
                                        <p:attrNameLst>
                                          <p:attrName>style.visibility</p:attrName>
                                        </p:attrNameLst>
                                      </p:cBhvr>
                                      <p:to>
                                        <p:strVal val="visible"/>
                                      </p:to>
                                    </p:set>
                                    <p:animEffect transition="in" filter="fade">
                                      <p:cBhvr>
                                        <p:cTn id="36" dur="400"/>
                                        <p:tgtEl>
                                          <p:spTgt spid="22"/>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animEffect transition="in" filter="fade">
                                      <p:cBhvr>
                                        <p:cTn id="39" dur="400"/>
                                        <p:tgtEl>
                                          <p:spTgt spid="23"/>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4"/>
                                        </p:tgtEl>
                                        <p:attrNameLst>
                                          <p:attrName>style.visibility</p:attrName>
                                        </p:attrNameLst>
                                      </p:cBhvr>
                                      <p:to>
                                        <p:strVal val="visible"/>
                                      </p:to>
                                    </p:set>
                                    <p:animEffect transition="in" filter="fade">
                                      <p:cBhvr>
                                        <p:cTn id="42" dur="400"/>
                                        <p:tgtEl>
                                          <p:spTgt spid="24"/>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5"/>
                                        </p:tgtEl>
                                        <p:attrNameLst>
                                          <p:attrName>style.visibility</p:attrName>
                                        </p:attrNameLst>
                                      </p:cBhvr>
                                      <p:to>
                                        <p:strVal val="visible"/>
                                      </p:to>
                                    </p:set>
                                    <p:animEffect transition="in" filter="fade">
                                      <p:cBhvr>
                                        <p:cTn id="45" dur="400"/>
                                        <p:tgtEl>
                                          <p:spTgt spid="2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fade">
                                      <p:cBhvr>
                                        <p:cTn id="48" dur="400"/>
                                        <p:tgtEl>
                                          <p:spTgt spid="2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7"/>
                                        </p:tgtEl>
                                        <p:attrNameLst>
                                          <p:attrName>style.visibility</p:attrName>
                                        </p:attrNameLst>
                                      </p:cBhvr>
                                      <p:to>
                                        <p:strVal val="visible"/>
                                      </p:to>
                                    </p:set>
                                    <p:animEffect transition="in" filter="fade">
                                      <p:cBhvr>
                                        <p:cTn id="51" dur="400"/>
                                        <p:tgtEl>
                                          <p:spTgt spid="2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8"/>
                                        </p:tgtEl>
                                        <p:attrNameLst>
                                          <p:attrName>style.visibility</p:attrName>
                                        </p:attrNameLst>
                                      </p:cBhvr>
                                      <p:to>
                                        <p:strVal val="visible"/>
                                      </p:to>
                                    </p:set>
                                    <p:animEffect transition="in" filter="fade">
                                      <p:cBhvr>
                                        <p:cTn id="54" dur="400"/>
                                        <p:tgtEl>
                                          <p:spTgt spid="28"/>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400"/>
                                        <p:tgtEl>
                                          <p:spTgt spid="29"/>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30"/>
                                        </p:tgtEl>
                                        <p:attrNameLst>
                                          <p:attrName>style.visibility</p:attrName>
                                        </p:attrNameLst>
                                      </p:cBhvr>
                                      <p:to>
                                        <p:strVal val="visible"/>
                                      </p:to>
                                    </p:set>
                                    <p:animEffect transition="in" filter="fade">
                                      <p:cBhvr>
                                        <p:cTn id="62" dur="400"/>
                                        <p:tgtEl>
                                          <p:spTgt spid="30"/>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400"/>
                                        <p:tgtEl>
                                          <p:spTgt spid="31"/>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2"/>
                                        </p:tgtEl>
                                        <p:attrNameLst>
                                          <p:attrName>style.visibility</p:attrName>
                                        </p:attrNameLst>
                                      </p:cBhvr>
                                      <p:to>
                                        <p:strVal val="visible"/>
                                      </p:to>
                                    </p:set>
                                    <p:animEffect transition="in" filter="fade">
                                      <p:cBhvr>
                                        <p:cTn id="68" dur="400"/>
                                        <p:tgtEl>
                                          <p:spTgt spid="32"/>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400"/>
                                        <p:tgtEl>
                                          <p:spTgt spid="3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4"/>
                                        </p:tgtEl>
                                        <p:attrNameLst>
                                          <p:attrName>style.visibility</p:attrName>
                                        </p:attrNameLst>
                                      </p:cBhvr>
                                      <p:to>
                                        <p:strVal val="visible"/>
                                      </p:to>
                                    </p:set>
                                    <p:animEffect transition="in" filter="fade">
                                      <p:cBhvr>
                                        <p:cTn id="74" dur="400"/>
                                        <p:tgtEl>
                                          <p:spTgt spid="3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400"/>
                                        <p:tgtEl>
                                          <p:spTgt spid="35"/>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36"/>
                                        </p:tgtEl>
                                        <p:attrNameLst>
                                          <p:attrName>style.visibility</p:attrName>
                                        </p:attrNameLst>
                                      </p:cBhvr>
                                      <p:to>
                                        <p:strVal val="visible"/>
                                      </p:to>
                                    </p:set>
                                    <p:animEffect transition="in" filter="fade">
                                      <p:cBhvr>
                                        <p:cTn id="80"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Image 0" descr="C:\Users\user\projects\younes-training\heritage\.pptx-cache\s113.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Image 0" descr="C:\Users\user\projects\younes-training\heritage\.pptx-cache\s114-0.jpg"/>
          <p:cNvPicPr>
            <a:picLocks noChangeAspect="1"/>
          </p:cNvPicPr>
          <p:nvPr/>
        </p:nvPicPr>
        <p:blipFill>
          <a:blip r:embed="rId3"/>
          <a:stretch>
            <a:fillRect/>
          </a:stretch>
        </p:blipFill>
        <p:spPr>
          <a:xfrm>
            <a:off x="0" y="0"/>
            <a:ext cx="12191695" cy="6858000"/>
          </a:xfrm>
          <a:prstGeom prst="rect">
            <a:avLst/>
          </a:prstGeom>
        </p:spPr>
      </p:pic>
      <p:pic>
        <p:nvPicPr>
          <p:cNvPr id="3" name="anim-g1-827" descr="C:\Users\user\projects\younes-training\heritage\.pptx-cache\s114-1.jpg"/>
          <p:cNvPicPr>
            <a:picLocks noChangeAspect="1"/>
          </p:cNvPicPr>
          <p:nvPr/>
        </p:nvPicPr>
        <p:blipFill>
          <a:blip r:embed="rId4"/>
          <a:stretch>
            <a:fillRect/>
          </a:stretch>
        </p:blipFill>
        <p:spPr>
          <a:xfrm>
            <a:off x="0" y="0"/>
            <a:ext cx="12191695" cy="6858000"/>
          </a:xfrm>
          <a:prstGeom prst="rect">
            <a:avLst/>
          </a:prstGeom>
        </p:spPr>
      </p:pic>
      <p:pic>
        <p:nvPicPr>
          <p:cNvPr id="4" name="anim-g2-828" descr="C:\Users\user\projects\younes-training\heritage\.pptx-cache\s114-2.jpg"/>
          <p:cNvPicPr>
            <a:picLocks noChangeAspect="1"/>
          </p:cNvPicPr>
          <p:nvPr/>
        </p:nvPicPr>
        <p:blipFill>
          <a:blip r:embed="rId5"/>
          <a:stretch>
            <a:fillRect/>
          </a:stretch>
        </p:blipFill>
        <p:spPr>
          <a:xfrm>
            <a:off x="0" y="0"/>
            <a:ext cx="12191695" cy="6858000"/>
          </a:xfrm>
          <a:prstGeom prst="rect">
            <a:avLst/>
          </a:prstGeom>
        </p:spPr>
      </p:pic>
      <p:pic>
        <p:nvPicPr>
          <p:cNvPr id="5" name="anim-g3-829" descr="C:\Users\user\projects\younes-training\heritage\.pptx-cache\s114-3.jpg"/>
          <p:cNvPicPr>
            <a:picLocks noChangeAspect="1"/>
          </p:cNvPicPr>
          <p:nvPr/>
        </p:nvPicPr>
        <p:blipFill>
          <a:blip r:embed="rId6"/>
          <a:stretch>
            <a:fillRect/>
          </a:stretch>
        </p:blipFill>
        <p:spPr>
          <a:xfrm>
            <a:off x="0" y="0"/>
            <a:ext cx="12191695" cy="6858000"/>
          </a:xfrm>
          <a:prstGeom prst="rect">
            <a:avLst/>
          </a:prstGeom>
        </p:spPr>
      </p:pic>
      <p:pic>
        <p:nvPicPr>
          <p:cNvPr id="6" name="anim-g4-830" descr="C:\Users\user\projects\younes-training\heritage\.pptx-cache\s114-4.jpg"/>
          <p:cNvPicPr>
            <a:picLocks noChangeAspect="1"/>
          </p:cNvPicPr>
          <p:nvPr/>
        </p:nvPicPr>
        <p:blipFill>
          <a:blip r:embed="rId7"/>
          <a:stretch>
            <a:fillRect/>
          </a:stretch>
        </p:blipFill>
        <p:spPr>
          <a:xfrm>
            <a:off x="0" y="0"/>
            <a:ext cx="12191695" cy="6858000"/>
          </a:xfrm>
          <a:prstGeom prst="rect">
            <a:avLst/>
          </a:prstGeom>
        </p:spPr>
      </p:pic>
      <p:pic>
        <p:nvPicPr>
          <p:cNvPr id="7" name="anim-g5-831" descr="C:\Users\user\projects\younes-training\heritage\.pptx-cache\s114-5.jpg"/>
          <p:cNvPicPr>
            <a:picLocks noChangeAspect="1"/>
          </p:cNvPicPr>
          <p:nvPr/>
        </p:nvPicPr>
        <p:blipFill>
          <a:blip r:embed="rId8"/>
          <a:stretch>
            <a:fillRect/>
          </a:stretch>
        </p:blipFill>
        <p:spPr>
          <a:xfrm>
            <a:off x="0" y="0"/>
            <a:ext cx="12191695" cy="6858000"/>
          </a:xfrm>
          <a:prstGeom prst="rect">
            <a:avLst/>
          </a:prstGeom>
        </p:spPr>
      </p:pic>
      <p:pic>
        <p:nvPicPr>
          <p:cNvPr id="8" name="anim-g6-832" descr="C:\Users\user\projects\younes-training\heritage\.pptx-cache\s114-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5.xml><?xml version="1.0" encoding="utf-8"?>
<p:sld xmlns:a="http://schemas.openxmlformats.org/drawingml/2006/main" xmlns:r="http://schemas.openxmlformats.org/officeDocument/2006/relationships" xmlns:p="http://schemas.openxmlformats.org/presentationml/2006/main">
  <p:cSld name="Slide 11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فن السؤال المساعد</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المساعدة تعلّم… لا تكشف الجواب</a:t>
            </a:r>
            <a:endParaRPr lang="ar-SA" sz="3800" dirty="0"/>
          </a:p>
        </p:txBody>
      </p:sp>
      <p:sp>
        <p:nvSpPr>
          <p:cNvPr id="5" name="anim-g1-833"/>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834"/>
          <p:cNvSpPr/>
          <p:nvPr/>
        </p:nvSpPr>
        <p:spPr>
          <a:xfrm>
            <a:off x="10527487" y="2267712"/>
            <a:ext cx="566928" cy="566928"/>
          </a:xfrm>
          <a:prstGeom prst="roundRect">
            <a:avLst>
              <a:gd name="adj" fmla="val 32258"/>
            </a:avLst>
          </a:prstGeom>
          <a:solidFill>
            <a:srgbClr val="F7E6BC"/>
          </a:solidFill>
          <a:ln/>
        </p:spPr>
      </p:sp>
      <p:sp>
        <p:nvSpPr>
          <p:cNvPr id="7" name="anim-g1-835"/>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836"/>
          <p:cNvSpPr/>
          <p:nvPr/>
        </p:nvSpPr>
        <p:spPr>
          <a:xfrm>
            <a:off x="8310677"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معلومة جديدة</a:t>
            </a:r>
            <a:endParaRPr lang="ar-SA" sz="2200" dirty="0"/>
          </a:p>
        </p:txBody>
      </p:sp>
      <p:sp>
        <p:nvSpPr>
          <p:cNvPr id="9" name="anim-g1-837"/>
          <p:cNvSpPr/>
          <p:nvPr/>
        </p:nvSpPr>
        <p:spPr>
          <a:xfrm>
            <a:off x="8310677"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«تذكّر: كان الضيف يُستقبل فيها…» قبل السؤال</a:t>
            </a:r>
            <a:endParaRPr lang="ar-SA" sz="1900" dirty="0"/>
          </a:p>
        </p:txBody>
      </p:sp>
      <p:sp>
        <p:nvSpPr>
          <p:cNvPr id="10" name="anim-g2-838"/>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839"/>
          <p:cNvSpPr/>
          <p:nvPr/>
        </p:nvSpPr>
        <p:spPr>
          <a:xfrm>
            <a:off x="6920789" y="2267712"/>
            <a:ext cx="566928" cy="566928"/>
          </a:xfrm>
          <a:prstGeom prst="roundRect">
            <a:avLst>
              <a:gd name="adj" fmla="val 32258"/>
            </a:avLst>
          </a:prstGeom>
          <a:solidFill>
            <a:srgbClr val="F7E6BC"/>
          </a:solidFill>
          <a:ln/>
        </p:spPr>
      </p:sp>
      <p:sp>
        <p:nvSpPr>
          <p:cNvPr id="12" name="anim-g2-840"/>
          <p:cNvSpPr/>
          <p:nvPr/>
        </p:nvSpPr>
        <p:spPr>
          <a:xfrm>
            <a:off x="6920789"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841"/>
          <p:cNvSpPr/>
          <p:nvPr/>
        </p:nvSpPr>
        <p:spPr>
          <a:xfrm>
            <a:off x="4703978"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صيغة مختلفة</a:t>
            </a:r>
            <a:endParaRPr lang="ar-SA" sz="2200" dirty="0"/>
          </a:p>
        </p:txBody>
      </p:sp>
      <p:sp>
        <p:nvSpPr>
          <p:cNvPr id="14" name="anim-g2-842"/>
          <p:cNvSpPr/>
          <p:nvPr/>
        </p:nvSpPr>
        <p:spPr>
          <a:xfrm>
            <a:off x="4703978"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لا نكرر السؤال نفسه بكلماته</a:t>
            </a:r>
            <a:endParaRPr lang="ar-SA" sz="1900" dirty="0"/>
          </a:p>
        </p:txBody>
      </p:sp>
      <p:sp>
        <p:nvSpPr>
          <p:cNvPr id="15" name="anim-g3-843"/>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844"/>
          <p:cNvSpPr/>
          <p:nvPr/>
        </p:nvSpPr>
        <p:spPr>
          <a:xfrm>
            <a:off x="3314090" y="2267712"/>
            <a:ext cx="566928" cy="566928"/>
          </a:xfrm>
          <a:prstGeom prst="roundRect">
            <a:avLst>
              <a:gd name="adj" fmla="val 32258"/>
            </a:avLst>
          </a:prstGeom>
          <a:solidFill>
            <a:srgbClr val="F7E6BC"/>
          </a:solidFill>
          <a:ln/>
        </p:spPr>
      </p:sp>
      <p:sp>
        <p:nvSpPr>
          <p:cNvPr id="17" name="anim-g3-845"/>
          <p:cNvSpPr/>
          <p:nvPr/>
        </p:nvSpPr>
        <p:spPr>
          <a:xfrm>
            <a:off x="331409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846"/>
          <p:cNvSpPr/>
          <p:nvPr/>
        </p:nvSpPr>
        <p:spPr>
          <a:xfrm>
            <a:off x="1097280"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نبرة مشجعة</a:t>
            </a:r>
            <a:endParaRPr lang="ar-SA" sz="2200" dirty="0"/>
          </a:p>
        </p:txBody>
      </p:sp>
      <p:sp>
        <p:nvSpPr>
          <p:cNvPr id="19" name="anim-g3-847"/>
          <p:cNvSpPr/>
          <p:nvPr/>
        </p:nvSpPr>
        <p:spPr>
          <a:xfrm>
            <a:off x="1097280"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الأحمر ليس عقابًا: «حاول مرة أخرى»</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صانع الذكريات التراثية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القرار المستقل  ·  ١١٥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Image 0" descr="C:\Users\user\projects\younes-training\heritage\.pptx-cache\s116-0.jpg"/>
          <p:cNvPicPr>
            <a:picLocks noChangeAspect="1"/>
          </p:cNvPicPr>
          <p:nvPr/>
        </p:nvPicPr>
        <p:blipFill>
          <a:blip r:embed="rId3"/>
          <a:stretch>
            <a:fillRect/>
          </a:stretch>
        </p:blipFill>
        <p:spPr>
          <a:xfrm>
            <a:off x="0" y="0"/>
            <a:ext cx="12191695" cy="6858000"/>
          </a:xfrm>
          <a:prstGeom prst="rect">
            <a:avLst/>
          </a:prstGeom>
        </p:spPr>
      </p:pic>
      <p:pic>
        <p:nvPicPr>
          <p:cNvPr id="3" name="anim-g1-848" descr="C:\Users\user\projects\younes-training\heritage\.pptx-cache\s116-1.jpg"/>
          <p:cNvPicPr>
            <a:picLocks noChangeAspect="1"/>
          </p:cNvPicPr>
          <p:nvPr/>
        </p:nvPicPr>
        <p:blipFill>
          <a:blip r:embed="rId4"/>
          <a:stretch>
            <a:fillRect/>
          </a:stretch>
        </p:blipFill>
        <p:spPr>
          <a:xfrm>
            <a:off x="0" y="0"/>
            <a:ext cx="12191695" cy="6858000"/>
          </a:xfrm>
          <a:prstGeom prst="rect">
            <a:avLst/>
          </a:prstGeom>
        </p:spPr>
      </p:pic>
      <p:pic>
        <p:nvPicPr>
          <p:cNvPr id="4" name="anim-g2-849" descr="C:\Users\user\projects\younes-training\heritage\.pptx-cache\s116-2.jpg"/>
          <p:cNvPicPr>
            <a:picLocks noChangeAspect="1"/>
          </p:cNvPicPr>
          <p:nvPr/>
        </p:nvPicPr>
        <p:blipFill>
          <a:blip r:embed="rId5"/>
          <a:stretch>
            <a:fillRect/>
          </a:stretch>
        </p:blipFill>
        <p:spPr>
          <a:xfrm>
            <a:off x="0" y="0"/>
            <a:ext cx="12191695" cy="6858000"/>
          </a:xfrm>
          <a:prstGeom prst="rect">
            <a:avLst/>
          </a:prstGeom>
        </p:spPr>
      </p:pic>
      <p:pic>
        <p:nvPicPr>
          <p:cNvPr id="5" name="anim-g3-850" descr="C:\Users\user\projects\younes-training\heritage\.pptx-cache\s116-3.jpg"/>
          <p:cNvPicPr>
            <a:picLocks noChangeAspect="1"/>
          </p:cNvPicPr>
          <p:nvPr/>
        </p:nvPicPr>
        <p:blipFill>
          <a:blip r:embed="rId6"/>
          <a:stretch>
            <a:fillRect/>
          </a:stretch>
        </p:blipFill>
        <p:spPr>
          <a:xfrm>
            <a:off x="0" y="0"/>
            <a:ext cx="12191695" cy="6858000"/>
          </a:xfrm>
          <a:prstGeom prst="rect">
            <a:avLst/>
          </a:prstGeom>
        </p:spPr>
      </p:pic>
      <p:pic>
        <p:nvPicPr>
          <p:cNvPr id="6" name="anim-g4-851" descr="C:\Users\user\projects\younes-training\heritage\.pptx-cache\s116-4.jpg"/>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7.xml><?xml version="1.0" encoding="utf-8"?>
<p:sld xmlns:a="http://schemas.openxmlformats.org/drawingml/2006/main" xmlns:r="http://schemas.openxmlformats.org/officeDocument/2006/relationships" xmlns:p="http://schemas.openxmlformats.org/presentationml/2006/main">
  <p:cSld name="Slide 11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خلاصة المحور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marL="0" indent="0" algn="ctr" rtl="1">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الروبوت لا يعطي الجميع الرحلة نفسها: يكافئ من عرف، ويساعد من أخطأ، ويشجع من تعثر</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صانع الذكريات التراثية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 القرار المستقل  ·  ١١٧</a:t>
            </a:r>
            <a:endParaRPr lang="ar-SA" sz="12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marL="0" indent="0" algn="ctr" rtl="1">
              <a:buNone/>
            </a:pPr>
            <a:r>
              <a:rPr lang="ar-SA" altLang="en-US" sz="12000" dirty="0">
                <a:solidFill>
                  <a:srgbClr val="F0CC7A"/>
                </a:solidFill>
                <a:latin typeface="Cairo Black" pitchFamily="34" charset="0"/>
                <a:ea typeface="Cairo Black" pitchFamily="34" charset="-122"/>
                <a:cs typeface="Cairo Black" pitchFamily="34" charset="-120"/>
              </a:rPr>
              <a:t>١٣</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marL="0" indent="0" algn="r" rtl="1">
              <a:buNone/>
            </a:pPr>
            <a:r>
              <a:rPr lang="ar-SA" altLang="en-US" sz="2000" b="1" dirty="0">
                <a:solidFill>
                  <a:srgbClr val="D9AE4B"/>
                </a:solidFill>
                <a:latin typeface="Cairo" pitchFamily="34" charset="0"/>
                <a:ea typeface="Cairo" pitchFamily="34" charset="-122"/>
                <a:cs typeface="Cairo" pitchFamily="34" charset="-120"/>
              </a:rPr>
              <a:t>المحور ١٣</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marL="0" indent="0" algn="r" rtl="1">
              <a:buNone/>
            </a:pPr>
            <a:r>
              <a:rPr lang="ar-SA" altLang="en-US" sz="5600" dirty="0">
                <a:solidFill>
                  <a:srgbClr val="FFFFFF"/>
                </a:solidFill>
                <a:latin typeface="Cairo Black" pitchFamily="34" charset="0"/>
                <a:ea typeface="Cairo Black" pitchFamily="34" charset="-122"/>
                <a:cs typeface="Cairo Black" pitchFamily="34" charset="-120"/>
              </a:rPr>
              <a:t>🎮 الجولة الكاملة</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marL="0" indent="0" algn="r" rtl="1">
              <a:buNone/>
            </a:pPr>
            <a:r>
              <a:rPr lang="ar-SA" altLang="en-US" sz="2200" b="1" dirty="0">
                <a:solidFill>
                  <a:srgbClr val="C9CFE6"/>
                </a:solidFill>
                <a:latin typeface="Cairo" pitchFamily="34" charset="0"/>
                <a:ea typeface="Cairo" pitchFamily="34" charset="-122"/>
                <a:cs typeface="Cairo" pitchFamily="34" charset="-120"/>
              </a:rPr>
              <a:t>من «اقترب لبدء اللعبة»… إلى «حارس الذكريات التراثية»</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صانع الذكريات التراثية</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 الجولة الكاملة  ·  ١١٨</a:t>
            </a:r>
            <a:endParaRPr lang="ar-SA" sz="12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248095" y="457200"/>
            <a:ext cx="5120640" cy="457200"/>
          </a:xfrm>
          <a:prstGeom prst="roundRect">
            <a:avLst>
              <a:gd name="adj" fmla="val 50000"/>
            </a:avLst>
          </a:prstGeom>
          <a:solidFill>
            <a:srgbClr val="F6EBCF"/>
          </a:solidFill>
          <a:ln/>
        </p:spPr>
      </p:sp>
      <p:sp>
        <p:nvSpPr>
          <p:cNvPr id="3" name="Text 1"/>
          <p:cNvSpPr/>
          <p:nvPr/>
        </p:nvSpPr>
        <p:spPr>
          <a:xfrm>
            <a:off x="6248095" y="457200"/>
            <a:ext cx="512064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بنهاية هذا المحور تستطيع أن</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أهداف المحور</a:t>
            </a:r>
            <a:endParaRPr lang="ar-SA" sz="3800" dirty="0"/>
          </a:p>
        </p:txBody>
      </p:sp>
      <p:sp>
        <p:nvSpPr>
          <p:cNvPr id="5" name="anim-g1-852"/>
          <p:cNvSpPr/>
          <p:nvPr/>
        </p:nvSpPr>
        <p:spPr>
          <a:xfrm>
            <a:off x="822960" y="1920240"/>
            <a:ext cx="10545775" cy="1298448"/>
          </a:xfrm>
          <a:prstGeom prst="roundRect">
            <a:avLst>
              <a:gd name="adj" fmla="val 11268"/>
            </a:avLst>
          </a:prstGeom>
          <a:solidFill>
            <a:srgbClr val="FFFFFF"/>
          </a:solidFill>
          <a:ln w="12700">
            <a:solidFill>
              <a:srgbClr val="E4DCC8"/>
            </a:solidFill>
            <a:prstDash val="solid"/>
          </a:ln>
        </p:spPr>
      </p:sp>
      <p:sp>
        <p:nvSpPr>
          <p:cNvPr id="6" name="anim-g1-853"/>
          <p:cNvSpPr/>
          <p:nvPr/>
        </p:nvSpPr>
        <p:spPr>
          <a:xfrm>
            <a:off x="10573207" y="2286000"/>
            <a:ext cx="566928" cy="566928"/>
          </a:xfrm>
          <a:prstGeom prst="ellipse">
            <a:avLst/>
          </a:prstGeom>
          <a:solidFill>
            <a:srgbClr val="D9AE4B"/>
          </a:solidFill>
          <a:ln/>
        </p:spPr>
      </p:sp>
      <p:sp>
        <p:nvSpPr>
          <p:cNvPr id="7" name="anim-g1-854"/>
          <p:cNvSpPr/>
          <p:nvPr/>
        </p:nvSpPr>
        <p:spPr>
          <a:xfrm>
            <a:off x="10573207" y="2286000"/>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855"/>
          <p:cNvSpPr/>
          <p:nvPr/>
        </p:nvSpPr>
        <p:spPr>
          <a:xfrm>
            <a:off x="1097280" y="1920240"/>
            <a:ext cx="9247327" cy="1298448"/>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تتبع تجربة الطفل كاملة</a:t>
            </a:r>
            <a:endParaRPr lang="ar-SA" sz="2400" dirty="0"/>
          </a:p>
        </p:txBody>
      </p:sp>
      <p:sp>
        <p:nvSpPr>
          <p:cNvPr id="9" name="anim-g2-856"/>
          <p:cNvSpPr/>
          <p:nvPr/>
        </p:nvSpPr>
        <p:spPr>
          <a:xfrm>
            <a:off x="822960" y="3328416"/>
            <a:ext cx="10545775" cy="1298448"/>
          </a:xfrm>
          <a:prstGeom prst="roundRect">
            <a:avLst>
              <a:gd name="adj" fmla="val 11268"/>
            </a:avLst>
          </a:prstGeom>
          <a:solidFill>
            <a:srgbClr val="FFFFFF"/>
          </a:solidFill>
          <a:ln w="12700">
            <a:solidFill>
              <a:srgbClr val="E4DCC8"/>
            </a:solidFill>
            <a:prstDash val="solid"/>
          </a:ln>
        </p:spPr>
      </p:sp>
      <p:sp>
        <p:nvSpPr>
          <p:cNvPr id="10" name="anim-g2-857"/>
          <p:cNvSpPr/>
          <p:nvPr/>
        </p:nvSpPr>
        <p:spPr>
          <a:xfrm>
            <a:off x="10573207" y="3694176"/>
            <a:ext cx="566928" cy="566928"/>
          </a:xfrm>
          <a:prstGeom prst="ellipse">
            <a:avLst/>
          </a:prstGeom>
          <a:solidFill>
            <a:srgbClr val="D9AE4B"/>
          </a:solidFill>
          <a:ln/>
        </p:spPr>
      </p:sp>
      <p:sp>
        <p:nvSpPr>
          <p:cNvPr id="11" name="anim-g2-858"/>
          <p:cNvSpPr/>
          <p:nvPr/>
        </p:nvSpPr>
        <p:spPr>
          <a:xfrm>
            <a:off x="10573207" y="3694176"/>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859"/>
          <p:cNvSpPr/>
          <p:nvPr/>
        </p:nvSpPr>
        <p:spPr>
          <a:xfrm>
            <a:off x="1097280" y="3328416"/>
            <a:ext cx="9247327" cy="1298448"/>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تختبر المشروع بخطة اختبار حقيقية</a:t>
            </a:r>
            <a:endParaRPr lang="ar-SA" sz="2400" dirty="0"/>
          </a:p>
        </p:txBody>
      </p:sp>
      <p:sp>
        <p:nvSpPr>
          <p:cNvPr id="13" name="anim-g3-860"/>
          <p:cNvSpPr/>
          <p:nvPr/>
        </p:nvSpPr>
        <p:spPr>
          <a:xfrm>
            <a:off x="822960" y="4736592"/>
            <a:ext cx="10545775" cy="1298448"/>
          </a:xfrm>
          <a:prstGeom prst="roundRect">
            <a:avLst>
              <a:gd name="adj" fmla="val 11268"/>
            </a:avLst>
          </a:prstGeom>
          <a:solidFill>
            <a:srgbClr val="FFFFFF"/>
          </a:solidFill>
          <a:ln w="12700">
            <a:solidFill>
              <a:srgbClr val="E4DCC8"/>
            </a:solidFill>
            <a:prstDash val="solid"/>
          </a:ln>
        </p:spPr>
      </p:sp>
      <p:sp>
        <p:nvSpPr>
          <p:cNvPr id="14" name="anim-g3-861"/>
          <p:cNvSpPr/>
          <p:nvPr/>
        </p:nvSpPr>
        <p:spPr>
          <a:xfrm>
            <a:off x="10573207" y="5102352"/>
            <a:ext cx="566928" cy="566928"/>
          </a:xfrm>
          <a:prstGeom prst="ellipse">
            <a:avLst/>
          </a:prstGeom>
          <a:solidFill>
            <a:srgbClr val="D9AE4B"/>
          </a:solidFill>
          <a:ln/>
        </p:spPr>
      </p:sp>
      <p:sp>
        <p:nvSpPr>
          <p:cNvPr id="15" name="anim-g3-862"/>
          <p:cNvSpPr/>
          <p:nvPr/>
        </p:nvSpPr>
        <p:spPr>
          <a:xfrm>
            <a:off x="10573207" y="5102352"/>
            <a:ext cx="566928" cy="566928"/>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863"/>
          <p:cNvSpPr/>
          <p:nvPr/>
        </p:nvSpPr>
        <p:spPr>
          <a:xfrm>
            <a:off x="1097280" y="4736592"/>
            <a:ext cx="9247327" cy="1298448"/>
          </a:xfrm>
          <a:prstGeom prst="rect">
            <a:avLst/>
          </a:prstGeom>
          <a:noFill/>
          <a:ln/>
        </p:spPr>
        <p:txBody>
          <a:bodyPr wrap="square" lIns="0" tIns="0" rIns="0" bIns="0" rtlCol="0" anchor="ctr">
            <a:normAutofit/>
          </a:bodyPr>
          <a:lstStyle/>
          <a:p>
            <a:pPr marL="0" indent="0" algn="r">
              <a:buNone/>
            </a:pPr>
            <a:r>
              <a:rPr lang="ar-SA" altLang="en-US" sz="2400" b="1" dirty="0">
                <a:solidFill>
                  <a:srgbClr val="101B45"/>
                </a:solidFill>
                <a:latin typeface="Cairo Black" pitchFamily="34" charset="0"/>
                <a:ea typeface="Cairo Black" pitchFamily="34" charset="-122"/>
                <a:cs typeface="Cairo Black" pitchFamily="34" charset="-120"/>
              </a:rPr>
              <a:t>تسجل النتائج الفعلية لا التقديرية</a:t>
            </a:r>
            <a:endParaRPr lang="ar-SA" sz="24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صانع الذكريات التراثية</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الجولة الكاملة  ·  ١١٩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Image 0" descr="C:\Users\user\projects\younes-training\heritage\.pptx-cache\s120.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Image 0" descr="C:\Users\user\projects\younes-training\heritage\.pptx-cache\s121.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442655" y="457200"/>
            <a:ext cx="2926080" cy="457200"/>
          </a:xfrm>
          <a:prstGeom prst="roundRect">
            <a:avLst>
              <a:gd name="adj" fmla="val 50000"/>
            </a:avLst>
          </a:prstGeom>
          <a:solidFill>
            <a:srgbClr val="F6EBCF"/>
          </a:solidFill>
          <a:ln/>
        </p:spPr>
      </p:sp>
      <p:sp>
        <p:nvSpPr>
          <p:cNvPr id="3" name="Text 1"/>
          <p:cNvSpPr/>
          <p:nvPr/>
        </p:nvSpPr>
        <p:spPr>
          <a:xfrm>
            <a:off x="8442655" y="457200"/>
            <a:ext cx="292608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خطة الاختبار</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النتائج الفعلية فقط: لا أرقام تقديرية</a:t>
            </a:r>
            <a:endParaRPr lang="ar-SA" sz="3200" dirty="0"/>
          </a:p>
        </p:txBody>
      </p:sp>
      <p:sp>
        <p:nvSpPr>
          <p:cNvPr id="5" name="Shape 3"/>
          <p:cNvSpPr/>
          <p:nvPr/>
        </p:nvSpPr>
        <p:spPr>
          <a:xfrm>
            <a:off x="7792928" y="1874520"/>
            <a:ext cx="3575807" cy="548640"/>
          </a:xfrm>
          <a:prstGeom prst="roundRect">
            <a:avLst>
              <a:gd name="adj" fmla="val 20000"/>
            </a:avLst>
          </a:prstGeom>
          <a:solidFill>
            <a:srgbClr val="101B45"/>
          </a:solidFill>
          <a:ln/>
        </p:spPr>
      </p:sp>
      <p:sp>
        <p:nvSpPr>
          <p:cNvPr id="6" name="Text 4"/>
          <p:cNvSpPr/>
          <p:nvPr/>
        </p:nvSpPr>
        <p:spPr>
          <a:xfrm>
            <a:off x="7792928" y="1874520"/>
            <a:ext cx="3575807"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الاختبار</a:t>
            </a:r>
            <a:endParaRPr lang="ar-SA" sz="1900" dirty="0"/>
          </a:p>
        </p:txBody>
      </p:sp>
      <p:sp>
        <p:nvSpPr>
          <p:cNvPr id="7" name="Shape 5"/>
          <p:cNvSpPr/>
          <p:nvPr/>
        </p:nvSpPr>
        <p:spPr>
          <a:xfrm>
            <a:off x="5895297" y="1874520"/>
            <a:ext cx="1787903" cy="548640"/>
          </a:xfrm>
          <a:prstGeom prst="roundRect">
            <a:avLst>
              <a:gd name="adj" fmla="val 20000"/>
            </a:avLst>
          </a:prstGeom>
          <a:solidFill>
            <a:srgbClr val="101B45"/>
          </a:solidFill>
          <a:ln/>
        </p:spPr>
      </p:sp>
      <p:sp>
        <p:nvSpPr>
          <p:cNvPr id="8" name="Text 6"/>
          <p:cNvSpPr/>
          <p:nvPr/>
        </p:nvSpPr>
        <p:spPr>
          <a:xfrm>
            <a:off x="5895297" y="1874520"/>
            <a:ext cx="1787903"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المحاولات</a:t>
            </a:r>
            <a:endParaRPr lang="ar-SA" sz="1900" dirty="0"/>
          </a:p>
        </p:txBody>
      </p:sp>
      <p:sp>
        <p:nvSpPr>
          <p:cNvPr id="9" name="Shape 7"/>
          <p:cNvSpPr/>
          <p:nvPr/>
        </p:nvSpPr>
        <p:spPr>
          <a:xfrm>
            <a:off x="3997665" y="1874520"/>
            <a:ext cx="1787903" cy="548640"/>
          </a:xfrm>
          <a:prstGeom prst="roundRect">
            <a:avLst>
              <a:gd name="adj" fmla="val 20000"/>
            </a:avLst>
          </a:prstGeom>
          <a:solidFill>
            <a:srgbClr val="101B45"/>
          </a:solidFill>
          <a:ln/>
        </p:spPr>
      </p:sp>
      <p:sp>
        <p:nvSpPr>
          <p:cNvPr id="10" name="Text 8"/>
          <p:cNvSpPr/>
          <p:nvPr/>
        </p:nvSpPr>
        <p:spPr>
          <a:xfrm>
            <a:off x="3997665" y="1874520"/>
            <a:ext cx="1787903"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النجاح</a:t>
            </a:r>
            <a:endParaRPr lang="ar-SA" sz="1900" dirty="0"/>
          </a:p>
        </p:txBody>
      </p:sp>
      <p:sp>
        <p:nvSpPr>
          <p:cNvPr id="11" name="Shape 9"/>
          <p:cNvSpPr/>
          <p:nvPr/>
        </p:nvSpPr>
        <p:spPr>
          <a:xfrm>
            <a:off x="822960" y="1874520"/>
            <a:ext cx="3064977" cy="548640"/>
          </a:xfrm>
          <a:prstGeom prst="roundRect">
            <a:avLst>
              <a:gd name="adj" fmla="val 20000"/>
            </a:avLst>
          </a:prstGeom>
          <a:solidFill>
            <a:srgbClr val="101B45"/>
          </a:solidFill>
          <a:ln/>
        </p:spPr>
      </p:sp>
      <p:sp>
        <p:nvSpPr>
          <p:cNvPr id="12" name="Text 10"/>
          <p:cNvSpPr/>
          <p:nvPr/>
        </p:nvSpPr>
        <p:spPr>
          <a:xfrm>
            <a:off x="822960" y="1874520"/>
            <a:ext cx="3064977"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الملاحظة</a:t>
            </a:r>
            <a:endParaRPr lang="ar-SA" sz="1900" dirty="0"/>
          </a:p>
        </p:txBody>
      </p:sp>
      <p:sp>
        <p:nvSpPr>
          <p:cNvPr id="13" name="anim-g1-864"/>
          <p:cNvSpPr/>
          <p:nvPr/>
        </p:nvSpPr>
        <p:spPr>
          <a:xfrm>
            <a:off x="7792928" y="2514600"/>
            <a:ext cx="3575807" cy="616306"/>
          </a:xfrm>
          <a:prstGeom prst="roundRect">
            <a:avLst>
              <a:gd name="adj" fmla="val 17804"/>
            </a:avLst>
          </a:prstGeom>
          <a:solidFill>
            <a:srgbClr val="FBF3DF"/>
          </a:solidFill>
          <a:ln w="12700">
            <a:solidFill>
              <a:srgbClr val="EFDDAF"/>
            </a:solidFill>
            <a:prstDash val="solid"/>
          </a:ln>
        </p:spPr>
      </p:sp>
      <p:sp>
        <p:nvSpPr>
          <p:cNvPr id="14" name="anim-g1-865"/>
          <p:cNvSpPr/>
          <p:nvPr/>
        </p:nvSpPr>
        <p:spPr>
          <a:xfrm>
            <a:off x="7930088" y="2514600"/>
            <a:ext cx="3301487"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توقف المنصة عند كل محطة (×٤)</a:t>
            </a:r>
            <a:endParaRPr lang="ar-SA" sz="2100" dirty="0"/>
          </a:p>
        </p:txBody>
      </p:sp>
      <p:sp>
        <p:nvSpPr>
          <p:cNvPr id="15" name="anim-g1-866"/>
          <p:cNvSpPr/>
          <p:nvPr/>
        </p:nvSpPr>
        <p:spPr>
          <a:xfrm>
            <a:off x="5895297" y="2514600"/>
            <a:ext cx="1787903" cy="616306"/>
          </a:xfrm>
          <a:prstGeom prst="roundRect">
            <a:avLst>
              <a:gd name="adj" fmla="val 17804"/>
            </a:avLst>
          </a:prstGeom>
          <a:solidFill>
            <a:srgbClr val="FFFFFF"/>
          </a:solidFill>
          <a:ln w="12700">
            <a:solidFill>
              <a:srgbClr val="E4DCC8"/>
            </a:solidFill>
            <a:prstDash val="solid"/>
          </a:ln>
        </p:spPr>
      </p:sp>
      <p:sp>
        <p:nvSpPr>
          <p:cNvPr id="16" name="anim-g1-867"/>
          <p:cNvSpPr/>
          <p:nvPr/>
        </p:nvSpPr>
        <p:spPr>
          <a:xfrm>
            <a:off x="6032457" y="2514600"/>
            <a:ext cx="1513583"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١٠</a:t>
            </a:r>
            <a:endParaRPr lang="ar-SA" sz="2100" dirty="0"/>
          </a:p>
        </p:txBody>
      </p:sp>
      <p:sp>
        <p:nvSpPr>
          <p:cNvPr id="17" name="anim-g1-868"/>
          <p:cNvSpPr/>
          <p:nvPr/>
        </p:nvSpPr>
        <p:spPr>
          <a:xfrm>
            <a:off x="3997665" y="2514600"/>
            <a:ext cx="1787903" cy="616306"/>
          </a:xfrm>
          <a:prstGeom prst="roundRect">
            <a:avLst>
              <a:gd name="adj" fmla="val 17804"/>
            </a:avLst>
          </a:prstGeom>
          <a:solidFill>
            <a:srgbClr val="FFFFFF"/>
          </a:solidFill>
          <a:ln w="12700">
            <a:solidFill>
              <a:srgbClr val="E4DCC8"/>
            </a:solidFill>
            <a:prstDash val="solid"/>
          </a:ln>
        </p:spPr>
      </p:sp>
      <p:sp>
        <p:nvSpPr>
          <p:cNvPr id="18" name="anim-g1-869"/>
          <p:cNvSpPr/>
          <p:nvPr/>
        </p:nvSpPr>
        <p:spPr>
          <a:xfrm>
            <a:off x="4134825" y="2514600"/>
            <a:ext cx="1513583"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 / ١٠</a:t>
            </a:r>
            <a:endParaRPr lang="ar-SA" sz="2100" dirty="0"/>
          </a:p>
        </p:txBody>
      </p:sp>
      <p:sp>
        <p:nvSpPr>
          <p:cNvPr id="19" name="anim-g1-870"/>
          <p:cNvSpPr/>
          <p:nvPr/>
        </p:nvSpPr>
        <p:spPr>
          <a:xfrm>
            <a:off x="822960" y="2514600"/>
            <a:ext cx="3064977" cy="616306"/>
          </a:xfrm>
          <a:prstGeom prst="roundRect">
            <a:avLst>
              <a:gd name="adj" fmla="val 17804"/>
            </a:avLst>
          </a:prstGeom>
          <a:solidFill>
            <a:srgbClr val="E6F4EC"/>
          </a:solidFill>
          <a:ln w="12700">
            <a:solidFill>
              <a:srgbClr val="CDE9D9"/>
            </a:solidFill>
            <a:prstDash val="solid"/>
          </a:ln>
        </p:spPr>
      </p:sp>
      <p:sp>
        <p:nvSpPr>
          <p:cNvPr id="20" name="anim-g1-871"/>
          <p:cNvSpPr/>
          <p:nvPr/>
        </p:nvSpPr>
        <p:spPr>
          <a:xfrm>
            <a:off x="960120" y="2514600"/>
            <a:ext cx="2790657"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زاوية الخطأ</a:t>
            </a:r>
            <a:endParaRPr lang="ar-SA" sz="2100" dirty="0"/>
          </a:p>
        </p:txBody>
      </p:sp>
      <p:sp>
        <p:nvSpPr>
          <p:cNvPr id="21" name="anim-g2-872"/>
          <p:cNvSpPr/>
          <p:nvPr/>
        </p:nvSpPr>
        <p:spPr>
          <a:xfrm>
            <a:off x="7792928" y="3240634"/>
            <a:ext cx="3575807" cy="616306"/>
          </a:xfrm>
          <a:prstGeom prst="roundRect">
            <a:avLst>
              <a:gd name="adj" fmla="val 17804"/>
            </a:avLst>
          </a:prstGeom>
          <a:solidFill>
            <a:srgbClr val="FBF3DF"/>
          </a:solidFill>
          <a:ln w="12700">
            <a:solidFill>
              <a:srgbClr val="EFDDAF"/>
            </a:solidFill>
            <a:prstDash val="solid"/>
          </a:ln>
        </p:spPr>
      </p:sp>
      <p:sp>
        <p:nvSpPr>
          <p:cNvPr id="22" name="anim-g2-873"/>
          <p:cNvSpPr/>
          <p:nvPr/>
        </p:nvSpPr>
        <p:spPr>
          <a:xfrm>
            <a:off x="7930088" y="3240634"/>
            <a:ext cx="3301487"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استشعار اقتراب الزائر</a:t>
            </a:r>
            <a:endParaRPr lang="ar-SA" sz="2100" dirty="0"/>
          </a:p>
        </p:txBody>
      </p:sp>
      <p:sp>
        <p:nvSpPr>
          <p:cNvPr id="23" name="anim-g2-874"/>
          <p:cNvSpPr/>
          <p:nvPr/>
        </p:nvSpPr>
        <p:spPr>
          <a:xfrm>
            <a:off x="5895297" y="3240634"/>
            <a:ext cx="1787903" cy="616306"/>
          </a:xfrm>
          <a:prstGeom prst="roundRect">
            <a:avLst>
              <a:gd name="adj" fmla="val 17804"/>
            </a:avLst>
          </a:prstGeom>
          <a:solidFill>
            <a:srgbClr val="FFFFFF"/>
          </a:solidFill>
          <a:ln w="12700">
            <a:solidFill>
              <a:srgbClr val="E4DCC8"/>
            </a:solidFill>
            <a:prstDash val="solid"/>
          </a:ln>
        </p:spPr>
      </p:sp>
      <p:sp>
        <p:nvSpPr>
          <p:cNvPr id="24" name="anim-g2-875"/>
          <p:cNvSpPr/>
          <p:nvPr/>
        </p:nvSpPr>
        <p:spPr>
          <a:xfrm>
            <a:off x="6032457" y="3240634"/>
            <a:ext cx="1513583"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١٠</a:t>
            </a:r>
            <a:endParaRPr lang="ar-SA" sz="2100" dirty="0"/>
          </a:p>
        </p:txBody>
      </p:sp>
      <p:sp>
        <p:nvSpPr>
          <p:cNvPr id="25" name="anim-g2-876"/>
          <p:cNvSpPr/>
          <p:nvPr/>
        </p:nvSpPr>
        <p:spPr>
          <a:xfrm>
            <a:off x="3997665" y="3240634"/>
            <a:ext cx="1787903" cy="616306"/>
          </a:xfrm>
          <a:prstGeom prst="roundRect">
            <a:avLst>
              <a:gd name="adj" fmla="val 17804"/>
            </a:avLst>
          </a:prstGeom>
          <a:solidFill>
            <a:srgbClr val="FFFFFF"/>
          </a:solidFill>
          <a:ln w="12700">
            <a:solidFill>
              <a:srgbClr val="E4DCC8"/>
            </a:solidFill>
            <a:prstDash val="solid"/>
          </a:ln>
        </p:spPr>
      </p:sp>
      <p:sp>
        <p:nvSpPr>
          <p:cNvPr id="26" name="anim-g2-877"/>
          <p:cNvSpPr/>
          <p:nvPr/>
        </p:nvSpPr>
        <p:spPr>
          <a:xfrm>
            <a:off x="4134825" y="3240634"/>
            <a:ext cx="1513583"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 / ١٠</a:t>
            </a:r>
            <a:endParaRPr lang="ar-SA" sz="2100" dirty="0"/>
          </a:p>
        </p:txBody>
      </p:sp>
      <p:sp>
        <p:nvSpPr>
          <p:cNvPr id="27" name="anim-g2-878"/>
          <p:cNvSpPr/>
          <p:nvPr/>
        </p:nvSpPr>
        <p:spPr>
          <a:xfrm>
            <a:off x="822960" y="3240634"/>
            <a:ext cx="3064977" cy="616306"/>
          </a:xfrm>
          <a:prstGeom prst="roundRect">
            <a:avLst>
              <a:gd name="adj" fmla="val 17804"/>
            </a:avLst>
          </a:prstGeom>
          <a:solidFill>
            <a:srgbClr val="E6F4EC"/>
          </a:solidFill>
          <a:ln w="12700">
            <a:solidFill>
              <a:srgbClr val="CDE9D9"/>
            </a:solidFill>
            <a:prstDash val="solid"/>
          </a:ln>
        </p:spPr>
      </p:sp>
      <p:sp>
        <p:nvSpPr>
          <p:cNvPr id="28" name="anim-g2-879"/>
          <p:cNvSpPr/>
          <p:nvPr/>
        </p:nvSpPr>
        <p:spPr>
          <a:xfrm>
            <a:off x="960120" y="3240634"/>
            <a:ext cx="2790657"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المسافة المعتمدة</a:t>
            </a:r>
            <a:endParaRPr lang="ar-SA" sz="2100" dirty="0"/>
          </a:p>
        </p:txBody>
      </p:sp>
      <p:sp>
        <p:nvSpPr>
          <p:cNvPr id="29" name="anim-g3-880"/>
          <p:cNvSpPr/>
          <p:nvPr/>
        </p:nvSpPr>
        <p:spPr>
          <a:xfrm>
            <a:off x="7792928" y="3966667"/>
            <a:ext cx="3575807" cy="616306"/>
          </a:xfrm>
          <a:prstGeom prst="roundRect">
            <a:avLst>
              <a:gd name="adj" fmla="val 17804"/>
            </a:avLst>
          </a:prstGeom>
          <a:solidFill>
            <a:srgbClr val="FBF3DF"/>
          </a:solidFill>
          <a:ln w="12700">
            <a:solidFill>
              <a:srgbClr val="EFDDAF"/>
            </a:solidFill>
            <a:prstDash val="solid"/>
          </a:ln>
        </p:spPr>
      </p:sp>
      <p:sp>
        <p:nvSpPr>
          <p:cNvPr id="30" name="anim-g3-881"/>
          <p:cNvSpPr/>
          <p:nvPr/>
        </p:nvSpPr>
        <p:spPr>
          <a:xfrm>
            <a:off x="7930088" y="3966667"/>
            <a:ext cx="3301487"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إخراج عملة الذكرى</a:t>
            </a:r>
            <a:endParaRPr lang="ar-SA" sz="2100" dirty="0"/>
          </a:p>
        </p:txBody>
      </p:sp>
      <p:sp>
        <p:nvSpPr>
          <p:cNvPr id="31" name="anim-g3-882"/>
          <p:cNvSpPr/>
          <p:nvPr/>
        </p:nvSpPr>
        <p:spPr>
          <a:xfrm>
            <a:off x="5895297" y="3966667"/>
            <a:ext cx="1787903" cy="616306"/>
          </a:xfrm>
          <a:prstGeom prst="roundRect">
            <a:avLst>
              <a:gd name="adj" fmla="val 17804"/>
            </a:avLst>
          </a:prstGeom>
          <a:solidFill>
            <a:srgbClr val="FFFFFF"/>
          </a:solidFill>
          <a:ln w="12700">
            <a:solidFill>
              <a:srgbClr val="E4DCC8"/>
            </a:solidFill>
            <a:prstDash val="solid"/>
          </a:ln>
        </p:spPr>
      </p:sp>
      <p:sp>
        <p:nvSpPr>
          <p:cNvPr id="32" name="anim-g3-883"/>
          <p:cNvSpPr/>
          <p:nvPr/>
        </p:nvSpPr>
        <p:spPr>
          <a:xfrm>
            <a:off x="6032457" y="3966667"/>
            <a:ext cx="1513583"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١٠</a:t>
            </a:r>
            <a:endParaRPr lang="ar-SA" sz="2100" dirty="0"/>
          </a:p>
        </p:txBody>
      </p:sp>
      <p:sp>
        <p:nvSpPr>
          <p:cNvPr id="33" name="anim-g3-884"/>
          <p:cNvSpPr/>
          <p:nvPr/>
        </p:nvSpPr>
        <p:spPr>
          <a:xfrm>
            <a:off x="3997665" y="3966667"/>
            <a:ext cx="1787903" cy="616306"/>
          </a:xfrm>
          <a:prstGeom prst="roundRect">
            <a:avLst>
              <a:gd name="adj" fmla="val 17804"/>
            </a:avLst>
          </a:prstGeom>
          <a:solidFill>
            <a:srgbClr val="FFFFFF"/>
          </a:solidFill>
          <a:ln w="12700">
            <a:solidFill>
              <a:srgbClr val="E4DCC8"/>
            </a:solidFill>
            <a:prstDash val="solid"/>
          </a:ln>
        </p:spPr>
      </p:sp>
      <p:sp>
        <p:nvSpPr>
          <p:cNvPr id="34" name="anim-g3-885"/>
          <p:cNvSpPr/>
          <p:nvPr/>
        </p:nvSpPr>
        <p:spPr>
          <a:xfrm>
            <a:off x="4134825" y="3966667"/>
            <a:ext cx="1513583"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 / ١٠</a:t>
            </a:r>
            <a:endParaRPr lang="ar-SA" sz="2100" dirty="0"/>
          </a:p>
        </p:txBody>
      </p:sp>
      <p:sp>
        <p:nvSpPr>
          <p:cNvPr id="35" name="anim-g3-886"/>
          <p:cNvSpPr/>
          <p:nvPr/>
        </p:nvSpPr>
        <p:spPr>
          <a:xfrm>
            <a:off x="822960" y="3966667"/>
            <a:ext cx="3064977" cy="616306"/>
          </a:xfrm>
          <a:prstGeom prst="roundRect">
            <a:avLst>
              <a:gd name="adj" fmla="val 17804"/>
            </a:avLst>
          </a:prstGeom>
          <a:solidFill>
            <a:srgbClr val="E6F4EC"/>
          </a:solidFill>
          <a:ln w="12700">
            <a:solidFill>
              <a:srgbClr val="CDE9D9"/>
            </a:solidFill>
            <a:prstDash val="solid"/>
          </a:ln>
        </p:spPr>
      </p:sp>
      <p:sp>
        <p:nvSpPr>
          <p:cNvPr id="36" name="anim-g3-887"/>
          <p:cNvSpPr/>
          <p:nvPr/>
        </p:nvSpPr>
        <p:spPr>
          <a:xfrm>
            <a:off x="960120" y="3966667"/>
            <a:ext cx="2790657"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انحشار أم خروج سليم</a:t>
            </a:r>
            <a:endParaRPr lang="ar-SA" sz="2100" dirty="0"/>
          </a:p>
        </p:txBody>
      </p:sp>
      <p:sp>
        <p:nvSpPr>
          <p:cNvPr id="37" name="anim-g4-888"/>
          <p:cNvSpPr/>
          <p:nvPr/>
        </p:nvSpPr>
        <p:spPr>
          <a:xfrm>
            <a:off x="7792928" y="4692701"/>
            <a:ext cx="3575807" cy="616306"/>
          </a:xfrm>
          <a:prstGeom prst="roundRect">
            <a:avLst>
              <a:gd name="adj" fmla="val 17804"/>
            </a:avLst>
          </a:prstGeom>
          <a:solidFill>
            <a:srgbClr val="FBF3DF"/>
          </a:solidFill>
          <a:ln w="12700">
            <a:solidFill>
              <a:srgbClr val="EFDDAF"/>
            </a:solidFill>
            <a:prstDash val="solid"/>
          </a:ln>
        </p:spPr>
      </p:sp>
      <p:sp>
        <p:nvSpPr>
          <p:cNvPr id="38" name="anim-g4-889"/>
          <p:cNvSpPr/>
          <p:nvPr/>
        </p:nvSpPr>
        <p:spPr>
          <a:xfrm>
            <a:off x="7930088" y="4692701"/>
            <a:ext cx="3301487"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الأزرار والصوت والليدان</a:t>
            </a:r>
            <a:endParaRPr lang="ar-SA" sz="2100" dirty="0"/>
          </a:p>
        </p:txBody>
      </p:sp>
      <p:sp>
        <p:nvSpPr>
          <p:cNvPr id="39" name="anim-g4-890"/>
          <p:cNvSpPr/>
          <p:nvPr/>
        </p:nvSpPr>
        <p:spPr>
          <a:xfrm>
            <a:off x="5895297" y="4692701"/>
            <a:ext cx="1787903" cy="616306"/>
          </a:xfrm>
          <a:prstGeom prst="roundRect">
            <a:avLst>
              <a:gd name="adj" fmla="val 17804"/>
            </a:avLst>
          </a:prstGeom>
          <a:solidFill>
            <a:srgbClr val="FFFFFF"/>
          </a:solidFill>
          <a:ln w="12700">
            <a:solidFill>
              <a:srgbClr val="E4DCC8"/>
            </a:solidFill>
            <a:prstDash val="solid"/>
          </a:ln>
        </p:spPr>
      </p:sp>
      <p:sp>
        <p:nvSpPr>
          <p:cNvPr id="40" name="anim-g4-891"/>
          <p:cNvSpPr/>
          <p:nvPr/>
        </p:nvSpPr>
        <p:spPr>
          <a:xfrm>
            <a:off x="6032457" y="4692701"/>
            <a:ext cx="1513583"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١٠</a:t>
            </a:r>
            <a:endParaRPr lang="ar-SA" sz="2100" dirty="0"/>
          </a:p>
        </p:txBody>
      </p:sp>
      <p:sp>
        <p:nvSpPr>
          <p:cNvPr id="41" name="anim-g4-892"/>
          <p:cNvSpPr/>
          <p:nvPr/>
        </p:nvSpPr>
        <p:spPr>
          <a:xfrm>
            <a:off x="3997665" y="4692701"/>
            <a:ext cx="1787903" cy="616306"/>
          </a:xfrm>
          <a:prstGeom prst="roundRect">
            <a:avLst>
              <a:gd name="adj" fmla="val 17804"/>
            </a:avLst>
          </a:prstGeom>
          <a:solidFill>
            <a:srgbClr val="FFFFFF"/>
          </a:solidFill>
          <a:ln w="12700">
            <a:solidFill>
              <a:srgbClr val="E4DCC8"/>
            </a:solidFill>
            <a:prstDash val="solid"/>
          </a:ln>
        </p:spPr>
      </p:sp>
      <p:sp>
        <p:nvSpPr>
          <p:cNvPr id="42" name="anim-g4-893"/>
          <p:cNvSpPr/>
          <p:nvPr/>
        </p:nvSpPr>
        <p:spPr>
          <a:xfrm>
            <a:off x="4134825" y="4692701"/>
            <a:ext cx="1513583"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 / ١٠</a:t>
            </a:r>
            <a:endParaRPr lang="ar-SA" sz="2100" dirty="0"/>
          </a:p>
        </p:txBody>
      </p:sp>
      <p:sp>
        <p:nvSpPr>
          <p:cNvPr id="43" name="anim-g4-894"/>
          <p:cNvSpPr/>
          <p:nvPr/>
        </p:nvSpPr>
        <p:spPr>
          <a:xfrm>
            <a:off x="822960" y="4692701"/>
            <a:ext cx="3064977" cy="616306"/>
          </a:xfrm>
          <a:prstGeom prst="roundRect">
            <a:avLst>
              <a:gd name="adj" fmla="val 17804"/>
            </a:avLst>
          </a:prstGeom>
          <a:solidFill>
            <a:srgbClr val="E6F4EC"/>
          </a:solidFill>
          <a:ln w="12700">
            <a:solidFill>
              <a:srgbClr val="CDE9D9"/>
            </a:solidFill>
            <a:prstDash val="solid"/>
          </a:ln>
        </p:spPr>
      </p:sp>
      <p:sp>
        <p:nvSpPr>
          <p:cNvPr id="44" name="anim-g4-895"/>
          <p:cNvSpPr/>
          <p:nvPr/>
        </p:nvSpPr>
        <p:spPr>
          <a:xfrm>
            <a:off x="960120" y="4692701"/>
            <a:ext cx="2790657"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ضغطات وهمية؟</a:t>
            </a:r>
            <a:endParaRPr lang="ar-SA" sz="2100" dirty="0"/>
          </a:p>
        </p:txBody>
      </p:sp>
      <p:sp>
        <p:nvSpPr>
          <p:cNvPr id="45" name="anim-g5-896"/>
          <p:cNvSpPr/>
          <p:nvPr/>
        </p:nvSpPr>
        <p:spPr>
          <a:xfrm>
            <a:off x="7792928" y="5418734"/>
            <a:ext cx="3575807" cy="616306"/>
          </a:xfrm>
          <a:prstGeom prst="roundRect">
            <a:avLst>
              <a:gd name="adj" fmla="val 17804"/>
            </a:avLst>
          </a:prstGeom>
          <a:solidFill>
            <a:srgbClr val="FBF3DF"/>
          </a:solidFill>
          <a:ln w="12700">
            <a:solidFill>
              <a:srgbClr val="EFDDAF"/>
            </a:solidFill>
            <a:prstDash val="solid"/>
          </a:ln>
        </p:spPr>
      </p:sp>
      <p:sp>
        <p:nvSpPr>
          <p:cNvPr id="46" name="anim-g5-897"/>
          <p:cNvSpPr/>
          <p:nvPr/>
        </p:nvSpPr>
        <p:spPr>
          <a:xfrm>
            <a:off x="7930088" y="5418734"/>
            <a:ext cx="3301487"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الجولة كاملة بالمسارين</a:t>
            </a:r>
            <a:endParaRPr lang="ar-SA" sz="2100" dirty="0"/>
          </a:p>
        </p:txBody>
      </p:sp>
      <p:sp>
        <p:nvSpPr>
          <p:cNvPr id="47" name="anim-g5-898"/>
          <p:cNvSpPr/>
          <p:nvPr/>
        </p:nvSpPr>
        <p:spPr>
          <a:xfrm>
            <a:off x="5895297" y="5418734"/>
            <a:ext cx="1787903" cy="616306"/>
          </a:xfrm>
          <a:prstGeom prst="roundRect">
            <a:avLst>
              <a:gd name="adj" fmla="val 17804"/>
            </a:avLst>
          </a:prstGeom>
          <a:solidFill>
            <a:srgbClr val="FFFFFF"/>
          </a:solidFill>
          <a:ln w="12700">
            <a:solidFill>
              <a:srgbClr val="E4DCC8"/>
            </a:solidFill>
            <a:prstDash val="solid"/>
          </a:ln>
        </p:spPr>
      </p:sp>
      <p:sp>
        <p:nvSpPr>
          <p:cNvPr id="48" name="anim-g5-899"/>
          <p:cNvSpPr/>
          <p:nvPr/>
        </p:nvSpPr>
        <p:spPr>
          <a:xfrm>
            <a:off x="6032457" y="5418734"/>
            <a:ext cx="1513583"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٥</a:t>
            </a:r>
            <a:endParaRPr lang="ar-SA" sz="2100" dirty="0"/>
          </a:p>
        </p:txBody>
      </p:sp>
      <p:sp>
        <p:nvSpPr>
          <p:cNvPr id="49" name="anim-g5-900"/>
          <p:cNvSpPr/>
          <p:nvPr/>
        </p:nvSpPr>
        <p:spPr>
          <a:xfrm>
            <a:off x="3997665" y="5418734"/>
            <a:ext cx="1787903" cy="616306"/>
          </a:xfrm>
          <a:prstGeom prst="roundRect">
            <a:avLst>
              <a:gd name="adj" fmla="val 17804"/>
            </a:avLst>
          </a:prstGeom>
          <a:solidFill>
            <a:srgbClr val="FFFFFF"/>
          </a:solidFill>
          <a:ln w="12700">
            <a:solidFill>
              <a:srgbClr val="E4DCC8"/>
            </a:solidFill>
            <a:prstDash val="solid"/>
          </a:ln>
        </p:spPr>
      </p:sp>
      <p:sp>
        <p:nvSpPr>
          <p:cNvPr id="50" name="anim-g5-901"/>
          <p:cNvSpPr/>
          <p:nvPr/>
        </p:nvSpPr>
        <p:spPr>
          <a:xfrm>
            <a:off x="4134825" y="5418734"/>
            <a:ext cx="1513583"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 / ٥</a:t>
            </a:r>
            <a:endParaRPr lang="ar-SA" sz="2100" dirty="0"/>
          </a:p>
        </p:txBody>
      </p:sp>
      <p:sp>
        <p:nvSpPr>
          <p:cNvPr id="51" name="anim-g5-902"/>
          <p:cNvSpPr/>
          <p:nvPr/>
        </p:nvSpPr>
        <p:spPr>
          <a:xfrm>
            <a:off x="822960" y="5418734"/>
            <a:ext cx="3064977" cy="616306"/>
          </a:xfrm>
          <a:prstGeom prst="roundRect">
            <a:avLst>
              <a:gd name="adj" fmla="val 17804"/>
            </a:avLst>
          </a:prstGeom>
          <a:solidFill>
            <a:srgbClr val="E6F4EC"/>
          </a:solidFill>
          <a:ln w="12700">
            <a:solidFill>
              <a:srgbClr val="CDE9D9"/>
            </a:solidFill>
            <a:prstDash val="solid"/>
          </a:ln>
        </p:spPr>
      </p:sp>
      <p:sp>
        <p:nvSpPr>
          <p:cNvPr id="52" name="anim-g5-903"/>
          <p:cNvSpPr/>
          <p:nvPr/>
        </p:nvSpPr>
        <p:spPr>
          <a:xfrm>
            <a:off x="960120" y="5418734"/>
            <a:ext cx="2790657"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زمن الجولة الفعلي</a:t>
            </a:r>
            <a:endParaRPr lang="ar-SA" sz="2100" dirty="0"/>
          </a:p>
        </p:txBody>
      </p:sp>
      <p:sp>
        <p:nvSpPr>
          <p:cNvPr id="53" name="Text 51"/>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صانع الذكريات التراثية</a:t>
            </a:r>
            <a:endParaRPr lang="ar-SA" sz="1200" dirty="0"/>
          </a:p>
        </p:txBody>
      </p:sp>
      <p:sp>
        <p:nvSpPr>
          <p:cNvPr id="54" name="Text 52"/>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الجولة الكاملة  ·  ١٢٢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400"/>
                                        <p:tgtEl>
                                          <p:spTgt spid="1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fade">
                                      <p:cBhvr>
                                        <p:cTn id="13" dur="400"/>
                                        <p:tgtEl>
                                          <p:spTgt spid="1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6"/>
                                        </p:tgtEl>
                                        <p:attrNameLst>
                                          <p:attrName>style.visibility</p:attrName>
                                        </p:attrNameLst>
                                      </p:cBhvr>
                                      <p:to>
                                        <p:strVal val="visible"/>
                                      </p:to>
                                    </p:set>
                                    <p:animEffect transition="in" filter="fade">
                                      <p:cBhvr>
                                        <p:cTn id="16" dur="400"/>
                                        <p:tgtEl>
                                          <p:spTgt spid="1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00"/>
                                        <p:tgtEl>
                                          <p:spTgt spid="1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21"/>
                                        </p:tgtEl>
                                        <p:attrNameLst>
                                          <p:attrName>style.visibility</p:attrName>
                                        </p:attrNameLst>
                                      </p:cBhvr>
                                      <p:to>
                                        <p:strVal val="visible"/>
                                      </p:to>
                                    </p:set>
                                    <p:animEffect transition="in" filter="fade">
                                      <p:cBhvr>
                                        <p:cTn id="33" dur="400"/>
                                        <p:tgtEl>
                                          <p:spTgt spid="21"/>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2"/>
                                        </p:tgtEl>
                                        <p:attrNameLst>
                                          <p:attrName>style.visibility</p:attrName>
                                        </p:attrNameLst>
                                      </p:cBhvr>
                                      <p:to>
                                        <p:strVal val="visible"/>
                                      </p:to>
                                    </p:set>
                                    <p:animEffect transition="in" filter="fade">
                                      <p:cBhvr>
                                        <p:cTn id="36" dur="400"/>
                                        <p:tgtEl>
                                          <p:spTgt spid="22"/>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animEffect transition="in" filter="fade">
                                      <p:cBhvr>
                                        <p:cTn id="39" dur="400"/>
                                        <p:tgtEl>
                                          <p:spTgt spid="23"/>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4"/>
                                        </p:tgtEl>
                                        <p:attrNameLst>
                                          <p:attrName>style.visibility</p:attrName>
                                        </p:attrNameLst>
                                      </p:cBhvr>
                                      <p:to>
                                        <p:strVal val="visible"/>
                                      </p:to>
                                    </p:set>
                                    <p:animEffect transition="in" filter="fade">
                                      <p:cBhvr>
                                        <p:cTn id="42" dur="400"/>
                                        <p:tgtEl>
                                          <p:spTgt spid="24"/>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5"/>
                                        </p:tgtEl>
                                        <p:attrNameLst>
                                          <p:attrName>style.visibility</p:attrName>
                                        </p:attrNameLst>
                                      </p:cBhvr>
                                      <p:to>
                                        <p:strVal val="visible"/>
                                      </p:to>
                                    </p:set>
                                    <p:animEffect transition="in" filter="fade">
                                      <p:cBhvr>
                                        <p:cTn id="45" dur="400"/>
                                        <p:tgtEl>
                                          <p:spTgt spid="2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fade">
                                      <p:cBhvr>
                                        <p:cTn id="48" dur="400"/>
                                        <p:tgtEl>
                                          <p:spTgt spid="2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7"/>
                                        </p:tgtEl>
                                        <p:attrNameLst>
                                          <p:attrName>style.visibility</p:attrName>
                                        </p:attrNameLst>
                                      </p:cBhvr>
                                      <p:to>
                                        <p:strVal val="visible"/>
                                      </p:to>
                                    </p:set>
                                    <p:animEffect transition="in" filter="fade">
                                      <p:cBhvr>
                                        <p:cTn id="51" dur="400"/>
                                        <p:tgtEl>
                                          <p:spTgt spid="2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8"/>
                                        </p:tgtEl>
                                        <p:attrNameLst>
                                          <p:attrName>style.visibility</p:attrName>
                                        </p:attrNameLst>
                                      </p:cBhvr>
                                      <p:to>
                                        <p:strVal val="visible"/>
                                      </p:to>
                                    </p:set>
                                    <p:animEffect transition="in" filter="fade">
                                      <p:cBhvr>
                                        <p:cTn id="54" dur="400"/>
                                        <p:tgtEl>
                                          <p:spTgt spid="28"/>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400"/>
                                        <p:tgtEl>
                                          <p:spTgt spid="29"/>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30"/>
                                        </p:tgtEl>
                                        <p:attrNameLst>
                                          <p:attrName>style.visibility</p:attrName>
                                        </p:attrNameLst>
                                      </p:cBhvr>
                                      <p:to>
                                        <p:strVal val="visible"/>
                                      </p:to>
                                    </p:set>
                                    <p:animEffect transition="in" filter="fade">
                                      <p:cBhvr>
                                        <p:cTn id="62" dur="400"/>
                                        <p:tgtEl>
                                          <p:spTgt spid="30"/>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400"/>
                                        <p:tgtEl>
                                          <p:spTgt spid="31"/>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2"/>
                                        </p:tgtEl>
                                        <p:attrNameLst>
                                          <p:attrName>style.visibility</p:attrName>
                                        </p:attrNameLst>
                                      </p:cBhvr>
                                      <p:to>
                                        <p:strVal val="visible"/>
                                      </p:to>
                                    </p:set>
                                    <p:animEffect transition="in" filter="fade">
                                      <p:cBhvr>
                                        <p:cTn id="68" dur="400"/>
                                        <p:tgtEl>
                                          <p:spTgt spid="32"/>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400"/>
                                        <p:tgtEl>
                                          <p:spTgt spid="3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4"/>
                                        </p:tgtEl>
                                        <p:attrNameLst>
                                          <p:attrName>style.visibility</p:attrName>
                                        </p:attrNameLst>
                                      </p:cBhvr>
                                      <p:to>
                                        <p:strVal val="visible"/>
                                      </p:to>
                                    </p:set>
                                    <p:animEffect transition="in" filter="fade">
                                      <p:cBhvr>
                                        <p:cTn id="74" dur="400"/>
                                        <p:tgtEl>
                                          <p:spTgt spid="3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400"/>
                                        <p:tgtEl>
                                          <p:spTgt spid="35"/>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36"/>
                                        </p:tgtEl>
                                        <p:attrNameLst>
                                          <p:attrName>style.visibility</p:attrName>
                                        </p:attrNameLst>
                                      </p:cBhvr>
                                      <p:to>
                                        <p:strVal val="visible"/>
                                      </p:to>
                                    </p:set>
                                    <p:animEffect transition="in" filter="fade">
                                      <p:cBhvr>
                                        <p:cTn id="80" dur="400"/>
                                        <p:tgtEl>
                                          <p:spTgt spid="36"/>
                                        </p:tgtEl>
                                      </p:cBhvr>
                                    </p:animEffect>
                                  </p:childTnLst>
                                </p:cTn>
                              </p:par>
                            </p:childTnLst>
                          </p:cTn>
                        </p:par>
                      </p:childTnLst>
                    </p:cTn>
                  </p:par>
                  <p:par>
                    <p:cTn id="81" fill="hold">
                      <p:stCondLst>
                        <p:cond delay="indefinite"/>
                      </p:stCondLst>
                      <p:childTnLst>
                        <p:par>
                          <p:cTn id="82" fill="hold">
                            <p:stCondLst>
                              <p:cond delay="0"/>
                            </p:stCondLst>
                            <p:childTnLst>
                              <p:par>
                                <p:cTn id="83" presetID="10" presetClass="entr" presetSubtype="0" fill="hold" grpId="0" nodeType="clickEffect">
                                  <p:stCondLst>
                                    <p:cond delay="0"/>
                                  </p:stCondLst>
                                  <p:childTnLst>
                                    <p:set>
                                      <p:cBhvr>
                                        <p:cTn id="84" dur="1" fill="hold">
                                          <p:stCondLst>
                                            <p:cond delay="0"/>
                                          </p:stCondLst>
                                        </p:cTn>
                                        <p:tgtEl>
                                          <p:spTgt spid="37"/>
                                        </p:tgtEl>
                                        <p:attrNameLst>
                                          <p:attrName>style.visibility</p:attrName>
                                        </p:attrNameLst>
                                      </p:cBhvr>
                                      <p:to>
                                        <p:strVal val="visible"/>
                                      </p:to>
                                    </p:set>
                                    <p:animEffect transition="in" filter="fade">
                                      <p:cBhvr>
                                        <p:cTn id="85" dur="400"/>
                                        <p:tgtEl>
                                          <p:spTgt spid="3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8"/>
                                        </p:tgtEl>
                                        <p:attrNameLst>
                                          <p:attrName>style.visibility</p:attrName>
                                        </p:attrNameLst>
                                      </p:cBhvr>
                                      <p:to>
                                        <p:strVal val="visible"/>
                                      </p:to>
                                    </p:set>
                                    <p:animEffect transition="in" filter="fade">
                                      <p:cBhvr>
                                        <p:cTn id="88" dur="400"/>
                                        <p:tgtEl>
                                          <p:spTgt spid="38"/>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9"/>
                                        </p:tgtEl>
                                        <p:attrNameLst>
                                          <p:attrName>style.visibility</p:attrName>
                                        </p:attrNameLst>
                                      </p:cBhvr>
                                      <p:to>
                                        <p:strVal val="visible"/>
                                      </p:to>
                                    </p:set>
                                    <p:animEffect transition="in" filter="fade">
                                      <p:cBhvr>
                                        <p:cTn id="91" dur="400"/>
                                        <p:tgtEl>
                                          <p:spTgt spid="39"/>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40"/>
                                        </p:tgtEl>
                                        <p:attrNameLst>
                                          <p:attrName>style.visibility</p:attrName>
                                        </p:attrNameLst>
                                      </p:cBhvr>
                                      <p:to>
                                        <p:strVal val="visible"/>
                                      </p:to>
                                    </p:set>
                                    <p:animEffect transition="in" filter="fade">
                                      <p:cBhvr>
                                        <p:cTn id="94" dur="400"/>
                                        <p:tgtEl>
                                          <p:spTgt spid="40"/>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41"/>
                                        </p:tgtEl>
                                        <p:attrNameLst>
                                          <p:attrName>style.visibility</p:attrName>
                                        </p:attrNameLst>
                                      </p:cBhvr>
                                      <p:to>
                                        <p:strVal val="visible"/>
                                      </p:to>
                                    </p:set>
                                    <p:animEffect transition="in" filter="fade">
                                      <p:cBhvr>
                                        <p:cTn id="97" dur="400"/>
                                        <p:tgtEl>
                                          <p:spTgt spid="41"/>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42"/>
                                        </p:tgtEl>
                                        <p:attrNameLst>
                                          <p:attrName>style.visibility</p:attrName>
                                        </p:attrNameLst>
                                      </p:cBhvr>
                                      <p:to>
                                        <p:strVal val="visible"/>
                                      </p:to>
                                    </p:set>
                                    <p:animEffect transition="in" filter="fade">
                                      <p:cBhvr>
                                        <p:cTn id="100" dur="400"/>
                                        <p:tgtEl>
                                          <p:spTgt spid="42"/>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43"/>
                                        </p:tgtEl>
                                        <p:attrNameLst>
                                          <p:attrName>style.visibility</p:attrName>
                                        </p:attrNameLst>
                                      </p:cBhvr>
                                      <p:to>
                                        <p:strVal val="visible"/>
                                      </p:to>
                                    </p:set>
                                    <p:animEffect transition="in" filter="fade">
                                      <p:cBhvr>
                                        <p:cTn id="103" dur="400"/>
                                        <p:tgtEl>
                                          <p:spTgt spid="43"/>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44"/>
                                        </p:tgtEl>
                                        <p:attrNameLst>
                                          <p:attrName>style.visibility</p:attrName>
                                        </p:attrNameLst>
                                      </p:cBhvr>
                                      <p:to>
                                        <p:strVal val="visible"/>
                                      </p:to>
                                    </p:set>
                                    <p:animEffect transition="in" filter="fade">
                                      <p:cBhvr>
                                        <p:cTn id="106" dur="400"/>
                                        <p:tgtEl>
                                          <p:spTgt spid="44"/>
                                        </p:tgtEl>
                                      </p:cBhvr>
                                    </p:animEffect>
                                  </p:childTnLst>
                                </p:cTn>
                              </p:par>
                            </p:childTnLst>
                          </p:cTn>
                        </p:par>
                      </p:childTnLst>
                    </p:cTn>
                  </p:par>
                  <p:par>
                    <p:cTn id="107" fill="hold">
                      <p:stCondLst>
                        <p:cond delay="indefinite"/>
                      </p:stCondLst>
                      <p:childTnLst>
                        <p:par>
                          <p:cTn id="108" fill="hold">
                            <p:stCondLst>
                              <p:cond delay="0"/>
                            </p:stCondLst>
                            <p:childTnLst>
                              <p:par>
                                <p:cTn id="109" presetID="10" presetClass="entr" presetSubtype="0" fill="hold" grpId="0" nodeType="clickEffect">
                                  <p:stCondLst>
                                    <p:cond delay="0"/>
                                  </p:stCondLst>
                                  <p:childTnLst>
                                    <p:set>
                                      <p:cBhvr>
                                        <p:cTn id="110" dur="1" fill="hold">
                                          <p:stCondLst>
                                            <p:cond delay="0"/>
                                          </p:stCondLst>
                                        </p:cTn>
                                        <p:tgtEl>
                                          <p:spTgt spid="45"/>
                                        </p:tgtEl>
                                        <p:attrNameLst>
                                          <p:attrName>style.visibility</p:attrName>
                                        </p:attrNameLst>
                                      </p:cBhvr>
                                      <p:to>
                                        <p:strVal val="visible"/>
                                      </p:to>
                                    </p:set>
                                    <p:animEffect transition="in" filter="fade">
                                      <p:cBhvr>
                                        <p:cTn id="111" dur="400"/>
                                        <p:tgtEl>
                                          <p:spTgt spid="45"/>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46"/>
                                        </p:tgtEl>
                                        <p:attrNameLst>
                                          <p:attrName>style.visibility</p:attrName>
                                        </p:attrNameLst>
                                      </p:cBhvr>
                                      <p:to>
                                        <p:strVal val="visible"/>
                                      </p:to>
                                    </p:set>
                                    <p:animEffect transition="in" filter="fade">
                                      <p:cBhvr>
                                        <p:cTn id="114" dur="400"/>
                                        <p:tgtEl>
                                          <p:spTgt spid="46"/>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47"/>
                                        </p:tgtEl>
                                        <p:attrNameLst>
                                          <p:attrName>style.visibility</p:attrName>
                                        </p:attrNameLst>
                                      </p:cBhvr>
                                      <p:to>
                                        <p:strVal val="visible"/>
                                      </p:to>
                                    </p:set>
                                    <p:animEffect transition="in" filter="fade">
                                      <p:cBhvr>
                                        <p:cTn id="117" dur="400"/>
                                        <p:tgtEl>
                                          <p:spTgt spid="47"/>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48"/>
                                        </p:tgtEl>
                                        <p:attrNameLst>
                                          <p:attrName>style.visibility</p:attrName>
                                        </p:attrNameLst>
                                      </p:cBhvr>
                                      <p:to>
                                        <p:strVal val="visible"/>
                                      </p:to>
                                    </p:set>
                                    <p:animEffect transition="in" filter="fade">
                                      <p:cBhvr>
                                        <p:cTn id="120" dur="400"/>
                                        <p:tgtEl>
                                          <p:spTgt spid="48"/>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49"/>
                                        </p:tgtEl>
                                        <p:attrNameLst>
                                          <p:attrName>style.visibility</p:attrName>
                                        </p:attrNameLst>
                                      </p:cBhvr>
                                      <p:to>
                                        <p:strVal val="visible"/>
                                      </p:to>
                                    </p:set>
                                    <p:animEffect transition="in" filter="fade">
                                      <p:cBhvr>
                                        <p:cTn id="123" dur="400"/>
                                        <p:tgtEl>
                                          <p:spTgt spid="49"/>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50"/>
                                        </p:tgtEl>
                                        <p:attrNameLst>
                                          <p:attrName>style.visibility</p:attrName>
                                        </p:attrNameLst>
                                      </p:cBhvr>
                                      <p:to>
                                        <p:strVal val="visible"/>
                                      </p:to>
                                    </p:set>
                                    <p:animEffect transition="in" filter="fade">
                                      <p:cBhvr>
                                        <p:cTn id="126" dur="400"/>
                                        <p:tgtEl>
                                          <p:spTgt spid="50"/>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51"/>
                                        </p:tgtEl>
                                        <p:attrNameLst>
                                          <p:attrName>style.visibility</p:attrName>
                                        </p:attrNameLst>
                                      </p:cBhvr>
                                      <p:to>
                                        <p:strVal val="visible"/>
                                      </p:to>
                                    </p:set>
                                    <p:animEffect transition="in" filter="fade">
                                      <p:cBhvr>
                                        <p:cTn id="129" dur="400"/>
                                        <p:tgtEl>
                                          <p:spTgt spid="51"/>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52"/>
                                        </p:tgtEl>
                                        <p:attrNameLst>
                                          <p:attrName>style.visibility</p:attrName>
                                        </p:attrNameLst>
                                      </p:cBhvr>
                                      <p:to>
                                        <p:strVal val="visible"/>
                                      </p:to>
                                    </p:set>
                                    <p:animEffect transition="in" filter="fade">
                                      <p:cBhvr>
                                        <p:cTn id="132" dur="4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name="Slide 12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الأثر وكيف نقيسه</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لا نكتب أثرًا قبل أن نقيسه</a:t>
            </a:r>
            <a:endParaRPr lang="ar-SA" sz="3800" dirty="0"/>
          </a:p>
        </p:txBody>
      </p:sp>
      <p:sp>
        <p:nvSpPr>
          <p:cNvPr id="5" name="anim-g1-904"/>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905"/>
          <p:cNvSpPr/>
          <p:nvPr/>
        </p:nvSpPr>
        <p:spPr>
          <a:xfrm>
            <a:off x="10527487" y="2267712"/>
            <a:ext cx="566928" cy="566928"/>
          </a:xfrm>
          <a:prstGeom prst="roundRect">
            <a:avLst>
              <a:gd name="adj" fmla="val 32258"/>
            </a:avLst>
          </a:prstGeom>
          <a:solidFill>
            <a:srgbClr val="F7E6BC"/>
          </a:solidFill>
          <a:ln/>
        </p:spPr>
      </p:sp>
      <p:sp>
        <p:nvSpPr>
          <p:cNvPr id="7" name="anim-g1-906"/>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907"/>
          <p:cNvSpPr/>
          <p:nvPr/>
        </p:nvSpPr>
        <p:spPr>
          <a:xfrm>
            <a:off x="6507328"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إكمال الجولة</a:t>
            </a:r>
            <a:endParaRPr lang="ar-SA" sz="2200" dirty="0"/>
          </a:p>
        </p:txBody>
      </p:sp>
      <p:sp>
        <p:nvSpPr>
          <p:cNvPr id="9" name="anim-g1-908"/>
          <p:cNvSpPr/>
          <p:nvPr/>
        </p:nvSpPr>
        <p:spPr>
          <a:xfrm>
            <a:off x="6507328"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عدد الجولات المكتملة، أو ملاحظة فريق العرض</a:t>
            </a:r>
            <a:endParaRPr lang="ar-SA" sz="1900" dirty="0"/>
          </a:p>
        </p:txBody>
      </p:sp>
      <p:sp>
        <p:nvSpPr>
          <p:cNvPr id="10" name="anim-g2-909"/>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910"/>
          <p:cNvSpPr/>
          <p:nvPr/>
        </p:nvSpPr>
        <p:spPr>
          <a:xfrm>
            <a:off x="5117440" y="2267712"/>
            <a:ext cx="566928" cy="566928"/>
          </a:xfrm>
          <a:prstGeom prst="roundRect">
            <a:avLst>
              <a:gd name="adj" fmla="val 32258"/>
            </a:avLst>
          </a:prstGeom>
          <a:solidFill>
            <a:srgbClr val="F7E6BC"/>
          </a:solidFill>
          <a:ln/>
        </p:spPr>
      </p:sp>
      <p:sp>
        <p:nvSpPr>
          <p:cNvPr id="12" name="anim-g2-911"/>
          <p:cNvSpPr/>
          <p:nvPr/>
        </p:nvSpPr>
        <p:spPr>
          <a:xfrm>
            <a:off x="511744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912"/>
          <p:cNvSpPr/>
          <p:nvPr/>
        </p:nvSpPr>
        <p:spPr>
          <a:xfrm>
            <a:off x="1097280"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تذكّر المعلومة</a:t>
            </a:r>
            <a:endParaRPr lang="ar-SA" sz="2200" dirty="0"/>
          </a:p>
        </p:txBody>
      </p:sp>
      <p:sp>
        <p:nvSpPr>
          <p:cNvPr id="14" name="anim-g2-913"/>
          <p:cNvSpPr/>
          <p:nvPr/>
        </p:nvSpPr>
        <p:spPr>
          <a:xfrm>
            <a:off x="1097280"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سؤال قصير بعد الجولة، بموافقة المدرسة</a:t>
            </a:r>
            <a:endParaRPr lang="ar-SA" sz="1900" dirty="0"/>
          </a:p>
        </p:txBody>
      </p:sp>
      <p:sp>
        <p:nvSpPr>
          <p:cNvPr id="15" name="anim-g3-914"/>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915"/>
          <p:cNvSpPr/>
          <p:nvPr/>
        </p:nvSpPr>
        <p:spPr>
          <a:xfrm>
            <a:off x="10527487" y="4393692"/>
            <a:ext cx="566928" cy="566928"/>
          </a:xfrm>
          <a:prstGeom prst="roundRect">
            <a:avLst>
              <a:gd name="adj" fmla="val 32258"/>
            </a:avLst>
          </a:prstGeom>
          <a:solidFill>
            <a:srgbClr val="F7E6BC"/>
          </a:solidFill>
          <a:ln/>
        </p:spPr>
      </p:sp>
      <p:sp>
        <p:nvSpPr>
          <p:cNvPr id="17" name="anim-g3-916"/>
          <p:cNvSpPr/>
          <p:nvPr/>
        </p:nvSpPr>
        <p:spPr>
          <a:xfrm>
            <a:off x="10527487"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917"/>
          <p:cNvSpPr/>
          <p:nvPr/>
        </p:nvSpPr>
        <p:spPr>
          <a:xfrm>
            <a:off x="6507328"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جاذبية المحطات</a:t>
            </a:r>
            <a:endParaRPr lang="ar-SA" sz="2200" dirty="0"/>
          </a:p>
        </p:txBody>
      </p:sp>
      <p:sp>
        <p:nvSpPr>
          <p:cNvPr id="19" name="anim-g3-918"/>
          <p:cNvSpPr/>
          <p:nvPr/>
        </p:nvSpPr>
        <p:spPr>
          <a:xfrm>
            <a:off x="6507328"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أي محطة يختارها الأطفال أكثر؟</a:t>
            </a:r>
            <a:endParaRPr lang="ar-SA" sz="1900" dirty="0"/>
          </a:p>
        </p:txBody>
      </p:sp>
      <p:sp>
        <p:nvSpPr>
          <p:cNvPr id="20" name="anim-g4-919"/>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21" name="anim-g4-920"/>
          <p:cNvSpPr/>
          <p:nvPr/>
        </p:nvSpPr>
        <p:spPr>
          <a:xfrm>
            <a:off x="5117440" y="4393692"/>
            <a:ext cx="566928" cy="566928"/>
          </a:xfrm>
          <a:prstGeom prst="roundRect">
            <a:avLst>
              <a:gd name="adj" fmla="val 32258"/>
            </a:avLst>
          </a:prstGeom>
          <a:solidFill>
            <a:srgbClr val="F7E6BC"/>
          </a:solidFill>
          <a:ln/>
        </p:spPr>
      </p:sp>
      <p:sp>
        <p:nvSpPr>
          <p:cNvPr id="22" name="anim-g4-921"/>
          <p:cNvSpPr/>
          <p:nvPr/>
        </p:nvSpPr>
        <p:spPr>
          <a:xfrm>
            <a:off x="5117440"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922"/>
          <p:cNvSpPr/>
          <p:nvPr/>
        </p:nvSpPr>
        <p:spPr>
          <a:xfrm>
            <a:off x="1097280"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وضوح التفاعل</a:t>
            </a:r>
            <a:endParaRPr lang="ar-SA" sz="2200" dirty="0"/>
          </a:p>
        </p:txBody>
      </p:sp>
      <p:sp>
        <p:nvSpPr>
          <p:cNvPr id="24" name="anim-g4-923"/>
          <p:cNvSpPr/>
          <p:nvPr/>
        </p:nvSpPr>
        <p:spPr>
          <a:xfrm>
            <a:off x="1097280"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ملاحظات الأطفال والمعلمين أو استبيان مبسط</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صانع الذكريات التراثية</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الجولة الكاملة  ·  ١٢٣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name="Slide 12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خلاصة المحور</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marL="0" indent="0" algn="ctr">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يختار، ويرى، ويسمع، ويجيب، ثم يحمل عملة مرتبطة بما تعلّمه: هذه هي «تراث نعيشه…</a:t>
            </a:r>
            <a:endParaRPr lang="ar-SA" sz="4400" dirty="0"/>
          </a:p>
          <a:p>
            <a:pPr marL="0" indent="0" algn="ctr">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وذكرى نحملها»</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صانع الذكريات التراثية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 الجولة الكاملة  ·  ١٢٤</a:t>
            </a:r>
            <a:endParaRPr lang="ar-SA" sz="12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marL="0" indent="0" algn="ctr" rtl="1">
              <a:buNone/>
            </a:pPr>
            <a:r>
              <a:rPr lang="ar-SA" altLang="en-US" sz="12000" dirty="0">
                <a:solidFill>
                  <a:srgbClr val="F0CC7A"/>
                </a:solidFill>
                <a:latin typeface="Cairo Black" pitchFamily="34" charset="0"/>
                <a:ea typeface="Cairo Black" pitchFamily="34" charset="-122"/>
                <a:cs typeface="Cairo Black" pitchFamily="34" charset="-120"/>
              </a:rPr>
              <a:t>١٤</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marL="0" indent="0" algn="r" rtl="1">
              <a:buNone/>
            </a:pPr>
            <a:r>
              <a:rPr lang="ar-SA" altLang="en-US" sz="2000" b="1" dirty="0">
                <a:solidFill>
                  <a:srgbClr val="D9AE4B"/>
                </a:solidFill>
                <a:latin typeface="Cairo" pitchFamily="34" charset="0"/>
                <a:ea typeface="Cairo" pitchFamily="34" charset="-122"/>
                <a:cs typeface="Cairo" pitchFamily="34" charset="-120"/>
              </a:rPr>
              <a:t>المحور ١٤</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marL="0" indent="0" algn="r" rtl="1">
              <a:buNone/>
            </a:pPr>
            <a:r>
              <a:rPr lang="ar-SA" altLang="en-US" sz="5600" dirty="0">
                <a:solidFill>
                  <a:srgbClr val="FFFFFF"/>
                </a:solidFill>
                <a:latin typeface="Cairo Black" pitchFamily="34" charset="0"/>
                <a:ea typeface="Cairo Black" pitchFamily="34" charset="-122"/>
                <a:cs typeface="Cairo Black" pitchFamily="34" charset="-120"/>
              </a:rPr>
              <a:t>🎪 البوث والعرض والتحكيم</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marL="0" indent="0" algn="r" rtl="1">
              <a:buNone/>
            </a:pPr>
            <a:r>
              <a:rPr lang="ar-SA" altLang="en-US" sz="2200" b="1" dirty="0">
                <a:solidFill>
                  <a:srgbClr val="C9CFE6"/>
                </a:solidFill>
                <a:latin typeface="Cairo" pitchFamily="34" charset="0"/>
                <a:ea typeface="Cairo" pitchFamily="34" charset="-122"/>
                <a:cs typeface="Cairo" pitchFamily="34" charset="-120"/>
              </a:rPr>
              <a:t>المسرح الذي يحكي فيه الطالبان قصة مشروعهما</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صانع الذكريات التراثية</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 البوث والختام  ·  ١٢٥</a:t>
            </a:r>
            <a:endParaRPr lang="ar-SA" sz="12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Image 0" descr="C:\Users\user\projects\younes-training\heritage\.pptx-cache\s126.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فيديو ٥ دقائق</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لقطة واحدة متصلة… بلا مونتاج</a:t>
            </a:r>
            <a:endParaRPr lang="ar-SA" sz="3800" dirty="0"/>
          </a:p>
        </p:txBody>
      </p:sp>
      <p:sp>
        <p:nvSpPr>
          <p:cNvPr id="5" name="anim-g1-924"/>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925"/>
          <p:cNvSpPr/>
          <p:nvPr/>
        </p:nvSpPr>
        <p:spPr>
          <a:xfrm>
            <a:off x="10527487" y="2267712"/>
            <a:ext cx="566928" cy="566928"/>
          </a:xfrm>
          <a:prstGeom prst="roundRect">
            <a:avLst>
              <a:gd name="adj" fmla="val 32258"/>
            </a:avLst>
          </a:prstGeom>
          <a:solidFill>
            <a:srgbClr val="F7E6BC"/>
          </a:solidFill>
          <a:ln/>
        </p:spPr>
      </p:sp>
      <p:sp>
        <p:nvSpPr>
          <p:cNvPr id="7" name="anim-g1-926"/>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1️⃣</a:t>
            </a:r>
            <a:endParaRPr lang="ar-SA" sz="2200" dirty="0"/>
          </a:p>
        </p:txBody>
      </p:sp>
      <p:sp>
        <p:nvSpPr>
          <p:cNvPr id="8" name="anim-g1-927"/>
          <p:cNvSpPr/>
          <p:nvPr/>
        </p:nvSpPr>
        <p:spPr>
          <a:xfrm>
            <a:off x="6507328"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المشكلة</a:t>
            </a:r>
            <a:endParaRPr lang="ar-SA" sz="2200" dirty="0"/>
          </a:p>
        </p:txBody>
      </p:sp>
      <p:sp>
        <p:nvSpPr>
          <p:cNvPr id="9" name="anim-g1-928"/>
          <p:cNvSpPr/>
          <p:nvPr/>
        </p:nvSpPr>
        <p:spPr>
          <a:xfrm>
            <a:off x="6507328"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التراث في الكتب ثابت، والطفل يحب ما يتحرك</a:t>
            </a:r>
            <a:endParaRPr lang="ar-SA" sz="1900" dirty="0"/>
          </a:p>
        </p:txBody>
      </p:sp>
      <p:sp>
        <p:nvSpPr>
          <p:cNvPr id="10" name="anim-g2-929"/>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930"/>
          <p:cNvSpPr/>
          <p:nvPr/>
        </p:nvSpPr>
        <p:spPr>
          <a:xfrm>
            <a:off x="5117440" y="2267712"/>
            <a:ext cx="566928" cy="566928"/>
          </a:xfrm>
          <a:prstGeom prst="roundRect">
            <a:avLst>
              <a:gd name="adj" fmla="val 32258"/>
            </a:avLst>
          </a:prstGeom>
          <a:solidFill>
            <a:srgbClr val="F7E6BC"/>
          </a:solidFill>
          <a:ln/>
        </p:spPr>
      </p:sp>
      <p:sp>
        <p:nvSpPr>
          <p:cNvPr id="12" name="anim-g2-931"/>
          <p:cNvSpPr/>
          <p:nvPr/>
        </p:nvSpPr>
        <p:spPr>
          <a:xfrm>
            <a:off x="511744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2️⃣</a:t>
            </a:r>
            <a:endParaRPr lang="ar-SA" sz="2200" dirty="0"/>
          </a:p>
        </p:txBody>
      </p:sp>
      <p:sp>
        <p:nvSpPr>
          <p:cNvPr id="13" name="anim-g2-932"/>
          <p:cNvSpPr/>
          <p:nvPr/>
        </p:nvSpPr>
        <p:spPr>
          <a:xfrm>
            <a:off x="1097280"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رحلة الحل</a:t>
            </a:r>
            <a:endParaRPr lang="ar-SA" sz="2200" dirty="0"/>
          </a:p>
        </p:txBody>
      </p:sp>
      <p:sp>
        <p:nvSpPr>
          <p:cNvPr id="14" name="anim-g2-933"/>
          <p:cNvSpPr/>
          <p:nvPr/>
        </p:nvSpPr>
        <p:spPr>
          <a:xfrm>
            <a:off x="1097280"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الأفكار الثلاث، ولماذا اخترنا المنصة</a:t>
            </a:r>
            <a:endParaRPr lang="ar-SA" sz="1900" dirty="0"/>
          </a:p>
        </p:txBody>
      </p:sp>
      <p:sp>
        <p:nvSpPr>
          <p:cNvPr id="15" name="anim-g3-934"/>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935"/>
          <p:cNvSpPr/>
          <p:nvPr/>
        </p:nvSpPr>
        <p:spPr>
          <a:xfrm>
            <a:off x="10527487" y="4393692"/>
            <a:ext cx="566928" cy="566928"/>
          </a:xfrm>
          <a:prstGeom prst="roundRect">
            <a:avLst>
              <a:gd name="adj" fmla="val 32258"/>
            </a:avLst>
          </a:prstGeom>
          <a:solidFill>
            <a:srgbClr val="F7E6BC"/>
          </a:solidFill>
          <a:ln/>
        </p:spPr>
      </p:sp>
      <p:sp>
        <p:nvSpPr>
          <p:cNvPr id="17" name="anim-g3-936"/>
          <p:cNvSpPr/>
          <p:nvPr/>
        </p:nvSpPr>
        <p:spPr>
          <a:xfrm>
            <a:off x="10527487"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3️⃣</a:t>
            </a:r>
            <a:endParaRPr lang="ar-SA" sz="2200" dirty="0"/>
          </a:p>
        </p:txBody>
      </p:sp>
      <p:sp>
        <p:nvSpPr>
          <p:cNvPr id="18" name="anim-g3-937"/>
          <p:cNvSpPr/>
          <p:nvPr/>
        </p:nvSpPr>
        <p:spPr>
          <a:xfrm>
            <a:off x="6507328"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تشغيل الروبوت</a:t>
            </a:r>
            <a:endParaRPr lang="ar-SA" sz="2200" dirty="0"/>
          </a:p>
        </p:txBody>
      </p:sp>
      <p:sp>
        <p:nvSpPr>
          <p:cNvPr id="19" name="anim-g3-938"/>
          <p:cNvSpPr/>
          <p:nvPr/>
        </p:nvSpPr>
        <p:spPr>
          <a:xfrm>
            <a:off x="6507328"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جولة حية بالمسارين: الصحيح والمساعدة</a:t>
            </a:r>
            <a:endParaRPr lang="ar-SA" sz="1900" dirty="0"/>
          </a:p>
        </p:txBody>
      </p:sp>
      <p:sp>
        <p:nvSpPr>
          <p:cNvPr id="20" name="anim-g4-939"/>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21" name="anim-g4-940"/>
          <p:cNvSpPr/>
          <p:nvPr/>
        </p:nvSpPr>
        <p:spPr>
          <a:xfrm>
            <a:off x="5117440" y="4393692"/>
            <a:ext cx="566928" cy="566928"/>
          </a:xfrm>
          <a:prstGeom prst="roundRect">
            <a:avLst>
              <a:gd name="adj" fmla="val 32258"/>
            </a:avLst>
          </a:prstGeom>
          <a:solidFill>
            <a:srgbClr val="F7E6BC"/>
          </a:solidFill>
          <a:ln/>
        </p:spPr>
      </p:sp>
      <p:sp>
        <p:nvSpPr>
          <p:cNvPr id="22" name="anim-g4-941"/>
          <p:cNvSpPr/>
          <p:nvPr/>
        </p:nvSpPr>
        <p:spPr>
          <a:xfrm>
            <a:off x="5117440"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4️⃣</a:t>
            </a:r>
            <a:endParaRPr lang="ar-SA" sz="2200" dirty="0"/>
          </a:p>
        </p:txBody>
      </p:sp>
      <p:sp>
        <p:nvSpPr>
          <p:cNvPr id="23" name="anim-g4-942"/>
          <p:cNvSpPr/>
          <p:nvPr/>
        </p:nvSpPr>
        <p:spPr>
          <a:xfrm>
            <a:off x="1097280"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الهوية والبوث</a:t>
            </a:r>
            <a:endParaRPr lang="ar-SA" sz="2200" dirty="0"/>
          </a:p>
        </p:txBody>
      </p:sp>
      <p:sp>
        <p:nvSpPr>
          <p:cNvPr id="24" name="anim-g4-943"/>
          <p:cNvSpPr/>
          <p:nvPr/>
        </p:nvSpPr>
        <p:spPr>
          <a:xfrm>
            <a:off x="1097280"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السدو والألوان والشعار</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صانع الذكريات التراثية</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البوث والختام  ·  ١٢٧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Image 0" descr="C:\Users\user\projects\younes-training\heritage\.pptx-cache\s128.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الاستخدام والتوسع</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من المسابقة… إلى كل مكان</a:t>
            </a:r>
            <a:endParaRPr lang="ar-SA" sz="3800" dirty="0"/>
          </a:p>
        </p:txBody>
      </p:sp>
      <p:sp>
        <p:nvSpPr>
          <p:cNvPr id="5" name="Shape 3"/>
          <p:cNvSpPr/>
          <p:nvPr/>
        </p:nvSpPr>
        <p:spPr>
          <a:xfrm>
            <a:off x="8939013" y="1874520"/>
            <a:ext cx="2429722" cy="548640"/>
          </a:xfrm>
          <a:prstGeom prst="roundRect">
            <a:avLst>
              <a:gd name="adj" fmla="val 20000"/>
            </a:avLst>
          </a:prstGeom>
          <a:solidFill>
            <a:srgbClr val="101B45"/>
          </a:solidFill>
          <a:ln/>
        </p:spPr>
      </p:sp>
      <p:sp>
        <p:nvSpPr>
          <p:cNvPr id="6" name="Text 4"/>
          <p:cNvSpPr/>
          <p:nvPr/>
        </p:nvSpPr>
        <p:spPr>
          <a:xfrm>
            <a:off x="8939013" y="1874520"/>
            <a:ext cx="2429722"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المجال</a:t>
            </a:r>
            <a:endParaRPr lang="ar-SA" sz="1900" dirty="0"/>
          </a:p>
        </p:txBody>
      </p:sp>
      <p:sp>
        <p:nvSpPr>
          <p:cNvPr id="7" name="Shape 5"/>
          <p:cNvSpPr/>
          <p:nvPr/>
        </p:nvSpPr>
        <p:spPr>
          <a:xfrm>
            <a:off x="4880987" y="1874520"/>
            <a:ext cx="3948299" cy="548640"/>
          </a:xfrm>
          <a:prstGeom prst="roundRect">
            <a:avLst>
              <a:gd name="adj" fmla="val 20000"/>
            </a:avLst>
          </a:prstGeom>
          <a:solidFill>
            <a:srgbClr val="101B45"/>
          </a:solidFill>
          <a:ln/>
        </p:spPr>
      </p:sp>
      <p:sp>
        <p:nvSpPr>
          <p:cNvPr id="8" name="Text 6"/>
          <p:cNvSpPr/>
          <p:nvPr/>
        </p:nvSpPr>
        <p:spPr>
          <a:xfrm>
            <a:off x="4880987" y="1874520"/>
            <a:ext cx="3948299"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الاستخدام</a:t>
            </a:r>
            <a:endParaRPr lang="ar-SA" sz="1900" dirty="0"/>
          </a:p>
        </p:txBody>
      </p:sp>
      <p:sp>
        <p:nvSpPr>
          <p:cNvPr id="9" name="Shape 7"/>
          <p:cNvSpPr/>
          <p:nvPr/>
        </p:nvSpPr>
        <p:spPr>
          <a:xfrm>
            <a:off x="822960" y="1874520"/>
            <a:ext cx="3948299" cy="548640"/>
          </a:xfrm>
          <a:prstGeom prst="roundRect">
            <a:avLst>
              <a:gd name="adj" fmla="val 20000"/>
            </a:avLst>
          </a:prstGeom>
          <a:solidFill>
            <a:srgbClr val="101B45"/>
          </a:solidFill>
          <a:ln/>
        </p:spPr>
      </p:sp>
      <p:sp>
        <p:nvSpPr>
          <p:cNvPr id="10" name="Text 8"/>
          <p:cNvSpPr/>
          <p:nvPr/>
        </p:nvSpPr>
        <p:spPr>
          <a:xfrm>
            <a:off x="822960" y="1874520"/>
            <a:ext cx="3948299"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ما يلزم قبل التطبيق</a:t>
            </a:r>
            <a:endParaRPr lang="ar-SA" sz="1900" dirty="0"/>
          </a:p>
        </p:txBody>
      </p:sp>
      <p:sp>
        <p:nvSpPr>
          <p:cNvPr id="11" name="anim-g1-944"/>
          <p:cNvSpPr/>
          <p:nvPr/>
        </p:nvSpPr>
        <p:spPr>
          <a:xfrm>
            <a:off x="8939013" y="2514600"/>
            <a:ext cx="2429722" cy="797814"/>
          </a:xfrm>
          <a:prstGeom prst="roundRect">
            <a:avLst>
              <a:gd name="adj" fmla="val 13754"/>
            </a:avLst>
          </a:prstGeom>
          <a:solidFill>
            <a:srgbClr val="FBF3DF"/>
          </a:solidFill>
          <a:ln w="12700">
            <a:solidFill>
              <a:srgbClr val="EFDDAF"/>
            </a:solidFill>
            <a:prstDash val="solid"/>
          </a:ln>
        </p:spPr>
      </p:sp>
      <p:sp>
        <p:nvSpPr>
          <p:cNvPr id="12" name="anim-g1-945"/>
          <p:cNvSpPr/>
          <p:nvPr/>
        </p:nvSpPr>
        <p:spPr>
          <a:xfrm>
            <a:off x="9076173" y="2514600"/>
            <a:ext cx="2155402" cy="797814"/>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المدارس</a:t>
            </a:r>
            <a:endParaRPr lang="ar-SA" sz="2100" dirty="0"/>
          </a:p>
        </p:txBody>
      </p:sp>
      <p:sp>
        <p:nvSpPr>
          <p:cNvPr id="13" name="anim-g1-946"/>
          <p:cNvSpPr/>
          <p:nvPr/>
        </p:nvSpPr>
        <p:spPr>
          <a:xfrm>
            <a:off x="4880987" y="2514600"/>
            <a:ext cx="3948299" cy="797814"/>
          </a:xfrm>
          <a:prstGeom prst="roundRect">
            <a:avLst>
              <a:gd name="adj" fmla="val 13754"/>
            </a:avLst>
          </a:prstGeom>
          <a:solidFill>
            <a:srgbClr val="FFFFFF"/>
          </a:solidFill>
          <a:ln w="12700">
            <a:solidFill>
              <a:srgbClr val="E4DCC8"/>
            </a:solidFill>
            <a:prstDash val="solid"/>
          </a:ln>
        </p:spPr>
      </p:sp>
      <p:sp>
        <p:nvSpPr>
          <p:cNvPr id="14" name="anim-g1-947"/>
          <p:cNvSpPr/>
          <p:nvPr/>
        </p:nvSpPr>
        <p:spPr>
          <a:xfrm>
            <a:off x="5018147" y="2514600"/>
            <a:ext cx="3673979" cy="797814"/>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ركن تفاعلي داعم للهوية الوطنية</a:t>
            </a:r>
            <a:endParaRPr lang="ar-SA" sz="2100" dirty="0"/>
          </a:p>
        </p:txBody>
      </p:sp>
      <p:sp>
        <p:nvSpPr>
          <p:cNvPr id="15" name="anim-g1-948"/>
          <p:cNvSpPr/>
          <p:nvPr/>
        </p:nvSpPr>
        <p:spPr>
          <a:xfrm>
            <a:off x="822960" y="2514600"/>
            <a:ext cx="3948299" cy="797814"/>
          </a:xfrm>
          <a:prstGeom prst="roundRect">
            <a:avLst>
              <a:gd name="adj" fmla="val 13754"/>
            </a:avLst>
          </a:prstGeom>
          <a:solidFill>
            <a:srgbClr val="E6F4EC"/>
          </a:solidFill>
          <a:ln w="12700">
            <a:solidFill>
              <a:srgbClr val="CDE9D9"/>
            </a:solidFill>
            <a:prstDash val="solid"/>
          </a:ln>
        </p:spPr>
      </p:sp>
      <p:sp>
        <p:nvSpPr>
          <p:cNvPr id="16" name="anim-g1-949"/>
          <p:cNvSpPr/>
          <p:nvPr/>
        </p:nvSpPr>
        <p:spPr>
          <a:xfrm>
            <a:off x="960120" y="2514600"/>
            <a:ext cx="3673979" cy="797814"/>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تجربة مع معلم وتحديث الأسئلة</a:t>
            </a:r>
            <a:endParaRPr lang="ar-SA" sz="2100" dirty="0"/>
          </a:p>
        </p:txBody>
      </p:sp>
      <p:sp>
        <p:nvSpPr>
          <p:cNvPr id="17" name="anim-g2-950"/>
          <p:cNvSpPr/>
          <p:nvPr/>
        </p:nvSpPr>
        <p:spPr>
          <a:xfrm>
            <a:off x="8939013" y="3422142"/>
            <a:ext cx="2429722" cy="797814"/>
          </a:xfrm>
          <a:prstGeom prst="roundRect">
            <a:avLst>
              <a:gd name="adj" fmla="val 13754"/>
            </a:avLst>
          </a:prstGeom>
          <a:solidFill>
            <a:srgbClr val="FBF3DF"/>
          </a:solidFill>
          <a:ln w="12700">
            <a:solidFill>
              <a:srgbClr val="EFDDAF"/>
            </a:solidFill>
            <a:prstDash val="solid"/>
          </a:ln>
        </p:spPr>
      </p:sp>
      <p:sp>
        <p:nvSpPr>
          <p:cNvPr id="18" name="anim-g2-951"/>
          <p:cNvSpPr/>
          <p:nvPr/>
        </p:nvSpPr>
        <p:spPr>
          <a:xfrm>
            <a:off x="9076173" y="3422142"/>
            <a:ext cx="2155402" cy="797814"/>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المتاحف والفعاليات</a:t>
            </a:r>
            <a:endParaRPr lang="ar-SA" sz="2100" dirty="0"/>
          </a:p>
        </p:txBody>
      </p:sp>
      <p:sp>
        <p:nvSpPr>
          <p:cNvPr id="19" name="anim-g2-952"/>
          <p:cNvSpPr/>
          <p:nvPr/>
        </p:nvSpPr>
        <p:spPr>
          <a:xfrm>
            <a:off x="4880987" y="3422142"/>
            <a:ext cx="3948299" cy="797814"/>
          </a:xfrm>
          <a:prstGeom prst="roundRect">
            <a:avLst>
              <a:gd name="adj" fmla="val 13754"/>
            </a:avLst>
          </a:prstGeom>
          <a:solidFill>
            <a:srgbClr val="FFFFFF"/>
          </a:solidFill>
          <a:ln w="12700">
            <a:solidFill>
              <a:srgbClr val="E4DCC8"/>
            </a:solidFill>
            <a:prstDash val="solid"/>
          </a:ln>
        </p:spPr>
      </p:sp>
      <p:sp>
        <p:nvSpPr>
          <p:cNvPr id="20" name="anim-g2-953"/>
          <p:cNvSpPr/>
          <p:nvPr/>
        </p:nvSpPr>
        <p:spPr>
          <a:xfrm>
            <a:off x="5018147" y="3422142"/>
            <a:ext cx="3673979" cy="797814"/>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محطة قصيرة للزوار الصغار</a:t>
            </a:r>
            <a:endParaRPr lang="ar-SA" sz="2100" dirty="0"/>
          </a:p>
        </p:txBody>
      </p:sp>
      <p:sp>
        <p:nvSpPr>
          <p:cNvPr id="21" name="anim-g2-954"/>
          <p:cNvSpPr/>
          <p:nvPr/>
        </p:nvSpPr>
        <p:spPr>
          <a:xfrm>
            <a:off x="822960" y="3422142"/>
            <a:ext cx="3948299" cy="797814"/>
          </a:xfrm>
          <a:prstGeom prst="roundRect">
            <a:avLst>
              <a:gd name="adj" fmla="val 13754"/>
            </a:avLst>
          </a:prstGeom>
          <a:solidFill>
            <a:srgbClr val="E6F4EC"/>
          </a:solidFill>
          <a:ln w="12700">
            <a:solidFill>
              <a:srgbClr val="CDE9D9"/>
            </a:solidFill>
            <a:prstDash val="solid"/>
          </a:ln>
        </p:spPr>
      </p:sp>
      <p:sp>
        <p:nvSpPr>
          <p:cNvPr id="22" name="anim-g2-955"/>
          <p:cNvSpPr/>
          <p:nvPr/>
        </p:nvSpPr>
        <p:spPr>
          <a:xfrm>
            <a:off x="960120" y="3422142"/>
            <a:ext cx="3673979" cy="797814"/>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متانة أعلى وإشراف أثناء التشغيل</a:t>
            </a:r>
            <a:endParaRPr lang="ar-SA" sz="2100" dirty="0"/>
          </a:p>
        </p:txBody>
      </p:sp>
      <p:sp>
        <p:nvSpPr>
          <p:cNvPr id="23" name="anim-g3-956"/>
          <p:cNvSpPr/>
          <p:nvPr/>
        </p:nvSpPr>
        <p:spPr>
          <a:xfrm>
            <a:off x="8939013" y="4329684"/>
            <a:ext cx="2429722" cy="797814"/>
          </a:xfrm>
          <a:prstGeom prst="roundRect">
            <a:avLst>
              <a:gd name="adj" fmla="val 13754"/>
            </a:avLst>
          </a:prstGeom>
          <a:solidFill>
            <a:srgbClr val="FBF3DF"/>
          </a:solidFill>
          <a:ln w="12700">
            <a:solidFill>
              <a:srgbClr val="EFDDAF"/>
            </a:solidFill>
            <a:prstDash val="solid"/>
          </a:ln>
        </p:spPr>
      </p:sp>
      <p:sp>
        <p:nvSpPr>
          <p:cNvPr id="24" name="anim-g3-957"/>
          <p:cNvSpPr/>
          <p:nvPr/>
        </p:nvSpPr>
        <p:spPr>
          <a:xfrm>
            <a:off x="9076173" y="4329684"/>
            <a:ext cx="2155402" cy="797814"/>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مناطق المملكة</a:t>
            </a:r>
            <a:endParaRPr lang="ar-SA" sz="2100" dirty="0"/>
          </a:p>
        </p:txBody>
      </p:sp>
      <p:sp>
        <p:nvSpPr>
          <p:cNvPr id="25" name="anim-g3-958"/>
          <p:cNvSpPr/>
          <p:nvPr/>
        </p:nvSpPr>
        <p:spPr>
          <a:xfrm>
            <a:off x="4880987" y="4329684"/>
            <a:ext cx="3948299" cy="797814"/>
          </a:xfrm>
          <a:prstGeom prst="roundRect">
            <a:avLst>
              <a:gd name="adj" fmla="val 13754"/>
            </a:avLst>
          </a:prstGeom>
          <a:solidFill>
            <a:srgbClr val="FFFFFF"/>
          </a:solidFill>
          <a:ln w="12700">
            <a:solidFill>
              <a:srgbClr val="E4DCC8"/>
            </a:solidFill>
            <a:prstDash val="solid"/>
          </a:ln>
        </p:spPr>
      </p:sp>
      <p:sp>
        <p:nvSpPr>
          <p:cNvPr id="26" name="anim-g3-959"/>
          <p:cNvSpPr/>
          <p:nvPr/>
        </p:nvSpPr>
        <p:spPr>
          <a:xfrm>
            <a:off x="5018147" y="4329684"/>
            <a:ext cx="3673979" cy="797814"/>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محطات تحكي عناصر من كل منطقة</a:t>
            </a:r>
            <a:endParaRPr lang="ar-SA" sz="2100" dirty="0"/>
          </a:p>
        </p:txBody>
      </p:sp>
      <p:sp>
        <p:nvSpPr>
          <p:cNvPr id="27" name="anim-g3-960"/>
          <p:cNvSpPr/>
          <p:nvPr/>
        </p:nvSpPr>
        <p:spPr>
          <a:xfrm>
            <a:off x="822960" y="4329684"/>
            <a:ext cx="3948299" cy="797814"/>
          </a:xfrm>
          <a:prstGeom prst="roundRect">
            <a:avLst>
              <a:gd name="adj" fmla="val 13754"/>
            </a:avLst>
          </a:prstGeom>
          <a:solidFill>
            <a:srgbClr val="E6F4EC"/>
          </a:solidFill>
          <a:ln w="12700">
            <a:solidFill>
              <a:srgbClr val="CDE9D9"/>
            </a:solidFill>
            <a:prstDash val="solid"/>
          </a:ln>
        </p:spPr>
      </p:sp>
      <p:sp>
        <p:nvSpPr>
          <p:cNvPr id="28" name="anim-g3-961"/>
          <p:cNvSpPr/>
          <p:nvPr/>
        </p:nvSpPr>
        <p:spPr>
          <a:xfrm>
            <a:off x="960120" y="4329684"/>
            <a:ext cx="3673979" cy="797814"/>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بحث ومراجعة مع مصادر موثوقة</a:t>
            </a:r>
            <a:endParaRPr lang="ar-SA" sz="2100" dirty="0"/>
          </a:p>
        </p:txBody>
      </p:sp>
      <p:sp>
        <p:nvSpPr>
          <p:cNvPr id="29" name="anim-g4-962"/>
          <p:cNvSpPr/>
          <p:nvPr/>
        </p:nvSpPr>
        <p:spPr>
          <a:xfrm>
            <a:off x="8939013" y="5237226"/>
            <a:ext cx="2429722" cy="797814"/>
          </a:xfrm>
          <a:prstGeom prst="roundRect">
            <a:avLst>
              <a:gd name="adj" fmla="val 13754"/>
            </a:avLst>
          </a:prstGeom>
          <a:solidFill>
            <a:srgbClr val="FBF3DF"/>
          </a:solidFill>
          <a:ln w="12700">
            <a:solidFill>
              <a:srgbClr val="EFDDAF"/>
            </a:solidFill>
            <a:prstDash val="solid"/>
          </a:ln>
        </p:spPr>
      </p:sp>
      <p:sp>
        <p:nvSpPr>
          <p:cNvPr id="30" name="anim-g4-963"/>
          <p:cNvSpPr/>
          <p:nvPr/>
        </p:nvSpPr>
        <p:spPr>
          <a:xfrm>
            <a:off x="9076173" y="5237226"/>
            <a:ext cx="2155402" cy="797814"/>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المحتوى</a:t>
            </a:r>
            <a:endParaRPr lang="ar-SA" sz="2100" dirty="0"/>
          </a:p>
        </p:txBody>
      </p:sp>
      <p:sp>
        <p:nvSpPr>
          <p:cNvPr id="31" name="anim-g4-964"/>
          <p:cNvSpPr/>
          <p:nvPr/>
        </p:nvSpPr>
        <p:spPr>
          <a:xfrm>
            <a:off x="4880987" y="5237226"/>
            <a:ext cx="3948299" cy="797814"/>
          </a:xfrm>
          <a:prstGeom prst="roundRect">
            <a:avLst>
              <a:gd name="adj" fmla="val 13754"/>
            </a:avLst>
          </a:prstGeom>
          <a:solidFill>
            <a:srgbClr val="FFFFFF"/>
          </a:solidFill>
          <a:ln w="12700">
            <a:solidFill>
              <a:srgbClr val="E4DCC8"/>
            </a:solidFill>
            <a:prstDash val="solid"/>
          </a:ln>
        </p:spPr>
      </p:sp>
      <p:sp>
        <p:nvSpPr>
          <p:cNvPr id="32" name="anim-g4-965"/>
          <p:cNvSpPr/>
          <p:nvPr/>
        </p:nvSpPr>
        <p:spPr>
          <a:xfrm>
            <a:off x="5018147" y="5237226"/>
            <a:ext cx="3673979" cy="797814"/>
          </a:xfrm>
          <a:prstGeom prst="rect">
            <a:avLst/>
          </a:prstGeom>
          <a:noFill/>
          <a:ln/>
        </p:spPr>
        <p:txBody>
          <a:bodyPr wrap="square" lIns="0" tIns="0" rIns="0" bIns="0" rtlCol="0" anchor="ctr">
            <a:normAutofit/>
          </a:bodyPr>
          <a:lstStyle/>
          <a:p>
            <a:pPr marL="0" indent="0" algn="r" rtl="1">
              <a:buNone/>
            </a:pPr>
            <a:r>
              <a:rPr lang="ar-SA" altLang="en-US" sz="2100" b="1" dirty="0">
                <a:solidFill>
                  <a:srgbClr val="131B34"/>
                </a:solidFill>
                <a:latin typeface="Cairo" pitchFamily="34" charset="0"/>
                <a:ea typeface="Cairo" pitchFamily="34" charset="-122"/>
                <a:cs typeface="Cairo" pitchFamily="34" charset="-120"/>
              </a:rPr>
              <a:t>تغيير الملفات والأسئلة</a:t>
            </a:r>
            <a:endParaRPr lang="ar-SA" sz="2100" dirty="0"/>
          </a:p>
        </p:txBody>
      </p:sp>
      <p:sp>
        <p:nvSpPr>
          <p:cNvPr id="33" name="anim-g4-966"/>
          <p:cNvSpPr/>
          <p:nvPr/>
        </p:nvSpPr>
        <p:spPr>
          <a:xfrm>
            <a:off x="822960" y="5237226"/>
            <a:ext cx="3948299" cy="797814"/>
          </a:xfrm>
          <a:prstGeom prst="roundRect">
            <a:avLst>
              <a:gd name="adj" fmla="val 13754"/>
            </a:avLst>
          </a:prstGeom>
          <a:solidFill>
            <a:srgbClr val="E6F4EC"/>
          </a:solidFill>
          <a:ln w="12700">
            <a:solidFill>
              <a:srgbClr val="CDE9D9"/>
            </a:solidFill>
            <a:prstDash val="solid"/>
          </a:ln>
        </p:spPr>
      </p:sp>
      <p:sp>
        <p:nvSpPr>
          <p:cNvPr id="34" name="anim-g4-967"/>
          <p:cNvSpPr/>
          <p:nvPr/>
        </p:nvSpPr>
        <p:spPr>
          <a:xfrm>
            <a:off x="960120" y="5237226"/>
            <a:ext cx="3673979" cy="797814"/>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تنظيم ملفات الذاكرة وتوثيق النسخة</a:t>
            </a:r>
            <a:endParaRPr lang="ar-SA" sz="2100" dirty="0"/>
          </a:p>
        </p:txBody>
      </p:sp>
      <p:sp>
        <p:nvSpPr>
          <p:cNvPr id="35" name="Text 3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صانع الذكريات التراثية</a:t>
            </a:r>
            <a:endParaRPr lang="ar-SA" sz="1200" dirty="0"/>
          </a:p>
        </p:txBody>
      </p:sp>
      <p:sp>
        <p:nvSpPr>
          <p:cNvPr id="36" name="Text 3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البوث والختام  ·  ١٢٩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400"/>
                                        <p:tgtEl>
                                          <p:spTgt spid="1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40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400"/>
                                        <p:tgtEl>
                                          <p:spTgt spid="19"/>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0"/>
                                        </p:tgtEl>
                                        <p:attrNameLst>
                                          <p:attrName>style.visibility</p:attrName>
                                        </p:attrNameLst>
                                      </p:cBhvr>
                                      <p:to>
                                        <p:strVal val="visible"/>
                                      </p:to>
                                    </p:set>
                                    <p:animEffect transition="in" filter="fade">
                                      <p:cBhvr>
                                        <p:cTn id="36" dur="400"/>
                                        <p:tgtEl>
                                          <p:spTgt spid="20"/>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400"/>
                                        <p:tgtEl>
                                          <p:spTgt spid="21"/>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400"/>
                                        <p:tgtEl>
                                          <p:spTgt spid="2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400"/>
                                        <p:tgtEl>
                                          <p:spTgt spid="25"/>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400"/>
                                        <p:tgtEl>
                                          <p:spTgt spid="26"/>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400"/>
                                        <p:tgtEl>
                                          <p:spTgt spid="27"/>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400"/>
                                        <p:tgtEl>
                                          <p:spTgt spid="28"/>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400"/>
                                        <p:tgtEl>
                                          <p:spTgt spid="29"/>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0"/>
                                        </p:tgtEl>
                                        <p:attrNameLst>
                                          <p:attrName>style.visibility</p:attrName>
                                        </p:attrNameLst>
                                      </p:cBhvr>
                                      <p:to>
                                        <p:strVal val="visible"/>
                                      </p:to>
                                    </p:set>
                                    <p:animEffect transition="in" filter="fade">
                                      <p:cBhvr>
                                        <p:cTn id="70" dur="400"/>
                                        <p:tgtEl>
                                          <p:spTgt spid="30"/>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31"/>
                                        </p:tgtEl>
                                        <p:attrNameLst>
                                          <p:attrName>style.visibility</p:attrName>
                                        </p:attrNameLst>
                                      </p:cBhvr>
                                      <p:to>
                                        <p:strVal val="visible"/>
                                      </p:to>
                                    </p:set>
                                    <p:animEffect transition="in" filter="fade">
                                      <p:cBhvr>
                                        <p:cTn id="73" dur="400"/>
                                        <p:tgtEl>
                                          <p:spTgt spid="31"/>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2"/>
                                        </p:tgtEl>
                                        <p:attrNameLst>
                                          <p:attrName>style.visibility</p:attrName>
                                        </p:attrNameLst>
                                      </p:cBhvr>
                                      <p:to>
                                        <p:strVal val="visible"/>
                                      </p:to>
                                    </p:set>
                                    <p:animEffect transition="in" filter="fade">
                                      <p:cBhvr>
                                        <p:cTn id="76" dur="400"/>
                                        <p:tgtEl>
                                          <p:spTgt spid="32"/>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3"/>
                                        </p:tgtEl>
                                        <p:attrNameLst>
                                          <p:attrName>style.visibility</p:attrName>
                                        </p:attrNameLst>
                                      </p:cBhvr>
                                      <p:to>
                                        <p:strVal val="visible"/>
                                      </p:to>
                                    </p:set>
                                    <p:animEffect transition="in" filter="fade">
                                      <p:cBhvr>
                                        <p:cTn id="79" dur="400"/>
                                        <p:tgtEl>
                                          <p:spTgt spid="33"/>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34"/>
                                        </p:tgtEl>
                                        <p:attrNameLst>
                                          <p:attrName>style.visibility</p:attrName>
                                        </p:attrNameLst>
                                      </p:cBhvr>
                                      <p:to>
                                        <p:strVal val="visible"/>
                                      </p:to>
                                    </p:set>
                                    <p:animEffect transition="in" filter="fade">
                                      <p:cBhvr>
                                        <p:cTn id="8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Image 0" descr="C:\Users\user\projects\younes-training\heritage\.pptx-cache\s130.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خارطة الطريق</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درّس المشروع في عشرة أسابيع</a:t>
            </a:r>
            <a:endParaRPr lang="ar-SA" sz="3800" dirty="0"/>
          </a:p>
        </p:txBody>
      </p:sp>
      <p:sp>
        <p:nvSpPr>
          <p:cNvPr id="5" name="anim-g1-968"/>
          <p:cNvSpPr/>
          <p:nvPr/>
        </p:nvSpPr>
        <p:spPr>
          <a:xfrm>
            <a:off x="822960" y="1920240"/>
            <a:ext cx="10545775" cy="594360"/>
          </a:xfrm>
          <a:prstGeom prst="roundRect">
            <a:avLst>
              <a:gd name="adj" fmla="val 24615"/>
            </a:avLst>
          </a:prstGeom>
          <a:solidFill>
            <a:srgbClr val="FFFFFF"/>
          </a:solidFill>
          <a:ln w="12700">
            <a:solidFill>
              <a:srgbClr val="E4DCC8"/>
            </a:solidFill>
            <a:prstDash val="solid"/>
          </a:ln>
        </p:spPr>
      </p:sp>
      <p:sp>
        <p:nvSpPr>
          <p:cNvPr id="6" name="anim-g1-969"/>
          <p:cNvSpPr/>
          <p:nvPr/>
        </p:nvSpPr>
        <p:spPr>
          <a:xfrm>
            <a:off x="10728655" y="2011680"/>
            <a:ext cx="411480" cy="411480"/>
          </a:xfrm>
          <a:prstGeom prst="ellipse">
            <a:avLst/>
          </a:prstGeom>
          <a:solidFill>
            <a:srgbClr val="D9AE4B"/>
          </a:solidFill>
          <a:ln/>
        </p:spPr>
      </p:sp>
      <p:sp>
        <p:nvSpPr>
          <p:cNvPr id="7" name="anim-g1-970"/>
          <p:cNvSpPr/>
          <p:nvPr/>
        </p:nvSpPr>
        <p:spPr>
          <a:xfrm>
            <a:off x="10728655" y="2011680"/>
            <a:ext cx="411480" cy="411480"/>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971"/>
          <p:cNvSpPr/>
          <p:nvPr/>
        </p:nvSpPr>
        <p:spPr>
          <a:xfrm>
            <a:off x="1097280" y="1920240"/>
            <a:ext cx="9402775" cy="594360"/>
          </a:xfrm>
          <a:prstGeom prst="rect">
            <a:avLst/>
          </a:prstGeom>
          <a:noFill/>
          <a:ln/>
        </p:spPr>
        <p:txBody>
          <a:bodyPr wrap="square" lIns="0" tIns="0" rIns="0" bIns="0" rtlCol="0" anchor="ctr">
            <a:normAutofit/>
          </a:bodyPr>
          <a:lstStyle/>
          <a:p>
            <a:pPr marL="0" indent="0" algn="r">
              <a:buNone/>
            </a:pPr>
            <a:r>
              <a:rPr lang="ar-SA" altLang="en-US" sz="2200" b="1" dirty="0">
                <a:solidFill>
                  <a:srgbClr val="101B45"/>
                </a:solidFill>
                <a:latin typeface="Cairo Black" pitchFamily="34" charset="0"/>
                <a:ea typeface="Cairo Black" pitchFamily="34" charset="-122"/>
                <a:cs typeface="Cairo Black" pitchFamily="34" charset="-120"/>
              </a:rPr>
              <a:t>الأسبوع ١: المشكلة والفكرة والمحتوى التراثي</a:t>
            </a:r>
            <a:r>
              <a:rPr lang="ar-SA" altLang="en-US" sz="1800" b="1" dirty="0">
                <a:solidFill>
                  <a:srgbClr val="3B4460"/>
                </a:solidFill>
                <a:latin typeface="Cairo" pitchFamily="34" charset="0"/>
                <a:ea typeface="Cairo" pitchFamily="34" charset="-122"/>
                <a:cs typeface="Cairo" pitchFamily="34" charset="-120"/>
              </a:rPr>
              <a:t>   — بحث مبسط ومقارنة الأفكار</a:t>
            </a:r>
            <a:endParaRPr lang="ar-SA" sz="2200" dirty="0"/>
          </a:p>
        </p:txBody>
      </p:sp>
      <p:sp>
        <p:nvSpPr>
          <p:cNvPr id="9" name="anim-g2-972"/>
          <p:cNvSpPr/>
          <p:nvPr/>
        </p:nvSpPr>
        <p:spPr>
          <a:xfrm>
            <a:off x="822960" y="2624328"/>
            <a:ext cx="10545775" cy="594360"/>
          </a:xfrm>
          <a:prstGeom prst="roundRect">
            <a:avLst>
              <a:gd name="adj" fmla="val 24615"/>
            </a:avLst>
          </a:prstGeom>
          <a:solidFill>
            <a:srgbClr val="FFFFFF"/>
          </a:solidFill>
          <a:ln w="12700">
            <a:solidFill>
              <a:srgbClr val="E4DCC8"/>
            </a:solidFill>
            <a:prstDash val="solid"/>
          </a:ln>
        </p:spPr>
      </p:sp>
      <p:sp>
        <p:nvSpPr>
          <p:cNvPr id="10" name="anim-g2-973"/>
          <p:cNvSpPr/>
          <p:nvPr/>
        </p:nvSpPr>
        <p:spPr>
          <a:xfrm>
            <a:off x="10728655" y="2715768"/>
            <a:ext cx="411480" cy="411480"/>
          </a:xfrm>
          <a:prstGeom prst="ellipse">
            <a:avLst/>
          </a:prstGeom>
          <a:solidFill>
            <a:srgbClr val="D9AE4B"/>
          </a:solidFill>
          <a:ln/>
        </p:spPr>
      </p:sp>
      <p:sp>
        <p:nvSpPr>
          <p:cNvPr id="11" name="anim-g2-974"/>
          <p:cNvSpPr/>
          <p:nvPr/>
        </p:nvSpPr>
        <p:spPr>
          <a:xfrm>
            <a:off x="10728655" y="2715768"/>
            <a:ext cx="411480" cy="411480"/>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975"/>
          <p:cNvSpPr/>
          <p:nvPr/>
        </p:nvSpPr>
        <p:spPr>
          <a:xfrm>
            <a:off x="1097280" y="2624328"/>
            <a:ext cx="9402775" cy="594360"/>
          </a:xfrm>
          <a:prstGeom prst="rect">
            <a:avLst/>
          </a:prstGeom>
          <a:noFill/>
          <a:ln/>
        </p:spPr>
        <p:txBody>
          <a:bodyPr wrap="square" lIns="0" tIns="0" rIns="0" bIns="0" rtlCol="0" anchor="ctr">
            <a:normAutofit/>
          </a:bodyPr>
          <a:lstStyle/>
          <a:p>
            <a:pPr marL="0" indent="0" algn="r">
              <a:buNone/>
            </a:pPr>
            <a:r>
              <a:rPr lang="ar-SA" altLang="en-US" sz="2200" b="1" dirty="0">
                <a:solidFill>
                  <a:srgbClr val="101B45"/>
                </a:solidFill>
                <a:latin typeface="Cairo Black" pitchFamily="34" charset="0"/>
                <a:ea typeface="Cairo Black" pitchFamily="34" charset="-122"/>
                <a:cs typeface="Cairo Black" pitchFamily="34" charset="-120"/>
              </a:rPr>
              <a:t>الأسبوعان ٢–٣: الحساس والشاشة والأزرار</a:t>
            </a:r>
            <a:r>
              <a:rPr lang="ar-SA" altLang="en-US" sz="1800" b="1" dirty="0">
                <a:solidFill>
                  <a:srgbClr val="3B4460"/>
                </a:solidFill>
                <a:latin typeface="Cairo" pitchFamily="34" charset="0"/>
                <a:ea typeface="Cairo" pitchFamily="34" charset="-122"/>
                <a:cs typeface="Cairo" pitchFamily="34" charset="-120"/>
              </a:rPr>
              <a:t>   — ثلاثة مكونات ودمجان</a:t>
            </a:r>
            <a:endParaRPr lang="ar-SA" sz="2200" dirty="0"/>
          </a:p>
        </p:txBody>
      </p:sp>
      <p:sp>
        <p:nvSpPr>
          <p:cNvPr id="13" name="anim-g3-976"/>
          <p:cNvSpPr/>
          <p:nvPr/>
        </p:nvSpPr>
        <p:spPr>
          <a:xfrm>
            <a:off x="822960" y="3328416"/>
            <a:ext cx="10545775" cy="594360"/>
          </a:xfrm>
          <a:prstGeom prst="roundRect">
            <a:avLst>
              <a:gd name="adj" fmla="val 24615"/>
            </a:avLst>
          </a:prstGeom>
          <a:solidFill>
            <a:srgbClr val="FFFFFF"/>
          </a:solidFill>
          <a:ln w="12700">
            <a:solidFill>
              <a:srgbClr val="E4DCC8"/>
            </a:solidFill>
            <a:prstDash val="solid"/>
          </a:ln>
        </p:spPr>
      </p:sp>
      <p:sp>
        <p:nvSpPr>
          <p:cNvPr id="14" name="anim-g3-977"/>
          <p:cNvSpPr/>
          <p:nvPr/>
        </p:nvSpPr>
        <p:spPr>
          <a:xfrm>
            <a:off x="10728655" y="3419856"/>
            <a:ext cx="411480" cy="411480"/>
          </a:xfrm>
          <a:prstGeom prst="ellipse">
            <a:avLst/>
          </a:prstGeom>
          <a:solidFill>
            <a:srgbClr val="D9AE4B"/>
          </a:solidFill>
          <a:ln/>
        </p:spPr>
      </p:sp>
      <p:sp>
        <p:nvSpPr>
          <p:cNvPr id="15" name="anim-g3-978"/>
          <p:cNvSpPr/>
          <p:nvPr/>
        </p:nvSpPr>
        <p:spPr>
          <a:xfrm>
            <a:off x="10728655" y="3419856"/>
            <a:ext cx="411480" cy="411480"/>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979"/>
          <p:cNvSpPr/>
          <p:nvPr/>
        </p:nvSpPr>
        <p:spPr>
          <a:xfrm>
            <a:off x="1097280" y="3328416"/>
            <a:ext cx="9402775" cy="594360"/>
          </a:xfrm>
          <a:prstGeom prst="rect">
            <a:avLst/>
          </a:prstGeom>
          <a:noFill/>
          <a:ln/>
        </p:spPr>
        <p:txBody>
          <a:bodyPr wrap="square" lIns="0" tIns="0" rIns="0" bIns="0" rtlCol="0" anchor="ctr">
            <a:normAutofit/>
          </a:bodyPr>
          <a:lstStyle/>
          <a:p>
            <a:pPr marL="0" indent="0" algn="r">
              <a:buNone/>
            </a:pPr>
            <a:r>
              <a:rPr lang="ar-SA" altLang="en-US" sz="2200" b="1" dirty="0">
                <a:solidFill>
                  <a:srgbClr val="101B45"/>
                </a:solidFill>
                <a:latin typeface="Cairo Black" pitchFamily="34" charset="0"/>
                <a:ea typeface="Cairo Black" pitchFamily="34" charset="-122"/>
                <a:cs typeface="Cairo Black" pitchFamily="34" charset="-120"/>
              </a:rPr>
              <a:t>الأسبوعان ٤–٥: المنصة والمعايرة</a:t>
            </a:r>
            <a:r>
              <a:rPr lang="ar-SA" altLang="en-US" sz="1800" b="1" dirty="0">
                <a:solidFill>
                  <a:srgbClr val="3B4460"/>
                </a:solidFill>
                <a:latin typeface="Cairo" pitchFamily="34" charset="0"/>
                <a:ea typeface="Cairo" pitchFamily="34" charset="-122"/>
                <a:cs typeface="Cairo" pitchFamily="34" charset="-120"/>
              </a:rPr>
              <a:t>   — بناء المنصة والمجسمات وجدول العشر محاولات</a:t>
            </a:r>
            <a:endParaRPr lang="ar-SA" sz="2200" dirty="0"/>
          </a:p>
        </p:txBody>
      </p:sp>
      <p:sp>
        <p:nvSpPr>
          <p:cNvPr id="17" name="anim-g4-980"/>
          <p:cNvSpPr/>
          <p:nvPr/>
        </p:nvSpPr>
        <p:spPr>
          <a:xfrm>
            <a:off x="822960" y="4032504"/>
            <a:ext cx="10545775" cy="594360"/>
          </a:xfrm>
          <a:prstGeom prst="roundRect">
            <a:avLst>
              <a:gd name="adj" fmla="val 24615"/>
            </a:avLst>
          </a:prstGeom>
          <a:solidFill>
            <a:srgbClr val="FFFFFF"/>
          </a:solidFill>
          <a:ln w="12700">
            <a:solidFill>
              <a:srgbClr val="E4DCC8"/>
            </a:solidFill>
            <a:prstDash val="solid"/>
          </a:ln>
        </p:spPr>
      </p:sp>
      <p:sp>
        <p:nvSpPr>
          <p:cNvPr id="18" name="anim-g4-981"/>
          <p:cNvSpPr/>
          <p:nvPr/>
        </p:nvSpPr>
        <p:spPr>
          <a:xfrm>
            <a:off x="10728655" y="4123944"/>
            <a:ext cx="411480" cy="411480"/>
          </a:xfrm>
          <a:prstGeom prst="ellipse">
            <a:avLst/>
          </a:prstGeom>
          <a:solidFill>
            <a:srgbClr val="D9AE4B"/>
          </a:solidFill>
          <a:ln/>
        </p:spPr>
      </p:sp>
      <p:sp>
        <p:nvSpPr>
          <p:cNvPr id="19" name="anim-g4-982"/>
          <p:cNvSpPr/>
          <p:nvPr/>
        </p:nvSpPr>
        <p:spPr>
          <a:xfrm>
            <a:off x="10728655" y="4123944"/>
            <a:ext cx="411480" cy="411480"/>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983"/>
          <p:cNvSpPr/>
          <p:nvPr/>
        </p:nvSpPr>
        <p:spPr>
          <a:xfrm>
            <a:off x="1097280" y="4032504"/>
            <a:ext cx="9402775" cy="594360"/>
          </a:xfrm>
          <a:prstGeom prst="rect">
            <a:avLst/>
          </a:prstGeom>
          <a:noFill/>
          <a:ln/>
        </p:spPr>
        <p:txBody>
          <a:bodyPr wrap="square" lIns="0" tIns="0" rIns="0" bIns="0" rtlCol="0" anchor="ctr">
            <a:normAutofit/>
          </a:bodyPr>
          <a:lstStyle/>
          <a:p>
            <a:pPr marL="0" indent="0" algn="r">
              <a:buNone/>
            </a:pPr>
            <a:r>
              <a:rPr lang="ar-SA" altLang="en-US" sz="2200" b="1" dirty="0">
                <a:solidFill>
                  <a:srgbClr val="101B45"/>
                </a:solidFill>
                <a:latin typeface="Cairo Black" pitchFamily="34" charset="0"/>
                <a:ea typeface="Cairo Black" pitchFamily="34" charset="-122"/>
                <a:cs typeface="Cairo Black" pitchFamily="34" charset="-120"/>
              </a:rPr>
              <a:t>الأسبوعان ٦–٧: الصوت والسؤال والعملة</a:t>
            </a:r>
            <a:r>
              <a:rPr lang="ar-SA" altLang="en-US" sz="1800" b="1" dirty="0">
                <a:solidFill>
                  <a:srgbClr val="3B4460"/>
                </a:solidFill>
                <a:latin typeface="Cairo" pitchFamily="34" charset="0"/>
                <a:ea typeface="Cairo" pitchFamily="34" charset="-122"/>
                <a:cs typeface="Cairo" pitchFamily="34" charset="-120"/>
              </a:rPr>
              <a:t>   — تسجيل الأصوات وآلية الترس والقضيب</a:t>
            </a:r>
            <a:endParaRPr lang="ar-SA" sz="2200" dirty="0"/>
          </a:p>
        </p:txBody>
      </p:sp>
      <p:sp>
        <p:nvSpPr>
          <p:cNvPr id="21" name="anim-g5-984"/>
          <p:cNvSpPr/>
          <p:nvPr/>
        </p:nvSpPr>
        <p:spPr>
          <a:xfrm>
            <a:off x="822960" y="4736592"/>
            <a:ext cx="10545775" cy="594360"/>
          </a:xfrm>
          <a:prstGeom prst="roundRect">
            <a:avLst>
              <a:gd name="adj" fmla="val 24615"/>
            </a:avLst>
          </a:prstGeom>
          <a:solidFill>
            <a:srgbClr val="FFFFFF"/>
          </a:solidFill>
          <a:ln w="12700">
            <a:solidFill>
              <a:srgbClr val="E4DCC8"/>
            </a:solidFill>
            <a:prstDash val="solid"/>
          </a:ln>
        </p:spPr>
      </p:sp>
      <p:sp>
        <p:nvSpPr>
          <p:cNvPr id="22" name="anim-g5-985"/>
          <p:cNvSpPr/>
          <p:nvPr/>
        </p:nvSpPr>
        <p:spPr>
          <a:xfrm>
            <a:off x="10728655" y="4828032"/>
            <a:ext cx="411480" cy="411480"/>
          </a:xfrm>
          <a:prstGeom prst="ellipse">
            <a:avLst/>
          </a:prstGeom>
          <a:solidFill>
            <a:srgbClr val="D9AE4B"/>
          </a:solidFill>
          <a:ln/>
        </p:spPr>
      </p:sp>
      <p:sp>
        <p:nvSpPr>
          <p:cNvPr id="23" name="anim-g5-986"/>
          <p:cNvSpPr/>
          <p:nvPr/>
        </p:nvSpPr>
        <p:spPr>
          <a:xfrm>
            <a:off x="10728655" y="4828032"/>
            <a:ext cx="411480" cy="411480"/>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٥</a:t>
            </a:r>
            <a:endParaRPr lang="ar-SA" sz="2000" dirty="0"/>
          </a:p>
        </p:txBody>
      </p:sp>
      <p:sp>
        <p:nvSpPr>
          <p:cNvPr id="24" name="anim-g5-987"/>
          <p:cNvSpPr/>
          <p:nvPr/>
        </p:nvSpPr>
        <p:spPr>
          <a:xfrm>
            <a:off x="1097280" y="4736592"/>
            <a:ext cx="9402775" cy="594360"/>
          </a:xfrm>
          <a:prstGeom prst="rect">
            <a:avLst/>
          </a:prstGeom>
          <a:noFill/>
          <a:ln/>
        </p:spPr>
        <p:txBody>
          <a:bodyPr wrap="square" lIns="0" tIns="0" rIns="0" bIns="0" rtlCol="0" anchor="ctr">
            <a:normAutofit/>
          </a:bodyPr>
          <a:lstStyle/>
          <a:p>
            <a:pPr marL="0" indent="0" algn="r">
              <a:buNone/>
            </a:pPr>
            <a:r>
              <a:rPr lang="ar-SA" altLang="en-US" sz="2200" b="1" dirty="0">
                <a:solidFill>
                  <a:srgbClr val="101B45"/>
                </a:solidFill>
                <a:latin typeface="Cairo Black" pitchFamily="34" charset="0"/>
                <a:ea typeface="Cairo Black" pitchFamily="34" charset="-122"/>
                <a:cs typeface="Cairo Black" pitchFamily="34" charset="-120"/>
              </a:rPr>
              <a:t>الأسبوعان ٨–٩: آلة الحالات والقرار والاختبار</a:t>
            </a:r>
            <a:r>
              <a:rPr lang="ar-SA" altLang="en-US" sz="1800" b="1" dirty="0">
                <a:solidFill>
                  <a:srgbClr val="3B4460"/>
                </a:solidFill>
                <a:latin typeface="Cairo" pitchFamily="34" charset="0"/>
                <a:ea typeface="Cairo" pitchFamily="34" charset="-122"/>
                <a:cs typeface="Cairo" pitchFamily="34" charset="-120"/>
              </a:rPr>
              <a:t>   — الكود الاحترافي والنتائج الفعلية</a:t>
            </a:r>
            <a:endParaRPr lang="ar-SA" sz="2200" dirty="0"/>
          </a:p>
        </p:txBody>
      </p:sp>
      <p:sp>
        <p:nvSpPr>
          <p:cNvPr id="25" name="anim-g6-988"/>
          <p:cNvSpPr/>
          <p:nvPr/>
        </p:nvSpPr>
        <p:spPr>
          <a:xfrm>
            <a:off x="822960" y="5440680"/>
            <a:ext cx="10545775" cy="594360"/>
          </a:xfrm>
          <a:prstGeom prst="roundRect">
            <a:avLst>
              <a:gd name="adj" fmla="val 24615"/>
            </a:avLst>
          </a:prstGeom>
          <a:solidFill>
            <a:srgbClr val="FFFFFF"/>
          </a:solidFill>
          <a:ln w="12700">
            <a:solidFill>
              <a:srgbClr val="E4DCC8"/>
            </a:solidFill>
            <a:prstDash val="solid"/>
          </a:ln>
        </p:spPr>
      </p:sp>
      <p:sp>
        <p:nvSpPr>
          <p:cNvPr id="26" name="anim-g6-989"/>
          <p:cNvSpPr/>
          <p:nvPr/>
        </p:nvSpPr>
        <p:spPr>
          <a:xfrm>
            <a:off x="10728655" y="5532120"/>
            <a:ext cx="411480" cy="411480"/>
          </a:xfrm>
          <a:prstGeom prst="ellipse">
            <a:avLst/>
          </a:prstGeom>
          <a:solidFill>
            <a:srgbClr val="D9AE4B"/>
          </a:solidFill>
          <a:ln/>
        </p:spPr>
      </p:sp>
      <p:sp>
        <p:nvSpPr>
          <p:cNvPr id="27" name="anim-g6-990"/>
          <p:cNvSpPr/>
          <p:nvPr/>
        </p:nvSpPr>
        <p:spPr>
          <a:xfrm>
            <a:off x="10728655" y="5532120"/>
            <a:ext cx="411480" cy="411480"/>
          </a:xfrm>
          <a:prstGeom prst="rect">
            <a:avLst/>
          </a:prstGeom>
          <a:noFill/>
          <a:ln/>
        </p:spPr>
        <p:txBody>
          <a:bodyPr wrap="square" lIns="0" tIns="0" rIns="0" bIns="0" rtlCol="0" anchor="ctr">
            <a:normAutofit/>
          </a:bodyPr>
          <a:lstStyle/>
          <a:p>
            <a:pPr marL="0" indent="0" algn="ctr" rtl="1">
              <a:buNone/>
            </a:pPr>
            <a:r>
              <a:rPr lang="ar-SA" altLang="en-US" sz="2000" dirty="0">
                <a:solidFill>
                  <a:srgbClr val="0A1230"/>
                </a:solidFill>
                <a:latin typeface="Cairo Black" pitchFamily="34" charset="0"/>
                <a:ea typeface="Cairo Black" pitchFamily="34" charset="-122"/>
                <a:cs typeface="Cairo Black" pitchFamily="34" charset="-120"/>
              </a:rPr>
              <a:t>٦</a:t>
            </a:r>
            <a:endParaRPr lang="ar-SA" sz="2000" dirty="0"/>
          </a:p>
        </p:txBody>
      </p:sp>
      <p:sp>
        <p:nvSpPr>
          <p:cNvPr id="28" name="anim-g6-991"/>
          <p:cNvSpPr/>
          <p:nvPr/>
        </p:nvSpPr>
        <p:spPr>
          <a:xfrm>
            <a:off x="1097280" y="5440680"/>
            <a:ext cx="9402775" cy="594360"/>
          </a:xfrm>
          <a:prstGeom prst="rect">
            <a:avLst/>
          </a:prstGeom>
          <a:noFill/>
          <a:ln/>
        </p:spPr>
        <p:txBody>
          <a:bodyPr wrap="square" lIns="0" tIns="0" rIns="0" bIns="0" rtlCol="0" anchor="ctr">
            <a:normAutofit/>
          </a:bodyPr>
          <a:lstStyle/>
          <a:p>
            <a:pPr marL="0" indent="0" algn="r">
              <a:buNone/>
            </a:pPr>
            <a:r>
              <a:rPr lang="ar-SA" altLang="en-US" sz="2200" b="1" dirty="0">
                <a:solidFill>
                  <a:srgbClr val="101B45"/>
                </a:solidFill>
                <a:latin typeface="Cairo Black" pitchFamily="34" charset="0"/>
                <a:ea typeface="Cairo Black" pitchFamily="34" charset="-122"/>
                <a:cs typeface="Cairo Black" pitchFamily="34" charset="-120"/>
              </a:rPr>
              <a:t>الأسبوع ١٠: البوث والفيديو</a:t>
            </a:r>
            <a:r>
              <a:rPr lang="ar-SA" altLang="en-US" sz="1800" b="1" dirty="0">
                <a:solidFill>
                  <a:srgbClr val="3B4460"/>
                </a:solidFill>
                <a:latin typeface="Cairo" pitchFamily="34" charset="0"/>
                <a:ea typeface="Cairo" pitchFamily="34" charset="-122"/>
                <a:cs typeface="Cairo" pitchFamily="34" charset="-120"/>
              </a:rPr>
              <a:t>   — بروفات العرض بلغتين</a:t>
            </a:r>
            <a:endParaRPr lang="ar-SA" sz="2200" dirty="0"/>
          </a:p>
        </p:txBody>
      </p:sp>
      <p:sp>
        <p:nvSpPr>
          <p:cNvPr id="29" name="Text 27"/>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صانع الذكريات التراثية</a:t>
            </a:r>
            <a:endParaRPr lang="ar-SA" sz="1200" dirty="0"/>
          </a:p>
        </p:txBody>
      </p:sp>
      <p:sp>
        <p:nvSpPr>
          <p:cNvPr id="30" name="Text 28"/>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البوث والختام  ·  ١٣١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400"/>
                                        <p:tgtEl>
                                          <p:spTgt spid="23"/>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400"/>
                                        <p:tgtEl>
                                          <p:spTgt spid="24"/>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grpId="0" nodeType="click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6"/>
                                        </p:tgtEl>
                                        <p:attrNameLst>
                                          <p:attrName>style.visibility</p:attrName>
                                        </p:attrNameLst>
                                      </p:cBhvr>
                                      <p:to>
                                        <p:strVal val="visible"/>
                                      </p:to>
                                    </p:set>
                                    <p:animEffect transition="in" filter="fade">
                                      <p:cBhvr>
                                        <p:cTn id="80" dur="400"/>
                                        <p:tgtEl>
                                          <p:spTgt spid="26"/>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7"/>
                                        </p:tgtEl>
                                        <p:attrNameLst>
                                          <p:attrName>style.visibility</p:attrName>
                                        </p:attrNameLst>
                                      </p:cBhvr>
                                      <p:to>
                                        <p:strVal val="visible"/>
                                      </p:to>
                                    </p:set>
                                    <p:animEffect transition="in" filter="fade">
                                      <p:cBhvr>
                                        <p:cTn id="83" dur="400"/>
                                        <p:tgtEl>
                                          <p:spTgt spid="27"/>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8"/>
                                        </p:tgtEl>
                                        <p:attrNameLst>
                                          <p:attrName>style.visibility</p:attrName>
                                        </p:attrNameLst>
                                      </p:cBhvr>
                                      <p:to>
                                        <p:strVal val="visible"/>
                                      </p:to>
                                    </p:set>
                                    <p:animEffect transition="in" filter="fade">
                                      <p:cBhvr>
                                        <p:cTn id="86"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name="Slide 13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272223" y="457200"/>
            <a:ext cx="4096512"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7272223" y="457200"/>
            <a:ext cx="4096512"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نشاط ختامي — ثلاث دقائق</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F0CC7A"/>
                </a:solidFill>
                <a:latin typeface="Cairo Black" pitchFamily="34" charset="0"/>
                <a:ea typeface="Cairo Black" pitchFamily="34" charset="-122"/>
                <a:cs typeface="Cairo Black" pitchFamily="34" charset="-120"/>
              </a:rPr>
              <a:t>محطتي الخامسة</a:t>
            </a:r>
            <a:endParaRPr lang="ar-SA" sz="3800" dirty="0"/>
          </a:p>
        </p:txBody>
      </p:sp>
      <p:sp>
        <p:nvSpPr>
          <p:cNvPr id="5" name="anim-g1-992"/>
          <p:cNvSpPr/>
          <p:nvPr/>
        </p:nvSpPr>
        <p:spPr>
          <a:xfrm>
            <a:off x="10637215" y="2286000"/>
            <a:ext cx="731520" cy="731520"/>
          </a:xfrm>
          <a:prstGeom prst="ellipse">
            <a:avLst/>
          </a:prstGeom>
          <a:solidFill>
            <a:srgbClr val="D9AE4B"/>
          </a:solidFill>
          <a:ln/>
        </p:spPr>
      </p:sp>
      <p:sp>
        <p:nvSpPr>
          <p:cNvPr id="6" name="anim-g1-993"/>
          <p:cNvSpPr/>
          <p:nvPr/>
        </p:nvSpPr>
        <p:spPr>
          <a:xfrm>
            <a:off x="10637215" y="228600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١</a:t>
            </a:r>
            <a:endParaRPr lang="ar-SA" sz="2400" dirty="0"/>
          </a:p>
        </p:txBody>
      </p:sp>
      <p:sp>
        <p:nvSpPr>
          <p:cNvPr id="7" name="anim-g1-994"/>
          <p:cNvSpPr/>
          <p:nvPr/>
        </p:nvSpPr>
        <p:spPr>
          <a:xfrm>
            <a:off x="4023360" y="219456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أي عنصر تراثي من منطقتك تضيفه محطةً خامسة؟</a:t>
            </a:r>
            <a:endParaRPr lang="ar-SA" sz="2200" dirty="0"/>
          </a:p>
        </p:txBody>
      </p:sp>
      <p:sp>
        <p:nvSpPr>
          <p:cNvPr id="8" name="anim-g2-995"/>
          <p:cNvSpPr/>
          <p:nvPr/>
        </p:nvSpPr>
        <p:spPr>
          <a:xfrm>
            <a:off x="10637215" y="3383280"/>
            <a:ext cx="731520" cy="731520"/>
          </a:xfrm>
          <a:prstGeom prst="ellipse">
            <a:avLst/>
          </a:prstGeom>
          <a:solidFill>
            <a:srgbClr val="D9AE4B"/>
          </a:solidFill>
          <a:ln/>
        </p:spPr>
      </p:sp>
      <p:sp>
        <p:nvSpPr>
          <p:cNvPr id="9" name="anim-g2-996"/>
          <p:cNvSpPr/>
          <p:nvPr/>
        </p:nvSpPr>
        <p:spPr>
          <a:xfrm>
            <a:off x="10637215" y="338328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٢</a:t>
            </a:r>
            <a:endParaRPr lang="ar-SA" sz="2400" dirty="0"/>
          </a:p>
        </p:txBody>
      </p:sp>
      <p:sp>
        <p:nvSpPr>
          <p:cNvPr id="10" name="anim-g2-997"/>
          <p:cNvSpPr/>
          <p:nvPr/>
        </p:nvSpPr>
        <p:spPr>
          <a:xfrm>
            <a:off x="4023360" y="329184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ما المعلومة الواحدة التي يتعلمها الطفل منه؟</a:t>
            </a:r>
            <a:endParaRPr lang="ar-SA" sz="2200" dirty="0"/>
          </a:p>
        </p:txBody>
      </p:sp>
      <p:sp>
        <p:nvSpPr>
          <p:cNvPr id="11" name="anim-g3-998"/>
          <p:cNvSpPr/>
          <p:nvPr/>
        </p:nvSpPr>
        <p:spPr>
          <a:xfrm>
            <a:off x="10637215" y="4480560"/>
            <a:ext cx="731520" cy="731520"/>
          </a:xfrm>
          <a:prstGeom prst="ellipse">
            <a:avLst/>
          </a:prstGeom>
          <a:solidFill>
            <a:srgbClr val="D9AE4B"/>
          </a:solidFill>
          <a:ln/>
        </p:spPr>
      </p:sp>
      <p:sp>
        <p:nvSpPr>
          <p:cNvPr id="12" name="anim-g3-999"/>
          <p:cNvSpPr/>
          <p:nvPr/>
        </p:nvSpPr>
        <p:spPr>
          <a:xfrm>
            <a:off x="10637215" y="4480560"/>
            <a:ext cx="731520" cy="731520"/>
          </a:xfrm>
          <a:prstGeom prst="rect">
            <a:avLst/>
          </a:prstGeom>
          <a:noFill/>
          <a:ln/>
        </p:spPr>
        <p:txBody>
          <a:bodyPr wrap="square" lIns="0" tIns="0" rIns="0" bIns="0" rtlCol="0" anchor="ctr">
            <a:normAutofit/>
          </a:bodyPr>
          <a:lstStyle/>
          <a:p>
            <a:pPr marL="0" indent="0" algn="ctr" rtl="1">
              <a:buNone/>
            </a:pPr>
            <a:r>
              <a:rPr lang="ar-SA" altLang="en-US" sz="2400" dirty="0">
                <a:solidFill>
                  <a:srgbClr val="0A1230"/>
                </a:solidFill>
                <a:latin typeface="Cairo Black" pitchFamily="34" charset="0"/>
                <a:ea typeface="Cairo Black" pitchFamily="34" charset="-122"/>
                <a:cs typeface="Cairo Black" pitchFamily="34" charset="-120"/>
              </a:rPr>
              <a:t>٣</a:t>
            </a:r>
            <a:endParaRPr lang="ar-SA" sz="2400" dirty="0"/>
          </a:p>
        </p:txBody>
      </p:sp>
      <p:sp>
        <p:nvSpPr>
          <p:cNvPr id="13" name="anim-g3-1000"/>
          <p:cNvSpPr/>
          <p:nvPr/>
        </p:nvSpPr>
        <p:spPr>
          <a:xfrm>
            <a:off x="4023360" y="4389120"/>
            <a:ext cx="6339535" cy="914400"/>
          </a:xfrm>
          <a:prstGeom prst="rect">
            <a:avLst/>
          </a:prstGeom>
          <a:noFill/>
          <a:ln/>
        </p:spPr>
        <p:txBody>
          <a:bodyPr wrap="square" lIns="0" tIns="0" rIns="0" bIns="0" rtlCol="0" anchor="ctr">
            <a:normAutofit/>
          </a:bodyPr>
          <a:lstStyle/>
          <a:p>
            <a:pPr marL="0" indent="0" algn="r" rtl="1">
              <a:buNone/>
            </a:pPr>
            <a:r>
              <a:rPr lang="ar-SA" altLang="en-US" sz="2200" b="1" dirty="0">
                <a:solidFill>
                  <a:srgbClr val="FFFFFF"/>
                </a:solidFill>
                <a:latin typeface="Cairo" pitchFamily="34" charset="0"/>
                <a:ea typeface="Cairo" pitchFamily="34" charset="-122"/>
                <a:cs typeface="Cairo" pitchFamily="34" charset="-120"/>
              </a:rPr>
              <a:t>اكتب سؤالًا بخيارين… وسؤالًا مساعدًا</a:t>
            </a:r>
            <a:endParaRPr lang="ar-SA" sz="2200" dirty="0"/>
          </a:p>
        </p:txBody>
      </p:sp>
      <p:sp>
        <p:nvSpPr>
          <p:cNvPr id="14" name="Shape 12"/>
          <p:cNvSpPr/>
          <p:nvPr/>
        </p:nvSpPr>
        <p:spPr>
          <a:xfrm>
            <a:off x="822960" y="2194560"/>
            <a:ext cx="2834640" cy="2834640"/>
          </a:xfrm>
          <a:prstGeom prst="ellipse">
            <a:avLst/>
          </a:prstGeom>
          <a:solidFill>
            <a:srgbClr val="FFFFFF">
              <a:alpha val="5000"/>
            </a:srgbClr>
          </a:solidFill>
          <a:ln w="88900">
            <a:solidFill>
              <a:srgbClr val="D9AE4B">
                <a:alpha val="50000"/>
              </a:srgbClr>
            </a:solidFill>
            <a:prstDash val="solid"/>
          </a:ln>
        </p:spPr>
      </p:sp>
      <p:sp>
        <p:nvSpPr>
          <p:cNvPr id="15" name="Text 13"/>
          <p:cNvSpPr/>
          <p:nvPr/>
        </p:nvSpPr>
        <p:spPr>
          <a:xfrm>
            <a:off x="822960" y="2834640"/>
            <a:ext cx="2834640" cy="1097280"/>
          </a:xfrm>
          <a:prstGeom prst="rect">
            <a:avLst/>
          </a:prstGeom>
          <a:noFill/>
          <a:ln/>
        </p:spPr>
        <p:txBody>
          <a:bodyPr wrap="square" lIns="0" tIns="0" rIns="0" bIns="0" rtlCol="0" anchor="ctr">
            <a:normAutofit/>
          </a:bodyPr>
          <a:lstStyle/>
          <a:p>
            <a:pPr marL="0" indent="0" algn="ctr">
              <a:buNone/>
            </a:pPr>
            <a:r>
              <a:rPr lang="ar-SA" altLang="en-US" sz="6000" dirty="0">
                <a:solidFill>
                  <a:srgbClr val="F0CC7A"/>
                </a:solidFill>
                <a:latin typeface="Cairo Black" pitchFamily="34" charset="0"/>
                <a:ea typeface="Cairo Black" pitchFamily="34" charset="-122"/>
                <a:cs typeface="Cairo Black" pitchFamily="34" charset="-120"/>
              </a:rPr>
              <a:t>3:00</a:t>
            </a:r>
            <a:endParaRPr lang="ar-SA" sz="6000" dirty="0"/>
          </a:p>
        </p:txBody>
      </p:sp>
      <p:sp>
        <p:nvSpPr>
          <p:cNvPr id="16" name="Text 14"/>
          <p:cNvSpPr/>
          <p:nvPr/>
        </p:nvSpPr>
        <p:spPr>
          <a:xfrm>
            <a:off x="822960" y="3840480"/>
            <a:ext cx="2834640" cy="457200"/>
          </a:xfrm>
          <a:prstGeom prst="rect">
            <a:avLst/>
          </a:prstGeom>
          <a:noFill/>
          <a:ln/>
        </p:spPr>
        <p:txBody>
          <a:bodyPr wrap="square" lIns="0" tIns="0" rIns="0" bIns="0" rtlCol="0" anchor="ctr">
            <a:normAutofit/>
          </a:bodyPr>
          <a:lstStyle/>
          <a:p>
            <a:pPr marL="0" indent="0" algn="ctr" rtl="1">
              <a:buNone/>
            </a:pPr>
            <a:r>
              <a:rPr lang="ar-SA" altLang="en-US" sz="1600" b="1" dirty="0">
                <a:solidFill>
                  <a:srgbClr val="C9CFE6"/>
                </a:solidFill>
                <a:latin typeface="Cairo" pitchFamily="34" charset="0"/>
                <a:ea typeface="Cairo" pitchFamily="34" charset="-122"/>
                <a:cs typeface="Cairo" pitchFamily="34" charset="-120"/>
              </a:rPr>
              <a:t>٣ دقائق</a:t>
            </a:r>
            <a:endParaRPr lang="ar-SA" sz="16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صانع الذكريات التراثية</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 البوث والختام  ·  ١٣٢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133.xml><?xml version="1.0" encoding="utf-8"?>
<p:sld xmlns:a="http://schemas.openxmlformats.org/drawingml/2006/main" xmlns:r="http://schemas.openxmlformats.org/officeDocument/2006/relationships" xmlns:p="http://schemas.openxmlformats.org/presentationml/2006/main">
  <p:cSld name="Slide 13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رسالة الدورة</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marL="0" indent="0" algn="ctr">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لم نصنع لعبة تتحدث عن التراث فحسب…</a:t>
            </a:r>
            <a:endParaRPr lang="ar-SA" sz="4400" dirty="0"/>
          </a:p>
          <a:p>
            <a:pPr marL="0" indent="0" algn="ctr">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صنعنا تجربة تجعل الطفل يعيش التراث، ويتعلمه، ثم يحمل ذكراه معه</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صانع الذكريات التراثية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 البوث والختام  ·  ١٣٣</a:t>
            </a:r>
            <a:endParaRPr lang="ar-SA" sz="12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914400"/>
            <a:ext cx="960120" cy="960120"/>
          </a:xfrm>
          <a:prstGeom prst="roundRect">
            <a:avLst>
              <a:gd name="adj" fmla="val 26667"/>
            </a:avLst>
          </a:prstGeom>
          <a:solidFill>
            <a:srgbClr val="D9AE4B"/>
          </a:solidFill>
          <a:ln/>
        </p:spPr>
      </p:sp>
      <p:sp>
        <p:nvSpPr>
          <p:cNvPr id="3" name="Text 1"/>
          <p:cNvSpPr/>
          <p:nvPr/>
        </p:nvSpPr>
        <p:spPr>
          <a:xfrm>
            <a:off x="5615788" y="914400"/>
            <a:ext cx="960120" cy="960120"/>
          </a:xfrm>
          <a:prstGeom prst="rect">
            <a:avLst/>
          </a:prstGeom>
          <a:noFill/>
          <a:ln/>
        </p:spPr>
        <p:txBody>
          <a:bodyPr wrap="square" lIns="0" tIns="0" rIns="0" bIns="0" rtlCol="0" anchor="ctr">
            <a:normAutofit/>
          </a:bodyPr>
          <a:lstStyle/>
          <a:p>
            <a:pPr marL="0" indent="0" algn="ctr" rtl="1">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2194560"/>
            <a:ext cx="12191695" cy="1280160"/>
          </a:xfrm>
          <a:prstGeom prst="rect">
            <a:avLst/>
          </a:prstGeom>
          <a:noFill/>
          <a:ln/>
        </p:spPr>
        <p:txBody>
          <a:bodyPr wrap="square" lIns="0" tIns="0" rIns="0" bIns="0" rtlCol="0" anchor="ctr">
            <a:normAutofit/>
          </a:bodyPr>
          <a:lstStyle/>
          <a:p>
            <a:pPr marL="0" indent="0" algn="ctr" rtl="1">
              <a:buNone/>
            </a:pPr>
            <a:r>
              <a:rPr lang="ar-SA" altLang="en-US" sz="8000" dirty="0">
                <a:solidFill>
                  <a:srgbClr val="FFF3D6"/>
                </a:solidFill>
                <a:latin typeface="Cairo Black" pitchFamily="34" charset="0"/>
                <a:ea typeface="Cairo Black" pitchFamily="34" charset="-122"/>
                <a:cs typeface="Cairo Black" pitchFamily="34" charset="-120"/>
              </a:rPr>
              <a:t>شكرًا لكم</a:t>
            </a:r>
            <a:endParaRPr lang="ar-SA" sz="8000" dirty="0"/>
          </a:p>
        </p:txBody>
      </p:sp>
      <p:sp>
        <p:nvSpPr>
          <p:cNvPr id="5" name="Text 3"/>
          <p:cNvSpPr/>
          <p:nvPr/>
        </p:nvSpPr>
        <p:spPr>
          <a:xfrm>
            <a:off x="0" y="3566160"/>
            <a:ext cx="12191695" cy="640080"/>
          </a:xfrm>
          <a:prstGeom prst="rect">
            <a:avLst/>
          </a:prstGeom>
          <a:noFill/>
          <a:ln/>
        </p:spPr>
        <p:txBody>
          <a:bodyPr wrap="square" lIns="0" tIns="0" rIns="0" bIns="0" rtlCol="0" anchor="ctr">
            <a:normAutofit/>
          </a:bodyPr>
          <a:lstStyle/>
          <a:p>
            <a:pPr marL="0" indent="0" algn="ctr" rtl="1">
              <a:buNone/>
            </a:pPr>
            <a:r>
              <a:rPr lang="ar-SA" altLang="en-US" sz="2800" b="1" dirty="0">
                <a:solidFill>
                  <a:srgbClr val="FFFFFF"/>
                </a:solidFill>
                <a:latin typeface="Cairo" pitchFamily="34" charset="0"/>
                <a:ea typeface="Cairo" pitchFamily="34" charset="-122"/>
                <a:cs typeface="Cairo" pitchFamily="34" charset="-120"/>
              </a:rPr>
              <a:t>تراث نعيشه… وذكرى نحملها</a:t>
            </a:r>
            <a:endParaRPr lang="ar-SA" sz="2800" dirty="0"/>
          </a:p>
        </p:txBody>
      </p:sp>
      <p:sp>
        <p:nvSpPr>
          <p:cNvPr id="6" name="Shape 4"/>
          <p:cNvSpPr/>
          <p:nvPr/>
        </p:nvSpPr>
        <p:spPr>
          <a:xfrm>
            <a:off x="5364328" y="4434840"/>
            <a:ext cx="1463040" cy="36576"/>
          </a:xfrm>
          <a:prstGeom prst="rect">
            <a:avLst/>
          </a:prstGeom>
          <a:solidFill>
            <a:srgbClr val="D9AE4B"/>
          </a:solidFill>
          <a:ln/>
        </p:spPr>
      </p:sp>
      <p:sp>
        <p:nvSpPr>
          <p:cNvPr id="7" name="Text 5"/>
          <p:cNvSpPr/>
          <p:nvPr/>
        </p:nvSpPr>
        <p:spPr>
          <a:xfrm>
            <a:off x="0" y="4846320"/>
            <a:ext cx="12191695"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C9CFE6"/>
                </a:solidFill>
                <a:latin typeface="Cairo" pitchFamily="34" charset="0"/>
                <a:ea typeface="Cairo" pitchFamily="34" charset="-122"/>
                <a:cs typeface="Cairo" pitchFamily="34" charset="-120"/>
              </a:rPr>
              <a:t>صانع الذكريات التراثية · إعداد وتقديم: أ. محمد زيتون</a:t>
            </a:r>
            <a:endParaRPr lang="ar-SA"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نسق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7175</Words>
  <Application>Microsoft Office PowerPoint</Application>
  <PresentationFormat>شاشة عريضة</PresentationFormat>
  <Paragraphs>1095</Paragraphs>
  <Slides>134</Slides>
  <Notes>134</Notes>
  <HiddenSlides>0</HiddenSlides>
  <MMClips>11</MMClips>
  <ScaleCrop>false</ScaleCrop>
  <HeadingPairs>
    <vt:vector size="6" baseType="variant">
      <vt:variant>
        <vt:lpstr>الخطوط المستخدمة</vt:lpstr>
      </vt:variant>
      <vt:variant>
        <vt:i4>3</vt:i4>
      </vt:variant>
      <vt:variant>
        <vt:lpstr>نسق</vt:lpstr>
      </vt:variant>
      <vt:variant>
        <vt:i4>1</vt:i4>
      </vt:variant>
      <vt:variant>
        <vt:lpstr>عناوين الشرائح</vt:lpstr>
      </vt:variant>
      <vt:variant>
        <vt:i4>134</vt:i4>
      </vt:variant>
    </vt:vector>
  </HeadingPairs>
  <TitlesOfParts>
    <vt:vector size="138" baseType="lpstr">
      <vt:lpstr>Arial</vt:lpstr>
      <vt:lpstr>Cairo</vt:lpstr>
      <vt:lpstr>Cairo Black</vt:lpstr>
      <vt:lpstr>Office Theme</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صانع الذكريات التراثية</dc:title>
  <dc:subject>PptxGenJS Presentation</dc:subject>
  <dc:creator>أ. محمد زيتون</dc:creator>
  <cp:lastModifiedBy>user</cp:lastModifiedBy>
  <cp:revision>2</cp:revision>
  <dcterms:created xsi:type="dcterms:W3CDTF">2026-10-02T17:13:23Z</dcterms:created>
  <dcterms:modified xsi:type="dcterms:W3CDTF">2026-10-02T17:13:37Z</dcterms:modified>
</cp:coreProperties>
</file>