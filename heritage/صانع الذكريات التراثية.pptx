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Lst>
  <p:notesMasterIdLst>
    <p:notesMasterId r:id="rId1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notesMaster" Target="notesMasters/notesMaster1.xml"/><Relationship Id="rId135" Type="http://schemas.openxmlformats.org/officeDocument/2006/relationships/presProps" Target="presProps.xml"/><Relationship Id="rId136" Type="http://schemas.openxmlformats.org/officeDocument/2006/relationships/viewProps" Target="viewProps.xml"/><Relationship Id="rId137" Type="http://schemas.openxmlformats.org/officeDocument/2006/relationships/theme" Target="theme/theme1.xml"/><Relationship Id="rId1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رحّب بالمعلمين. قل: «اليوم نبني لعبة حقيقية شارك بها طلاب في المرحلة الابتدائية في أولمبياد الروبوت العالمي WRO 2026: صانع الذكريات التراثية. وسنبنيها كما يبنيها المهندسون: مكوّنًا مكوّنًا».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عرّف بنفسك وبالمشروع في أقل من دقيقة.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اترك المشهد يعمل دون كلام: طفل يقترب، فيكتشفه الحساس ويرحب به ويبدأ المؤقت. يضغط الزر الأحمر فتدور المنصة إلى الخيمة، ويسمع معلومة، ويجيب، فتخرج عملة الذكرى من فتحة «خذ ذكراك». ثم اسأل: «كم مكوّنًا شارك في هذه الثواني؟» سبعة. وسنبني كل واحد منها وحده، ثم ندمجها.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السؤال الهندسي الذي طرحه الفريق: كيف نصمم روبوتًا تفاعليًا يجعل تعلّم التراث السعودي تجربة ممتعة وملموسة بدل تلقين سلبي؟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 يتوقف الفريق عند أول فكرة. هذه الصفحة وحدها درس في التفكير الهندسي لطلابكم: الفكرة الأجمل ليست دائمًا الأنسب.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ضوابط الفريق: لغة قصيرة مناسبة للعمر، ومعلومة واحدة في كل محطة، وأسئلة قابلة للتحقق، ومراجعة المحتوى من مصادر رسمية قبل التسجيل. والأهم: تغيير المحتوى لاحقًا دون تغيير الهيكل الروبوتي.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مبدأ الفريق نفسه: «نختبر المكوّن منفردًا، ثم ندمجه مع المكونات الأخرى، ثم نختبره داخل الجولة الكاملة». وهو أفضل طريقة لتدريس الإلكترونيات: كل حصة تنتهي بشيء يعمل.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خاتمة ملف الفريق. المحور الأول: الصورة الكبيرة قبل أي سلك.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ارسم المخطط على السبورة قبل أن تفتح الشريحة التالية، واطلب من المتدربين تصنيف كل مكوّن: مدخل أم مخرج؟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انقر كل عقدة. ثم «شاهد جولة طفل»: تسع خطوات من الاقتراب حتى العملة. لاحظوا أن ESP32 في المنتصف دائمًا: كل شيء يمر به.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الترتيب في هذا الجدول هو ترتيب بناء الدورة نفسه. علّقوه على جدار المعمل: يغني عن نصف أسئلة الطلاب.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سنعود لكل قاعدة عند المكوّن الذي يحتاجها. لاحظ أن الفريق وضع على 34–39 مدخلات فقط (Echo والأزرار)، وهذا اختيار ذكي.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المكوّن الأول وحده، حساس الاقتراب.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نبدأ به؟ لأنه أول ما يحدث في الجولة: لا ضغطة أولى، الروبوت يكتشف الطفل بنفسه.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سرعة الصوت ٣٤٣ مترًا في الثانية = ٠٫٠٣٤٣ سم في الميكروثانية. اسألوا الطلاب: لماذا القسمة على 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مقسّم الجهد مهم: Echo يخرج ٥ فولت وESP32 يتحمل ٣٫٣. مقاومة 1k من Echo إلى الطرف، و2k من الطرف إلى GND. وحدات HC-SR04P الحديثة تعمل على ٣٫٣ فولت مباشرة.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جرّبوا: يد على بعد ٢٠ سم ثم ٥٠ ثم ١٠٠. وجرّبوا قماشًا ناعمًا: يمتص الصوت فتضعف القراءة. هذا يهم في البوث: ملابس الأطفال!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اسحب الطفل ببطء: الموجات الزرقاء تذهب والخضراء تعود. حين يعبر الخط الأحمر يزيد العداد near، وبعد ثلاث قراءات متتالية فقط يُعلن «زائر». لماذا ثلاث؟ لأن طفلًا يمرّ مسرعًا أمام البوث لا يجب أن يبدأ جولة. غيّروا مسافة البدء: الفريق يحددها بالتجربة في مكان العرض.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&gt; 2 تستبعد الصفر الذي تعيده pulseIn حين لا يعود صدى. هذه الدالة سنستدعيها في كل المحاور القادمة: هذه قوة الدوال.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المكوّن الثاني، الشاشة… ثم ندمجهما في أول ترحيب.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بعد هذا المحور يرى المتدربون أول تفاعل حقيقي: يقتربون فيرحب بهم الروبوت.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لوحة I2C الصغيرة خلف الشاشة تحوّل سلكين إلى ستة عشر طرفًا. وإن لم تعرفوا العنوان: كود I2C Scanner الشهير يطبعه.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أشهر مشكلتين: شاشة مضاءة بلا حروف (اضبطوا مقاومة التباين الزرقاء)، ومربعات سوداء في السطر الأول (العنوان خطأ أو الأسلاك معكوسة).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الشاشة لا تعرض الحروف العربية مباشرة: تحتاج «رموزًا مخصصة» صعبة. لهذا اختار الفريق: الشرح العربي بالصوت، والشاشة للأسماء القصيرة والمؤقت.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المؤقت ٠٥:٠٠ من ملف الفريق: «حد مرئي للجولة» يراه الزائر والحكم دون تخمين. وmillis لا تجمّد الروبوت كما تفعل delay.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أول «دمج»: مكوّنان كل منهما مختبر وحده، والآن معًا. اطلبوا من المتدربين تجربته بأجسادهم: يقتربون ويبتعدون. ولاحظوا متغير was: هو بذرة «آلة الحالات» التي سنبنيها في المحور الحادي عشر.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المكوّن الثالث، الأزرار، ثم ندمجه ليختار الطفل محطته.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الزر أبسط مكوّن… ويخفي أشهر فخّين في ESP32: الأطراف العائمة، والارتداد.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ESP32 فيه مقاومات سحب داخلية في أغلب الأطراف (INPUT_PULLUP)… إلا 34 إلى 39. والفريق وضع زر السيف على 35 وزري الإجابة على 36 و39: تحتاج مقاومات 10k خارجية.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زر: طرف إلى المنفذ، وطرف إلى GND. وعلى 35 و36 و39: مقاومة 10k من المنفذ إلى 3.3V. الضغط = LOW.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والمقاومة الخارجية مطفأة: الخانات الثلاث المخططة تقرأ LOW عشوائيًا ويزيد عداد «ضغطات وهمية» دون أن يلمسها أحد! ثم فعّل المقاومة. ثم اضغط الأزرار والارتداد مطفأ: ضغطة واحدة تُقرأ أكثر من مرة. فعّل إزالة الارتداد: الرقمان يتطابقان.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المصفوفة؟ لأننا سنقرأ المحطات الأربع بحلقة for واحدة بدل أربعة شروط. هذا يجعل إضافة محطة خامسة سطرًا واحدًا (ومن خطط الفريق: محطات لمناطق المملكة).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ثلاثة مكونات تعمل معًا الآن. اختبروا: ابتعدوا واضغطوا زرًا: لا يحدث شيء. هذا «قفل» مقصود. وسنرى أقفالًا أذكى في آلة الحالات.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المكوّن الرابع، المحرك… والمنصة تدور فعلًا إلى ما اختاره الطفل.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قلب المشروع الميكانيكي: منصة محيطها نحو ٦٥ سم، مقسومة إلى أربعة أرباع، وعليها المجسمات الأربعة.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السيرفو لا يدور دورة كاملة، ومحرك التيار المستمر لا يعرف موضعه. الخطوي يعدّ خطواته، فيعرف أين المحطة.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المحرك على مصدر ٦ فولت مستقل كما في ملف الفريق، وأرضي المصدر متصل بأرضي ESP32. تغذية المحرك من اللوحة تسبب إعادة تشغيل مفاجئة.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أول تجربة: هل يعود المجسم إلى الخيمة بعد أربع حركات بالضبط؟ غالبًا لا… والسبب موضوع المحور القادم: المعايرة.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الألوان: المنصة تأخذ الطريق الأقصر (السيف من الخيمة: ربع للخلف لا ثلاثة للأمام). راقب «خطأ التوقف» بعد عدة حركات: يكبر! لأن الربع الحقيقي ليس ٥١٢. جرّب ٥١٠ ثم ٥٠٨. وارفع الحمل: يضيع أكثر. ثم «مستشعر البداية»: فكرة الفريق للتطوير، يعيد الصفر عند الخيمة.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مثال على السبورة: من الملابس (٢) إلى الخيمة (٠): (٠ − ٢ + ٤) % ٤ = ٢ ربعان. من الخيمة (٠) إلى السيف (٣): ٣ ← −١ ربع للخلف.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أربعة مكونات معًا! لاحظوا: أثناء goStation لا يقرأ الروبوت شيئًا ولا يتحدث المؤقت (step تحجز المعالج). يكفي الآن، وسنحلها في المحور الحادي عشر بخطوة واحدة في كل دورة loop.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لماذا لا تتوقف المنصة في المكان الصحيح تمامًا؟ المعايرة.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المحور يفرّق بين مشروع «يعمل أحيانًا» ومشروع «يعمل أمام الحكم». الفريق جعل المعايرة جزءًا رئيسيًا من الحل لا خطوة اختيارية.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الفريق كتب: «قد تختلف النتيجة بسبب الاحتكاك ونسبة التروس وحمل المجسمات؛ لهذا أصبحت المعايرة جزءًا رئيسيًا من الحل».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ارسموا علامة صغيرة على القاعدة أمام الطفل، وعلامة على حافة كل ربع في المنصة. الخطأ = المسافة بين العلامتين.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«١٠ محاولات» بالقيمة ٥١٢: الخطأ يكبر مع المحاولات، والنجاح ضعيف. سجّل «قبل المعايرة». ثم غيّر عاملًا واحدًا فقط: الخطوات إلى ٥١٠ مثلًا، وأعد. ثم جرّب السرعة: فوق ١٢ تضيع خطوات. الهدف: ٩٠٪ من المحاولات ضمن ±٣ درجات.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هو المنهج العلمي نفسه: متغير مستقل واحد. علّموه لطلابكم في الروبوت… وسيستعملونه في كل مختبر علوم.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خطط الفريق المستقبلية. في المحاكي السابق رأيتم زر «مستشعر البداية»: هذه وظيفته.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المكوّن الخامس، الصوت: المنصة تصل… فتحكي القصة.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الصوت يحوّل المجسم الصامت إلى راوٍ. والطفل الذي لا يقرأ بعد يتعلم أيضًا.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سجّلوا الصوت بأصوات الطلاب أنفسهم! ومن ميزة التصميم في ملف الفريق: نغيّر الملفات والأسئلة دون أن نغيّر الهيكل الروبوتي. موضوع جديد = بطاقة ذاكرة جديدة.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TX في المشغّل إلى RX في اللوحة والعكس. ومقاومة 1k على السلك الداخل إلى المشغّل تقلل الطنين. والسماعة صغيرة (٣ واط) على SPK1 وSPK2 مباشرة.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اضغط الترحيب ثم المحطات: لاحظ اسم الملف يضيء في القائمة، وموجة الصوت، والسماعة في اللوحة. واقرأ التنبيه: الشرح العربي بالصوت، والشاشة للاسم القصير والمؤقت.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نسخ الملفات بالترتيب على بطاقة فارغة مهم: بعض المشغّلات تعتمد ترتيب النسخ لا الاسم. انسخوا 0001 أولًا ثم 0002…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خمسة مكونات! لاحظوا كيف صارت loop أقصر رغم أن المشروع أكبر: الدوال تخفي التفاصيل. هذا ما يسميه المهندسون «التجريد».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المكوّن السادس، السؤال: الليدان وزرا الإجابة.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«يسمع» إلى «يجيب»: التعلّم النشط يبدأ هنا.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خياران فقط؟ الأطفال في المرحلة الابتدائية: سؤال قصير وواضح، ومعلومة واحدة في كل محطة، كما في ضوابط الفريق.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زرا الإجابة وصّلناهما في محور الأزرار (36 و39 بمقاومتين خارجيتين). هنا نضيف الليدين فقط.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−١؟ لأن loop تسأل عشرات المرات في الثانية «هل أجاب؟». −١ تعني «لا، ما زلنا ننتظر».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هذا الكود يعمل… لكنه «يحبس» الروبوت: أثناء delay وwhile لا يتحدث المؤقت ولا يرى الحساس. اكتبوا على السبورة: «يعمل، لكن ليس احترافيًا». سنعود إليه في آلة الحالات لنزيل الحبس.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المكوّن السابع والأجمل، عملة الذكرى.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الابتكار الرئيسي في المشروع: «العملة تُمنح بعد استجابة صحيحة في نهاية مسار تعليمي… فتتحول المعلومة إلى ذكرى ملموسة».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نفس الآلية في مقود السيارة! اعرضوا صورة ترس وقضيب من لعبة LEGO أو أي آلة قديمة. والعملات خشبية عليها رسم المحطة، والخطة القادمة للفريق: مواد أكثر استدامة.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الفريق واجه «سيرفو غير مستقر على منفذ» فغيّر المنفذ وتحقق من التغذية والأرضي، وتعلّم أن «ليست كل مشكلة برمجية». لهذا: طاقة مستقلة وأرضي مشترك.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حرّك زاوية السيرفو ببطء: الترس يدور والقضيب يتقدم، والمسافة تُحسب s = r × θ. بنصف قطر ١٠ مم: كم درجة لنصل ٣٢ مم؟ (نحو ١٨٤°… أكثر من مدى السيرفو!) كبّروا الترس إلى ١٦ مم: تكفي ١١٥ درجة تقريبًا. هذا تصميم ميكانيكي بالحساب. ثم «giveCoin» مرتين: القفل يمنع الثانية. ثم «الطاقة من اللوحة»: ارتجاف.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متى نفتح القفل؟ عند اختيار محطة جديدة: coinGiven = false. هكذا عملة واحدة لكل محطة، وأربع عملات للجولة كاملة.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لحظة احتفال! كل المكونات السبعة تعمل. لكن… أين السؤال المساعد عند الخطأ؟ وماذا عن delay وwhile التي تحبس الروبوت؟ هذا ما يجعل المشروع «عالميًا»: المحوران ١١ و١٢.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قبل أن نجمع كل شيء في صندوق واحد… الطاقة الآمنة.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مكوّن عمل وحده على الطاولة. الآن نجمعها في الصندوق الحقيقي، وهنا تظهر مشكلات الطاقة.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لماذا نفصل؟ «لتقليل هبوط الجهد أثناء الحركة» كما كتب الفريق. حين يسحب المحرك تيارًا من مصدر اللوحة نفسه، يهبط الجهد فتُعاد اللوحة أو يرتجف السيرفو.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ركّبوا بالترتيب نفسه الذي تعلمناه: الحساس، الشاشة، الأزرار، المحرك، الصوت، الليدان، السيرفو. وبعد كل مكوّن: شغّلوا كوده الصغير. لا تركّبوا كل شيء ثم تشغّلوه مرة واحدة!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صيغة الفريق: مشكلة ← فرضية ← اختبار ← نتيجة ← درس. علّموها لطلابكم: الخطأ ليس عيبًا مخفيًا، بل دليل على تطور الحل.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الكود الاحترافي، آلة الحالات.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كودنا في المحور التاسع يعمل… لكنه يحبس الروبوت في delay وwhile. هنا نعيد كتابته كما يكتبه المحترفون.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ارسموا الحالات دوائر على السبورة والأسهم بينها، قبل أي كود. هذا الرسم هو «التصميم»، والكود ترجمته.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ابدأ بـ «اقترب طفل»، ثم «زر محطة»، ثم «انتهت الحركة والصوت»، ثم «إجابة خاطئة» ثم «صحيحة». الآن جرّب الخطأ: اضغط «زر محطة» وأنت في BUSY: مرفوض! «الأزرار مقفلة أثناء الدوران». هذا ما كتبه الفريق: «لا يقبل الروبوت الأزرار التي لا تناسب الحالة الحالية».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 delay طويلة في أي مكان! loop تدور آلاف المرات في الثانية، وفي كل مرة تفعل شيئًا صغيرًا. هكذا يرى الحساس ويتحدث المؤقت ويدور المحرك… معًا.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نفس الفكرة للصوت: audioDone تسأل المشغّل «هل انتهيت؟» (df.available ثم DFPlayerPlayFinished) بدل delay(6000). هذا ما يسميه الفريق في ملفه: non-blocking.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منطق القرار المستقل والسؤال المساعد.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شرط مسابقة Future Innovators: الروبوت يتخذ قرارات. وهنا القرار تعليمي: كيف نساعد طفلًا أخطأ؟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الفريق كتب: «لا يقدم النظام المكافأة تلقائيًا عند كل محطة، ولا يكرر السؤال بالطريقة نفسها عند الخطأ». والإجابة الصحيحة بعد المساعدة تمنح العملة أيضًا.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أجب «أ» من أول مرة: المسار أ. محطة أخرى، أجب «ب»: سؤال مساعد بمعلومة جديدة، ثم «أ»: عملة بعد المساعدة. ثم جرّب «ب» مرتين: المسار ب٢. اسألوا: أي المسارات علّم الطفل أكثر؟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لاحظوا: القرار يعتمد على بيانات (إجابة الطفل)، والنتيجة مختلفة لكل طفل. هذا هو «القرار المستقل» الذي يبحث عنه الحكام.
🖱️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نشاط جميل للمعلمين: اكتبوا سؤالًا وسؤالًا مساعدًا لمحطة خامسة من منطقتكم: القط العسيري، أو السدو، أو القهوة السعودية.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اضغط للانتقال بين الخطوات.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التالي: الجولة الكاملة، كل شيء معًا.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كل ما بنيناه في اثني عشر محورًا يعمل الآن في تجربة واحدة.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ومن يجمع العملات الأربع يحصل على لقب «حارس الذكريات التراثية»: هذا يشجع الطفل على إكمال المحطات كلها.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العبها كما يلعبها الطفل: «اقترب» ثم اختر محطة. جرّب ضغط زر آخر أثناء الدوران: مقفل. أجب صحيحًا وخاطئًا. اجمع العملات الأربع: لقب حارس الذكريات التراثية. ولاحظ المؤقت: تحت الدقيقة يرمش.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مبادئ الفريق: «هذه الصفحة لتسجيل النتائج الفعلية فقط»، مع التاريخ وصورة من اختبار حقيقي. هذا الصدق يقنع الحكام أكثر من أي رقم كبير.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الفريق كتب: «نعرض الأثر هدفًا، ثم نضيف دليلًا حقيقيًا عندما يتوفر». درس في الأمانة العلمية.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المحور الأخير: البوث والعرض والتحكيم.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«البوث ليس ديكورًا منفصلًا، بل هو المسرح الذي يشرح فيه الطالبان المشكلة ورحلتهما والحل» من ملف الفريق.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انقر كل عنصر. الفكرة الأساسية: الروبوت في المنتصف دائمًا، والحكم يرى الطالبين والمؤقت في الوقت نفسه. والزينة (دلة، فانوس، سلال) لا تحجب الروبوت أبدًا.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تدرّبوا على الفيديو خمس مرات على الأقل. لقطة واحدة تعني: أي خطأ يعيد التصوير من البداية، فالتدريب يصنع الثقة.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الجملة الأخيرة هي شعار المشروع بالإنجليزية كما في لوحة الفريق: «Our Heritage… A Memory We Carry».
💡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ومن خطط الفريق: مستشعر البداية عند الخيمة، وتقرير تعلّم بسيط للأهل أو المعلم مع مراعاة الخصوصية، وعملات من مواد مستدامة.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هذه الأداة تفاعلية بالكامل في منصة جذور، فاعرضها من المنصة إن أمكن.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وزّعوا الأدوار كما في ملف الفريق: التصميم الميكانيكي والقياس، والبرمجة والاختبار والتوثيق، والعمل المشترك في البحث والقرار والعرض.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دع ثلاثة متدربين يقرؤون محطاتهم. هذه بداية مشاريع طلابهم القادمة.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من خاتمة ملف الفريق. اشكر المعلمين، وذكّرهم بأن المحاكيات كلها على منصة جذور.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image" Target="../media/image-20-5.jp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image" Target="../media/image-21-4.jpg"/><Relationship Id="rId5" Type="http://schemas.openxmlformats.org/officeDocument/2006/relationships/image" Target="../media/image-21-5.jpg"/><Relationship Id="rId6" Type="http://schemas.openxmlformats.org/officeDocument/2006/relationships/image" Target="../media/image-21-6.jpg"/><Relationship Id="rId7" Type="http://schemas.openxmlformats.org/officeDocument/2006/relationships/image" Target="../media/image-21-7.jp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image" Target="../media/image-24-4.jpg"/><Relationship Id="rId5" Type="http://schemas.openxmlformats.org/officeDocument/2006/relationships/image" Target="../media/image-24-5.jp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image" Target="../media/image-30-2.jpg"/><Relationship Id="rId3" Type="http://schemas.openxmlformats.org/officeDocument/2006/relationships/image" Target="../media/image-30-3.jpg"/><Relationship Id="rId4" Type="http://schemas.openxmlformats.org/officeDocument/2006/relationships/image" Target="../media/image-30-4.jpg"/><Relationship Id="rId5" Type="http://schemas.openxmlformats.org/officeDocument/2006/relationships/image" Target="../media/image-30-5.jp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jpg"/><Relationship Id="rId3" Type="http://schemas.openxmlformats.org/officeDocument/2006/relationships/image" Target="../media/image-31-3.jpg"/><Relationship Id="rId4" Type="http://schemas.openxmlformats.org/officeDocument/2006/relationships/image" Target="../media/image-31-4.jpg"/><Relationship Id="rId5" Type="http://schemas.openxmlformats.org/officeDocument/2006/relationships/image" Target="../media/image-31-5.jpg"/><Relationship Id="rId6" Type="http://schemas.openxmlformats.org/officeDocument/2006/relationships/image" Target="../media/image-31-6.jp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image" Target="../media/image-32-2.jpg"/><Relationship Id="rId3" Type="http://schemas.openxmlformats.org/officeDocument/2006/relationships/image" Target="../media/image-32-3.jpg"/><Relationship Id="rId4" Type="http://schemas.openxmlformats.org/officeDocument/2006/relationships/image" Target="../media/image-32-4.jp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image" Target="../media/image-33-2.jpg"/><Relationship Id="rId3" Type="http://schemas.openxmlformats.org/officeDocument/2006/relationships/image" Target="../media/image-33-3.jpg"/><Relationship Id="rId4" Type="http://schemas.openxmlformats.org/officeDocument/2006/relationships/image" Target="../media/image-33-4.jpg"/><Relationship Id="rId5" Type="http://schemas.openxmlformats.org/officeDocument/2006/relationships/image" Target="../media/image-33-5.jpg"/><Relationship Id="rId6" Type="http://schemas.openxmlformats.org/officeDocument/2006/relationships/image" Target="../media/image-33-6.jpg"/><Relationship Id="rId7" Type="http://schemas.openxmlformats.org/officeDocument/2006/relationships/image" Target="../media/image-33-7.jp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image" Target="../media/image-34-2.jpg"/><Relationship Id="rId3" Type="http://schemas.openxmlformats.org/officeDocument/2006/relationships/image" Target="../media/image-34-3.jpg"/><Relationship Id="rId4" Type="http://schemas.openxmlformats.org/officeDocument/2006/relationships/image" Target="../media/image-34-4.jpg"/><Relationship Id="rId5" Type="http://schemas.openxmlformats.org/officeDocument/2006/relationships/image" Target="../media/image-34-5.jp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jpe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jpe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image" Target="../media/image-39-2.jpg"/><Relationship Id="rId3" Type="http://schemas.openxmlformats.org/officeDocument/2006/relationships/image" Target="../media/image-39-3.jpg"/><Relationship Id="rId4" Type="http://schemas.openxmlformats.org/officeDocument/2006/relationships/image" Target="../media/image-39-4.jpg"/><Relationship Id="rId5" Type="http://schemas.openxmlformats.org/officeDocument/2006/relationships/image" Target="../media/image-39-5.jpg"/><Relationship Id="rId6" Type="http://schemas.openxmlformats.org/officeDocument/2006/relationships/slideLayout" Target="../slideLayouts/slideLayout1.xml"/><Relationship Id="rId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image" Target="../media/image-41-2.jpg"/><Relationship Id="rId3" Type="http://schemas.openxmlformats.org/officeDocument/2006/relationships/image" Target="../media/image-41-3.jpg"/><Relationship Id="rId4" Type="http://schemas.openxmlformats.org/officeDocument/2006/relationships/image" Target="../media/image-41-4.jpg"/><Relationship Id="rId5" Type="http://schemas.openxmlformats.org/officeDocument/2006/relationships/image" Target="../media/image-41-5.jpg"/><Relationship Id="rId6" Type="http://schemas.openxmlformats.org/officeDocument/2006/relationships/image" Target="../media/image-41-6.jpg"/><Relationship Id="rId7" Type="http://schemas.openxmlformats.org/officeDocument/2006/relationships/slideLayout" Target="../slideLayouts/slideLayout1.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image" Target="../media/image-42-2.jpg"/><Relationship Id="rId3" Type="http://schemas.openxmlformats.org/officeDocument/2006/relationships/image" Target="../media/image-42-3.jpg"/><Relationship Id="rId4" Type="http://schemas.openxmlformats.org/officeDocument/2006/relationships/image" Target="../media/image-42-4.jpg"/><Relationship Id="rId5" Type="http://schemas.openxmlformats.org/officeDocument/2006/relationships/image" Target="../media/image-42-5.jpg"/><Relationship Id="rId6" Type="http://schemas.openxmlformats.org/officeDocument/2006/relationships/image" Target="../media/image-42-6.jp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image" Target="../media/image-43-2.jpg"/><Relationship Id="rId3" Type="http://schemas.openxmlformats.org/officeDocument/2006/relationships/image" Target="../media/image-43-3.jpg"/><Relationship Id="rId4" Type="http://schemas.openxmlformats.org/officeDocument/2006/relationships/image" Target="../media/image-43-4.jpg"/><Relationship Id="rId5" Type="http://schemas.openxmlformats.org/officeDocument/2006/relationships/image" Target="../media/image-43-5.jp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jpe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image" Target="../media/image-49-2.jpg"/><Relationship Id="rId3" Type="http://schemas.openxmlformats.org/officeDocument/2006/relationships/image" Target="../media/image-49-3.jpg"/><Relationship Id="rId4" Type="http://schemas.openxmlformats.org/officeDocument/2006/relationships/image" Target="../media/image-49-4.jpg"/><Relationship Id="rId5" Type="http://schemas.openxmlformats.org/officeDocument/2006/relationships/image" Target="../media/image-49-5.jpg"/><Relationship Id="rId6" Type="http://schemas.openxmlformats.org/officeDocument/2006/relationships/image" Target="../media/image-49-6.jp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image" Target="../media/image-50-2.jpg"/><Relationship Id="rId3" Type="http://schemas.openxmlformats.org/officeDocument/2006/relationships/image" Target="../media/image-50-3.jpg"/><Relationship Id="rId4" Type="http://schemas.openxmlformats.org/officeDocument/2006/relationships/image" Target="../media/image-50-4.jpg"/><Relationship Id="rId5" Type="http://schemas.openxmlformats.org/officeDocument/2006/relationships/image" Target="../media/image-50-5.jp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image" Target="../media/image-52-2.jpg"/><Relationship Id="rId3" Type="http://schemas.openxmlformats.org/officeDocument/2006/relationships/image" Target="../media/image-52-3.jpg"/><Relationship Id="rId4" Type="http://schemas.openxmlformats.org/officeDocument/2006/relationships/image" Target="../media/image-52-4.jpg"/><Relationship Id="rId5" Type="http://schemas.openxmlformats.org/officeDocument/2006/relationships/image" Target="../media/image-52-5.jpg"/><Relationship Id="rId6" Type="http://schemas.openxmlformats.org/officeDocument/2006/relationships/image" Target="../media/image-52-6.jpg"/><Relationship Id="rId7" Type="http://schemas.openxmlformats.org/officeDocument/2006/relationships/slideLayout" Target="../slideLayouts/slideLayout1.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image" Target="../media/image-53-2.jpg"/><Relationship Id="rId3" Type="http://schemas.openxmlformats.org/officeDocument/2006/relationships/image" Target="../media/image-53-3.jpg"/><Relationship Id="rId4" Type="http://schemas.openxmlformats.org/officeDocument/2006/relationships/image" Target="../media/image-53-4.jpg"/><Relationship Id="rId5" Type="http://schemas.openxmlformats.org/officeDocument/2006/relationships/image" Target="../media/image-53-5.jpg"/><Relationship Id="rId6" Type="http://schemas.openxmlformats.org/officeDocument/2006/relationships/image" Target="../media/image-53-6.jpg"/><Relationship Id="rId7" Type="http://schemas.openxmlformats.org/officeDocument/2006/relationships/slideLayout" Target="../slideLayouts/slideLayout1.xml"/><Relationship Id="rId8"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image" Target="../media/image-54-2.jpg"/><Relationship Id="rId3" Type="http://schemas.openxmlformats.org/officeDocument/2006/relationships/image" Target="../media/image-54-3.jpg"/><Relationship Id="rId4" Type="http://schemas.openxmlformats.org/officeDocument/2006/relationships/image" Target="../media/image-54-4.jpg"/><Relationship Id="rId5" Type="http://schemas.openxmlformats.org/officeDocument/2006/relationships/image" Target="../media/image-54-5.jpg"/><Relationship Id="rId6" Type="http://schemas.openxmlformats.org/officeDocument/2006/relationships/slideLayout" Target="../slideLayouts/slideLayout1.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jpe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jpe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jpe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image" Target="../media/image-63-2.jpg"/><Relationship Id="rId3" Type="http://schemas.openxmlformats.org/officeDocument/2006/relationships/image" Target="../media/image-63-3.jpg"/><Relationship Id="rId4" Type="http://schemas.openxmlformats.org/officeDocument/2006/relationships/image" Target="../media/image-63-4.jpg"/><Relationship Id="rId5" Type="http://schemas.openxmlformats.org/officeDocument/2006/relationships/image" Target="../media/image-63-5.jpg"/><Relationship Id="rId6" Type="http://schemas.openxmlformats.org/officeDocument/2006/relationships/slideLayout" Target="../slideLayouts/slideLayout1.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jpe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jpe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jpe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jpe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image" Target="../media/image-68-2.jpg"/><Relationship Id="rId3" Type="http://schemas.openxmlformats.org/officeDocument/2006/relationships/image" Target="../media/image-68-3.jpg"/><Relationship Id="rId4" Type="http://schemas.openxmlformats.org/officeDocument/2006/relationships/image" Target="../media/image-68-4.jpg"/><Relationship Id="rId5" Type="http://schemas.openxmlformats.org/officeDocument/2006/relationships/image" Target="../media/image-68-5.jpg"/><Relationship Id="rId6" Type="http://schemas.openxmlformats.org/officeDocument/2006/relationships/slideLayout" Target="../slideLayouts/slideLayout1.xml"/><Relationship Id="rId7"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image" Target="../media/image-70-2.jpg"/><Relationship Id="rId3" Type="http://schemas.openxmlformats.org/officeDocument/2006/relationships/image" Target="../media/image-70-3.jpg"/><Relationship Id="rId4" Type="http://schemas.openxmlformats.org/officeDocument/2006/relationships/image" Target="../media/image-70-4.jpg"/><Relationship Id="rId5" Type="http://schemas.openxmlformats.org/officeDocument/2006/relationships/image" Target="../media/image-70-5.jpg"/><Relationship Id="rId6" Type="http://schemas.openxmlformats.org/officeDocument/2006/relationships/image" Target="../media/image-70-6.jpg"/><Relationship Id="rId7" Type="http://schemas.openxmlformats.org/officeDocument/2006/relationships/image" Target="../media/image-70-7.jpg"/><Relationship Id="rId8" Type="http://schemas.openxmlformats.org/officeDocument/2006/relationships/slideLayout" Target="../slideLayouts/slideLayout1.xml"/><Relationship Id="rId9"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image" Target="../media/image-71-2.jpg"/><Relationship Id="rId3" Type="http://schemas.openxmlformats.org/officeDocument/2006/relationships/image" Target="../media/image-71-3.jpg"/><Relationship Id="rId4" Type="http://schemas.openxmlformats.org/officeDocument/2006/relationships/image" Target="../media/image-71-4.jpg"/><Relationship Id="rId5" Type="http://schemas.openxmlformats.org/officeDocument/2006/relationships/image" Target="../media/image-71-5.jpg"/><Relationship Id="rId6" Type="http://schemas.openxmlformats.org/officeDocument/2006/relationships/image" Target="../media/image-71-6.jpg"/><Relationship Id="rId7" Type="http://schemas.openxmlformats.org/officeDocument/2006/relationships/slideLayout" Target="../slideLayouts/slideLayout1.xml"/><Relationship Id="rId8"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image" Target="../media/image-72-2.jpg"/><Relationship Id="rId3" Type="http://schemas.openxmlformats.org/officeDocument/2006/relationships/image" Target="../media/image-72-3.jpg"/><Relationship Id="rId4" Type="http://schemas.openxmlformats.org/officeDocument/2006/relationships/image" Target="../media/image-72-4.jpg"/><Relationship Id="rId5" Type="http://schemas.openxmlformats.org/officeDocument/2006/relationships/image" Target="../media/image-72-5.jpg"/><Relationship Id="rId6" Type="http://schemas.openxmlformats.org/officeDocument/2006/relationships/slideLayout" Target="../slideLayouts/slideLayout1.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jpe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jpe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jpe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Slide-76-image-1.jpe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image" Target="../media/image-77-2.jpg"/><Relationship Id="rId3" Type="http://schemas.openxmlformats.org/officeDocument/2006/relationships/image" Target="../media/image-77-3.jpg"/><Relationship Id="rId4" Type="http://schemas.openxmlformats.org/officeDocument/2006/relationships/image" Target="../media/image-77-4.jpg"/><Relationship Id="rId5" Type="http://schemas.openxmlformats.org/officeDocument/2006/relationships/slideLayout" Target="../slideLayouts/slideLayout1.xml"/><Relationship Id="rId6"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image" Target="../media/image-78-2.jpg"/><Relationship Id="rId3" Type="http://schemas.openxmlformats.org/officeDocument/2006/relationships/image" Target="../media/image-78-3.jpg"/><Relationship Id="rId4" Type="http://schemas.openxmlformats.org/officeDocument/2006/relationships/image" Target="../media/image-78-4.jpg"/><Relationship Id="rId5" Type="http://schemas.openxmlformats.org/officeDocument/2006/relationships/image" Target="../media/image-78-5.jpg"/><Relationship Id="rId6" Type="http://schemas.openxmlformats.org/officeDocument/2006/relationships/slideLayout" Target="../slideLayouts/slideLayout1.xml"/><Relationship Id="rId7"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image" Target="../media/image-79-2.jpg"/><Relationship Id="rId3" Type="http://schemas.openxmlformats.org/officeDocument/2006/relationships/image" Target="../media/image-79-3.jpg"/><Relationship Id="rId4" Type="http://schemas.openxmlformats.org/officeDocument/2006/relationships/image" Target="../media/image-79-4.jpg"/><Relationship Id="rId5" Type="http://schemas.openxmlformats.org/officeDocument/2006/relationships/image" Target="../media/image-79-5.jpg"/><Relationship Id="rId6" Type="http://schemas.openxmlformats.org/officeDocument/2006/relationships/image" Target="../media/image-79-6.jpg"/><Relationship Id="rId7" Type="http://schemas.openxmlformats.org/officeDocument/2006/relationships/slideLayout" Target="../slideLayouts/slideLayout1.xml"/><Relationship Id="rId8"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image" Target="../media/image-80-2.jpg"/><Relationship Id="rId3" Type="http://schemas.openxmlformats.org/officeDocument/2006/relationships/image" Target="../media/image-80-3.jpg"/><Relationship Id="rId4" Type="http://schemas.openxmlformats.org/officeDocument/2006/relationships/image" Target="../media/image-80-4.jpg"/><Relationship Id="rId5" Type="http://schemas.openxmlformats.org/officeDocument/2006/relationships/image" Target="../media/image-80-5.jpg"/><Relationship Id="rId6" Type="http://schemas.openxmlformats.org/officeDocument/2006/relationships/slideLayout" Target="../slideLayouts/slideLayout1.xml"/><Relationship Id="rId7"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Slide-81-image-1.jpe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Slide-82-image-1.jpe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Slide-83-image-1.jpe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Slide-84-image-1.jpe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image" Target="../media/image-85-2.jpg"/><Relationship Id="rId3" Type="http://schemas.openxmlformats.org/officeDocument/2006/relationships/image" Target="../media/image-85-3.jpg"/><Relationship Id="rId4" Type="http://schemas.openxmlformats.org/officeDocument/2006/relationships/image" Target="../media/image-85-4.jpg"/><Relationship Id="rId5" Type="http://schemas.openxmlformats.org/officeDocument/2006/relationships/image" Target="../media/image-85-5.jpg"/><Relationship Id="rId6" Type="http://schemas.openxmlformats.org/officeDocument/2006/relationships/slideLayout" Target="../slideLayouts/slideLayout1.xml"/><Relationship Id="rId7"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image" Target="../media/image-87-2.jpg"/><Relationship Id="rId3" Type="http://schemas.openxmlformats.org/officeDocument/2006/relationships/image" Target="../media/image-87-3.jpg"/><Relationship Id="rId4" Type="http://schemas.openxmlformats.org/officeDocument/2006/relationships/image" Target="../media/image-87-4.jpg"/><Relationship Id="rId5" Type="http://schemas.openxmlformats.org/officeDocument/2006/relationships/image" Target="../media/image-87-5.jpg"/><Relationship Id="rId6" Type="http://schemas.openxmlformats.org/officeDocument/2006/relationships/image" Target="../media/image-87-6.jpg"/><Relationship Id="rId7" Type="http://schemas.openxmlformats.org/officeDocument/2006/relationships/image" Target="../media/image-87-7.jpg"/><Relationship Id="rId8" Type="http://schemas.openxmlformats.org/officeDocument/2006/relationships/slideLayout" Target="../slideLayouts/slideLayout1.xml"/><Relationship Id="rId9"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image" Target="../media/image-88-2.jpg"/><Relationship Id="rId3" Type="http://schemas.openxmlformats.org/officeDocument/2006/relationships/image" Target="../media/image-88-3.jpg"/><Relationship Id="rId4" Type="http://schemas.openxmlformats.org/officeDocument/2006/relationships/image" Target="../media/image-88-4.jpg"/><Relationship Id="rId5" Type="http://schemas.openxmlformats.org/officeDocument/2006/relationships/image" Target="../media/image-88-5.jpg"/><Relationship Id="rId6" Type="http://schemas.openxmlformats.org/officeDocument/2006/relationships/image" Target="../media/image-88-6.jpg"/><Relationship Id="rId7" Type="http://schemas.openxmlformats.org/officeDocument/2006/relationships/slideLayout" Target="../slideLayouts/slideLayout1.xml"/><Relationship Id="rId8"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image" Target="../media/image-89-2.jpg"/><Relationship Id="rId3" Type="http://schemas.openxmlformats.org/officeDocument/2006/relationships/image" Target="../media/image-89-3.jpg"/><Relationship Id="rId4" Type="http://schemas.openxmlformats.org/officeDocument/2006/relationships/image" Target="../media/image-89-4.jpg"/><Relationship Id="rId5" Type="http://schemas.openxmlformats.org/officeDocument/2006/relationships/image" Target="../media/image-89-5.jpg"/><Relationship Id="rId6" Type="http://schemas.openxmlformats.org/officeDocument/2006/relationships/slideLayout" Target="../slideLayouts/slideLayout1.xml"/><Relationship Id="rId7"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Slide-90-image-1.jpe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Slide-91-image-1.jpe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Slide-92-image-1.jpe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Slide-93-image-1.jpe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Slide-94-image-1.jpe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image" Target="../media/image-95-2.jpg"/><Relationship Id="rId3" Type="http://schemas.openxmlformats.org/officeDocument/2006/relationships/image" Target="../media/image-95-3.jpg"/><Relationship Id="rId4" Type="http://schemas.openxmlformats.org/officeDocument/2006/relationships/image" Target="../media/image-95-4.jpg"/><Relationship Id="rId5" Type="http://schemas.openxmlformats.org/officeDocument/2006/relationships/image" Target="../media/image-95-5.jpg"/><Relationship Id="rId6" Type="http://schemas.openxmlformats.org/officeDocument/2006/relationships/image" Target="../media/image-95-6.jpg"/><Relationship Id="rId7" Type="http://schemas.openxmlformats.org/officeDocument/2006/relationships/image" Target="../media/image-95-7.jpg"/><Relationship Id="rId8" Type="http://schemas.openxmlformats.org/officeDocument/2006/relationships/image" Target="../media/image-95-8.jpg"/><Relationship Id="rId9" Type="http://schemas.openxmlformats.org/officeDocument/2006/relationships/image" Target="../media/image-95-9.jpg"/><Relationship Id="rId10" Type="http://schemas.openxmlformats.org/officeDocument/2006/relationships/image" Target="../media/image-95-10.jpg"/><Relationship Id="rId11" Type="http://schemas.openxmlformats.org/officeDocument/2006/relationships/slideLayout" Target="../slideLayouts/slideLayout1.xml"/><Relationship Id="rId1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Slide-96-image-1.jpe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Slide-98-image-1.jpe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Slide-99-image-1.jpe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Slide-100-image-1.jpe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Slide-101-image-1.jpe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image" Target="../media/image-103-2.jpg"/><Relationship Id="rId3" Type="http://schemas.openxmlformats.org/officeDocument/2006/relationships/image" Target="../media/image-103-3.jpg"/><Relationship Id="rId4" Type="http://schemas.openxmlformats.org/officeDocument/2006/relationships/image" Target="../media/image-103-4.jpg"/><Relationship Id="rId5" Type="http://schemas.openxmlformats.org/officeDocument/2006/relationships/image" Target="../media/image-103-5.jpg"/><Relationship Id="rId6" Type="http://schemas.openxmlformats.org/officeDocument/2006/relationships/image" Target="../media/image-103-6.jpg"/><Relationship Id="rId7" Type="http://schemas.openxmlformats.org/officeDocument/2006/relationships/image" Target="../media/image-103-7.jpg"/><Relationship Id="rId8" Type="http://schemas.openxmlformats.org/officeDocument/2006/relationships/slideLayout" Target="../slideLayouts/slideLayout1.xml"/><Relationship Id="rId9"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image" Target="../media/image-104-2.jpg"/><Relationship Id="rId3" Type="http://schemas.openxmlformats.org/officeDocument/2006/relationships/image" Target="../media/image-104-3.jpg"/><Relationship Id="rId4" Type="http://schemas.openxmlformats.org/officeDocument/2006/relationships/image" Target="../media/image-104-4.jpg"/><Relationship Id="rId5" Type="http://schemas.openxmlformats.org/officeDocument/2006/relationships/image" Target="../media/image-104-5.jpg"/><Relationship Id="rId6" Type="http://schemas.openxmlformats.org/officeDocument/2006/relationships/image" Target="../media/image-104-6.jpg"/><Relationship Id="rId7" Type="http://schemas.openxmlformats.org/officeDocument/2006/relationships/slideLayout" Target="../slideLayouts/slideLayout1.xml"/><Relationship Id="rId8"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image" Target="../media/image-105-2.jpg"/><Relationship Id="rId3" Type="http://schemas.openxmlformats.org/officeDocument/2006/relationships/image" Target="../media/image-105-3.jpg"/><Relationship Id="rId4" Type="http://schemas.openxmlformats.org/officeDocument/2006/relationships/image" Target="../media/image-105-4.jpg"/><Relationship Id="rId5" Type="http://schemas.openxmlformats.org/officeDocument/2006/relationships/image" Target="../media/image-105-5.jpg"/><Relationship Id="rId6" Type="http://schemas.openxmlformats.org/officeDocument/2006/relationships/slideLayout" Target="../slideLayouts/slideLayout1.xml"/><Relationship Id="rId7"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Slide-106-image-1.jpe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Slide-107-image-1.jpe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Slide-108-image-1.jpe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Slide-109-image-1.jpe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Slide-110-image-1.jpe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jpg"/><Relationship Id="rId2" Type="http://schemas.openxmlformats.org/officeDocument/2006/relationships/image" Target="../media/image-112-2.jpg"/><Relationship Id="rId3" Type="http://schemas.openxmlformats.org/officeDocument/2006/relationships/image" Target="../media/image-112-3.jpg"/><Relationship Id="rId4" Type="http://schemas.openxmlformats.org/officeDocument/2006/relationships/image" Target="../media/image-112-4.jpg"/><Relationship Id="rId5" Type="http://schemas.openxmlformats.org/officeDocument/2006/relationships/image" Target="../media/image-112-5.jpg"/><Relationship Id="rId6" Type="http://schemas.openxmlformats.org/officeDocument/2006/relationships/image" Target="../media/image-112-6.jpg"/><Relationship Id="rId7" Type="http://schemas.openxmlformats.org/officeDocument/2006/relationships/image" Target="../media/image-112-7.jpg"/><Relationship Id="rId8" Type="http://schemas.openxmlformats.org/officeDocument/2006/relationships/slideLayout" Target="../slideLayouts/slideLayout1.xml"/><Relationship Id="rId9"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Slide-113-image-1.jpeg"/><Relationship Id="rId2" Type="http://schemas.openxmlformats.org/officeDocument/2006/relationships/slideLayout" Target="../slideLayouts/slideLayout1.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jpg"/><Relationship Id="rId2" Type="http://schemas.openxmlformats.org/officeDocument/2006/relationships/image" Target="../media/image-114-2.jpg"/><Relationship Id="rId3" Type="http://schemas.openxmlformats.org/officeDocument/2006/relationships/image" Target="../media/image-114-3.jpg"/><Relationship Id="rId4" Type="http://schemas.openxmlformats.org/officeDocument/2006/relationships/image" Target="../media/image-114-4.jpg"/><Relationship Id="rId5" Type="http://schemas.openxmlformats.org/officeDocument/2006/relationships/image" Target="../media/image-114-5.jpg"/><Relationship Id="rId6" Type="http://schemas.openxmlformats.org/officeDocument/2006/relationships/slideLayout" Target="../slideLayouts/slideLayout1.xml"/><Relationship Id="rId7"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Slide-115-image-1.jpeg"/><Relationship Id="rId2" Type="http://schemas.openxmlformats.org/officeDocument/2006/relationships/slideLayout" Target="../slideLayouts/slideLayout1.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Slide-116-image-1.jpeg"/><Relationship Id="rId2" Type="http://schemas.openxmlformats.org/officeDocument/2006/relationships/slideLayout" Target="../slideLayouts/slideLayout1.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Slide-117-image-1.jpeg"/><Relationship Id="rId2" Type="http://schemas.openxmlformats.org/officeDocument/2006/relationships/slideLayout" Target="../slideLayouts/slideLayout1.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jp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jpg"/><Relationship Id="rId2" Type="http://schemas.openxmlformats.org/officeDocument/2006/relationships/slideLayout" Target="../slideLayouts/slideLayout1.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Slide-120-image-1.jpeg"/><Relationship Id="rId2" Type="http://schemas.openxmlformats.org/officeDocument/2006/relationships/slideLayout" Target="../slideLayouts/slideLayout1.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Slide-121-image-1.jpeg"/><Relationship Id="rId2" Type="http://schemas.openxmlformats.org/officeDocument/2006/relationships/slideLayout" Target="../slideLayouts/slideLayout1.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Slide-122-image-1.jpeg"/><Relationship Id="rId2" Type="http://schemas.openxmlformats.org/officeDocument/2006/relationships/slideLayout" Target="../slideLayouts/slideLayout1.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Slide-123-image-1.jpeg"/><Relationship Id="rId2" Type="http://schemas.openxmlformats.org/officeDocument/2006/relationships/slideLayout" Target="../slideLayouts/slideLayout1.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jpg"/><Relationship Id="rId2" Type="http://schemas.openxmlformats.org/officeDocument/2006/relationships/slideLayout" Target="../slideLayouts/slideLayout1.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Slide-125-image-1.jpeg"/><Relationship Id="rId2" Type="http://schemas.openxmlformats.org/officeDocument/2006/relationships/slideLayout" Target="../slideLayouts/slideLayout1.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image" Target="../media/image-126-1.jpg"/><Relationship Id="rId2" Type="http://schemas.openxmlformats.org/officeDocument/2006/relationships/slideLayout" Target="../slideLayouts/slideLayout1.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Slide-127-image-1.jpeg"/><Relationship Id="rId2" Type="http://schemas.openxmlformats.org/officeDocument/2006/relationships/slideLayout" Target="../slideLayouts/slideLayout1.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image" Target="../media/image-128-1.jpg"/><Relationship Id="rId2" Type="http://schemas.openxmlformats.org/officeDocument/2006/relationships/slideLayout" Target="../slideLayouts/slideLayout1.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Slide-129-image-1.jpeg"/><Relationship Id="rId2" Type="http://schemas.openxmlformats.org/officeDocument/2006/relationships/slideLayout" Target="../slideLayouts/slideLayout1.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image" Target="../media/Slide-130-image-1.jpeg"/><Relationship Id="rId2" Type="http://schemas.openxmlformats.org/officeDocument/2006/relationships/slideLayout" Target="../slideLayouts/slideLayout1.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Slide-131-image-1.jpeg"/><Relationship Id="rId2" Type="http://schemas.openxmlformats.org/officeDocument/2006/relationships/slideLayout" Target="../slideLayouts/slideLayout1.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image" Target="../media/Slide-132-image-1.jpeg"/><Relationship Id="rId2" Type="http://schemas.openxmlformats.org/officeDocument/2006/relationships/slideLayout" Target="../slideLayouts/slideLayout1.xml"/><Relationship Id="rId3" Type="http://schemas.openxmlformats.org/officeDocument/2006/relationships/notesSlide" Target="../notesSlides/notesSlide1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731520"/>
            <a:ext cx="960120" cy="960120"/>
          </a:xfrm>
          <a:prstGeom prst="roundRect">
            <a:avLst>
              <a:gd name="adj" fmla="val 26667"/>
            </a:avLst>
          </a:prstGeom>
          <a:solidFill>
            <a:srgbClr val="D9AE4B"/>
          </a:solidFill>
          <a:ln/>
          <a:effectLst>
            <a:outerShdw sx="100000" sy="100000" kx="0" ky="0" algn="bl" rotWithShape="0" blurRad="254000" dist="50800" dir="16200000">
              <a:srgbClr val="D9AE4B">
                <a:alpha val="45000"/>
              </a:srgbClr>
            </a:outerShdw>
          </a:effectLst>
        </p:spPr>
      </p:sp>
      <p:sp>
        <p:nvSpPr>
          <p:cNvPr id="3" name="Text 1"/>
          <p:cNvSpPr/>
          <p:nvPr/>
        </p:nvSpPr>
        <p:spPr>
          <a:xfrm>
            <a:off x="5615788" y="73152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1920240"/>
            <a:ext cx="12191695" cy="457200"/>
          </a:xfrm>
          <a:prstGeom prst="rect">
            <a:avLst/>
          </a:prstGeom>
          <a:noFill/>
          <a:ln/>
        </p:spPr>
        <p:txBody>
          <a:bodyPr wrap="square" lIns="0" tIns="0" rIns="0" bIns="0" rtlCol="0" anchor="ctr">
            <a:normAutofit/>
          </a:bodyPr>
          <a:lstStyle/>
          <a:p>
            <a:pPr rtl="1" algn="ctr" indent="0" marL="0">
              <a:buNone/>
            </a:pPr>
            <a:r>
              <a:rPr lang="ar-SA" altLang="en-US" sz="2000" b="1" dirty="0">
                <a:solidFill>
                  <a:srgbClr val="F0CC7A"/>
                </a:solidFill>
                <a:latin typeface="Cairo" pitchFamily="34" charset="0"/>
                <a:ea typeface="Cairo" pitchFamily="34" charset="-122"/>
                <a:cs typeface="Cairo" pitchFamily="34" charset="-120"/>
              </a:rPr>
              <a:t>الأردوينو للمعلمين · الدورة السادسة</a:t>
            </a:r>
            <a:endParaRPr lang="ar-SA" sz="2000" dirty="0"/>
          </a:p>
        </p:txBody>
      </p:sp>
      <p:sp>
        <p:nvSpPr>
          <p:cNvPr id="5" name="Text 3"/>
          <p:cNvSpPr/>
          <p:nvPr/>
        </p:nvSpPr>
        <p:spPr>
          <a:xfrm>
            <a:off x="0" y="2331720"/>
            <a:ext cx="12191695" cy="1463040"/>
          </a:xfrm>
          <a:prstGeom prst="rect">
            <a:avLst/>
          </a:prstGeom>
          <a:noFill/>
          <a:ln/>
        </p:spPr>
        <p:txBody>
          <a:bodyPr wrap="square" lIns="0" tIns="0" rIns="0" bIns="0" rtlCol="0" anchor="ctr">
            <a:normAutofit/>
          </a:bodyPr>
          <a:lstStyle/>
          <a:p>
            <a:pPr rtl="1" algn="ctr" indent="0" marL="0">
              <a:buNone/>
            </a:pPr>
            <a:r>
              <a:rPr lang="ar-SA" altLang="en-US" sz="9600" dirty="0">
                <a:solidFill>
                  <a:srgbClr val="FFF3D6"/>
                </a:solidFill>
                <a:latin typeface="Cairo Black" pitchFamily="34" charset="0"/>
                <a:ea typeface="Cairo Black" pitchFamily="34" charset="-122"/>
                <a:cs typeface="Cairo Black" pitchFamily="34" charset="-120"/>
              </a:rPr>
              <a:t>صانع الذكريات التراثية</a:t>
            </a:r>
            <a:endParaRPr lang="ar-SA" sz="9600" dirty="0"/>
          </a:p>
        </p:txBody>
      </p:sp>
      <p:sp>
        <p:nvSpPr>
          <p:cNvPr id="6" name="Text 4"/>
          <p:cNvSpPr/>
          <p:nvPr/>
        </p:nvSpPr>
        <p:spPr>
          <a:xfrm>
            <a:off x="0" y="37947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تراث نعيشه… وذكرى نحملها</a:t>
            </a:r>
            <a:endParaRPr lang="ar-SA" sz="2800" dirty="0"/>
          </a:p>
        </p:txBody>
      </p:sp>
      <p:sp>
        <p:nvSpPr>
          <p:cNvPr id="7" name="Shape 5"/>
          <p:cNvSpPr/>
          <p:nvPr/>
        </p:nvSpPr>
        <p:spPr>
          <a:xfrm>
            <a:off x="5364328" y="4617720"/>
            <a:ext cx="1463040" cy="36576"/>
          </a:xfrm>
          <a:prstGeom prst="rect">
            <a:avLst/>
          </a:prstGeom>
          <a:solidFill>
            <a:srgbClr val="D9AE4B"/>
          </a:solidFill>
          <a:ln/>
        </p:spPr>
      </p:sp>
      <p:sp>
        <p:nvSpPr>
          <p:cNvPr id="8" name="Text 6"/>
          <p:cNvSpPr/>
          <p:nvPr/>
        </p:nvSpPr>
        <p:spPr>
          <a:xfrm>
            <a:off x="0" y="5029200"/>
            <a:ext cx="12191695" cy="457200"/>
          </a:xfrm>
          <a:prstGeom prst="rect">
            <a:avLst/>
          </a:prstGeom>
          <a:noFill/>
          <a:ln/>
        </p:spPr>
        <p:txBody>
          <a:bodyPr wrap="square" lIns="0" tIns="0" rIns="0" bIns="0" rtlCol="0" anchor="ctr">
            <a:normAutofit/>
          </a:bodyPr>
          <a:lstStyle/>
          <a:p>
            <a:pPr algn="ctr" indent="0" marL="0">
              <a:buNone/>
            </a:pPr>
            <a:r>
              <a:rPr lang="ar-SA" altLang="en-US" sz="2000" b="1" dirty="0">
                <a:solidFill>
                  <a:srgbClr val="C9CFE6"/>
                </a:solidFill>
                <a:latin typeface="Cairo" pitchFamily="34" charset="0"/>
                <a:ea typeface="Cairo" pitchFamily="34" charset="-122"/>
                <a:cs typeface="Cairo" pitchFamily="34" charset="-120"/>
              </a:rPr>
              <a:t>إعداد وتقديم: </a:t>
            </a:r>
            <a:pPr algn="ctr" indent="0" marL="0">
              <a:buNone/>
            </a:pPr>
            <a:r>
              <a:rPr lang="ar-SA" altLang="en-US" sz="2000" b="1" dirty="0">
                <a:solidFill>
                  <a:srgbClr val="D9AE4B"/>
                </a:solidFill>
                <a:latin typeface="Cairo" pitchFamily="34" charset="0"/>
                <a:ea typeface="Cairo" pitchFamily="34" charset="-122"/>
                <a:cs typeface="Cairo" pitchFamily="34" charset="-120"/>
              </a:rPr>
              <a:t>أ. محمد زيتون</a:t>
            </a:r>
            <a:endParaRPr lang="ar-SA"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مقدّم الدورة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 محمد زيتون</a:t>
            </a:r>
            <a:endParaRPr lang="ar-SA" sz="3800" dirty="0"/>
          </a:p>
        </p:txBody>
      </p:sp>
      <p:sp>
        <p:nvSpPr>
          <p:cNvPr id="5" name="Text 3"/>
          <p:cNvSpPr/>
          <p:nvPr/>
        </p:nvSpPr>
        <p:spPr>
          <a:xfrm>
            <a:off x="822960" y="1783080"/>
            <a:ext cx="1054577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22346F"/>
                </a:solidFill>
                <a:latin typeface="Cairo" pitchFamily="34" charset="0"/>
                <a:ea typeface="Cairo" pitchFamily="34" charset="-122"/>
                <a:cs typeface="Cairo" pitchFamily="34" charset="-120"/>
              </a:rPr>
              <a:t>مشرف تربوي — الابتكار والذكاء الاصطناعي وSTEAM · مدارس الأرقم</a:t>
            </a:r>
            <a:endParaRPr lang="ar-SA" sz="2000" dirty="0"/>
          </a:p>
        </p:txBody>
      </p:sp>
      <p:sp>
        <p:nvSpPr>
          <p:cNvPr id="6" name="anim-g1-1"/>
          <p:cNvSpPr/>
          <p:nvPr/>
        </p:nvSpPr>
        <p:spPr>
          <a:xfrm>
            <a:off x="8066837"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7" name="anim-g1-2"/>
          <p:cNvSpPr/>
          <p:nvPr/>
        </p:nvSpPr>
        <p:spPr>
          <a:xfrm>
            <a:off x="8066837"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٣٣</a:t>
            </a:r>
            <a:endParaRPr lang="ar-SA" sz="5600" dirty="0"/>
          </a:p>
        </p:txBody>
      </p:sp>
      <p:sp>
        <p:nvSpPr>
          <p:cNvPr id="8" name="anim-g1-3"/>
          <p:cNvSpPr/>
          <p:nvPr/>
        </p:nvSpPr>
        <p:spPr>
          <a:xfrm>
            <a:off x="8249717"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عامًا في الميدان التعليمي</a:t>
            </a:r>
            <a:endParaRPr lang="ar-SA" sz="2000" dirty="0"/>
          </a:p>
        </p:txBody>
      </p:sp>
      <p:sp>
        <p:nvSpPr>
          <p:cNvPr id="9" name="anim-g2-4"/>
          <p:cNvSpPr/>
          <p:nvPr/>
        </p:nvSpPr>
        <p:spPr>
          <a:xfrm>
            <a:off x="4444898"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0" name="anim-g2-5"/>
          <p:cNvSpPr/>
          <p:nvPr/>
        </p:nvSpPr>
        <p:spPr>
          <a:xfrm>
            <a:off x="4444898"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٣</a:t>
            </a:r>
            <a:endParaRPr lang="ar-SA" sz="5600" dirty="0"/>
          </a:p>
        </p:txBody>
      </p:sp>
      <p:sp>
        <p:nvSpPr>
          <p:cNvPr id="11" name="anim-g2-6"/>
          <p:cNvSpPr/>
          <p:nvPr/>
        </p:nvSpPr>
        <p:spPr>
          <a:xfrm>
            <a:off x="4627778"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كتب في تعليم الأردوينو</a:t>
            </a:r>
            <a:endParaRPr lang="ar-SA" sz="2000" dirty="0"/>
          </a:p>
        </p:txBody>
      </p:sp>
      <p:sp>
        <p:nvSpPr>
          <p:cNvPr id="12" name="anim-g3-7"/>
          <p:cNvSpPr/>
          <p:nvPr/>
        </p:nvSpPr>
        <p:spPr>
          <a:xfrm>
            <a:off x="822960" y="2560320"/>
            <a:ext cx="3301898" cy="2286000"/>
          </a:xfrm>
          <a:prstGeom prst="roundRect">
            <a:avLst>
              <a:gd name="adj" fmla="val 7200"/>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3" name="anim-g3-8"/>
          <p:cNvSpPr/>
          <p:nvPr/>
        </p:nvSpPr>
        <p:spPr>
          <a:xfrm>
            <a:off x="822960" y="2743200"/>
            <a:ext cx="3301898" cy="1097280"/>
          </a:xfrm>
          <a:prstGeom prst="rect">
            <a:avLst/>
          </a:prstGeom>
          <a:noFill/>
          <a:ln/>
        </p:spPr>
        <p:txBody>
          <a:bodyPr wrap="square" lIns="0" tIns="0" rIns="0" bIns="0" rtlCol="0" anchor="ctr">
            <a:normAutofit/>
          </a:bodyPr>
          <a:lstStyle/>
          <a:p>
            <a:pPr rtl="1" algn="ctr" indent="0" marL="0">
              <a:buNone/>
            </a:pPr>
            <a:r>
              <a:rPr lang="ar-SA" altLang="en-US" sz="5600" dirty="0">
                <a:solidFill>
                  <a:srgbClr val="B08A2E"/>
                </a:solidFill>
                <a:latin typeface="Cairo Black" pitchFamily="34" charset="0"/>
                <a:ea typeface="Cairo Black" pitchFamily="34" charset="-122"/>
                <a:cs typeface="Cairo Black" pitchFamily="34" charset="-120"/>
              </a:rPr>
              <a:t>WRO 2026</a:t>
            </a:r>
            <a:endParaRPr lang="ar-SA" sz="5600" dirty="0"/>
          </a:p>
        </p:txBody>
      </p:sp>
      <p:sp>
        <p:nvSpPr>
          <p:cNvPr id="14" name="anim-g3-9"/>
          <p:cNvSpPr/>
          <p:nvPr/>
        </p:nvSpPr>
        <p:spPr>
          <a:xfrm>
            <a:off x="1005840" y="3886200"/>
            <a:ext cx="2936138" cy="731520"/>
          </a:xfrm>
          <a:prstGeom prst="rect">
            <a:avLst/>
          </a:prstGeom>
          <a:noFill/>
          <a:ln/>
        </p:spPr>
        <p:txBody>
          <a:bodyPr wrap="square" lIns="0" tIns="0" rIns="0" bIns="0" rtlCol="0" anchor="ctr">
            <a:normAutofit/>
          </a:bodyPr>
          <a:lstStyle/>
          <a:p>
            <a:pPr rtl="1" algn="ctr" indent="0" marL="0">
              <a:buNone/>
            </a:pPr>
            <a:r>
              <a:rPr lang="ar-SA" altLang="en-US" sz="2000" b="1" dirty="0">
                <a:solidFill>
                  <a:srgbClr val="101B45"/>
                </a:solidFill>
                <a:latin typeface="Cairo" pitchFamily="34" charset="0"/>
                <a:ea typeface="Cairo" pitchFamily="34" charset="-122"/>
                <a:cs typeface="Cairo" pitchFamily="34" charset="-120"/>
              </a:rPr>
              <a:t>Robots Meet Culture</a:t>
            </a:r>
            <a:endParaRPr lang="ar-SA" sz="2000" dirty="0"/>
          </a:p>
        </p:txBody>
      </p:sp>
      <p:sp>
        <p:nvSpPr>
          <p:cNvPr id="15" name="anim-g4-10"/>
          <p:cNvSpPr/>
          <p:nvPr/>
        </p:nvSpPr>
        <p:spPr>
          <a:xfrm>
            <a:off x="822960" y="5257800"/>
            <a:ext cx="1054577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5E6782"/>
                </a:solidFill>
                <a:latin typeface="Cairo" pitchFamily="34" charset="0"/>
                <a:ea typeface="Cairo" pitchFamily="34" charset="-122"/>
                <a:cs typeface="Cairo" pitchFamily="34" charset="-120"/>
              </a:rPr>
              <a:t>فريق Al arqam inventors · مدارس الأرقم · «تراث نعيشه… وذكرى نحملها»</a:t>
            </a:r>
            <a:endParaRPr lang="ar-SA" sz="1800" dirty="0"/>
          </a:p>
        </p:txBody>
      </p:sp>
      <p:sp>
        <p:nvSpPr>
          <p:cNvPr id="16" name="Text 14"/>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17" name="Text 15"/>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Users\user\projects\younes-training\heritage\.pptx-cache\s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613087" y="457200"/>
            <a:ext cx="1755648" cy="457200"/>
          </a:xfrm>
          <a:prstGeom prst="roundRect">
            <a:avLst>
              <a:gd name="adj" fmla="val 50000"/>
            </a:avLst>
          </a:prstGeom>
          <a:solidFill>
            <a:srgbClr val="F6EBCF"/>
          </a:solidFill>
          <a:ln/>
        </p:spPr>
      </p:sp>
      <p:sp>
        <p:nvSpPr>
          <p:cNvPr id="3" name="Text 1"/>
          <p:cNvSpPr/>
          <p:nvPr/>
        </p:nvSpPr>
        <p:spPr>
          <a:xfrm>
            <a:off x="9613087" y="457200"/>
            <a:ext cx="175564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المشكلة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التراث في الكتب ثابت… والأطفال يحبون ما يتحرك</a:t>
            </a:r>
            <a:endParaRPr lang="ar-SA" sz="3200" dirty="0"/>
          </a:p>
        </p:txBody>
      </p:sp>
      <p:sp>
        <p:nvSpPr>
          <p:cNvPr id="5" name="anim-g1-11"/>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2"/>
          <p:cNvSpPr/>
          <p:nvPr/>
        </p:nvSpPr>
        <p:spPr>
          <a:xfrm>
            <a:off x="10527487" y="2267712"/>
            <a:ext cx="566928" cy="566928"/>
          </a:xfrm>
          <a:prstGeom prst="roundRect">
            <a:avLst>
              <a:gd name="adj" fmla="val 32258"/>
            </a:avLst>
          </a:prstGeom>
          <a:solidFill>
            <a:srgbClr val="F7E6BC"/>
          </a:solidFill>
          <a:ln/>
        </p:spPr>
      </p:sp>
      <p:sp>
        <p:nvSpPr>
          <p:cNvPr id="7" name="anim-g1-13"/>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4"/>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نصوص وصور ثابتة</a:t>
            </a:r>
            <a:endParaRPr lang="ar-SA" sz="2200" dirty="0"/>
          </a:p>
        </p:txBody>
      </p:sp>
      <p:sp>
        <p:nvSpPr>
          <p:cNvPr id="9" name="anim-g1-15"/>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انتباه قصير وتذكّر محدود</a:t>
            </a:r>
            <a:endParaRPr lang="ar-SA" sz="1900" dirty="0"/>
          </a:p>
        </p:txBody>
      </p:sp>
      <p:sp>
        <p:nvSpPr>
          <p:cNvPr id="10" name="anim-g2-16"/>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7"/>
          <p:cNvSpPr/>
          <p:nvPr/>
        </p:nvSpPr>
        <p:spPr>
          <a:xfrm>
            <a:off x="6920789" y="2267712"/>
            <a:ext cx="566928" cy="566928"/>
          </a:xfrm>
          <a:prstGeom prst="roundRect">
            <a:avLst>
              <a:gd name="adj" fmla="val 32258"/>
            </a:avLst>
          </a:prstGeom>
          <a:solidFill>
            <a:srgbClr val="F7E6BC"/>
          </a:solidFill>
          <a:ln/>
        </p:spPr>
      </p:sp>
      <p:sp>
        <p:nvSpPr>
          <p:cNvPr id="12" name="anim-g2-18"/>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9"/>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الشاشات تنافس</a:t>
            </a:r>
            <a:endParaRPr lang="ar-SA" sz="2200" dirty="0"/>
          </a:p>
        </p:txBody>
      </p:sp>
      <p:sp>
        <p:nvSpPr>
          <p:cNvPr id="14" name="anim-g2-20"/>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الألعاب الرقمية السريعة أجذب من تجربة واقعية</a:t>
            </a:r>
            <a:endParaRPr lang="ar-SA" sz="1900" dirty="0"/>
          </a:p>
        </p:txBody>
      </p:sp>
      <p:sp>
        <p:nvSpPr>
          <p:cNvPr id="15" name="anim-g3-21"/>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2"/>
          <p:cNvSpPr/>
          <p:nvPr/>
        </p:nvSpPr>
        <p:spPr>
          <a:xfrm>
            <a:off x="3314090" y="2267712"/>
            <a:ext cx="566928" cy="566928"/>
          </a:xfrm>
          <a:prstGeom prst="roundRect">
            <a:avLst>
              <a:gd name="adj" fmla="val 32258"/>
            </a:avLst>
          </a:prstGeom>
          <a:solidFill>
            <a:srgbClr val="F7E6BC"/>
          </a:solidFill>
          <a:ln/>
        </p:spPr>
      </p:sp>
      <p:sp>
        <p:nvSpPr>
          <p:cNvPr id="17" name="anim-g3-23"/>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4"/>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معلومة عابرة</a:t>
            </a:r>
            <a:endParaRPr lang="ar-SA" sz="2200" dirty="0"/>
          </a:p>
        </p:txBody>
      </p:sp>
      <p:sp>
        <p:nvSpPr>
          <p:cNvPr id="19" name="anim-g3-25"/>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الخيمة والسيف والفخار والملابس لا ترتبط بتجربة يتذكرها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من الملاحظة إلى الفكرة</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 أفكار… واختيار مدروس</a:t>
            </a:r>
            <a:endParaRPr lang="ar-SA" sz="3800" dirty="0"/>
          </a:p>
        </p:txBody>
      </p:sp>
      <p:sp>
        <p:nvSpPr>
          <p:cNvPr id="5" name="Shape 3"/>
          <p:cNvSpPr/>
          <p:nvPr/>
        </p:nvSpPr>
        <p:spPr>
          <a:xfrm>
            <a:off x="8992784" y="1874520"/>
            <a:ext cx="2375951" cy="548640"/>
          </a:xfrm>
          <a:prstGeom prst="roundRect">
            <a:avLst>
              <a:gd name="adj" fmla="val 20000"/>
            </a:avLst>
          </a:prstGeom>
          <a:solidFill>
            <a:srgbClr val="101B45"/>
          </a:solidFill>
          <a:ln/>
        </p:spPr>
      </p:sp>
      <p:sp>
        <p:nvSpPr>
          <p:cNvPr id="6" name="Text 4"/>
          <p:cNvSpPr/>
          <p:nvPr/>
        </p:nvSpPr>
        <p:spPr>
          <a:xfrm>
            <a:off x="8992784" y="1874520"/>
            <a:ext cx="2375951"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الفكرة</a:t>
            </a:r>
            <a:endParaRPr lang="ar-SA" sz="1900" dirty="0"/>
          </a:p>
        </p:txBody>
      </p:sp>
      <p:sp>
        <p:nvSpPr>
          <p:cNvPr id="7" name="Shape 5"/>
          <p:cNvSpPr/>
          <p:nvPr/>
        </p:nvSpPr>
        <p:spPr>
          <a:xfrm>
            <a:off x="6031914" y="1874520"/>
            <a:ext cx="2851142" cy="548640"/>
          </a:xfrm>
          <a:prstGeom prst="roundRect">
            <a:avLst>
              <a:gd name="adj" fmla="val 20000"/>
            </a:avLst>
          </a:prstGeom>
          <a:solidFill>
            <a:srgbClr val="101B45"/>
          </a:solidFill>
          <a:ln/>
        </p:spPr>
      </p:sp>
      <p:sp>
        <p:nvSpPr>
          <p:cNvPr id="8" name="Text 6"/>
          <p:cNvSpPr/>
          <p:nvPr/>
        </p:nvSpPr>
        <p:spPr>
          <a:xfrm>
            <a:off x="6031914" y="1874520"/>
            <a:ext cx="285114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الميزة</a:t>
            </a:r>
            <a:endParaRPr lang="ar-SA" sz="1900" dirty="0"/>
          </a:p>
        </p:txBody>
      </p:sp>
      <p:sp>
        <p:nvSpPr>
          <p:cNvPr id="9" name="Shape 7"/>
          <p:cNvSpPr/>
          <p:nvPr/>
        </p:nvSpPr>
        <p:spPr>
          <a:xfrm>
            <a:off x="2595854" y="1874520"/>
            <a:ext cx="3326332" cy="548640"/>
          </a:xfrm>
          <a:prstGeom prst="roundRect">
            <a:avLst>
              <a:gd name="adj" fmla="val 20000"/>
            </a:avLst>
          </a:prstGeom>
          <a:solidFill>
            <a:srgbClr val="101B45"/>
          </a:solidFill>
          <a:ln/>
        </p:spPr>
      </p:sp>
      <p:sp>
        <p:nvSpPr>
          <p:cNvPr id="10" name="Text 8"/>
          <p:cNvSpPr/>
          <p:nvPr/>
        </p:nvSpPr>
        <p:spPr>
          <a:xfrm>
            <a:off x="2595854" y="1874520"/>
            <a:ext cx="332633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التحدي</a:t>
            </a:r>
            <a:endParaRPr lang="ar-SA" sz="1900" dirty="0"/>
          </a:p>
        </p:txBody>
      </p:sp>
      <p:sp>
        <p:nvSpPr>
          <p:cNvPr id="11" name="Shape 9"/>
          <p:cNvSpPr/>
          <p:nvPr/>
        </p:nvSpPr>
        <p:spPr>
          <a:xfrm>
            <a:off x="822960" y="1874520"/>
            <a:ext cx="1663166" cy="548640"/>
          </a:xfrm>
          <a:prstGeom prst="roundRect">
            <a:avLst>
              <a:gd name="adj" fmla="val 20000"/>
            </a:avLst>
          </a:prstGeom>
          <a:solidFill>
            <a:srgbClr val="101B45"/>
          </a:solidFill>
          <a:ln/>
        </p:spPr>
      </p:sp>
      <p:sp>
        <p:nvSpPr>
          <p:cNvPr id="12" name="Text 10"/>
          <p:cNvSpPr/>
          <p:nvPr/>
        </p:nvSpPr>
        <p:spPr>
          <a:xfrm>
            <a:off x="822960" y="1874520"/>
            <a:ext cx="1663166"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القرار</a:t>
            </a:r>
            <a:endParaRPr lang="ar-SA" sz="1900" dirty="0"/>
          </a:p>
        </p:txBody>
      </p:sp>
      <p:sp>
        <p:nvSpPr>
          <p:cNvPr id="13" name="anim-g1-26"/>
          <p:cNvSpPr/>
          <p:nvPr/>
        </p:nvSpPr>
        <p:spPr>
          <a:xfrm>
            <a:off x="8992784" y="2514600"/>
            <a:ext cx="2375951" cy="1100328"/>
          </a:xfrm>
          <a:prstGeom prst="roundRect">
            <a:avLst>
              <a:gd name="adj" fmla="val 9972"/>
            </a:avLst>
          </a:prstGeom>
          <a:solidFill>
            <a:srgbClr val="FBF3DF"/>
          </a:solidFill>
          <a:ln w="12700">
            <a:solidFill>
              <a:srgbClr val="EFDDAF"/>
            </a:solidFill>
            <a:prstDash val="solid"/>
          </a:ln>
        </p:spPr>
      </p:sp>
      <p:sp>
        <p:nvSpPr>
          <p:cNvPr id="14" name="anim-g1-27"/>
          <p:cNvSpPr/>
          <p:nvPr/>
        </p:nvSpPr>
        <p:spPr>
          <a:xfrm>
            <a:off x="9129944" y="2514600"/>
            <a:ext cx="2101631"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بيت طين متحرك</a:t>
            </a:r>
            <a:endParaRPr lang="ar-SA" sz="2100" dirty="0"/>
          </a:p>
        </p:txBody>
      </p:sp>
      <p:sp>
        <p:nvSpPr>
          <p:cNvPr id="15" name="anim-g1-28"/>
          <p:cNvSpPr/>
          <p:nvPr/>
        </p:nvSpPr>
        <p:spPr>
          <a:xfrm>
            <a:off x="6031914" y="2514600"/>
            <a:ext cx="2851142" cy="1100328"/>
          </a:xfrm>
          <a:prstGeom prst="roundRect">
            <a:avLst>
              <a:gd name="adj" fmla="val 9972"/>
            </a:avLst>
          </a:prstGeom>
          <a:solidFill>
            <a:srgbClr val="FFFFFF"/>
          </a:solidFill>
          <a:ln w="12700">
            <a:solidFill>
              <a:srgbClr val="E4DCC8"/>
            </a:solidFill>
            <a:prstDash val="solid"/>
          </a:ln>
        </p:spPr>
      </p:sp>
      <p:sp>
        <p:nvSpPr>
          <p:cNvPr id="16" name="anim-g1-29"/>
          <p:cNvSpPr/>
          <p:nvPr/>
        </p:nvSpPr>
        <p:spPr>
          <a:xfrm>
            <a:off x="6169074" y="2514600"/>
            <a:ext cx="257682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قريب من البيئة التراثية</a:t>
            </a:r>
            <a:endParaRPr lang="ar-SA" sz="2100" dirty="0"/>
          </a:p>
        </p:txBody>
      </p:sp>
      <p:sp>
        <p:nvSpPr>
          <p:cNvPr id="17" name="anim-g1-30"/>
          <p:cNvSpPr/>
          <p:nvPr/>
        </p:nvSpPr>
        <p:spPr>
          <a:xfrm>
            <a:off x="2595854" y="2514600"/>
            <a:ext cx="3326332" cy="1100328"/>
          </a:xfrm>
          <a:prstGeom prst="roundRect">
            <a:avLst>
              <a:gd name="adj" fmla="val 9972"/>
            </a:avLst>
          </a:prstGeom>
          <a:solidFill>
            <a:srgbClr val="FFFFFF"/>
          </a:solidFill>
          <a:ln w="12700">
            <a:solidFill>
              <a:srgbClr val="E4DCC8"/>
            </a:solidFill>
            <a:prstDash val="solid"/>
          </a:ln>
        </p:spPr>
      </p:sp>
      <p:sp>
        <p:nvSpPr>
          <p:cNvPr id="18" name="anim-g1-31"/>
          <p:cNvSpPr/>
          <p:nvPr/>
        </p:nvSpPr>
        <p:spPr>
          <a:xfrm>
            <a:off x="2733014" y="2514600"/>
            <a:ext cx="30520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يخدم عنصرًا واحدًا وحركته محدودة</a:t>
            </a:r>
            <a:endParaRPr lang="ar-SA" sz="2100" dirty="0"/>
          </a:p>
        </p:txBody>
      </p:sp>
      <p:sp>
        <p:nvSpPr>
          <p:cNvPr id="19" name="anim-g1-32"/>
          <p:cNvSpPr/>
          <p:nvPr/>
        </p:nvSpPr>
        <p:spPr>
          <a:xfrm>
            <a:off x="822960" y="2514600"/>
            <a:ext cx="1663166" cy="1100328"/>
          </a:xfrm>
          <a:prstGeom prst="roundRect">
            <a:avLst>
              <a:gd name="adj" fmla="val 9972"/>
            </a:avLst>
          </a:prstGeom>
          <a:solidFill>
            <a:srgbClr val="E6F4EC"/>
          </a:solidFill>
          <a:ln w="12700">
            <a:solidFill>
              <a:srgbClr val="CDE9D9"/>
            </a:solidFill>
            <a:prstDash val="solid"/>
          </a:ln>
        </p:spPr>
      </p:sp>
      <p:sp>
        <p:nvSpPr>
          <p:cNvPr id="20" name="anim-g1-33"/>
          <p:cNvSpPr/>
          <p:nvPr/>
        </p:nvSpPr>
        <p:spPr>
          <a:xfrm>
            <a:off x="960120" y="2514600"/>
            <a:ext cx="1388846"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لم نختره</a:t>
            </a:r>
            <a:endParaRPr lang="ar-SA" sz="2100" dirty="0"/>
          </a:p>
        </p:txBody>
      </p:sp>
      <p:sp>
        <p:nvSpPr>
          <p:cNvPr id="21" name="anim-g2-34"/>
          <p:cNvSpPr/>
          <p:nvPr/>
        </p:nvSpPr>
        <p:spPr>
          <a:xfrm>
            <a:off x="8992784" y="3724656"/>
            <a:ext cx="2375951" cy="1100328"/>
          </a:xfrm>
          <a:prstGeom prst="roundRect">
            <a:avLst>
              <a:gd name="adj" fmla="val 9972"/>
            </a:avLst>
          </a:prstGeom>
          <a:solidFill>
            <a:srgbClr val="FBF3DF"/>
          </a:solidFill>
          <a:ln w="12700">
            <a:solidFill>
              <a:srgbClr val="EFDDAF"/>
            </a:solidFill>
            <a:prstDash val="solid"/>
          </a:ln>
        </p:spPr>
      </p:sp>
      <p:sp>
        <p:nvSpPr>
          <p:cNvPr id="22" name="anim-g2-35"/>
          <p:cNvSpPr/>
          <p:nvPr/>
        </p:nvSpPr>
        <p:spPr>
          <a:xfrm>
            <a:off x="9129944" y="3724656"/>
            <a:ext cx="2101631"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نخلة تفاعلية</a:t>
            </a:r>
            <a:endParaRPr lang="ar-SA" sz="2100" dirty="0"/>
          </a:p>
        </p:txBody>
      </p:sp>
      <p:sp>
        <p:nvSpPr>
          <p:cNvPr id="23" name="anim-g2-36"/>
          <p:cNvSpPr/>
          <p:nvPr/>
        </p:nvSpPr>
        <p:spPr>
          <a:xfrm>
            <a:off x="6031914" y="3724656"/>
            <a:ext cx="2851142" cy="1100328"/>
          </a:xfrm>
          <a:prstGeom prst="roundRect">
            <a:avLst>
              <a:gd name="adj" fmla="val 9972"/>
            </a:avLst>
          </a:prstGeom>
          <a:solidFill>
            <a:srgbClr val="FFFFFF"/>
          </a:solidFill>
          <a:ln w="12700">
            <a:solidFill>
              <a:srgbClr val="E4DCC8"/>
            </a:solidFill>
            <a:prstDash val="solid"/>
          </a:ln>
        </p:spPr>
      </p:sp>
      <p:sp>
        <p:nvSpPr>
          <p:cNvPr id="24" name="anim-g2-37"/>
          <p:cNvSpPr/>
          <p:nvPr/>
        </p:nvSpPr>
        <p:spPr>
          <a:xfrm>
            <a:off x="6169074" y="3724656"/>
            <a:ext cx="257682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رمز بصري واضح</a:t>
            </a:r>
            <a:endParaRPr lang="ar-SA" sz="2100" dirty="0"/>
          </a:p>
        </p:txBody>
      </p:sp>
      <p:sp>
        <p:nvSpPr>
          <p:cNvPr id="25" name="anim-g2-38"/>
          <p:cNvSpPr/>
          <p:nvPr/>
        </p:nvSpPr>
        <p:spPr>
          <a:xfrm>
            <a:off x="2595854" y="3724656"/>
            <a:ext cx="3326332" cy="1100328"/>
          </a:xfrm>
          <a:prstGeom prst="roundRect">
            <a:avLst>
              <a:gd name="adj" fmla="val 9972"/>
            </a:avLst>
          </a:prstGeom>
          <a:solidFill>
            <a:srgbClr val="FFFFFF"/>
          </a:solidFill>
          <a:ln w="12700">
            <a:solidFill>
              <a:srgbClr val="E4DCC8"/>
            </a:solidFill>
            <a:prstDash val="solid"/>
          </a:ln>
        </p:spPr>
      </p:sp>
      <p:sp>
        <p:nvSpPr>
          <p:cNvPr id="26" name="anim-g2-39"/>
          <p:cNvSpPr/>
          <p:nvPr/>
        </p:nvSpPr>
        <p:spPr>
          <a:xfrm>
            <a:off x="2733014" y="3724656"/>
            <a:ext cx="30520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المعلومات غير منظمة في محطات</a:t>
            </a:r>
            <a:endParaRPr lang="ar-SA" sz="2100" dirty="0"/>
          </a:p>
        </p:txBody>
      </p:sp>
      <p:sp>
        <p:nvSpPr>
          <p:cNvPr id="27" name="anim-g2-40"/>
          <p:cNvSpPr/>
          <p:nvPr/>
        </p:nvSpPr>
        <p:spPr>
          <a:xfrm>
            <a:off x="822960" y="3724656"/>
            <a:ext cx="1663166" cy="1100328"/>
          </a:xfrm>
          <a:prstGeom prst="roundRect">
            <a:avLst>
              <a:gd name="adj" fmla="val 9972"/>
            </a:avLst>
          </a:prstGeom>
          <a:solidFill>
            <a:srgbClr val="E6F4EC"/>
          </a:solidFill>
          <a:ln w="12700">
            <a:solidFill>
              <a:srgbClr val="CDE9D9"/>
            </a:solidFill>
            <a:prstDash val="solid"/>
          </a:ln>
        </p:spPr>
      </p:sp>
      <p:sp>
        <p:nvSpPr>
          <p:cNvPr id="28" name="anim-g2-41"/>
          <p:cNvSpPr/>
          <p:nvPr/>
        </p:nvSpPr>
        <p:spPr>
          <a:xfrm>
            <a:off x="960120" y="3724656"/>
            <a:ext cx="1388846"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لم نخترها</a:t>
            </a:r>
            <a:endParaRPr lang="ar-SA" sz="2100" dirty="0"/>
          </a:p>
        </p:txBody>
      </p:sp>
      <p:sp>
        <p:nvSpPr>
          <p:cNvPr id="29" name="anim-g3-42"/>
          <p:cNvSpPr/>
          <p:nvPr/>
        </p:nvSpPr>
        <p:spPr>
          <a:xfrm>
            <a:off x="8992784" y="4934712"/>
            <a:ext cx="2375951" cy="1100328"/>
          </a:xfrm>
          <a:prstGeom prst="roundRect">
            <a:avLst>
              <a:gd name="adj" fmla="val 9972"/>
            </a:avLst>
          </a:prstGeom>
          <a:solidFill>
            <a:srgbClr val="FBF3DF"/>
          </a:solidFill>
          <a:ln w="12700">
            <a:solidFill>
              <a:srgbClr val="EFDDAF"/>
            </a:solidFill>
            <a:prstDash val="solid"/>
          </a:ln>
        </p:spPr>
      </p:sp>
      <p:sp>
        <p:nvSpPr>
          <p:cNvPr id="30" name="anim-g3-43"/>
          <p:cNvSpPr/>
          <p:nvPr/>
        </p:nvSpPr>
        <p:spPr>
          <a:xfrm>
            <a:off x="9129944" y="4934712"/>
            <a:ext cx="2101631"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منصة دوّارة بأربع محطات</a:t>
            </a:r>
            <a:endParaRPr lang="ar-SA" sz="2100" dirty="0"/>
          </a:p>
        </p:txBody>
      </p:sp>
      <p:sp>
        <p:nvSpPr>
          <p:cNvPr id="31" name="anim-g3-44"/>
          <p:cNvSpPr/>
          <p:nvPr/>
        </p:nvSpPr>
        <p:spPr>
          <a:xfrm>
            <a:off x="6031914" y="4934712"/>
            <a:ext cx="2851142" cy="1100328"/>
          </a:xfrm>
          <a:prstGeom prst="roundRect">
            <a:avLst>
              <a:gd name="adj" fmla="val 9972"/>
            </a:avLst>
          </a:prstGeom>
          <a:solidFill>
            <a:srgbClr val="FFFFFF"/>
          </a:solidFill>
          <a:ln w="12700">
            <a:solidFill>
              <a:srgbClr val="E4DCC8"/>
            </a:solidFill>
            <a:prstDash val="solid"/>
          </a:ln>
        </p:spPr>
      </p:sp>
      <p:sp>
        <p:nvSpPr>
          <p:cNvPr id="32" name="anim-g3-45"/>
          <p:cNvSpPr/>
          <p:nvPr/>
        </p:nvSpPr>
        <p:spPr>
          <a:xfrm>
            <a:off x="6169074" y="4934712"/>
            <a:ext cx="257682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تجمع الحركة والاختيار والمحتوى</a:t>
            </a:r>
            <a:endParaRPr lang="ar-SA" sz="2100" dirty="0"/>
          </a:p>
        </p:txBody>
      </p:sp>
      <p:sp>
        <p:nvSpPr>
          <p:cNvPr id="33" name="anim-g3-46"/>
          <p:cNvSpPr/>
          <p:nvPr/>
        </p:nvSpPr>
        <p:spPr>
          <a:xfrm>
            <a:off x="2595854" y="4934712"/>
            <a:ext cx="3326332" cy="1100328"/>
          </a:xfrm>
          <a:prstGeom prst="roundRect">
            <a:avLst>
              <a:gd name="adj" fmla="val 9972"/>
            </a:avLst>
          </a:prstGeom>
          <a:solidFill>
            <a:srgbClr val="FFFFFF"/>
          </a:solidFill>
          <a:ln w="12700">
            <a:solidFill>
              <a:srgbClr val="E4DCC8"/>
            </a:solidFill>
            <a:prstDash val="solid"/>
          </a:ln>
        </p:spPr>
      </p:sp>
      <p:sp>
        <p:nvSpPr>
          <p:cNvPr id="34" name="anim-g3-47"/>
          <p:cNvSpPr/>
          <p:nvPr/>
        </p:nvSpPr>
        <p:spPr>
          <a:xfrm>
            <a:off x="2733014" y="4934712"/>
            <a:ext cx="3052012"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تحتاج معايرة دقيقة</a:t>
            </a:r>
            <a:endParaRPr lang="ar-SA" sz="2100" dirty="0"/>
          </a:p>
        </p:txBody>
      </p:sp>
      <p:sp>
        <p:nvSpPr>
          <p:cNvPr id="35" name="anim-g3-48"/>
          <p:cNvSpPr/>
          <p:nvPr/>
        </p:nvSpPr>
        <p:spPr>
          <a:xfrm>
            <a:off x="822960" y="4934712"/>
            <a:ext cx="1663166" cy="1100328"/>
          </a:xfrm>
          <a:prstGeom prst="roundRect">
            <a:avLst>
              <a:gd name="adj" fmla="val 9972"/>
            </a:avLst>
          </a:prstGeom>
          <a:solidFill>
            <a:srgbClr val="E6F4EC"/>
          </a:solidFill>
          <a:ln w="12700">
            <a:solidFill>
              <a:srgbClr val="CDE9D9"/>
            </a:solidFill>
            <a:prstDash val="solid"/>
          </a:ln>
        </p:spPr>
      </p:sp>
      <p:sp>
        <p:nvSpPr>
          <p:cNvPr id="36" name="anim-g3-49"/>
          <p:cNvSpPr/>
          <p:nvPr/>
        </p:nvSpPr>
        <p:spPr>
          <a:xfrm>
            <a:off x="960120" y="4934712"/>
            <a:ext cx="1388846"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 اخترناها</a:t>
            </a:r>
            <a:endParaRPr lang="ar-SA" sz="2100" dirty="0"/>
          </a:p>
        </p:txBody>
      </p:sp>
      <p:sp>
        <p:nvSpPr>
          <p:cNvPr id="37" name="Text 3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8" name="Text 3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003743" y="457200"/>
            <a:ext cx="3364992" cy="457200"/>
          </a:xfrm>
          <a:prstGeom prst="roundRect">
            <a:avLst>
              <a:gd name="adj" fmla="val 50000"/>
            </a:avLst>
          </a:prstGeom>
          <a:solidFill>
            <a:srgbClr val="F6EBCF"/>
          </a:solidFill>
          <a:ln/>
        </p:spPr>
      </p:sp>
      <p:sp>
        <p:nvSpPr>
          <p:cNvPr id="3" name="Text 1"/>
          <p:cNvSpPr/>
          <p:nvPr/>
        </p:nvSpPr>
        <p:spPr>
          <a:xfrm>
            <a:off x="8003743" y="457200"/>
            <a:ext cx="336499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المحتوى التراثي</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أربع محطات… أربع معلومات</a:t>
            </a:r>
            <a:endParaRPr lang="ar-SA" sz="3800" dirty="0"/>
          </a:p>
        </p:txBody>
      </p:sp>
      <p:sp>
        <p:nvSpPr>
          <p:cNvPr id="5" name="Shape 3"/>
          <p:cNvSpPr/>
          <p:nvPr/>
        </p:nvSpPr>
        <p:spPr>
          <a:xfrm>
            <a:off x="9178304" y="1874520"/>
            <a:ext cx="2190431" cy="548640"/>
          </a:xfrm>
          <a:prstGeom prst="roundRect">
            <a:avLst>
              <a:gd name="adj" fmla="val 20000"/>
            </a:avLst>
          </a:prstGeom>
          <a:solidFill>
            <a:srgbClr val="101B45"/>
          </a:solidFill>
          <a:ln/>
        </p:spPr>
      </p:sp>
      <p:sp>
        <p:nvSpPr>
          <p:cNvPr id="6" name="Text 4"/>
          <p:cNvSpPr/>
          <p:nvPr/>
        </p:nvSpPr>
        <p:spPr>
          <a:xfrm>
            <a:off x="9178304" y="1874520"/>
            <a:ext cx="2190431"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العنصر</a:t>
            </a:r>
            <a:endParaRPr lang="ar-SA" sz="1900" dirty="0"/>
          </a:p>
        </p:txBody>
      </p:sp>
      <p:sp>
        <p:nvSpPr>
          <p:cNvPr id="7" name="Shape 5"/>
          <p:cNvSpPr/>
          <p:nvPr/>
        </p:nvSpPr>
        <p:spPr>
          <a:xfrm>
            <a:off x="4061876" y="1874520"/>
            <a:ext cx="5006700" cy="548640"/>
          </a:xfrm>
          <a:prstGeom prst="roundRect">
            <a:avLst>
              <a:gd name="adj" fmla="val 20000"/>
            </a:avLst>
          </a:prstGeom>
          <a:solidFill>
            <a:srgbClr val="101B45"/>
          </a:solidFill>
          <a:ln/>
        </p:spPr>
      </p:sp>
      <p:sp>
        <p:nvSpPr>
          <p:cNvPr id="8" name="Text 6"/>
          <p:cNvSpPr/>
          <p:nvPr/>
        </p:nvSpPr>
        <p:spPr>
          <a:xfrm>
            <a:off x="4061876" y="1874520"/>
            <a:ext cx="5006700"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 يتعلمه الطفل</a:t>
            </a:r>
            <a:endParaRPr lang="ar-SA" sz="1900" dirty="0"/>
          </a:p>
        </p:txBody>
      </p:sp>
      <p:sp>
        <p:nvSpPr>
          <p:cNvPr id="9" name="Shape 7"/>
          <p:cNvSpPr/>
          <p:nvPr/>
        </p:nvSpPr>
        <p:spPr>
          <a:xfrm>
            <a:off x="822960" y="1874520"/>
            <a:ext cx="3129188" cy="548640"/>
          </a:xfrm>
          <a:prstGeom prst="roundRect">
            <a:avLst>
              <a:gd name="adj" fmla="val 20000"/>
            </a:avLst>
          </a:prstGeom>
          <a:solidFill>
            <a:srgbClr val="101B45"/>
          </a:solidFill>
          <a:ln/>
        </p:spPr>
      </p:sp>
      <p:sp>
        <p:nvSpPr>
          <p:cNvPr id="10" name="Text 8"/>
          <p:cNvSpPr/>
          <p:nvPr/>
        </p:nvSpPr>
        <p:spPr>
          <a:xfrm>
            <a:off x="822960" y="1874520"/>
            <a:ext cx="312918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التفاعل</a:t>
            </a:r>
            <a:endParaRPr lang="ar-SA" sz="1900" dirty="0"/>
          </a:p>
        </p:txBody>
      </p:sp>
      <p:sp>
        <p:nvSpPr>
          <p:cNvPr id="11" name="anim-g1-50"/>
          <p:cNvSpPr/>
          <p:nvPr/>
        </p:nvSpPr>
        <p:spPr>
          <a:xfrm>
            <a:off x="9178304" y="2514600"/>
            <a:ext cx="2190431" cy="797814"/>
          </a:xfrm>
          <a:prstGeom prst="roundRect">
            <a:avLst>
              <a:gd name="adj" fmla="val 13754"/>
            </a:avLst>
          </a:prstGeom>
          <a:solidFill>
            <a:srgbClr val="FBF3DF"/>
          </a:solidFill>
          <a:ln w="12700">
            <a:solidFill>
              <a:srgbClr val="EFDDAF"/>
            </a:solidFill>
            <a:prstDash val="solid"/>
          </a:ln>
        </p:spPr>
      </p:sp>
      <p:sp>
        <p:nvSpPr>
          <p:cNvPr id="12" name="anim-g1-51"/>
          <p:cNvSpPr/>
          <p:nvPr/>
        </p:nvSpPr>
        <p:spPr>
          <a:xfrm>
            <a:off x="9315464" y="2514600"/>
            <a:ext cx="1916111"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الخيمة</a:t>
            </a:r>
            <a:endParaRPr lang="ar-SA" sz="2100" dirty="0"/>
          </a:p>
        </p:txBody>
      </p:sp>
      <p:sp>
        <p:nvSpPr>
          <p:cNvPr id="13" name="anim-g1-52"/>
          <p:cNvSpPr/>
          <p:nvPr/>
        </p:nvSpPr>
        <p:spPr>
          <a:xfrm>
            <a:off x="4061876" y="2514600"/>
            <a:ext cx="5006700" cy="797814"/>
          </a:xfrm>
          <a:prstGeom prst="roundRect">
            <a:avLst>
              <a:gd name="adj" fmla="val 13754"/>
            </a:avLst>
          </a:prstGeom>
          <a:solidFill>
            <a:srgbClr val="FFFFFF"/>
          </a:solidFill>
          <a:ln w="12700">
            <a:solidFill>
              <a:srgbClr val="E4DCC8"/>
            </a:solidFill>
            <a:prstDash val="solid"/>
          </a:ln>
        </p:spPr>
      </p:sp>
      <p:sp>
        <p:nvSpPr>
          <p:cNvPr id="14" name="anim-g1-53"/>
          <p:cNvSpPr/>
          <p:nvPr/>
        </p:nvSpPr>
        <p:spPr>
          <a:xfrm>
            <a:off x="4199036" y="2514600"/>
            <a:ext cx="4732380"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الضيافة والترحال ومكان اجتماع الأسرة والضيف</a:t>
            </a:r>
            <a:endParaRPr lang="ar-SA" sz="2100" dirty="0"/>
          </a:p>
        </p:txBody>
      </p:sp>
      <p:sp>
        <p:nvSpPr>
          <p:cNvPr id="15" name="anim-g1-54"/>
          <p:cNvSpPr/>
          <p:nvPr/>
        </p:nvSpPr>
        <p:spPr>
          <a:xfrm>
            <a:off x="822960" y="2514600"/>
            <a:ext cx="3129188" cy="797814"/>
          </a:xfrm>
          <a:prstGeom prst="roundRect">
            <a:avLst>
              <a:gd name="adj" fmla="val 13754"/>
            </a:avLst>
          </a:prstGeom>
          <a:solidFill>
            <a:srgbClr val="E6F4EC"/>
          </a:solidFill>
          <a:ln w="12700">
            <a:solidFill>
              <a:srgbClr val="CDE9D9"/>
            </a:solidFill>
            <a:prstDash val="solid"/>
          </a:ln>
        </p:spPr>
      </p:sp>
      <p:sp>
        <p:nvSpPr>
          <p:cNvPr id="16" name="anim-g1-55"/>
          <p:cNvSpPr/>
          <p:nvPr/>
        </p:nvSpPr>
        <p:spPr>
          <a:xfrm>
            <a:off x="960120" y="2514600"/>
            <a:ext cx="2854868"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سؤال عن دورها</a:t>
            </a:r>
            <a:endParaRPr lang="ar-SA" sz="2100" dirty="0"/>
          </a:p>
        </p:txBody>
      </p:sp>
      <p:sp>
        <p:nvSpPr>
          <p:cNvPr id="17" name="anim-g2-56"/>
          <p:cNvSpPr/>
          <p:nvPr/>
        </p:nvSpPr>
        <p:spPr>
          <a:xfrm>
            <a:off x="9178304" y="3422142"/>
            <a:ext cx="2190431" cy="797814"/>
          </a:xfrm>
          <a:prstGeom prst="roundRect">
            <a:avLst>
              <a:gd name="adj" fmla="val 13754"/>
            </a:avLst>
          </a:prstGeom>
          <a:solidFill>
            <a:srgbClr val="FBF3DF"/>
          </a:solidFill>
          <a:ln w="12700">
            <a:solidFill>
              <a:srgbClr val="EFDDAF"/>
            </a:solidFill>
            <a:prstDash val="solid"/>
          </a:ln>
        </p:spPr>
      </p:sp>
      <p:sp>
        <p:nvSpPr>
          <p:cNvPr id="18" name="anim-g2-57"/>
          <p:cNvSpPr/>
          <p:nvPr/>
        </p:nvSpPr>
        <p:spPr>
          <a:xfrm>
            <a:off x="9315464" y="3422142"/>
            <a:ext cx="1916111"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السيف</a:t>
            </a:r>
            <a:endParaRPr lang="ar-SA" sz="2100" dirty="0"/>
          </a:p>
        </p:txBody>
      </p:sp>
      <p:sp>
        <p:nvSpPr>
          <p:cNvPr id="19" name="anim-g2-58"/>
          <p:cNvSpPr/>
          <p:nvPr/>
        </p:nvSpPr>
        <p:spPr>
          <a:xfrm>
            <a:off x="4061876" y="3422142"/>
            <a:ext cx="5006700" cy="797814"/>
          </a:xfrm>
          <a:prstGeom prst="roundRect">
            <a:avLst>
              <a:gd name="adj" fmla="val 13754"/>
            </a:avLst>
          </a:prstGeom>
          <a:solidFill>
            <a:srgbClr val="FFFFFF"/>
          </a:solidFill>
          <a:ln w="12700">
            <a:solidFill>
              <a:srgbClr val="E4DCC8"/>
            </a:solidFill>
            <a:prstDash val="solid"/>
          </a:ln>
        </p:spPr>
      </p:sp>
      <p:sp>
        <p:nvSpPr>
          <p:cNvPr id="20" name="anim-g2-59"/>
          <p:cNvSpPr/>
          <p:nvPr/>
        </p:nvSpPr>
        <p:spPr>
          <a:xfrm>
            <a:off x="4199036" y="3422142"/>
            <a:ext cx="4732380"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رمز للفخر والشجاعة، وحضور في العرضة</a:t>
            </a:r>
            <a:endParaRPr lang="ar-SA" sz="2100" dirty="0"/>
          </a:p>
        </p:txBody>
      </p:sp>
      <p:sp>
        <p:nvSpPr>
          <p:cNvPr id="21" name="anim-g2-60"/>
          <p:cNvSpPr/>
          <p:nvPr/>
        </p:nvSpPr>
        <p:spPr>
          <a:xfrm>
            <a:off x="822960" y="3422142"/>
            <a:ext cx="3129188" cy="797814"/>
          </a:xfrm>
          <a:prstGeom prst="roundRect">
            <a:avLst>
              <a:gd name="adj" fmla="val 13754"/>
            </a:avLst>
          </a:prstGeom>
          <a:solidFill>
            <a:srgbClr val="E6F4EC"/>
          </a:solidFill>
          <a:ln w="12700">
            <a:solidFill>
              <a:srgbClr val="CDE9D9"/>
            </a:solidFill>
            <a:prstDash val="solid"/>
          </a:ln>
        </p:spPr>
      </p:sp>
      <p:sp>
        <p:nvSpPr>
          <p:cNvPr id="22" name="anim-g2-61"/>
          <p:cNvSpPr/>
          <p:nvPr/>
        </p:nvSpPr>
        <p:spPr>
          <a:xfrm>
            <a:off x="960120" y="3422142"/>
            <a:ext cx="2854868"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صوت ثم سؤال مبسط</a:t>
            </a:r>
            <a:endParaRPr lang="ar-SA" sz="2100" dirty="0"/>
          </a:p>
        </p:txBody>
      </p:sp>
      <p:sp>
        <p:nvSpPr>
          <p:cNvPr id="23" name="anim-g3-62"/>
          <p:cNvSpPr/>
          <p:nvPr/>
        </p:nvSpPr>
        <p:spPr>
          <a:xfrm>
            <a:off x="9178304" y="4329684"/>
            <a:ext cx="2190431" cy="797814"/>
          </a:xfrm>
          <a:prstGeom prst="roundRect">
            <a:avLst>
              <a:gd name="adj" fmla="val 13754"/>
            </a:avLst>
          </a:prstGeom>
          <a:solidFill>
            <a:srgbClr val="FBF3DF"/>
          </a:solidFill>
          <a:ln w="12700">
            <a:solidFill>
              <a:srgbClr val="EFDDAF"/>
            </a:solidFill>
            <a:prstDash val="solid"/>
          </a:ln>
        </p:spPr>
      </p:sp>
      <p:sp>
        <p:nvSpPr>
          <p:cNvPr id="24" name="anim-g3-63"/>
          <p:cNvSpPr/>
          <p:nvPr/>
        </p:nvSpPr>
        <p:spPr>
          <a:xfrm>
            <a:off x="9315464" y="4329684"/>
            <a:ext cx="1916111"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الفخار</a:t>
            </a:r>
            <a:endParaRPr lang="ar-SA" sz="2100" dirty="0"/>
          </a:p>
        </p:txBody>
      </p:sp>
      <p:sp>
        <p:nvSpPr>
          <p:cNvPr id="25" name="anim-g3-64"/>
          <p:cNvSpPr/>
          <p:nvPr/>
        </p:nvSpPr>
        <p:spPr>
          <a:xfrm>
            <a:off x="4061876" y="4329684"/>
            <a:ext cx="5006700" cy="797814"/>
          </a:xfrm>
          <a:prstGeom prst="roundRect">
            <a:avLst>
              <a:gd name="adj" fmla="val 13754"/>
            </a:avLst>
          </a:prstGeom>
          <a:solidFill>
            <a:srgbClr val="FFFFFF"/>
          </a:solidFill>
          <a:ln w="12700">
            <a:solidFill>
              <a:srgbClr val="E4DCC8"/>
            </a:solidFill>
            <a:prstDash val="solid"/>
          </a:ln>
        </p:spPr>
      </p:sp>
      <p:sp>
        <p:nvSpPr>
          <p:cNvPr id="26" name="anim-g3-65"/>
          <p:cNvSpPr/>
          <p:nvPr/>
        </p:nvSpPr>
        <p:spPr>
          <a:xfrm>
            <a:off x="4199036" y="4329684"/>
            <a:ext cx="4732380"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حرفة يدوية ترتبط بمهارة الصانع والمواد المحلية</a:t>
            </a:r>
            <a:endParaRPr lang="ar-SA" sz="2100" dirty="0"/>
          </a:p>
        </p:txBody>
      </p:sp>
      <p:sp>
        <p:nvSpPr>
          <p:cNvPr id="27" name="anim-g3-66"/>
          <p:cNvSpPr/>
          <p:nvPr/>
        </p:nvSpPr>
        <p:spPr>
          <a:xfrm>
            <a:off x="822960" y="4329684"/>
            <a:ext cx="3129188" cy="797814"/>
          </a:xfrm>
          <a:prstGeom prst="roundRect">
            <a:avLst>
              <a:gd name="adj" fmla="val 13754"/>
            </a:avLst>
          </a:prstGeom>
          <a:solidFill>
            <a:srgbClr val="E6F4EC"/>
          </a:solidFill>
          <a:ln w="12700">
            <a:solidFill>
              <a:srgbClr val="CDE9D9"/>
            </a:solidFill>
            <a:prstDash val="solid"/>
          </a:ln>
        </p:spPr>
      </p:sp>
      <p:sp>
        <p:nvSpPr>
          <p:cNvPr id="28" name="anim-g3-67"/>
          <p:cNvSpPr/>
          <p:nvPr/>
        </p:nvSpPr>
        <p:spPr>
          <a:xfrm>
            <a:off x="960120" y="4329684"/>
            <a:ext cx="2854868"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سؤال عن الحرفة</a:t>
            </a:r>
            <a:endParaRPr lang="ar-SA" sz="2100" dirty="0"/>
          </a:p>
        </p:txBody>
      </p:sp>
      <p:sp>
        <p:nvSpPr>
          <p:cNvPr id="29" name="anim-g4-68"/>
          <p:cNvSpPr/>
          <p:nvPr/>
        </p:nvSpPr>
        <p:spPr>
          <a:xfrm>
            <a:off x="9178304" y="5237226"/>
            <a:ext cx="2190431" cy="797814"/>
          </a:xfrm>
          <a:prstGeom prst="roundRect">
            <a:avLst>
              <a:gd name="adj" fmla="val 13754"/>
            </a:avLst>
          </a:prstGeom>
          <a:solidFill>
            <a:srgbClr val="FBF3DF"/>
          </a:solidFill>
          <a:ln w="12700">
            <a:solidFill>
              <a:srgbClr val="EFDDAF"/>
            </a:solidFill>
            <a:prstDash val="solid"/>
          </a:ln>
        </p:spPr>
      </p:sp>
      <p:sp>
        <p:nvSpPr>
          <p:cNvPr id="30" name="anim-g4-69"/>
          <p:cNvSpPr/>
          <p:nvPr/>
        </p:nvSpPr>
        <p:spPr>
          <a:xfrm>
            <a:off x="9315464" y="5237226"/>
            <a:ext cx="1916111"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الملابس</a:t>
            </a:r>
            <a:endParaRPr lang="ar-SA" sz="2100" dirty="0"/>
          </a:p>
        </p:txBody>
      </p:sp>
      <p:sp>
        <p:nvSpPr>
          <p:cNvPr id="31" name="anim-g4-70"/>
          <p:cNvSpPr/>
          <p:nvPr/>
        </p:nvSpPr>
        <p:spPr>
          <a:xfrm>
            <a:off x="4061876" y="5237226"/>
            <a:ext cx="5006700" cy="797814"/>
          </a:xfrm>
          <a:prstGeom prst="roundRect">
            <a:avLst>
              <a:gd name="adj" fmla="val 13754"/>
            </a:avLst>
          </a:prstGeom>
          <a:solidFill>
            <a:srgbClr val="FFFFFF"/>
          </a:solidFill>
          <a:ln w="12700">
            <a:solidFill>
              <a:srgbClr val="E4DCC8"/>
            </a:solidFill>
            <a:prstDash val="solid"/>
          </a:ln>
        </p:spPr>
      </p:sp>
      <p:sp>
        <p:nvSpPr>
          <p:cNvPr id="32" name="anim-g4-71"/>
          <p:cNvSpPr/>
          <p:nvPr/>
        </p:nvSpPr>
        <p:spPr>
          <a:xfrm>
            <a:off x="4199036" y="5237226"/>
            <a:ext cx="4732380"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تنوع الأزياء ودلالاتها عبر مناطق المملكة</a:t>
            </a:r>
            <a:endParaRPr lang="ar-SA" sz="2100" dirty="0"/>
          </a:p>
        </p:txBody>
      </p:sp>
      <p:sp>
        <p:nvSpPr>
          <p:cNvPr id="33" name="anim-g4-72"/>
          <p:cNvSpPr/>
          <p:nvPr/>
        </p:nvSpPr>
        <p:spPr>
          <a:xfrm>
            <a:off x="822960" y="5237226"/>
            <a:ext cx="3129188" cy="797814"/>
          </a:xfrm>
          <a:prstGeom prst="roundRect">
            <a:avLst>
              <a:gd name="adj" fmla="val 13754"/>
            </a:avLst>
          </a:prstGeom>
          <a:solidFill>
            <a:srgbClr val="E6F4EC"/>
          </a:solidFill>
          <a:ln w="12700">
            <a:solidFill>
              <a:srgbClr val="CDE9D9"/>
            </a:solidFill>
            <a:prstDash val="solid"/>
          </a:ln>
        </p:spPr>
      </p:sp>
      <p:sp>
        <p:nvSpPr>
          <p:cNvPr id="34" name="anim-g4-73"/>
          <p:cNvSpPr/>
          <p:nvPr/>
        </p:nvSpPr>
        <p:spPr>
          <a:xfrm>
            <a:off x="960120" y="5237226"/>
            <a:ext cx="2854868"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اختيار صحيح</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C:\Users\user\projects\younes-training\heritage\.pptx-cache\s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الدورة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الدورة</a:t>
            </a:r>
            <a:endParaRPr lang="ar-SA" sz="3800" dirty="0"/>
          </a:p>
        </p:txBody>
      </p:sp>
      <p:sp>
        <p:nvSpPr>
          <p:cNvPr id="5" name="anim-g1-74"/>
          <p:cNvSpPr/>
          <p:nvPr/>
        </p:nvSpPr>
        <p:spPr>
          <a:xfrm>
            <a:off x="822960" y="1920240"/>
            <a:ext cx="10545775" cy="735178"/>
          </a:xfrm>
          <a:prstGeom prst="roundRect">
            <a:avLst>
              <a:gd name="adj" fmla="val 19900"/>
            </a:avLst>
          </a:prstGeom>
          <a:solidFill>
            <a:srgbClr val="FFFFFF"/>
          </a:solidFill>
          <a:ln w="12700">
            <a:solidFill>
              <a:srgbClr val="E4DCC8"/>
            </a:solidFill>
            <a:prstDash val="solid"/>
          </a:ln>
        </p:spPr>
      </p:sp>
      <p:sp>
        <p:nvSpPr>
          <p:cNvPr id="6" name="anim-g1-75"/>
          <p:cNvSpPr/>
          <p:nvPr/>
        </p:nvSpPr>
        <p:spPr>
          <a:xfrm>
            <a:off x="10587838" y="2011680"/>
            <a:ext cx="552298" cy="552298"/>
          </a:xfrm>
          <a:prstGeom prst="ellipse">
            <a:avLst/>
          </a:prstGeom>
          <a:solidFill>
            <a:srgbClr val="D9AE4B"/>
          </a:solidFill>
          <a:ln/>
        </p:spPr>
      </p:sp>
      <p:sp>
        <p:nvSpPr>
          <p:cNvPr id="7" name="anim-g1-76"/>
          <p:cNvSpPr/>
          <p:nvPr/>
        </p:nvSpPr>
        <p:spPr>
          <a:xfrm>
            <a:off x="10587838" y="2011680"/>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7"/>
          <p:cNvSpPr/>
          <p:nvPr/>
        </p:nvSpPr>
        <p:spPr>
          <a:xfrm>
            <a:off x="1097280" y="1920240"/>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توصل وتبرمج سبعة مكونات على ESP32 كلًّا على حدة</a:t>
            </a:r>
            <a:endParaRPr lang="ar-SA" sz="2200" dirty="0"/>
          </a:p>
        </p:txBody>
      </p:sp>
      <p:sp>
        <p:nvSpPr>
          <p:cNvPr id="9" name="anim-g2-78"/>
          <p:cNvSpPr/>
          <p:nvPr/>
        </p:nvSpPr>
        <p:spPr>
          <a:xfrm>
            <a:off x="822960" y="2765146"/>
            <a:ext cx="10545775" cy="735178"/>
          </a:xfrm>
          <a:prstGeom prst="roundRect">
            <a:avLst>
              <a:gd name="adj" fmla="val 19900"/>
            </a:avLst>
          </a:prstGeom>
          <a:solidFill>
            <a:srgbClr val="FFFFFF"/>
          </a:solidFill>
          <a:ln w="12700">
            <a:solidFill>
              <a:srgbClr val="E4DCC8"/>
            </a:solidFill>
            <a:prstDash val="solid"/>
          </a:ln>
        </p:spPr>
      </p:sp>
      <p:sp>
        <p:nvSpPr>
          <p:cNvPr id="10" name="anim-g2-79"/>
          <p:cNvSpPr/>
          <p:nvPr/>
        </p:nvSpPr>
        <p:spPr>
          <a:xfrm>
            <a:off x="10587838" y="2856586"/>
            <a:ext cx="552298" cy="552298"/>
          </a:xfrm>
          <a:prstGeom prst="ellipse">
            <a:avLst/>
          </a:prstGeom>
          <a:solidFill>
            <a:srgbClr val="D9AE4B"/>
          </a:solidFill>
          <a:ln/>
        </p:spPr>
      </p:sp>
      <p:sp>
        <p:nvSpPr>
          <p:cNvPr id="11" name="anim-g2-80"/>
          <p:cNvSpPr/>
          <p:nvPr/>
        </p:nvSpPr>
        <p:spPr>
          <a:xfrm>
            <a:off x="10587838" y="2856586"/>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81"/>
          <p:cNvSpPr/>
          <p:nvPr/>
        </p:nvSpPr>
        <p:spPr>
          <a:xfrm>
            <a:off x="1097280" y="2765146"/>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تدمج المكونات تدريجيًا حتى المشروع الكامل</a:t>
            </a:r>
            <a:endParaRPr lang="ar-SA" sz="2200" dirty="0"/>
          </a:p>
        </p:txBody>
      </p:sp>
      <p:sp>
        <p:nvSpPr>
          <p:cNvPr id="13" name="anim-g3-82"/>
          <p:cNvSpPr/>
          <p:nvPr/>
        </p:nvSpPr>
        <p:spPr>
          <a:xfrm>
            <a:off x="822960" y="3610051"/>
            <a:ext cx="10545775" cy="735178"/>
          </a:xfrm>
          <a:prstGeom prst="roundRect">
            <a:avLst>
              <a:gd name="adj" fmla="val 19900"/>
            </a:avLst>
          </a:prstGeom>
          <a:solidFill>
            <a:srgbClr val="FFFFFF"/>
          </a:solidFill>
          <a:ln w="12700">
            <a:solidFill>
              <a:srgbClr val="E4DCC8"/>
            </a:solidFill>
            <a:prstDash val="solid"/>
          </a:ln>
        </p:spPr>
      </p:sp>
      <p:sp>
        <p:nvSpPr>
          <p:cNvPr id="14" name="anim-g3-83"/>
          <p:cNvSpPr/>
          <p:nvPr/>
        </p:nvSpPr>
        <p:spPr>
          <a:xfrm>
            <a:off x="10587838" y="3701491"/>
            <a:ext cx="552298" cy="552298"/>
          </a:xfrm>
          <a:prstGeom prst="ellipse">
            <a:avLst/>
          </a:prstGeom>
          <a:solidFill>
            <a:srgbClr val="D9AE4B"/>
          </a:solidFill>
          <a:ln/>
        </p:spPr>
      </p:sp>
      <p:sp>
        <p:nvSpPr>
          <p:cNvPr id="15" name="anim-g3-84"/>
          <p:cNvSpPr/>
          <p:nvPr/>
        </p:nvSpPr>
        <p:spPr>
          <a:xfrm>
            <a:off x="10587838" y="3701491"/>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85"/>
          <p:cNvSpPr/>
          <p:nvPr/>
        </p:nvSpPr>
        <p:spPr>
          <a:xfrm>
            <a:off x="1097280" y="3610051"/>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تعاير منصة دوّارة بالقياس الميداني</a:t>
            </a:r>
            <a:endParaRPr lang="ar-SA" sz="2200" dirty="0"/>
          </a:p>
        </p:txBody>
      </p:sp>
      <p:sp>
        <p:nvSpPr>
          <p:cNvPr id="17" name="anim-g4-86"/>
          <p:cNvSpPr/>
          <p:nvPr/>
        </p:nvSpPr>
        <p:spPr>
          <a:xfrm>
            <a:off x="822960" y="4454957"/>
            <a:ext cx="10545775" cy="735178"/>
          </a:xfrm>
          <a:prstGeom prst="roundRect">
            <a:avLst>
              <a:gd name="adj" fmla="val 19900"/>
            </a:avLst>
          </a:prstGeom>
          <a:solidFill>
            <a:srgbClr val="FFFFFF"/>
          </a:solidFill>
          <a:ln w="12700">
            <a:solidFill>
              <a:srgbClr val="E4DCC8"/>
            </a:solidFill>
            <a:prstDash val="solid"/>
          </a:ln>
        </p:spPr>
      </p:sp>
      <p:sp>
        <p:nvSpPr>
          <p:cNvPr id="18" name="anim-g4-87"/>
          <p:cNvSpPr/>
          <p:nvPr/>
        </p:nvSpPr>
        <p:spPr>
          <a:xfrm>
            <a:off x="10587838" y="4546397"/>
            <a:ext cx="552298" cy="552298"/>
          </a:xfrm>
          <a:prstGeom prst="ellipse">
            <a:avLst/>
          </a:prstGeom>
          <a:solidFill>
            <a:srgbClr val="D9AE4B"/>
          </a:solidFill>
          <a:ln/>
        </p:spPr>
      </p:sp>
      <p:sp>
        <p:nvSpPr>
          <p:cNvPr id="19" name="anim-g4-88"/>
          <p:cNvSpPr/>
          <p:nvPr/>
        </p:nvSpPr>
        <p:spPr>
          <a:xfrm>
            <a:off x="10587838" y="4546397"/>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89"/>
          <p:cNvSpPr/>
          <p:nvPr/>
        </p:nvSpPr>
        <p:spPr>
          <a:xfrm>
            <a:off x="1097280" y="4454957"/>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تبني آلة حالات وقرارًا مستقلًا بلا delay طويلة</a:t>
            </a:r>
            <a:endParaRPr lang="ar-SA" sz="2200" dirty="0"/>
          </a:p>
        </p:txBody>
      </p:sp>
      <p:sp>
        <p:nvSpPr>
          <p:cNvPr id="21" name="anim-g5-90"/>
          <p:cNvSpPr/>
          <p:nvPr/>
        </p:nvSpPr>
        <p:spPr>
          <a:xfrm>
            <a:off x="822960" y="5299862"/>
            <a:ext cx="10545775" cy="735178"/>
          </a:xfrm>
          <a:prstGeom prst="roundRect">
            <a:avLst>
              <a:gd name="adj" fmla="val 19900"/>
            </a:avLst>
          </a:prstGeom>
          <a:solidFill>
            <a:srgbClr val="FFFFFF"/>
          </a:solidFill>
          <a:ln w="12700">
            <a:solidFill>
              <a:srgbClr val="E4DCC8"/>
            </a:solidFill>
            <a:prstDash val="solid"/>
          </a:ln>
        </p:spPr>
      </p:sp>
      <p:sp>
        <p:nvSpPr>
          <p:cNvPr id="22" name="anim-g5-91"/>
          <p:cNvSpPr/>
          <p:nvPr/>
        </p:nvSpPr>
        <p:spPr>
          <a:xfrm>
            <a:off x="10587838" y="5391302"/>
            <a:ext cx="552298" cy="552298"/>
          </a:xfrm>
          <a:prstGeom prst="ellipse">
            <a:avLst/>
          </a:prstGeom>
          <a:solidFill>
            <a:srgbClr val="D9AE4B"/>
          </a:solidFill>
          <a:ln/>
        </p:spPr>
      </p:sp>
      <p:sp>
        <p:nvSpPr>
          <p:cNvPr id="23" name="anim-g5-92"/>
          <p:cNvSpPr/>
          <p:nvPr/>
        </p:nvSpPr>
        <p:spPr>
          <a:xfrm>
            <a:off x="10587838" y="5391302"/>
            <a:ext cx="552298" cy="55229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93"/>
          <p:cNvSpPr/>
          <p:nvPr/>
        </p:nvSpPr>
        <p:spPr>
          <a:xfrm>
            <a:off x="1097280" y="5299862"/>
            <a:ext cx="9261958" cy="735178"/>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تقدّم المشروع في بوث ولجنة تحكيم دولية</a:t>
            </a:r>
            <a:endParaRPr lang="ar-SA" sz="22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الافتتاح  ·  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998568" y="1188720"/>
            <a:ext cx="2194560"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998568" y="118872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وعد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لم نصنع لعبة تتحدث عن التراث فحسب…</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صنعنا تجربة تجعل الطفل يعيش التراث، ويتعلمه، ثم يحمل ذكراه معه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الافتتاح  ·  ٩</a:t>
            </a:r>
            <a:endParaRPr lang="ar-SA"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بنية النظام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مدخلات ← معالجة ← مخرجات… قبل أي سلك</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بنية النظام  ·  ١٠</a:t>
            </a:r>
            <a:endParaRPr lang="ar-SA"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94"/>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95"/>
          <p:cNvSpPr/>
          <p:nvPr/>
        </p:nvSpPr>
        <p:spPr>
          <a:xfrm>
            <a:off x="10573207" y="2286000"/>
            <a:ext cx="566928" cy="566928"/>
          </a:xfrm>
          <a:prstGeom prst="ellipse">
            <a:avLst/>
          </a:prstGeom>
          <a:solidFill>
            <a:srgbClr val="D9AE4B"/>
          </a:solidFill>
          <a:ln/>
        </p:spPr>
      </p:sp>
      <p:sp>
        <p:nvSpPr>
          <p:cNvPr id="7" name="anim-g1-96"/>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97"/>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تصنّف مكونات المشروع إلى مدخلات ومخرجات</a:t>
            </a:r>
            <a:endParaRPr lang="ar-SA" sz="2400" dirty="0"/>
          </a:p>
        </p:txBody>
      </p:sp>
      <p:sp>
        <p:nvSpPr>
          <p:cNvPr id="9" name="anim-g2-98"/>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99"/>
          <p:cNvSpPr/>
          <p:nvPr/>
        </p:nvSpPr>
        <p:spPr>
          <a:xfrm>
            <a:off x="10573207" y="3694176"/>
            <a:ext cx="566928" cy="566928"/>
          </a:xfrm>
          <a:prstGeom prst="ellipse">
            <a:avLst/>
          </a:prstGeom>
          <a:solidFill>
            <a:srgbClr val="D9AE4B"/>
          </a:solidFill>
          <a:ln/>
        </p:spPr>
      </p:sp>
      <p:sp>
        <p:nvSpPr>
          <p:cNvPr id="11" name="anim-g2-100"/>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01"/>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تتبع رحلة طفل داخل النظام</a:t>
            </a:r>
            <a:endParaRPr lang="ar-SA" sz="2400" dirty="0"/>
          </a:p>
        </p:txBody>
      </p:sp>
      <p:sp>
        <p:nvSpPr>
          <p:cNvPr id="13" name="anim-g3-102"/>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103"/>
          <p:cNvSpPr/>
          <p:nvPr/>
        </p:nvSpPr>
        <p:spPr>
          <a:xfrm>
            <a:off x="10573207" y="5102352"/>
            <a:ext cx="566928" cy="566928"/>
          </a:xfrm>
          <a:prstGeom prst="ellipse">
            <a:avLst/>
          </a:prstGeom>
          <a:solidFill>
            <a:srgbClr val="D9AE4B"/>
          </a:solidFill>
          <a:ln/>
        </p:spPr>
      </p:sp>
      <p:sp>
        <p:nvSpPr>
          <p:cNvPr id="15" name="anim-g3-104"/>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05"/>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جدول أطراف ESP32 للمشروع وتفهم سبب كل اختيار</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بنية النظام  ·  ١١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C:\Users\user\projects\younes-training\heritage\.pptx-cache\s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F6EBCF"/>
          </a:solidFill>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جدول الأطراف الحقيقي</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أين يتصل كل مكوّن؟</a:t>
            </a:r>
            <a:endParaRPr lang="ar-SA" sz="3800" dirty="0"/>
          </a:p>
        </p:txBody>
      </p:sp>
      <p:sp>
        <p:nvSpPr>
          <p:cNvPr id="5" name="Shape 3"/>
          <p:cNvSpPr/>
          <p:nvPr/>
        </p:nvSpPr>
        <p:spPr>
          <a:xfrm>
            <a:off x="8856928" y="1874520"/>
            <a:ext cx="2511807" cy="548640"/>
          </a:xfrm>
          <a:prstGeom prst="roundRect">
            <a:avLst>
              <a:gd name="adj" fmla="val 20000"/>
            </a:avLst>
          </a:prstGeom>
          <a:solidFill>
            <a:srgbClr val="101B45"/>
          </a:solidFill>
          <a:ln/>
        </p:spPr>
      </p:sp>
      <p:sp>
        <p:nvSpPr>
          <p:cNvPr id="6" name="Text 4"/>
          <p:cNvSpPr/>
          <p:nvPr/>
        </p:nvSpPr>
        <p:spPr>
          <a:xfrm>
            <a:off x="8856928" y="1874520"/>
            <a:ext cx="251180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GPIO</a:t>
            </a:r>
            <a:endParaRPr lang="ar-SA" sz="1900" dirty="0"/>
          </a:p>
        </p:txBody>
      </p:sp>
      <p:sp>
        <p:nvSpPr>
          <p:cNvPr id="7" name="Shape 5"/>
          <p:cNvSpPr/>
          <p:nvPr/>
        </p:nvSpPr>
        <p:spPr>
          <a:xfrm>
            <a:off x="4839944" y="1874520"/>
            <a:ext cx="3907256" cy="548640"/>
          </a:xfrm>
          <a:prstGeom prst="roundRect">
            <a:avLst>
              <a:gd name="adj" fmla="val 20000"/>
            </a:avLst>
          </a:prstGeom>
          <a:solidFill>
            <a:srgbClr val="101B45"/>
          </a:solidFill>
          <a:ln/>
        </p:spPr>
      </p:sp>
      <p:sp>
        <p:nvSpPr>
          <p:cNvPr id="8" name="Text 6"/>
          <p:cNvSpPr/>
          <p:nvPr/>
        </p:nvSpPr>
        <p:spPr>
          <a:xfrm>
            <a:off x="4839944" y="1874520"/>
            <a:ext cx="3907256"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المكوّن</a:t>
            </a:r>
            <a:endParaRPr lang="ar-SA" sz="1900" dirty="0"/>
          </a:p>
        </p:txBody>
      </p:sp>
      <p:sp>
        <p:nvSpPr>
          <p:cNvPr id="9" name="Shape 7"/>
          <p:cNvSpPr/>
          <p:nvPr/>
        </p:nvSpPr>
        <p:spPr>
          <a:xfrm>
            <a:off x="822960" y="1874520"/>
            <a:ext cx="3907256" cy="548640"/>
          </a:xfrm>
          <a:prstGeom prst="roundRect">
            <a:avLst>
              <a:gd name="adj" fmla="val 20000"/>
            </a:avLst>
          </a:prstGeom>
          <a:solidFill>
            <a:srgbClr val="101B45"/>
          </a:solidFill>
          <a:ln/>
        </p:spPr>
      </p:sp>
      <p:sp>
        <p:nvSpPr>
          <p:cNvPr id="10" name="Text 8"/>
          <p:cNvSpPr/>
          <p:nvPr/>
        </p:nvSpPr>
        <p:spPr>
          <a:xfrm>
            <a:off x="822960" y="1874520"/>
            <a:ext cx="3907256"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ملاحظة</a:t>
            </a:r>
            <a:endParaRPr lang="ar-SA" sz="1900" dirty="0"/>
          </a:p>
        </p:txBody>
      </p:sp>
      <p:sp>
        <p:nvSpPr>
          <p:cNvPr id="11" name="anim-g1-106"/>
          <p:cNvSpPr/>
          <p:nvPr/>
        </p:nvSpPr>
        <p:spPr>
          <a:xfrm>
            <a:off x="8856928" y="2514600"/>
            <a:ext cx="2511807" cy="495300"/>
          </a:xfrm>
          <a:prstGeom prst="roundRect">
            <a:avLst>
              <a:gd name="adj" fmla="val 22154"/>
            </a:avLst>
          </a:prstGeom>
          <a:solidFill>
            <a:srgbClr val="FBF3DF"/>
          </a:solidFill>
          <a:ln w="12700">
            <a:solidFill>
              <a:srgbClr val="EFDDAF"/>
            </a:solidFill>
            <a:prstDash val="solid"/>
          </a:ln>
        </p:spPr>
      </p:sp>
      <p:sp>
        <p:nvSpPr>
          <p:cNvPr id="12" name="anim-g1-107"/>
          <p:cNvSpPr/>
          <p:nvPr/>
        </p:nvSpPr>
        <p:spPr>
          <a:xfrm>
            <a:off x="8994088" y="2514600"/>
            <a:ext cx="2237487"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18 / 34</a:t>
            </a:r>
            <a:endParaRPr lang="ar-SA" sz="2100" dirty="0"/>
          </a:p>
        </p:txBody>
      </p:sp>
      <p:sp>
        <p:nvSpPr>
          <p:cNvPr id="13" name="anim-g1-108"/>
          <p:cNvSpPr/>
          <p:nvPr/>
        </p:nvSpPr>
        <p:spPr>
          <a:xfrm>
            <a:off x="4839944" y="2514600"/>
            <a:ext cx="3907256" cy="495300"/>
          </a:xfrm>
          <a:prstGeom prst="roundRect">
            <a:avLst>
              <a:gd name="adj" fmla="val 22154"/>
            </a:avLst>
          </a:prstGeom>
          <a:solidFill>
            <a:srgbClr val="FFFFFF"/>
          </a:solidFill>
          <a:ln w="12700">
            <a:solidFill>
              <a:srgbClr val="E4DCC8"/>
            </a:solidFill>
            <a:prstDash val="solid"/>
          </a:ln>
        </p:spPr>
      </p:sp>
      <p:sp>
        <p:nvSpPr>
          <p:cNvPr id="14" name="anim-g1-109"/>
          <p:cNvSpPr/>
          <p:nvPr/>
        </p:nvSpPr>
        <p:spPr>
          <a:xfrm>
            <a:off x="4977104" y="2514600"/>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HC-SR04: Trig / Echo</a:t>
            </a:r>
            <a:endParaRPr lang="ar-SA" sz="2100" dirty="0"/>
          </a:p>
        </p:txBody>
      </p:sp>
      <p:sp>
        <p:nvSpPr>
          <p:cNvPr id="15" name="anim-g1-110"/>
          <p:cNvSpPr/>
          <p:nvPr/>
        </p:nvSpPr>
        <p:spPr>
          <a:xfrm>
            <a:off x="822960" y="2514600"/>
            <a:ext cx="3907256" cy="495300"/>
          </a:xfrm>
          <a:prstGeom prst="roundRect">
            <a:avLst>
              <a:gd name="adj" fmla="val 22154"/>
            </a:avLst>
          </a:prstGeom>
          <a:solidFill>
            <a:srgbClr val="E6F4EC"/>
          </a:solidFill>
          <a:ln w="12700">
            <a:solidFill>
              <a:srgbClr val="CDE9D9"/>
            </a:solidFill>
            <a:prstDash val="solid"/>
          </a:ln>
        </p:spPr>
      </p:sp>
      <p:sp>
        <p:nvSpPr>
          <p:cNvPr id="16" name="anim-g1-111"/>
          <p:cNvSpPr/>
          <p:nvPr/>
        </p:nvSpPr>
        <p:spPr>
          <a:xfrm>
            <a:off x="960120" y="2514600"/>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34 مدخل فقط: مناسب لـ Echo</a:t>
            </a:r>
            <a:endParaRPr lang="ar-SA" sz="2100" dirty="0"/>
          </a:p>
        </p:txBody>
      </p:sp>
      <p:sp>
        <p:nvSpPr>
          <p:cNvPr id="17" name="anim-g2-112"/>
          <p:cNvSpPr/>
          <p:nvPr/>
        </p:nvSpPr>
        <p:spPr>
          <a:xfrm>
            <a:off x="8856928" y="3119628"/>
            <a:ext cx="2511807" cy="495300"/>
          </a:xfrm>
          <a:prstGeom prst="roundRect">
            <a:avLst>
              <a:gd name="adj" fmla="val 22154"/>
            </a:avLst>
          </a:prstGeom>
          <a:solidFill>
            <a:srgbClr val="FBF3DF"/>
          </a:solidFill>
          <a:ln w="12700">
            <a:solidFill>
              <a:srgbClr val="EFDDAF"/>
            </a:solidFill>
            <a:prstDash val="solid"/>
          </a:ln>
        </p:spPr>
      </p:sp>
      <p:sp>
        <p:nvSpPr>
          <p:cNvPr id="18" name="anim-g2-113"/>
          <p:cNvSpPr/>
          <p:nvPr/>
        </p:nvSpPr>
        <p:spPr>
          <a:xfrm>
            <a:off x="8994088" y="3119628"/>
            <a:ext cx="2237487"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21 / 22</a:t>
            </a:r>
            <a:endParaRPr lang="ar-SA" sz="2100" dirty="0"/>
          </a:p>
        </p:txBody>
      </p:sp>
      <p:sp>
        <p:nvSpPr>
          <p:cNvPr id="19" name="anim-g2-114"/>
          <p:cNvSpPr/>
          <p:nvPr/>
        </p:nvSpPr>
        <p:spPr>
          <a:xfrm>
            <a:off x="4839944" y="3119628"/>
            <a:ext cx="3907256" cy="495300"/>
          </a:xfrm>
          <a:prstGeom prst="roundRect">
            <a:avLst>
              <a:gd name="adj" fmla="val 22154"/>
            </a:avLst>
          </a:prstGeom>
          <a:solidFill>
            <a:srgbClr val="FFFFFF"/>
          </a:solidFill>
          <a:ln w="12700">
            <a:solidFill>
              <a:srgbClr val="E4DCC8"/>
            </a:solidFill>
            <a:prstDash val="solid"/>
          </a:ln>
        </p:spPr>
      </p:sp>
      <p:sp>
        <p:nvSpPr>
          <p:cNvPr id="20" name="anim-g2-115"/>
          <p:cNvSpPr/>
          <p:nvPr/>
        </p:nvSpPr>
        <p:spPr>
          <a:xfrm>
            <a:off x="4977104" y="3119628"/>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LCD عبر I2C: SDA / SCL</a:t>
            </a:r>
            <a:endParaRPr lang="ar-SA" sz="2100" dirty="0"/>
          </a:p>
        </p:txBody>
      </p:sp>
      <p:sp>
        <p:nvSpPr>
          <p:cNvPr id="21" name="anim-g2-116"/>
          <p:cNvSpPr/>
          <p:nvPr/>
        </p:nvSpPr>
        <p:spPr>
          <a:xfrm>
            <a:off x="822960" y="3119628"/>
            <a:ext cx="3907256" cy="495300"/>
          </a:xfrm>
          <a:prstGeom prst="roundRect">
            <a:avLst>
              <a:gd name="adj" fmla="val 22154"/>
            </a:avLst>
          </a:prstGeom>
          <a:solidFill>
            <a:srgbClr val="E6F4EC"/>
          </a:solidFill>
          <a:ln w="12700">
            <a:solidFill>
              <a:srgbClr val="CDE9D9"/>
            </a:solidFill>
            <a:prstDash val="solid"/>
          </a:ln>
        </p:spPr>
      </p:sp>
      <p:sp>
        <p:nvSpPr>
          <p:cNvPr id="22" name="anim-g2-117"/>
          <p:cNvSpPr/>
          <p:nvPr/>
        </p:nvSpPr>
        <p:spPr>
          <a:xfrm>
            <a:off x="960120" y="3119628"/>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طرفا I2C الافتراضيان</a:t>
            </a:r>
            <a:endParaRPr lang="ar-SA" sz="2100" dirty="0"/>
          </a:p>
        </p:txBody>
      </p:sp>
      <p:sp>
        <p:nvSpPr>
          <p:cNvPr id="23" name="anim-g3-118"/>
          <p:cNvSpPr/>
          <p:nvPr/>
        </p:nvSpPr>
        <p:spPr>
          <a:xfrm>
            <a:off x="8856928" y="3724656"/>
            <a:ext cx="2511807" cy="495300"/>
          </a:xfrm>
          <a:prstGeom prst="roundRect">
            <a:avLst>
              <a:gd name="adj" fmla="val 22154"/>
            </a:avLst>
          </a:prstGeom>
          <a:solidFill>
            <a:srgbClr val="FBF3DF"/>
          </a:solidFill>
          <a:ln w="12700">
            <a:solidFill>
              <a:srgbClr val="EFDDAF"/>
            </a:solidFill>
            <a:prstDash val="solid"/>
          </a:ln>
        </p:spPr>
      </p:sp>
      <p:sp>
        <p:nvSpPr>
          <p:cNvPr id="24" name="anim-g3-119"/>
          <p:cNvSpPr/>
          <p:nvPr/>
        </p:nvSpPr>
        <p:spPr>
          <a:xfrm>
            <a:off x="8994088" y="3724656"/>
            <a:ext cx="2237487"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32 · 33 · 25 · 35</a:t>
            </a:r>
            <a:endParaRPr lang="ar-SA" sz="2100" dirty="0"/>
          </a:p>
        </p:txBody>
      </p:sp>
      <p:sp>
        <p:nvSpPr>
          <p:cNvPr id="25" name="anim-g3-120"/>
          <p:cNvSpPr/>
          <p:nvPr/>
        </p:nvSpPr>
        <p:spPr>
          <a:xfrm>
            <a:off x="4839944" y="3724656"/>
            <a:ext cx="3907256" cy="495300"/>
          </a:xfrm>
          <a:prstGeom prst="roundRect">
            <a:avLst>
              <a:gd name="adj" fmla="val 22154"/>
            </a:avLst>
          </a:prstGeom>
          <a:solidFill>
            <a:srgbClr val="FFFFFF"/>
          </a:solidFill>
          <a:ln w="12700">
            <a:solidFill>
              <a:srgbClr val="E4DCC8"/>
            </a:solidFill>
            <a:prstDash val="solid"/>
          </a:ln>
        </p:spPr>
      </p:sp>
      <p:sp>
        <p:nvSpPr>
          <p:cNvPr id="26" name="anim-g3-121"/>
          <p:cNvSpPr/>
          <p:nvPr/>
        </p:nvSpPr>
        <p:spPr>
          <a:xfrm>
            <a:off x="4977104" y="3724656"/>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أزرار المحطات الأربع</a:t>
            </a:r>
            <a:endParaRPr lang="ar-SA" sz="2100" dirty="0"/>
          </a:p>
        </p:txBody>
      </p:sp>
      <p:sp>
        <p:nvSpPr>
          <p:cNvPr id="27" name="anim-g3-122"/>
          <p:cNvSpPr/>
          <p:nvPr/>
        </p:nvSpPr>
        <p:spPr>
          <a:xfrm>
            <a:off x="822960" y="3724656"/>
            <a:ext cx="3907256" cy="495300"/>
          </a:xfrm>
          <a:prstGeom prst="roundRect">
            <a:avLst>
              <a:gd name="adj" fmla="val 22154"/>
            </a:avLst>
          </a:prstGeom>
          <a:solidFill>
            <a:srgbClr val="E6F4EC"/>
          </a:solidFill>
          <a:ln w="12700">
            <a:solidFill>
              <a:srgbClr val="CDE9D9"/>
            </a:solidFill>
            <a:prstDash val="solid"/>
          </a:ln>
        </p:spPr>
      </p:sp>
      <p:sp>
        <p:nvSpPr>
          <p:cNvPr id="28" name="anim-g3-123"/>
          <p:cNvSpPr/>
          <p:nvPr/>
        </p:nvSpPr>
        <p:spPr>
          <a:xfrm>
            <a:off x="960120" y="3724656"/>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35 بلا سحب داخلي</a:t>
            </a:r>
            <a:endParaRPr lang="ar-SA" sz="2100" dirty="0"/>
          </a:p>
        </p:txBody>
      </p:sp>
      <p:sp>
        <p:nvSpPr>
          <p:cNvPr id="29" name="anim-g4-124"/>
          <p:cNvSpPr/>
          <p:nvPr/>
        </p:nvSpPr>
        <p:spPr>
          <a:xfrm>
            <a:off x="8856928" y="4329684"/>
            <a:ext cx="2511807" cy="495300"/>
          </a:xfrm>
          <a:prstGeom prst="roundRect">
            <a:avLst>
              <a:gd name="adj" fmla="val 22154"/>
            </a:avLst>
          </a:prstGeom>
          <a:solidFill>
            <a:srgbClr val="FBF3DF"/>
          </a:solidFill>
          <a:ln w="12700">
            <a:solidFill>
              <a:srgbClr val="EFDDAF"/>
            </a:solidFill>
            <a:prstDash val="solid"/>
          </a:ln>
        </p:spPr>
      </p:sp>
      <p:sp>
        <p:nvSpPr>
          <p:cNvPr id="30" name="anim-g4-125"/>
          <p:cNvSpPr/>
          <p:nvPr/>
        </p:nvSpPr>
        <p:spPr>
          <a:xfrm>
            <a:off x="8994088" y="4329684"/>
            <a:ext cx="2237487"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13 / 14 / 26 / 27</a:t>
            </a:r>
            <a:endParaRPr lang="ar-SA" sz="2100" dirty="0"/>
          </a:p>
        </p:txBody>
      </p:sp>
      <p:sp>
        <p:nvSpPr>
          <p:cNvPr id="31" name="anim-g4-126"/>
          <p:cNvSpPr/>
          <p:nvPr/>
        </p:nvSpPr>
        <p:spPr>
          <a:xfrm>
            <a:off x="4839944" y="4329684"/>
            <a:ext cx="3907256" cy="495300"/>
          </a:xfrm>
          <a:prstGeom prst="roundRect">
            <a:avLst>
              <a:gd name="adj" fmla="val 22154"/>
            </a:avLst>
          </a:prstGeom>
          <a:solidFill>
            <a:srgbClr val="FFFFFF"/>
          </a:solidFill>
          <a:ln w="12700">
            <a:solidFill>
              <a:srgbClr val="E4DCC8"/>
            </a:solidFill>
            <a:prstDash val="solid"/>
          </a:ln>
        </p:spPr>
      </p:sp>
      <p:sp>
        <p:nvSpPr>
          <p:cNvPr id="32" name="anim-g4-127"/>
          <p:cNvSpPr/>
          <p:nvPr/>
        </p:nvSpPr>
        <p:spPr>
          <a:xfrm>
            <a:off x="4977104" y="4329684"/>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ULN2003 IN1–IN4</a:t>
            </a:r>
            <a:endParaRPr lang="ar-SA" sz="2100" dirty="0"/>
          </a:p>
        </p:txBody>
      </p:sp>
      <p:sp>
        <p:nvSpPr>
          <p:cNvPr id="33" name="anim-g4-128"/>
          <p:cNvSpPr/>
          <p:nvPr/>
        </p:nvSpPr>
        <p:spPr>
          <a:xfrm>
            <a:off x="822960" y="4329684"/>
            <a:ext cx="3907256" cy="495300"/>
          </a:xfrm>
          <a:prstGeom prst="roundRect">
            <a:avLst>
              <a:gd name="adj" fmla="val 22154"/>
            </a:avLst>
          </a:prstGeom>
          <a:solidFill>
            <a:srgbClr val="E6F4EC"/>
          </a:solidFill>
          <a:ln w="12700">
            <a:solidFill>
              <a:srgbClr val="CDE9D9"/>
            </a:solidFill>
            <a:prstDash val="solid"/>
          </a:ln>
        </p:spPr>
      </p:sp>
      <p:sp>
        <p:nvSpPr>
          <p:cNvPr id="34" name="anim-g4-129"/>
          <p:cNvSpPr/>
          <p:nvPr/>
        </p:nvSpPr>
        <p:spPr>
          <a:xfrm>
            <a:off x="960120" y="4329684"/>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محرك المنصة</a:t>
            </a:r>
            <a:endParaRPr lang="ar-SA" sz="2100" dirty="0"/>
          </a:p>
        </p:txBody>
      </p:sp>
      <p:sp>
        <p:nvSpPr>
          <p:cNvPr id="35" name="anim-g5-130"/>
          <p:cNvSpPr/>
          <p:nvPr/>
        </p:nvSpPr>
        <p:spPr>
          <a:xfrm>
            <a:off x="8856928" y="4934712"/>
            <a:ext cx="2511807" cy="495300"/>
          </a:xfrm>
          <a:prstGeom prst="roundRect">
            <a:avLst>
              <a:gd name="adj" fmla="val 22154"/>
            </a:avLst>
          </a:prstGeom>
          <a:solidFill>
            <a:srgbClr val="FBF3DF"/>
          </a:solidFill>
          <a:ln w="12700">
            <a:solidFill>
              <a:srgbClr val="EFDDAF"/>
            </a:solidFill>
            <a:prstDash val="solid"/>
          </a:ln>
        </p:spPr>
      </p:sp>
      <p:sp>
        <p:nvSpPr>
          <p:cNvPr id="36" name="anim-g5-131"/>
          <p:cNvSpPr/>
          <p:nvPr/>
        </p:nvSpPr>
        <p:spPr>
          <a:xfrm>
            <a:off x="8994088" y="4934712"/>
            <a:ext cx="2237487"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16 / 17 · 23</a:t>
            </a:r>
            <a:endParaRPr lang="ar-SA" sz="2100" dirty="0"/>
          </a:p>
        </p:txBody>
      </p:sp>
      <p:sp>
        <p:nvSpPr>
          <p:cNvPr id="37" name="anim-g5-132"/>
          <p:cNvSpPr/>
          <p:nvPr/>
        </p:nvSpPr>
        <p:spPr>
          <a:xfrm>
            <a:off x="4839944" y="4934712"/>
            <a:ext cx="3907256" cy="495300"/>
          </a:xfrm>
          <a:prstGeom prst="roundRect">
            <a:avLst>
              <a:gd name="adj" fmla="val 22154"/>
            </a:avLst>
          </a:prstGeom>
          <a:solidFill>
            <a:srgbClr val="FFFFFF"/>
          </a:solidFill>
          <a:ln w="12700">
            <a:solidFill>
              <a:srgbClr val="E4DCC8"/>
            </a:solidFill>
            <a:prstDash val="solid"/>
          </a:ln>
        </p:spPr>
      </p:sp>
      <p:sp>
        <p:nvSpPr>
          <p:cNvPr id="38" name="anim-g5-133"/>
          <p:cNvSpPr/>
          <p:nvPr/>
        </p:nvSpPr>
        <p:spPr>
          <a:xfrm>
            <a:off x="4977104" y="4934712"/>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DFPlayer RX / TX · 🪙 Servo العملة</a:t>
            </a:r>
            <a:endParaRPr lang="ar-SA" sz="2100" dirty="0"/>
          </a:p>
        </p:txBody>
      </p:sp>
      <p:sp>
        <p:nvSpPr>
          <p:cNvPr id="39" name="anim-g5-134"/>
          <p:cNvSpPr/>
          <p:nvPr/>
        </p:nvSpPr>
        <p:spPr>
          <a:xfrm>
            <a:off x="822960" y="4934712"/>
            <a:ext cx="3907256" cy="495300"/>
          </a:xfrm>
          <a:prstGeom prst="roundRect">
            <a:avLst>
              <a:gd name="adj" fmla="val 22154"/>
            </a:avLst>
          </a:prstGeom>
          <a:solidFill>
            <a:srgbClr val="E6F4EC"/>
          </a:solidFill>
          <a:ln w="12700">
            <a:solidFill>
              <a:srgbClr val="CDE9D9"/>
            </a:solidFill>
            <a:prstDash val="solid"/>
          </a:ln>
        </p:spPr>
      </p:sp>
      <p:sp>
        <p:nvSpPr>
          <p:cNvPr id="40" name="anim-g5-135"/>
          <p:cNvSpPr/>
          <p:nvPr/>
        </p:nvSpPr>
        <p:spPr>
          <a:xfrm>
            <a:off x="960120" y="4934712"/>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السيرفو: إشارة فقط والطاقة مستقلة</a:t>
            </a:r>
            <a:endParaRPr lang="ar-SA" sz="2100" dirty="0"/>
          </a:p>
        </p:txBody>
      </p:sp>
      <p:sp>
        <p:nvSpPr>
          <p:cNvPr id="41" name="anim-g6-136"/>
          <p:cNvSpPr/>
          <p:nvPr/>
        </p:nvSpPr>
        <p:spPr>
          <a:xfrm>
            <a:off x="8856928" y="5539740"/>
            <a:ext cx="2511807" cy="495300"/>
          </a:xfrm>
          <a:prstGeom prst="roundRect">
            <a:avLst>
              <a:gd name="adj" fmla="val 22154"/>
            </a:avLst>
          </a:prstGeom>
          <a:solidFill>
            <a:srgbClr val="FBF3DF"/>
          </a:solidFill>
          <a:ln w="12700">
            <a:solidFill>
              <a:srgbClr val="EFDDAF"/>
            </a:solidFill>
            <a:prstDash val="solid"/>
          </a:ln>
        </p:spPr>
      </p:sp>
      <p:sp>
        <p:nvSpPr>
          <p:cNvPr id="42" name="anim-g6-137"/>
          <p:cNvSpPr/>
          <p:nvPr/>
        </p:nvSpPr>
        <p:spPr>
          <a:xfrm>
            <a:off x="8994088" y="5539740"/>
            <a:ext cx="2237487"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36 / 39 · 4 / 5</a:t>
            </a:r>
            <a:endParaRPr lang="ar-SA" sz="2100" dirty="0"/>
          </a:p>
        </p:txBody>
      </p:sp>
      <p:sp>
        <p:nvSpPr>
          <p:cNvPr id="43" name="anim-g6-138"/>
          <p:cNvSpPr/>
          <p:nvPr/>
        </p:nvSpPr>
        <p:spPr>
          <a:xfrm>
            <a:off x="4839944" y="5539740"/>
            <a:ext cx="3907256" cy="495300"/>
          </a:xfrm>
          <a:prstGeom prst="roundRect">
            <a:avLst>
              <a:gd name="adj" fmla="val 22154"/>
            </a:avLst>
          </a:prstGeom>
          <a:solidFill>
            <a:srgbClr val="FFFFFF"/>
          </a:solidFill>
          <a:ln w="12700">
            <a:solidFill>
              <a:srgbClr val="E4DCC8"/>
            </a:solidFill>
            <a:prstDash val="solid"/>
          </a:ln>
        </p:spPr>
      </p:sp>
      <p:sp>
        <p:nvSpPr>
          <p:cNvPr id="44" name="anim-g6-139"/>
          <p:cNvSpPr/>
          <p:nvPr/>
        </p:nvSpPr>
        <p:spPr>
          <a:xfrm>
            <a:off x="4977104" y="5539740"/>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زرا الإجابة · الليدان</a:t>
            </a:r>
            <a:endParaRPr lang="ar-SA" sz="2100" dirty="0"/>
          </a:p>
        </p:txBody>
      </p:sp>
      <p:sp>
        <p:nvSpPr>
          <p:cNvPr id="45" name="anim-g6-140"/>
          <p:cNvSpPr/>
          <p:nvPr/>
        </p:nvSpPr>
        <p:spPr>
          <a:xfrm>
            <a:off x="822960" y="5539740"/>
            <a:ext cx="3907256" cy="495300"/>
          </a:xfrm>
          <a:prstGeom prst="roundRect">
            <a:avLst>
              <a:gd name="adj" fmla="val 22154"/>
            </a:avLst>
          </a:prstGeom>
          <a:solidFill>
            <a:srgbClr val="E6F4EC"/>
          </a:solidFill>
          <a:ln w="12700">
            <a:solidFill>
              <a:srgbClr val="CDE9D9"/>
            </a:solidFill>
            <a:prstDash val="solid"/>
          </a:ln>
        </p:spPr>
      </p:sp>
      <p:sp>
        <p:nvSpPr>
          <p:cNvPr id="46" name="anim-g6-141"/>
          <p:cNvSpPr/>
          <p:nvPr/>
        </p:nvSpPr>
        <p:spPr>
          <a:xfrm>
            <a:off x="960120" y="5539740"/>
            <a:ext cx="3632936"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36 و39 مدخلات فقط</a:t>
            </a:r>
            <a:endParaRPr lang="ar-SA" sz="2100" dirty="0"/>
          </a:p>
        </p:txBody>
      </p:sp>
      <p:sp>
        <p:nvSpPr>
          <p:cNvPr id="47" name="Text 4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48" name="Text 4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بنية النظام  ·  ١٣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0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00"/>
                                        <p:tgtEl>
                                          <p:spTgt spid="3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400"/>
                                        <p:tgtEl>
                                          <p:spTgt spid="3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40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00"/>
                                        <p:tgtEl>
                                          <p:spTgt spid="3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00"/>
                                        <p:tgtEl>
                                          <p:spTgt spid="40"/>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00"/>
                                        <p:tgtEl>
                                          <p:spTgt spid="4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0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00"/>
                                        <p:tgtEl>
                                          <p:spTgt spid="44"/>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00"/>
                                        <p:tgtEl>
                                          <p:spTgt spid="45"/>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ثلاث قواعد ESP32</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قبل أن تصل أي سلك</a:t>
            </a:r>
            <a:endParaRPr lang="ar-SA" sz="3800" dirty="0"/>
          </a:p>
        </p:txBody>
      </p:sp>
      <p:sp>
        <p:nvSpPr>
          <p:cNvPr id="5" name="anim-g1-14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43"/>
          <p:cNvSpPr/>
          <p:nvPr/>
        </p:nvSpPr>
        <p:spPr>
          <a:xfrm>
            <a:off x="10527487" y="2267712"/>
            <a:ext cx="566928" cy="566928"/>
          </a:xfrm>
          <a:prstGeom prst="roundRect">
            <a:avLst>
              <a:gd name="adj" fmla="val 32258"/>
            </a:avLst>
          </a:prstGeom>
          <a:solidFill>
            <a:srgbClr val="F7E6BC"/>
          </a:solidFill>
          <a:ln/>
        </p:spPr>
      </p:sp>
      <p:sp>
        <p:nvSpPr>
          <p:cNvPr id="7" name="anim-g1-14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4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٣٫٣ فولت</a:t>
            </a:r>
            <a:endParaRPr lang="ar-SA" sz="2200" dirty="0"/>
          </a:p>
        </p:txBody>
      </p:sp>
      <p:sp>
        <p:nvSpPr>
          <p:cNvPr id="9" name="anim-g1-14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تدخل ٥ فولت على أي طرف إدخال: Echo يحتاج مقسّم جهد</a:t>
            </a:r>
            <a:endParaRPr lang="ar-SA" sz="1900" dirty="0"/>
          </a:p>
        </p:txBody>
      </p:sp>
      <p:sp>
        <p:nvSpPr>
          <p:cNvPr id="10" name="anim-g2-14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48"/>
          <p:cNvSpPr/>
          <p:nvPr/>
        </p:nvSpPr>
        <p:spPr>
          <a:xfrm>
            <a:off x="6920789" y="2267712"/>
            <a:ext cx="566928" cy="566928"/>
          </a:xfrm>
          <a:prstGeom prst="roundRect">
            <a:avLst>
              <a:gd name="adj" fmla="val 32258"/>
            </a:avLst>
          </a:prstGeom>
          <a:solidFill>
            <a:srgbClr val="F7E6BC"/>
          </a:solidFill>
          <a:ln/>
        </p:spPr>
      </p:sp>
      <p:sp>
        <p:nvSpPr>
          <p:cNvPr id="12" name="anim-g2-14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5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٣٤–٣٩ مدخلات فقط</a:t>
            </a:r>
            <a:endParaRPr lang="ar-SA" sz="2200" dirty="0"/>
          </a:p>
        </p:txBody>
      </p:sp>
      <p:sp>
        <p:nvSpPr>
          <p:cNvPr id="14" name="anim-g2-15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ولا سحب داخلي فيها: الأزرار عليها تحتاج مقاومة خارجية</a:t>
            </a:r>
            <a:endParaRPr lang="ar-SA" sz="1900" dirty="0"/>
          </a:p>
        </p:txBody>
      </p:sp>
      <p:sp>
        <p:nvSpPr>
          <p:cNvPr id="15" name="anim-g3-15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53"/>
          <p:cNvSpPr/>
          <p:nvPr/>
        </p:nvSpPr>
        <p:spPr>
          <a:xfrm>
            <a:off x="3314090" y="2267712"/>
            <a:ext cx="566928" cy="566928"/>
          </a:xfrm>
          <a:prstGeom prst="roundRect">
            <a:avLst>
              <a:gd name="adj" fmla="val 32258"/>
            </a:avLst>
          </a:prstGeom>
          <a:solidFill>
            <a:srgbClr val="F7E6BC"/>
          </a:solidFill>
          <a:ln/>
        </p:spPr>
      </p:sp>
      <p:sp>
        <p:nvSpPr>
          <p:cNvPr id="17" name="anim-g3-15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15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أرضي مشترك</a:t>
            </a:r>
            <a:endParaRPr lang="ar-SA" sz="2200" dirty="0"/>
          </a:p>
        </p:txBody>
      </p:sp>
      <p:sp>
        <p:nvSpPr>
          <p:cNvPr id="19" name="anim-g3-15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مصدر المحرك ومصدر السيرفو واللوحة: GND واحد</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بنية النظام  ·  ١٤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أي هذه «مخرج» في المشروع؟</a:t>
            </a:r>
            <a:endParaRPr lang="ar-SA" sz="38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حساس الاقتراب</a:t>
            </a:r>
            <a:endParaRPr lang="ar-SA" sz="2500" dirty="0"/>
          </a:p>
        </p:txBody>
      </p:sp>
      <p:sp>
        <p:nvSpPr>
          <p:cNvPr id="9" name="anim-g1-157"/>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158"/>
          <p:cNvSpPr/>
          <p:nvPr/>
        </p:nvSpPr>
        <p:spPr>
          <a:xfrm>
            <a:off x="10231831" y="2194560"/>
            <a:ext cx="954024" cy="954024"/>
          </a:xfrm>
          <a:prstGeom prst="roundRect">
            <a:avLst>
              <a:gd name="adj" fmla="val 11502"/>
            </a:avLst>
          </a:prstGeom>
          <a:solidFill>
            <a:srgbClr val="A3A9BA"/>
          </a:solidFill>
          <a:ln/>
        </p:spPr>
      </p:sp>
      <p:sp>
        <p:nvSpPr>
          <p:cNvPr id="11" name="anim-g1-159"/>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160"/>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حساس الاقتراب</a:t>
            </a:r>
            <a:endParaRPr lang="ar-SA" sz="2400" dirty="0"/>
          </a:p>
        </p:txBody>
      </p:sp>
      <p:sp>
        <p:nvSpPr>
          <p:cNvPr id="13" name="anim-g1-161"/>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الحساس يُدخل معلومة: مدخل</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زر الإجابة</a:t>
            </a:r>
            <a:endParaRPr lang="ar-SA" sz="2500" dirty="0"/>
          </a:p>
        </p:txBody>
      </p:sp>
      <p:sp>
        <p:nvSpPr>
          <p:cNvPr id="18" name="anim-g1-162"/>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163"/>
          <p:cNvSpPr/>
          <p:nvPr/>
        </p:nvSpPr>
        <p:spPr>
          <a:xfrm>
            <a:off x="10231831" y="3569208"/>
            <a:ext cx="954024" cy="954024"/>
          </a:xfrm>
          <a:prstGeom prst="roundRect">
            <a:avLst>
              <a:gd name="adj" fmla="val 11502"/>
            </a:avLst>
          </a:prstGeom>
          <a:solidFill>
            <a:srgbClr val="A3A9BA"/>
          </a:solidFill>
          <a:ln/>
        </p:spPr>
      </p:sp>
      <p:sp>
        <p:nvSpPr>
          <p:cNvPr id="20" name="anim-g1-16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165"/>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زر الإجابة</a:t>
            </a:r>
            <a:endParaRPr lang="ar-SA" sz="2400" dirty="0"/>
          </a:p>
        </p:txBody>
      </p:sp>
      <p:sp>
        <p:nvSpPr>
          <p:cNvPr id="22" name="anim-g1-166"/>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الزر يُدخل اختيار الطفل: مدخل</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سيرفو العملة</a:t>
            </a:r>
            <a:endParaRPr lang="ar-SA" sz="2500" dirty="0"/>
          </a:p>
        </p:txBody>
      </p:sp>
      <p:sp>
        <p:nvSpPr>
          <p:cNvPr id="27" name="anim-g1-167"/>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168"/>
          <p:cNvSpPr/>
          <p:nvPr/>
        </p:nvSpPr>
        <p:spPr>
          <a:xfrm>
            <a:off x="10231831" y="4943856"/>
            <a:ext cx="954024" cy="954024"/>
          </a:xfrm>
          <a:prstGeom prst="roundRect">
            <a:avLst>
              <a:gd name="adj" fmla="val 11502"/>
            </a:avLst>
          </a:prstGeom>
          <a:solidFill>
            <a:srgbClr val="2E9E6B"/>
          </a:solidFill>
          <a:ln/>
        </p:spPr>
      </p:sp>
      <p:sp>
        <p:nvSpPr>
          <p:cNvPr id="29" name="anim-g1-169"/>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170"/>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سيرفو العملة</a:t>
            </a:r>
            <a:endParaRPr lang="ar-SA" sz="2400" dirty="0"/>
          </a:p>
        </p:txBody>
      </p:sp>
      <p:sp>
        <p:nvSpPr>
          <p:cNvPr id="31" name="anim-g1-171"/>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السيرفو يفعل شيئًا في العالم، يدفع العملة</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بنية النظام  ·  ١٥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طفل يُدخل، وESP32 يقرر، والمنصة والصوت والعملة تستجيب: ثلاث كلمات تختصر أي روبوت</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بنية النظام  ·  ١٦</a:t>
            </a:r>
            <a:endParaRPr lang="ar-SA"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المكوّن الأول: حساس الاقتراب</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HC-SR04 وحده… ليعرف الروبوت أن طفلًا وصل</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١. حساس الاقتراب  ·  ١٧</a:t>
            </a:r>
            <a:endParaRPr lang="ar-SA"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172"/>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173"/>
          <p:cNvSpPr/>
          <p:nvPr/>
        </p:nvSpPr>
        <p:spPr>
          <a:xfrm>
            <a:off x="10573207" y="2109978"/>
            <a:ext cx="566928" cy="566928"/>
          </a:xfrm>
          <a:prstGeom prst="ellipse">
            <a:avLst/>
          </a:prstGeom>
          <a:solidFill>
            <a:srgbClr val="D9AE4B"/>
          </a:solidFill>
          <a:ln/>
        </p:spPr>
      </p:sp>
      <p:sp>
        <p:nvSpPr>
          <p:cNvPr id="7" name="anim-g1-174"/>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175"/>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كيف يقيس الحساس المسافة بالصدى</a:t>
            </a:r>
            <a:endParaRPr lang="ar-SA" sz="2400" dirty="0"/>
          </a:p>
        </p:txBody>
      </p:sp>
      <p:sp>
        <p:nvSpPr>
          <p:cNvPr id="9" name="anim-g2-176"/>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177"/>
          <p:cNvSpPr/>
          <p:nvPr/>
        </p:nvSpPr>
        <p:spPr>
          <a:xfrm>
            <a:off x="10573207" y="3166110"/>
            <a:ext cx="566928" cy="566928"/>
          </a:xfrm>
          <a:prstGeom prst="ellipse">
            <a:avLst/>
          </a:prstGeom>
          <a:solidFill>
            <a:srgbClr val="D9AE4B"/>
          </a:solidFill>
          <a:ln/>
        </p:spPr>
      </p:sp>
      <p:sp>
        <p:nvSpPr>
          <p:cNvPr id="11" name="anim-g2-178"/>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179"/>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توصله بـ ESP32 بأمان (مقسّم جهد لـ Echo)</a:t>
            </a:r>
            <a:endParaRPr lang="ar-SA" sz="2400" dirty="0"/>
          </a:p>
        </p:txBody>
      </p:sp>
      <p:sp>
        <p:nvSpPr>
          <p:cNvPr id="13" name="anim-g3-180"/>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181"/>
          <p:cNvSpPr/>
          <p:nvPr/>
        </p:nvSpPr>
        <p:spPr>
          <a:xfrm>
            <a:off x="10573207" y="4222242"/>
            <a:ext cx="566928" cy="566928"/>
          </a:xfrm>
          <a:prstGeom prst="ellipse">
            <a:avLst/>
          </a:prstGeom>
          <a:solidFill>
            <a:srgbClr val="D9AE4B"/>
          </a:solidFill>
          <a:ln/>
        </p:spPr>
      </p:sp>
      <p:sp>
        <p:nvSpPr>
          <p:cNvPr id="15" name="anim-g3-182"/>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183"/>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دالة تقرأ المسافة بالسنتيمتر</a:t>
            </a:r>
            <a:endParaRPr lang="ar-SA" sz="2400" dirty="0"/>
          </a:p>
        </p:txBody>
      </p:sp>
      <p:sp>
        <p:nvSpPr>
          <p:cNvPr id="17" name="anim-g4-184"/>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185"/>
          <p:cNvSpPr/>
          <p:nvPr/>
        </p:nvSpPr>
        <p:spPr>
          <a:xfrm>
            <a:off x="10573207" y="5278374"/>
            <a:ext cx="566928" cy="566928"/>
          </a:xfrm>
          <a:prstGeom prst="ellipse">
            <a:avLst/>
          </a:prstGeom>
          <a:solidFill>
            <a:srgbClr val="D9AE4B"/>
          </a:solidFill>
          <a:ln/>
        </p:spPr>
      </p:sp>
      <p:sp>
        <p:nvSpPr>
          <p:cNvPr id="19" name="anim-g4-186"/>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187"/>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تتأكد من وجود زائر بثلاث قراءات متتالية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١. حساس الاقتراب  ·  ١٨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320479" y="457200"/>
            <a:ext cx="2048256" cy="457200"/>
          </a:xfrm>
          <a:prstGeom prst="roundRect">
            <a:avLst>
              <a:gd name="adj" fmla="val 50000"/>
            </a:avLst>
          </a:prstGeom>
          <a:solidFill>
            <a:srgbClr val="F6EBCF"/>
          </a:solidFill>
          <a:ln/>
        </p:spPr>
      </p:sp>
      <p:sp>
        <p:nvSpPr>
          <p:cNvPr id="3" name="Text 1"/>
          <p:cNvSpPr/>
          <p:nvPr/>
        </p:nvSpPr>
        <p:spPr>
          <a:xfrm>
            <a:off x="9320479" y="457200"/>
            <a:ext cx="204825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كيف يعمل؟</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خفاش إلكتروني: يصرخ… ويسمع الصدى</a:t>
            </a:r>
            <a:endParaRPr lang="ar-SA" sz="3800" dirty="0"/>
          </a:p>
        </p:txBody>
      </p:sp>
      <p:sp>
        <p:nvSpPr>
          <p:cNvPr id="5" name="anim-g1-18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189"/>
          <p:cNvSpPr/>
          <p:nvPr/>
        </p:nvSpPr>
        <p:spPr>
          <a:xfrm>
            <a:off x="10527487" y="2267712"/>
            <a:ext cx="566928" cy="566928"/>
          </a:xfrm>
          <a:prstGeom prst="roundRect">
            <a:avLst>
              <a:gd name="adj" fmla="val 32258"/>
            </a:avLst>
          </a:prstGeom>
          <a:solidFill>
            <a:srgbClr val="F7E6BC"/>
          </a:solidFill>
          <a:ln/>
        </p:spPr>
      </p:sp>
      <p:sp>
        <p:nvSpPr>
          <p:cNvPr id="7" name="anim-g1-19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19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Trig</a:t>
            </a:r>
            <a:endParaRPr lang="ar-SA" sz="2200" dirty="0"/>
          </a:p>
        </p:txBody>
      </p:sp>
      <p:sp>
        <p:nvSpPr>
          <p:cNvPr id="9" name="anim-g1-19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نبضة ١٠ ميكروثانية تجعله يطلق موجة فوق صوتية لا نسمعها</a:t>
            </a:r>
            <a:endParaRPr lang="ar-SA" sz="1900" dirty="0"/>
          </a:p>
        </p:txBody>
      </p:sp>
      <p:sp>
        <p:nvSpPr>
          <p:cNvPr id="10" name="anim-g2-19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194"/>
          <p:cNvSpPr/>
          <p:nvPr/>
        </p:nvSpPr>
        <p:spPr>
          <a:xfrm>
            <a:off x="6920789" y="2267712"/>
            <a:ext cx="566928" cy="566928"/>
          </a:xfrm>
          <a:prstGeom prst="roundRect">
            <a:avLst>
              <a:gd name="adj" fmla="val 32258"/>
            </a:avLst>
          </a:prstGeom>
          <a:solidFill>
            <a:srgbClr val="F7E6BC"/>
          </a:solidFill>
          <a:ln/>
        </p:spPr>
      </p:sp>
      <p:sp>
        <p:nvSpPr>
          <p:cNvPr id="12" name="anim-g2-19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19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Echo</a:t>
            </a:r>
            <a:endParaRPr lang="ar-SA" sz="2200" dirty="0"/>
          </a:p>
        </p:txBody>
      </p:sp>
      <p:sp>
        <p:nvSpPr>
          <p:cNvPr id="14" name="anim-g2-19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يبقى HIGH حتى يعود الصدى: طول النبضة = زمن الذهاب والإياب</a:t>
            </a:r>
            <a:endParaRPr lang="ar-SA" sz="1900" dirty="0"/>
          </a:p>
        </p:txBody>
      </p:sp>
      <p:sp>
        <p:nvSpPr>
          <p:cNvPr id="15" name="anim-g3-19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199"/>
          <p:cNvSpPr/>
          <p:nvPr/>
        </p:nvSpPr>
        <p:spPr>
          <a:xfrm>
            <a:off x="3314090" y="2267712"/>
            <a:ext cx="566928" cy="566928"/>
          </a:xfrm>
          <a:prstGeom prst="roundRect">
            <a:avLst>
              <a:gd name="adj" fmla="val 32258"/>
            </a:avLst>
          </a:prstGeom>
          <a:solidFill>
            <a:srgbClr val="F7E6BC"/>
          </a:solidFill>
          <a:ln/>
        </p:spPr>
      </p:sp>
      <p:sp>
        <p:nvSpPr>
          <p:cNvPr id="17" name="anim-g3-20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0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المسافة</a:t>
            </a:r>
            <a:endParaRPr lang="ar-SA" sz="2200" dirty="0"/>
          </a:p>
        </p:txBody>
      </p:sp>
      <p:sp>
        <p:nvSpPr>
          <p:cNvPr id="19" name="anim-g3-20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الزمن × ٠٫٠٣٤٣ ÷ ٢ = سنتيمتر. نقسم على ٢ لأن الصوت ذهب وعاد</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١. حساس الاقتراب  ·  ١٩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C:\Users\user\projects\younes-training\heritage\.pptx-cache\s20-0.jpg">    </p:cNvPr>
          <p:cNvPicPr>
            <a:picLocks noChangeAspect="1"/>
          </p:cNvPicPr>
          <p:nvPr/>
        </p:nvPicPr>
        <p:blipFill>
          <a:blip r:embed="rId1"/>
          <a:stretch>
            <a:fillRect/>
          </a:stretch>
        </p:blipFill>
        <p:spPr>
          <a:xfrm>
            <a:off x="0" y="0"/>
            <a:ext cx="12191695" cy="6858000"/>
          </a:xfrm>
          <a:prstGeom prst="rect">
            <a:avLst/>
          </a:prstGeom>
        </p:spPr>
      </p:pic>
      <p:pic>
        <p:nvPicPr>
          <p:cNvPr id="3" name="anim-g1-203" descr="C:\Users\user\projects\younes-training\heritage\.pptx-cache\s20-1.jpg">    </p:cNvPr>
          <p:cNvPicPr>
            <a:picLocks noChangeAspect="1"/>
          </p:cNvPicPr>
          <p:nvPr/>
        </p:nvPicPr>
        <p:blipFill>
          <a:blip r:embed="rId2"/>
          <a:stretch>
            <a:fillRect/>
          </a:stretch>
        </p:blipFill>
        <p:spPr>
          <a:xfrm>
            <a:off x="0" y="0"/>
            <a:ext cx="12191695" cy="6858000"/>
          </a:xfrm>
          <a:prstGeom prst="rect">
            <a:avLst/>
          </a:prstGeom>
        </p:spPr>
      </p:pic>
      <p:pic>
        <p:nvPicPr>
          <p:cNvPr id="4" name="anim-g2-204" descr="C:\Users\user\projects\younes-training\heritage\.pptx-cache\s20-2.jpg">    </p:cNvPr>
          <p:cNvPicPr>
            <a:picLocks noChangeAspect="1"/>
          </p:cNvPicPr>
          <p:nvPr/>
        </p:nvPicPr>
        <p:blipFill>
          <a:blip r:embed="rId3"/>
          <a:stretch>
            <a:fillRect/>
          </a:stretch>
        </p:blipFill>
        <p:spPr>
          <a:xfrm>
            <a:off x="0" y="0"/>
            <a:ext cx="12191695" cy="6858000"/>
          </a:xfrm>
          <a:prstGeom prst="rect">
            <a:avLst/>
          </a:prstGeom>
        </p:spPr>
      </p:pic>
      <p:pic>
        <p:nvPicPr>
          <p:cNvPr id="5" name="anim-g3-205" descr="C:\Users\user\projects\younes-training\heritage\.pptx-cache\s20-3.jpg">    </p:cNvPr>
          <p:cNvPicPr>
            <a:picLocks noChangeAspect="1"/>
          </p:cNvPicPr>
          <p:nvPr/>
        </p:nvPicPr>
        <p:blipFill>
          <a:blip r:embed="rId4"/>
          <a:stretch>
            <a:fillRect/>
          </a:stretch>
        </p:blipFill>
        <p:spPr>
          <a:xfrm>
            <a:off x="0" y="0"/>
            <a:ext cx="12191695" cy="6858000"/>
          </a:xfrm>
          <a:prstGeom prst="rect">
            <a:avLst/>
          </a:prstGeom>
        </p:spPr>
      </p:pic>
      <p:pic>
        <p:nvPicPr>
          <p:cNvPr id="6" name="anim-g4-206" descr="C:\Users\user\projects\younes-training\heritage\.pptx-cache\s2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C:\Users\user\projects\younes-training\heritage\.pptx-cache\s21-0.jpg">    </p:cNvPr>
          <p:cNvPicPr>
            <a:picLocks noChangeAspect="1"/>
          </p:cNvPicPr>
          <p:nvPr/>
        </p:nvPicPr>
        <p:blipFill>
          <a:blip r:embed="rId1"/>
          <a:stretch>
            <a:fillRect/>
          </a:stretch>
        </p:blipFill>
        <p:spPr>
          <a:xfrm>
            <a:off x="0" y="0"/>
            <a:ext cx="12191695" cy="6858000"/>
          </a:xfrm>
          <a:prstGeom prst="rect">
            <a:avLst/>
          </a:prstGeom>
        </p:spPr>
      </p:pic>
      <p:pic>
        <p:nvPicPr>
          <p:cNvPr id="3" name="anim-g1-207" descr="C:\Users\user\projects\younes-training\heritage\.pptx-cache\s21-1.jpg">    </p:cNvPr>
          <p:cNvPicPr>
            <a:picLocks noChangeAspect="1"/>
          </p:cNvPicPr>
          <p:nvPr/>
        </p:nvPicPr>
        <p:blipFill>
          <a:blip r:embed="rId2"/>
          <a:stretch>
            <a:fillRect/>
          </a:stretch>
        </p:blipFill>
        <p:spPr>
          <a:xfrm>
            <a:off x="0" y="0"/>
            <a:ext cx="12191695" cy="6858000"/>
          </a:xfrm>
          <a:prstGeom prst="rect">
            <a:avLst/>
          </a:prstGeom>
        </p:spPr>
      </p:pic>
      <p:pic>
        <p:nvPicPr>
          <p:cNvPr id="4" name="anim-g2-208" descr="C:\Users\user\projects\younes-training\heritage\.pptx-cache\s21-2.jpg">    </p:cNvPr>
          <p:cNvPicPr>
            <a:picLocks noChangeAspect="1"/>
          </p:cNvPicPr>
          <p:nvPr/>
        </p:nvPicPr>
        <p:blipFill>
          <a:blip r:embed="rId3"/>
          <a:stretch>
            <a:fillRect/>
          </a:stretch>
        </p:blipFill>
        <p:spPr>
          <a:xfrm>
            <a:off x="0" y="0"/>
            <a:ext cx="12191695" cy="6858000"/>
          </a:xfrm>
          <a:prstGeom prst="rect">
            <a:avLst/>
          </a:prstGeom>
        </p:spPr>
      </p:pic>
      <p:pic>
        <p:nvPicPr>
          <p:cNvPr id="5" name="anim-g3-209" descr="C:\Users\user\projects\younes-training\heritage\.pptx-cache\s21-3.jpg">    </p:cNvPr>
          <p:cNvPicPr>
            <a:picLocks noChangeAspect="1"/>
          </p:cNvPicPr>
          <p:nvPr/>
        </p:nvPicPr>
        <p:blipFill>
          <a:blip r:embed="rId4"/>
          <a:stretch>
            <a:fillRect/>
          </a:stretch>
        </p:blipFill>
        <p:spPr>
          <a:xfrm>
            <a:off x="0" y="0"/>
            <a:ext cx="12191695" cy="6858000"/>
          </a:xfrm>
          <a:prstGeom prst="rect">
            <a:avLst/>
          </a:prstGeom>
        </p:spPr>
      </p:pic>
      <p:pic>
        <p:nvPicPr>
          <p:cNvPr id="6" name="anim-g4-210" descr="C:\Users\user\projects\younes-training\heritage\.pptx-cache\s21-4.jpg">    </p:cNvPr>
          <p:cNvPicPr>
            <a:picLocks noChangeAspect="1"/>
          </p:cNvPicPr>
          <p:nvPr/>
        </p:nvPicPr>
        <p:blipFill>
          <a:blip r:embed="rId5"/>
          <a:stretch>
            <a:fillRect/>
          </a:stretch>
        </p:blipFill>
        <p:spPr>
          <a:xfrm>
            <a:off x="0" y="0"/>
            <a:ext cx="12191695" cy="6858000"/>
          </a:xfrm>
          <a:prstGeom prst="rect">
            <a:avLst/>
          </a:prstGeom>
        </p:spPr>
      </p:pic>
      <p:pic>
        <p:nvPicPr>
          <p:cNvPr id="7" name="anim-g5-211" descr="C:\Users\user\projects\younes-training\heritage\.pptx-cache\s21-5.jpg">    </p:cNvPr>
          <p:cNvPicPr>
            <a:picLocks noChangeAspect="1"/>
          </p:cNvPicPr>
          <p:nvPr/>
        </p:nvPicPr>
        <p:blipFill>
          <a:blip r:embed="rId6"/>
          <a:stretch>
            <a:fillRect/>
          </a:stretch>
        </p:blipFill>
        <p:spPr>
          <a:xfrm>
            <a:off x="0" y="0"/>
            <a:ext cx="12191695" cy="6858000"/>
          </a:xfrm>
          <a:prstGeom prst="rect">
            <a:avLst/>
          </a:prstGeom>
        </p:spPr>
      </p:pic>
      <p:pic>
        <p:nvPicPr>
          <p:cNvPr id="8" name="anim-g6-212" descr="C:\Users\user\projects\younes-training\heritage\.pptx-cache\s21-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C:\Users\user\projects\younes-training\heritage\.pptx-cache\s2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C:\Users\user\projects\younes-training\heritage\.pptx-cache\s23-0.jpg">    </p:cNvPr>
          <p:cNvPicPr>
            <a:picLocks noChangeAspect="1"/>
          </p:cNvPicPr>
          <p:nvPr/>
        </p:nvPicPr>
        <p:blipFill>
          <a:blip r:embed="rId1"/>
          <a:stretch>
            <a:fillRect/>
          </a:stretch>
        </p:blipFill>
        <p:spPr>
          <a:xfrm>
            <a:off x="0" y="0"/>
            <a:ext cx="12191695" cy="6858000"/>
          </a:xfrm>
          <a:prstGeom prst="rect">
            <a:avLst/>
          </a:prstGeom>
        </p:spPr>
      </p:pic>
      <p:pic>
        <p:nvPicPr>
          <p:cNvPr id="3" name="anim-g1-213" descr="C:\Users\user\projects\younes-training\heritage\.pptx-cache\s23-1.jpg">    </p:cNvPr>
          <p:cNvPicPr>
            <a:picLocks noChangeAspect="1"/>
          </p:cNvPicPr>
          <p:nvPr/>
        </p:nvPicPr>
        <p:blipFill>
          <a:blip r:embed="rId2"/>
          <a:stretch>
            <a:fillRect/>
          </a:stretch>
        </p:blipFill>
        <p:spPr>
          <a:xfrm>
            <a:off x="0" y="0"/>
            <a:ext cx="12191695" cy="6858000"/>
          </a:xfrm>
          <a:prstGeom prst="rect">
            <a:avLst/>
          </a:prstGeom>
        </p:spPr>
      </p:pic>
      <p:pic>
        <p:nvPicPr>
          <p:cNvPr id="4" name="anim-g2-214" descr="C:\Users\user\projects\younes-training\heritage\.pptx-cache\s23-2.jpg">    </p:cNvPr>
          <p:cNvPicPr>
            <a:picLocks noChangeAspect="1"/>
          </p:cNvPicPr>
          <p:nvPr/>
        </p:nvPicPr>
        <p:blipFill>
          <a:blip r:embed="rId3"/>
          <a:stretch>
            <a:fillRect/>
          </a:stretch>
        </p:blipFill>
        <p:spPr>
          <a:xfrm>
            <a:off x="0" y="0"/>
            <a:ext cx="12191695" cy="6858000"/>
          </a:xfrm>
          <a:prstGeom prst="rect">
            <a:avLst/>
          </a:prstGeom>
        </p:spPr>
      </p:pic>
      <p:pic>
        <p:nvPicPr>
          <p:cNvPr id="5" name="anim-g3-215" descr="C:\Users\user\projects\younes-training\heritage\.pptx-cache\s23-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C:\Users\user\projects\younes-training\heritage\.pptx-cache\s24-0.jpg">    </p:cNvPr>
          <p:cNvPicPr>
            <a:picLocks noChangeAspect="1"/>
          </p:cNvPicPr>
          <p:nvPr/>
        </p:nvPicPr>
        <p:blipFill>
          <a:blip r:embed="rId1"/>
          <a:stretch>
            <a:fillRect/>
          </a:stretch>
        </p:blipFill>
        <p:spPr>
          <a:xfrm>
            <a:off x="0" y="0"/>
            <a:ext cx="12191695" cy="6858000"/>
          </a:xfrm>
          <a:prstGeom prst="rect">
            <a:avLst/>
          </a:prstGeom>
        </p:spPr>
      </p:pic>
      <p:pic>
        <p:nvPicPr>
          <p:cNvPr id="3" name="anim-g1-216" descr="C:\Users\user\projects\younes-training\heritage\.pptx-cache\s24-1.jpg">    </p:cNvPr>
          <p:cNvPicPr>
            <a:picLocks noChangeAspect="1"/>
          </p:cNvPicPr>
          <p:nvPr/>
        </p:nvPicPr>
        <p:blipFill>
          <a:blip r:embed="rId2"/>
          <a:stretch>
            <a:fillRect/>
          </a:stretch>
        </p:blipFill>
        <p:spPr>
          <a:xfrm>
            <a:off x="0" y="0"/>
            <a:ext cx="12191695" cy="6858000"/>
          </a:xfrm>
          <a:prstGeom prst="rect">
            <a:avLst/>
          </a:prstGeom>
        </p:spPr>
      </p:pic>
      <p:pic>
        <p:nvPicPr>
          <p:cNvPr id="4" name="anim-g2-217" descr="C:\Users\user\projects\younes-training\heritage\.pptx-cache\s24-2.jpg">    </p:cNvPr>
          <p:cNvPicPr>
            <a:picLocks noChangeAspect="1"/>
          </p:cNvPicPr>
          <p:nvPr/>
        </p:nvPicPr>
        <p:blipFill>
          <a:blip r:embed="rId3"/>
          <a:stretch>
            <a:fillRect/>
          </a:stretch>
        </p:blipFill>
        <p:spPr>
          <a:xfrm>
            <a:off x="0" y="0"/>
            <a:ext cx="12191695" cy="6858000"/>
          </a:xfrm>
          <a:prstGeom prst="rect">
            <a:avLst/>
          </a:prstGeom>
        </p:spPr>
      </p:pic>
      <p:pic>
        <p:nvPicPr>
          <p:cNvPr id="5" name="anim-g3-218" descr="C:\Users\user\projects\younes-training\heritage\.pptx-cache\s24-3.jpg">    </p:cNvPr>
          <p:cNvPicPr>
            <a:picLocks noChangeAspect="1"/>
          </p:cNvPicPr>
          <p:nvPr/>
        </p:nvPicPr>
        <p:blipFill>
          <a:blip r:embed="rId4"/>
          <a:stretch>
            <a:fillRect/>
          </a:stretch>
        </p:blipFill>
        <p:spPr>
          <a:xfrm>
            <a:off x="0" y="0"/>
            <a:ext cx="12191695" cy="6858000"/>
          </a:xfrm>
          <a:prstGeom prst="rect">
            <a:avLst/>
          </a:prstGeom>
        </p:spPr>
      </p:pic>
      <p:pic>
        <p:nvPicPr>
          <p:cNvPr id="6" name="anim-g4-219" descr="C:\Users\user\projects\younes-training\heritage\.pptx-cache\s24-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C:\Users\user\projects\younes-training\heritage\.pptx-cache\s2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موجة لا نسمعها، وصدى نقيس زمنه، وثلاث قراءات تؤكد: الروبوت عرف أن طفلًا وصل</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١. حساس الاقتراب  ·  ٢٦</a:t>
            </a:r>
            <a:endParaRPr lang="ar-SA"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المكوّن الثاني: الشاشة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LCD 16×2 بـ I2C وحدها… ثم أول دمج: «مرحبًا» حين يقترب الطفل</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٢. الشاشة + الترحيب  ·  ٢٧</a:t>
            </a:r>
            <a:endParaRPr lang="ar-SA"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220"/>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21"/>
          <p:cNvSpPr/>
          <p:nvPr/>
        </p:nvSpPr>
        <p:spPr>
          <a:xfrm>
            <a:off x="10573207" y="2109978"/>
            <a:ext cx="566928" cy="566928"/>
          </a:xfrm>
          <a:prstGeom prst="ellipse">
            <a:avLst/>
          </a:prstGeom>
          <a:solidFill>
            <a:srgbClr val="D9AE4B"/>
          </a:solidFill>
          <a:ln/>
        </p:spPr>
      </p:sp>
      <p:sp>
        <p:nvSpPr>
          <p:cNvPr id="7" name="anim-g1-222"/>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23"/>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شاشة I2C بسلكين للبيانات</a:t>
            </a:r>
            <a:endParaRPr lang="ar-SA" sz="2400" dirty="0"/>
          </a:p>
        </p:txBody>
      </p:sp>
      <p:sp>
        <p:nvSpPr>
          <p:cNvPr id="9" name="anim-g2-224"/>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25"/>
          <p:cNvSpPr/>
          <p:nvPr/>
        </p:nvSpPr>
        <p:spPr>
          <a:xfrm>
            <a:off x="10573207" y="3166110"/>
            <a:ext cx="566928" cy="566928"/>
          </a:xfrm>
          <a:prstGeom prst="ellipse">
            <a:avLst/>
          </a:prstGeom>
          <a:solidFill>
            <a:srgbClr val="D9AE4B"/>
          </a:solidFill>
          <a:ln/>
        </p:spPr>
      </p:sp>
      <p:sp>
        <p:nvSpPr>
          <p:cNvPr id="11" name="anim-g2-226"/>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27"/>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على السطرين وتمسح وتحدد موضع الكتابة</a:t>
            </a:r>
            <a:endParaRPr lang="ar-SA" sz="2400" dirty="0"/>
          </a:p>
        </p:txBody>
      </p:sp>
      <p:sp>
        <p:nvSpPr>
          <p:cNvPr id="13" name="anim-g3-228"/>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29"/>
          <p:cNvSpPr/>
          <p:nvPr/>
        </p:nvSpPr>
        <p:spPr>
          <a:xfrm>
            <a:off x="10573207" y="4222242"/>
            <a:ext cx="566928" cy="566928"/>
          </a:xfrm>
          <a:prstGeom prst="ellipse">
            <a:avLst/>
          </a:prstGeom>
          <a:solidFill>
            <a:srgbClr val="D9AE4B"/>
          </a:solidFill>
          <a:ln/>
        </p:spPr>
      </p:sp>
      <p:sp>
        <p:nvSpPr>
          <p:cNvPr id="15" name="anim-g3-230"/>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31"/>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تبني مؤقتًا تنازليًا ٠٥:٠٠ بـ millis</a:t>
            </a:r>
            <a:endParaRPr lang="ar-SA" sz="2400" dirty="0"/>
          </a:p>
        </p:txBody>
      </p:sp>
      <p:sp>
        <p:nvSpPr>
          <p:cNvPr id="17" name="anim-g4-232"/>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33"/>
          <p:cNvSpPr/>
          <p:nvPr/>
        </p:nvSpPr>
        <p:spPr>
          <a:xfrm>
            <a:off x="10573207" y="5278374"/>
            <a:ext cx="566928" cy="566928"/>
          </a:xfrm>
          <a:prstGeom prst="ellipse">
            <a:avLst/>
          </a:prstGeom>
          <a:solidFill>
            <a:srgbClr val="D9AE4B"/>
          </a:solidFill>
          <a:ln/>
        </p:spPr>
      </p:sp>
      <p:sp>
        <p:nvSpPr>
          <p:cNvPr id="19" name="anim-g4-234"/>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35"/>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الحساس والشاشة: ترحيب تلقائي</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٢. الشاشة + الترحيب  ·  ٢٨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174175" y="457200"/>
            <a:ext cx="2194560" cy="457200"/>
          </a:xfrm>
          <a:prstGeom prst="roundRect">
            <a:avLst>
              <a:gd name="adj" fmla="val 50000"/>
            </a:avLst>
          </a:prstGeom>
          <a:solidFill>
            <a:srgbClr val="F6EBCF"/>
          </a:solidFill>
          <a:ln/>
        </p:spPr>
      </p:sp>
      <p:sp>
        <p:nvSpPr>
          <p:cNvPr id="3" name="Text 1"/>
          <p:cNvSpPr/>
          <p:nvPr/>
        </p:nvSpPr>
        <p:spPr>
          <a:xfrm>
            <a:off x="9174175" y="457200"/>
            <a:ext cx="219456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I2C؟</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ستة عشر سلكًا… صارت أربعة</a:t>
            </a:r>
            <a:endParaRPr lang="ar-SA" sz="3800" dirty="0"/>
          </a:p>
        </p:txBody>
      </p:sp>
      <p:sp>
        <p:nvSpPr>
          <p:cNvPr id="5" name="anim-g1-236"/>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37"/>
          <p:cNvSpPr/>
          <p:nvPr/>
        </p:nvSpPr>
        <p:spPr>
          <a:xfrm>
            <a:off x="10527487" y="2267712"/>
            <a:ext cx="566928" cy="566928"/>
          </a:xfrm>
          <a:prstGeom prst="roundRect">
            <a:avLst>
              <a:gd name="adj" fmla="val 32258"/>
            </a:avLst>
          </a:prstGeom>
          <a:solidFill>
            <a:srgbClr val="F7E6BC"/>
          </a:solidFill>
          <a:ln/>
        </p:spPr>
      </p:sp>
      <p:sp>
        <p:nvSpPr>
          <p:cNvPr id="7" name="anim-g1-238"/>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39"/>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SDA ← 21</a:t>
            </a:r>
            <a:endParaRPr lang="ar-SA" sz="2200" dirty="0"/>
          </a:p>
        </p:txBody>
      </p:sp>
      <p:sp>
        <p:nvSpPr>
          <p:cNvPr id="9" name="anim-g1-240"/>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خط البيانات</a:t>
            </a:r>
            <a:endParaRPr lang="ar-SA" sz="1900" dirty="0"/>
          </a:p>
        </p:txBody>
      </p:sp>
      <p:sp>
        <p:nvSpPr>
          <p:cNvPr id="10" name="anim-g2-241"/>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42"/>
          <p:cNvSpPr/>
          <p:nvPr/>
        </p:nvSpPr>
        <p:spPr>
          <a:xfrm>
            <a:off x="6920789" y="2267712"/>
            <a:ext cx="566928" cy="566928"/>
          </a:xfrm>
          <a:prstGeom prst="roundRect">
            <a:avLst>
              <a:gd name="adj" fmla="val 32258"/>
            </a:avLst>
          </a:prstGeom>
          <a:solidFill>
            <a:srgbClr val="F7E6BC"/>
          </a:solidFill>
          <a:ln/>
        </p:spPr>
      </p:sp>
      <p:sp>
        <p:nvSpPr>
          <p:cNvPr id="12" name="anim-g2-243"/>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44"/>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SCL ← 22</a:t>
            </a:r>
            <a:endParaRPr lang="ar-SA" sz="2200" dirty="0"/>
          </a:p>
        </p:txBody>
      </p:sp>
      <p:sp>
        <p:nvSpPr>
          <p:cNvPr id="14" name="anim-g2-245"/>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خط الساعة الذي ينظّم الإرسال</a:t>
            </a:r>
            <a:endParaRPr lang="ar-SA" sz="1900" dirty="0"/>
          </a:p>
        </p:txBody>
      </p:sp>
      <p:sp>
        <p:nvSpPr>
          <p:cNvPr id="15" name="anim-g3-246"/>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247"/>
          <p:cNvSpPr/>
          <p:nvPr/>
        </p:nvSpPr>
        <p:spPr>
          <a:xfrm>
            <a:off x="3314090" y="2267712"/>
            <a:ext cx="566928" cy="566928"/>
          </a:xfrm>
          <a:prstGeom prst="roundRect">
            <a:avLst>
              <a:gd name="adj" fmla="val 32258"/>
            </a:avLst>
          </a:prstGeom>
          <a:solidFill>
            <a:srgbClr val="F7E6BC"/>
          </a:solidFill>
          <a:ln/>
        </p:spPr>
      </p:sp>
      <p:sp>
        <p:nvSpPr>
          <p:cNvPr id="17" name="anim-g3-248"/>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249"/>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العنوان 0x27</a:t>
            </a:r>
            <a:endParaRPr lang="ar-SA" sz="2200" dirty="0"/>
          </a:p>
        </p:txBody>
      </p:sp>
      <p:sp>
        <p:nvSpPr>
          <p:cNvPr id="19" name="anim-g3-250"/>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رقم الشاشة على الخط، وأحيانًا 0x3F</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٢. الشاشة + الترحيب  ·  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C:\Users\user\projects\younes-training\heritage\.pptx-cache\s30-0.jpg">    </p:cNvPr>
          <p:cNvPicPr>
            <a:picLocks noChangeAspect="1"/>
          </p:cNvPicPr>
          <p:nvPr/>
        </p:nvPicPr>
        <p:blipFill>
          <a:blip r:embed="rId1"/>
          <a:stretch>
            <a:fillRect/>
          </a:stretch>
        </p:blipFill>
        <p:spPr>
          <a:xfrm>
            <a:off x="0" y="0"/>
            <a:ext cx="12191695" cy="6858000"/>
          </a:xfrm>
          <a:prstGeom prst="rect">
            <a:avLst/>
          </a:prstGeom>
        </p:spPr>
      </p:pic>
      <p:pic>
        <p:nvPicPr>
          <p:cNvPr id="3" name="anim-g1-251" descr="C:\Users\user\projects\younes-training\heritage\.pptx-cache\s30-1.jpg">    </p:cNvPr>
          <p:cNvPicPr>
            <a:picLocks noChangeAspect="1"/>
          </p:cNvPicPr>
          <p:nvPr/>
        </p:nvPicPr>
        <p:blipFill>
          <a:blip r:embed="rId2"/>
          <a:stretch>
            <a:fillRect/>
          </a:stretch>
        </p:blipFill>
        <p:spPr>
          <a:xfrm>
            <a:off x="0" y="0"/>
            <a:ext cx="12191695" cy="6858000"/>
          </a:xfrm>
          <a:prstGeom prst="rect">
            <a:avLst/>
          </a:prstGeom>
        </p:spPr>
      </p:pic>
      <p:pic>
        <p:nvPicPr>
          <p:cNvPr id="4" name="anim-g2-252" descr="C:\Users\user\projects\younes-training\heritage\.pptx-cache\s30-2.jpg">    </p:cNvPr>
          <p:cNvPicPr>
            <a:picLocks noChangeAspect="1"/>
          </p:cNvPicPr>
          <p:nvPr/>
        </p:nvPicPr>
        <p:blipFill>
          <a:blip r:embed="rId3"/>
          <a:stretch>
            <a:fillRect/>
          </a:stretch>
        </p:blipFill>
        <p:spPr>
          <a:xfrm>
            <a:off x="0" y="0"/>
            <a:ext cx="12191695" cy="6858000"/>
          </a:xfrm>
          <a:prstGeom prst="rect">
            <a:avLst/>
          </a:prstGeom>
        </p:spPr>
      </p:pic>
      <p:pic>
        <p:nvPicPr>
          <p:cNvPr id="5" name="anim-g3-253" descr="C:\Users\user\projects\younes-training\heritage\.pptx-cache\s30-3.jpg">    </p:cNvPr>
          <p:cNvPicPr>
            <a:picLocks noChangeAspect="1"/>
          </p:cNvPicPr>
          <p:nvPr/>
        </p:nvPicPr>
        <p:blipFill>
          <a:blip r:embed="rId4"/>
          <a:stretch>
            <a:fillRect/>
          </a:stretch>
        </p:blipFill>
        <p:spPr>
          <a:xfrm>
            <a:off x="0" y="0"/>
            <a:ext cx="12191695" cy="6858000"/>
          </a:xfrm>
          <a:prstGeom prst="rect">
            <a:avLst/>
          </a:prstGeom>
        </p:spPr>
      </p:pic>
      <p:pic>
        <p:nvPicPr>
          <p:cNvPr id="6" name="anim-g4-254" descr="C:\Users\user\projects\younes-training\heritage\.pptx-cache\s3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C:\Users\user\projects\younes-training\heritage\.pptx-cache\s31-0.jpg">    </p:cNvPr>
          <p:cNvPicPr>
            <a:picLocks noChangeAspect="1"/>
          </p:cNvPicPr>
          <p:nvPr/>
        </p:nvPicPr>
        <p:blipFill>
          <a:blip r:embed="rId1"/>
          <a:stretch>
            <a:fillRect/>
          </a:stretch>
        </p:blipFill>
        <p:spPr>
          <a:xfrm>
            <a:off x="0" y="0"/>
            <a:ext cx="12191695" cy="6858000"/>
          </a:xfrm>
          <a:prstGeom prst="rect">
            <a:avLst/>
          </a:prstGeom>
        </p:spPr>
      </p:pic>
      <p:pic>
        <p:nvPicPr>
          <p:cNvPr id="3" name="anim-g1-255" descr="C:\Users\user\projects\younes-training\heritage\.pptx-cache\s31-1.jpg">    </p:cNvPr>
          <p:cNvPicPr>
            <a:picLocks noChangeAspect="1"/>
          </p:cNvPicPr>
          <p:nvPr/>
        </p:nvPicPr>
        <p:blipFill>
          <a:blip r:embed="rId2"/>
          <a:stretch>
            <a:fillRect/>
          </a:stretch>
        </p:blipFill>
        <p:spPr>
          <a:xfrm>
            <a:off x="0" y="0"/>
            <a:ext cx="12191695" cy="6858000"/>
          </a:xfrm>
          <a:prstGeom prst="rect">
            <a:avLst/>
          </a:prstGeom>
        </p:spPr>
      </p:pic>
      <p:pic>
        <p:nvPicPr>
          <p:cNvPr id="4" name="anim-g2-256" descr="C:\Users\user\projects\younes-training\heritage\.pptx-cache\s31-2.jpg">    </p:cNvPr>
          <p:cNvPicPr>
            <a:picLocks noChangeAspect="1"/>
          </p:cNvPicPr>
          <p:nvPr/>
        </p:nvPicPr>
        <p:blipFill>
          <a:blip r:embed="rId3"/>
          <a:stretch>
            <a:fillRect/>
          </a:stretch>
        </p:blipFill>
        <p:spPr>
          <a:xfrm>
            <a:off x="0" y="0"/>
            <a:ext cx="12191695" cy="6858000"/>
          </a:xfrm>
          <a:prstGeom prst="rect">
            <a:avLst/>
          </a:prstGeom>
        </p:spPr>
      </p:pic>
      <p:pic>
        <p:nvPicPr>
          <p:cNvPr id="5" name="anim-g3-257" descr="C:\Users\user\projects\younes-training\heritage\.pptx-cache\s31-3.jpg">    </p:cNvPr>
          <p:cNvPicPr>
            <a:picLocks noChangeAspect="1"/>
          </p:cNvPicPr>
          <p:nvPr/>
        </p:nvPicPr>
        <p:blipFill>
          <a:blip r:embed="rId4"/>
          <a:stretch>
            <a:fillRect/>
          </a:stretch>
        </p:blipFill>
        <p:spPr>
          <a:xfrm>
            <a:off x="0" y="0"/>
            <a:ext cx="12191695" cy="6858000"/>
          </a:xfrm>
          <a:prstGeom prst="rect">
            <a:avLst/>
          </a:prstGeom>
        </p:spPr>
      </p:pic>
      <p:pic>
        <p:nvPicPr>
          <p:cNvPr id="6" name="anim-g4-258" descr="C:\Users\user\projects\younes-training\heritage\.pptx-cache\s31-4.jpg">    </p:cNvPr>
          <p:cNvPicPr>
            <a:picLocks noChangeAspect="1"/>
          </p:cNvPicPr>
          <p:nvPr/>
        </p:nvPicPr>
        <p:blipFill>
          <a:blip r:embed="rId5"/>
          <a:stretch>
            <a:fillRect/>
          </a:stretch>
        </p:blipFill>
        <p:spPr>
          <a:xfrm>
            <a:off x="0" y="0"/>
            <a:ext cx="12191695" cy="6858000"/>
          </a:xfrm>
          <a:prstGeom prst="rect">
            <a:avLst/>
          </a:prstGeom>
        </p:spPr>
      </p:pic>
      <p:pic>
        <p:nvPicPr>
          <p:cNvPr id="7" name="anim-g5-259" descr="C:\Users\user\projects\younes-training\heritage\.pptx-cache\s31-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C:\Users\user\projects\younes-training\heritage\.pptx-cache\s32-0.jpg">    </p:cNvPr>
          <p:cNvPicPr>
            <a:picLocks noChangeAspect="1"/>
          </p:cNvPicPr>
          <p:nvPr/>
        </p:nvPicPr>
        <p:blipFill>
          <a:blip r:embed="rId1"/>
          <a:stretch>
            <a:fillRect/>
          </a:stretch>
        </p:blipFill>
        <p:spPr>
          <a:xfrm>
            <a:off x="0" y="0"/>
            <a:ext cx="12191695" cy="6858000"/>
          </a:xfrm>
          <a:prstGeom prst="rect">
            <a:avLst/>
          </a:prstGeom>
        </p:spPr>
      </p:pic>
      <p:pic>
        <p:nvPicPr>
          <p:cNvPr id="3" name="anim-g1-260" descr="C:\Users\user\projects\younes-training\heritage\.pptx-cache\s32-1.jpg">    </p:cNvPr>
          <p:cNvPicPr>
            <a:picLocks noChangeAspect="1"/>
          </p:cNvPicPr>
          <p:nvPr/>
        </p:nvPicPr>
        <p:blipFill>
          <a:blip r:embed="rId2"/>
          <a:stretch>
            <a:fillRect/>
          </a:stretch>
        </p:blipFill>
        <p:spPr>
          <a:xfrm>
            <a:off x="0" y="0"/>
            <a:ext cx="12191695" cy="6858000"/>
          </a:xfrm>
          <a:prstGeom prst="rect">
            <a:avLst/>
          </a:prstGeom>
        </p:spPr>
      </p:pic>
      <p:pic>
        <p:nvPicPr>
          <p:cNvPr id="4" name="anim-g2-261" descr="C:\Users\user\projects\younes-training\heritage\.pptx-cache\s32-2.jpg">    </p:cNvPr>
          <p:cNvPicPr>
            <a:picLocks noChangeAspect="1"/>
          </p:cNvPicPr>
          <p:nvPr/>
        </p:nvPicPr>
        <p:blipFill>
          <a:blip r:embed="rId3"/>
          <a:stretch>
            <a:fillRect/>
          </a:stretch>
        </p:blipFill>
        <p:spPr>
          <a:xfrm>
            <a:off x="0" y="0"/>
            <a:ext cx="12191695" cy="6858000"/>
          </a:xfrm>
          <a:prstGeom prst="rect">
            <a:avLst/>
          </a:prstGeom>
        </p:spPr>
      </p:pic>
      <p:pic>
        <p:nvPicPr>
          <p:cNvPr id="5" name="anim-g3-262" descr="C:\Users\user\projects\younes-training\heritage\.pptx-cache\s32-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C:\Users\user\projects\younes-training\heritage\.pptx-cache\s33-0.jpg">    </p:cNvPr>
          <p:cNvPicPr>
            <a:picLocks noChangeAspect="1"/>
          </p:cNvPicPr>
          <p:nvPr/>
        </p:nvPicPr>
        <p:blipFill>
          <a:blip r:embed="rId1"/>
          <a:stretch>
            <a:fillRect/>
          </a:stretch>
        </p:blipFill>
        <p:spPr>
          <a:xfrm>
            <a:off x="0" y="0"/>
            <a:ext cx="12191695" cy="6858000"/>
          </a:xfrm>
          <a:prstGeom prst="rect">
            <a:avLst/>
          </a:prstGeom>
        </p:spPr>
      </p:pic>
      <p:pic>
        <p:nvPicPr>
          <p:cNvPr id="3" name="anim-g1-263" descr="C:\Users\user\projects\younes-training\heritage\.pptx-cache\s33-1.jpg">    </p:cNvPr>
          <p:cNvPicPr>
            <a:picLocks noChangeAspect="1"/>
          </p:cNvPicPr>
          <p:nvPr/>
        </p:nvPicPr>
        <p:blipFill>
          <a:blip r:embed="rId2"/>
          <a:stretch>
            <a:fillRect/>
          </a:stretch>
        </p:blipFill>
        <p:spPr>
          <a:xfrm>
            <a:off x="0" y="0"/>
            <a:ext cx="12191695" cy="6858000"/>
          </a:xfrm>
          <a:prstGeom prst="rect">
            <a:avLst/>
          </a:prstGeom>
        </p:spPr>
      </p:pic>
      <p:pic>
        <p:nvPicPr>
          <p:cNvPr id="4" name="anim-g2-264" descr="C:\Users\user\projects\younes-training\heritage\.pptx-cache\s33-2.jpg">    </p:cNvPr>
          <p:cNvPicPr>
            <a:picLocks noChangeAspect="1"/>
          </p:cNvPicPr>
          <p:nvPr/>
        </p:nvPicPr>
        <p:blipFill>
          <a:blip r:embed="rId3"/>
          <a:stretch>
            <a:fillRect/>
          </a:stretch>
        </p:blipFill>
        <p:spPr>
          <a:xfrm>
            <a:off x="0" y="0"/>
            <a:ext cx="12191695" cy="6858000"/>
          </a:xfrm>
          <a:prstGeom prst="rect">
            <a:avLst/>
          </a:prstGeom>
        </p:spPr>
      </p:pic>
      <p:pic>
        <p:nvPicPr>
          <p:cNvPr id="5" name="anim-g3-265" descr="C:\Users\user\projects\younes-training\heritage\.pptx-cache\s33-3.jpg">    </p:cNvPr>
          <p:cNvPicPr>
            <a:picLocks noChangeAspect="1"/>
          </p:cNvPicPr>
          <p:nvPr/>
        </p:nvPicPr>
        <p:blipFill>
          <a:blip r:embed="rId4"/>
          <a:stretch>
            <a:fillRect/>
          </a:stretch>
        </p:blipFill>
        <p:spPr>
          <a:xfrm>
            <a:off x="0" y="0"/>
            <a:ext cx="12191695" cy="6858000"/>
          </a:xfrm>
          <a:prstGeom prst="rect">
            <a:avLst/>
          </a:prstGeom>
        </p:spPr>
      </p:pic>
      <p:pic>
        <p:nvPicPr>
          <p:cNvPr id="6" name="anim-g4-266" descr="C:\Users\user\projects\younes-training\heritage\.pptx-cache\s33-4.jpg">    </p:cNvPr>
          <p:cNvPicPr>
            <a:picLocks noChangeAspect="1"/>
          </p:cNvPicPr>
          <p:nvPr/>
        </p:nvPicPr>
        <p:blipFill>
          <a:blip r:embed="rId5"/>
          <a:stretch>
            <a:fillRect/>
          </a:stretch>
        </p:blipFill>
        <p:spPr>
          <a:xfrm>
            <a:off x="0" y="0"/>
            <a:ext cx="12191695" cy="6858000"/>
          </a:xfrm>
          <a:prstGeom prst="rect">
            <a:avLst/>
          </a:prstGeom>
        </p:spPr>
      </p:pic>
      <p:pic>
        <p:nvPicPr>
          <p:cNvPr id="7" name="anim-g5-267" descr="C:\Users\user\projects\younes-training\heritage\.pptx-cache\s33-5.jpg">    </p:cNvPr>
          <p:cNvPicPr>
            <a:picLocks noChangeAspect="1"/>
          </p:cNvPicPr>
          <p:nvPr/>
        </p:nvPicPr>
        <p:blipFill>
          <a:blip r:embed="rId6"/>
          <a:stretch>
            <a:fillRect/>
          </a:stretch>
        </p:blipFill>
        <p:spPr>
          <a:xfrm>
            <a:off x="0" y="0"/>
            <a:ext cx="12191695" cy="6858000"/>
          </a:xfrm>
          <a:prstGeom prst="rect">
            <a:avLst/>
          </a:prstGeom>
        </p:spPr>
      </p:pic>
      <p:pic>
        <p:nvPicPr>
          <p:cNvPr id="8" name="anim-g6-268" descr="C:\Users\user\projects\younes-training\heritage\.pptx-cache\s33-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C:\Users\user\projects\younes-training\heritage\.pptx-cache\s34-0.jpg">    </p:cNvPr>
          <p:cNvPicPr>
            <a:picLocks noChangeAspect="1"/>
          </p:cNvPicPr>
          <p:nvPr/>
        </p:nvPicPr>
        <p:blipFill>
          <a:blip r:embed="rId1"/>
          <a:stretch>
            <a:fillRect/>
          </a:stretch>
        </p:blipFill>
        <p:spPr>
          <a:xfrm>
            <a:off x="0" y="0"/>
            <a:ext cx="12191695" cy="6858000"/>
          </a:xfrm>
          <a:prstGeom prst="rect">
            <a:avLst/>
          </a:prstGeom>
        </p:spPr>
      </p:pic>
      <p:pic>
        <p:nvPicPr>
          <p:cNvPr id="3" name="anim-g1-269" descr="C:\Users\user\projects\younes-training\heritage\.pptx-cache\s34-1.jpg">    </p:cNvPr>
          <p:cNvPicPr>
            <a:picLocks noChangeAspect="1"/>
          </p:cNvPicPr>
          <p:nvPr/>
        </p:nvPicPr>
        <p:blipFill>
          <a:blip r:embed="rId2"/>
          <a:stretch>
            <a:fillRect/>
          </a:stretch>
        </p:blipFill>
        <p:spPr>
          <a:xfrm>
            <a:off x="0" y="0"/>
            <a:ext cx="12191695" cy="6858000"/>
          </a:xfrm>
          <a:prstGeom prst="rect">
            <a:avLst/>
          </a:prstGeom>
        </p:spPr>
      </p:pic>
      <p:pic>
        <p:nvPicPr>
          <p:cNvPr id="4" name="anim-g2-270" descr="C:\Users\user\projects\younes-training\heritage\.pptx-cache\s34-2.jpg">    </p:cNvPr>
          <p:cNvPicPr>
            <a:picLocks noChangeAspect="1"/>
          </p:cNvPicPr>
          <p:nvPr/>
        </p:nvPicPr>
        <p:blipFill>
          <a:blip r:embed="rId3"/>
          <a:stretch>
            <a:fillRect/>
          </a:stretch>
        </p:blipFill>
        <p:spPr>
          <a:xfrm>
            <a:off x="0" y="0"/>
            <a:ext cx="12191695" cy="6858000"/>
          </a:xfrm>
          <a:prstGeom prst="rect">
            <a:avLst/>
          </a:prstGeom>
        </p:spPr>
      </p:pic>
      <p:pic>
        <p:nvPicPr>
          <p:cNvPr id="5" name="anim-g3-271" descr="C:\Users\user\projects\younes-training\heritage\.pptx-cache\s34-3.jpg">    </p:cNvPr>
          <p:cNvPicPr>
            <a:picLocks noChangeAspect="1"/>
          </p:cNvPicPr>
          <p:nvPr/>
        </p:nvPicPr>
        <p:blipFill>
          <a:blip r:embed="rId4"/>
          <a:stretch>
            <a:fillRect/>
          </a:stretch>
        </p:blipFill>
        <p:spPr>
          <a:xfrm>
            <a:off x="0" y="0"/>
            <a:ext cx="12191695" cy="6858000"/>
          </a:xfrm>
          <a:prstGeom prst="rect">
            <a:avLst/>
          </a:prstGeom>
        </p:spPr>
      </p:pic>
      <p:pic>
        <p:nvPicPr>
          <p:cNvPr id="6" name="anim-g4-272" descr="C:\Users\user\projects\younes-training\heritage\.pptx-cache\s34-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مكوّنان نجحا وحدهما…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فنجحا معًا: طفل يقترب، فتقول له الشاشة «مرحبًا» ويبدأ المؤقت</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٢. الشاشة + الترحيب  ·  ٣٥</a:t>
            </a:r>
            <a:endParaRPr lang="ar-SA"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المكوّن الثالث: الأزرار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أربعة للمحطات واثنان للإجابة… ثم يختار الطفل محطته</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٣. الأزرار + الاختيار  ·  ٣٦</a:t>
            </a:r>
            <a:endParaRPr lang="ar-SA"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273"/>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274"/>
          <p:cNvSpPr/>
          <p:nvPr/>
        </p:nvSpPr>
        <p:spPr>
          <a:xfrm>
            <a:off x="10573207" y="2109978"/>
            <a:ext cx="566928" cy="566928"/>
          </a:xfrm>
          <a:prstGeom prst="ellipse">
            <a:avLst/>
          </a:prstGeom>
          <a:solidFill>
            <a:srgbClr val="D9AE4B"/>
          </a:solidFill>
          <a:ln/>
        </p:spPr>
      </p:sp>
      <p:sp>
        <p:nvSpPr>
          <p:cNvPr id="7" name="anim-g1-275"/>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276"/>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الأزرار بـ INPUT_PULLUP</a:t>
            </a:r>
            <a:endParaRPr lang="ar-SA" sz="2400" dirty="0"/>
          </a:p>
        </p:txBody>
      </p:sp>
      <p:sp>
        <p:nvSpPr>
          <p:cNvPr id="9" name="anim-g2-277"/>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278"/>
          <p:cNvSpPr/>
          <p:nvPr/>
        </p:nvSpPr>
        <p:spPr>
          <a:xfrm>
            <a:off x="10573207" y="3166110"/>
            <a:ext cx="566928" cy="566928"/>
          </a:xfrm>
          <a:prstGeom prst="ellipse">
            <a:avLst/>
          </a:prstGeom>
          <a:solidFill>
            <a:srgbClr val="D9AE4B"/>
          </a:solidFill>
          <a:ln/>
        </p:spPr>
      </p:sp>
      <p:sp>
        <p:nvSpPr>
          <p:cNvPr id="11" name="anim-g2-279"/>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280"/>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تحل مشكلة الأطراف ٣٥ و٣٦ و٣٩ بمقاومة خارجية</a:t>
            </a:r>
            <a:endParaRPr lang="ar-SA" sz="2400" dirty="0"/>
          </a:p>
        </p:txBody>
      </p:sp>
      <p:sp>
        <p:nvSpPr>
          <p:cNvPr id="13" name="anim-g3-281"/>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282"/>
          <p:cNvSpPr/>
          <p:nvPr/>
        </p:nvSpPr>
        <p:spPr>
          <a:xfrm>
            <a:off x="10573207" y="4222242"/>
            <a:ext cx="566928" cy="566928"/>
          </a:xfrm>
          <a:prstGeom prst="ellipse">
            <a:avLst/>
          </a:prstGeom>
          <a:solidFill>
            <a:srgbClr val="D9AE4B"/>
          </a:solidFill>
          <a:ln/>
        </p:spPr>
      </p:sp>
      <p:sp>
        <p:nvSpPr>
          <p:cNvPr id="15" name="anim-g3-283"/>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284"/>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تزيل ارتداد الزر</a:t>
            </a:r>
            <a:endParaRPr lang="ar-SA" sz="2400" dirty="0"/>
          </a:p>
        </p:txBody>
      </p:sp>
      <p:sp>
        <p:nvSpPr>
          <p:cNvPr id="17" name="anim-g4-285"/>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286"/>
          <p:cNvSpPr/>
          <p:nvPr/>
        </p:nvSpPr>
        <p:spPr>
          <a:xfrm>
            <a:off x="10573207" y="5278374"/>
            <a:ext cx="566928" cy="566928"/>
          </a:xfrm>
          <a:prstGeom prst="ellipse">
            <a:avLst/>
          </a:prstGeom>
          <a:solidFill>
            <a:srgbClr val="D9AE4B"/>
          </a:solidFill>
          <a:ln/>
        </p:spPr>
      </p:sp>
      <p:sp>
        <p:nvSpPr>
          <p:cNvPr id="19" name="anim-g4-287"/>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288"/>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الطفل يضغط فتعرض الشاشة اسم المحطة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٣. الأزرار + الاختيار  ·  ٣٧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905695" y="457200"/>
            <a:ext cx="1463040" cy="457200"/>
          </a:xfrm>
          <a:prstGeom prst="roundRect">
            <a:avLst>
              <a:gd name="adj" fmla="val 50000"/>
            </a:avLst>
          </a:prstGeom>
          <a:solidFill>
            <a:srgbClr val="F6EBCF"/>
          </a:solidFill>
          <a:ln/>
        </p:spPr>
      </p:sp>
      <p:sp>
        <p:nvSpPr>
          <p:cNvPr id="3" name="Text 1"/>
          <p:cNvSpPr/>
          <p:nvPr/>
        </p:nvSpPr>
        <p:spPr>
          <a:xfrm>
            <a:off x="9905695" y="457200"/>
            <a:ext cx="14630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فخّان</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لماذا يضغط الزر نفسه… أحيانًا؟</a:t>
            </a:r>
            <a:endParaRPr lang="ar-SA" sz="3800" dirty="0"/>
          </a:p>
        </p:txBody>
      </p:sp>
      <p:sp>
        <p:nvSpPr>
          <p:cNvPr id="5" name="anim-g1-289"/>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290"/>
          <p:cNvSpPr/>
          <p:nvPr/>
        </p:nvSpPr>
        <p:spPr>
          <a:xfrm>
            <a:off x="10527487" y="2267712"/>
            <a:ext cx="566928" cy="566928"/>
          </a:xfrm>
          <a:prstGeom prst="roundRect">
            <a:avLst>
              <a:gd name="adj" fmla="val 32258"/>
            </a:avLst>
          </a:prstGeom>
          <a:solidFill>
            <a:srgbClr val="F7E6BC"/>
          </a:solidFill>
          <a:ln/>
        </p:spPr>
      </p:sp>
      <p:sp>
        <p:nvSpPr>
          <p:cNvPr id="7" name="anim-g1-291"/>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292"/>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الطرف العائم</a:t>
            </a:r>
            <a:endParaRPr lang="ar-SA" sz="2200" dirty="0"/>
          </a:p>
        </p:txBody>
      </p:sp>
      <p:sp>
        <p:nvSpPr>
          <p:cNvPr id="9" name="anim-g1-293"/>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طرف غير موصول بشيء يلتقط الضجيج فيقرأ LOW وHIGH عشوائيًا. الحل: مقاومة سحب تثبّته على HIGH</a:t>
            </a:r>
            <a:endParaRPr lang="ar-SA" sz="1900" dirty="0"/>
          </a:p>
        </p:txBody>
      </p:sp>
      <p:sp>
        <p:nvSpPr>
          <p:cNvPr id="10" name="anim-g2-294"/>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295"/>
          <p:cNvSpPr/>
          <p:nvPr/>
        </p:nvSpPr>
        <p:spPr>
          <a:xfrm>
            <a:off x="5117440" y="2267712"/>
            <a:ext cx="566928" cy="566928"/>
          </a:xfrm>
          <a:prstGeom prst="roundRect">
            <a:avLst>
              <a:gd name="adj" fmla="val 32258"/>
            </a:avLst>
          </a:prstGeom>
          <a:solidFill>
            <a:srgbClr val="F7E6BC"/>
          </a:solidFill>
          <a:ln/>
        </p:spPr>
      </p:sp>
      <p:sp>
        <p:nvSpPr>
          <p:cNvPr id="12" name="anim-g2-296"/>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297"/>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الارتداد</a:t>
            </a:r>
            <a:endParaRPr lang="ar-SA" sz="2200" dirty="0"/>
          </a:p>
        </p:txBody>
      </p:sp>
      <p:sp>
        <p:nvSpPr>
          <p:cNvPr id="14" name="anim-g2-298"/>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تلامس المعدن يهتز أجزاء من الثانية: ضغطة واحدة تُقرأ مرتين أو ثلاثًا. الحل: ننتظر ٢٠ مللي ثانية ونتأكد</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٣. الأزرار + الاختيار  ·  ٣٨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C:\Users\user\projects\younes-training\heritage\.pptx-cache\s39-0.jpg">    </p:cNvPr>
          <p:cNvPicPr>
            <a:picLocks noChangeAspect="1"/>
          </p:cNvPicPr>
          <p:nvPr/>
        </p:nvPicPr>
        <p:blipFill>
          <a:blip r:embed="rId1"/>
          <a:stretch>
            <a:fillRect/>
          </a:stretch>
        </p:blipFill>
        <p:spPr>
          <a:xfrm>
            <a:off x="0" y="0"/>
            <a:ext cx="12191695" cy="6858000"/>
          </a:xfrm>
          <a:prstGeom prst="rect">
            <a:avLst/>
          </a:prstGeom>
        </p:spPr>
      </p:pic>
      <p:pic>
        <p:nvPicPr>
          <p:cNvPr id="3" name="anim-g1-299" descr="C:\Users\user\projects\younes-training\heritage\.pptx-cache\s39-1.jpg">    </p:cNvPr>
          <p:cNvPicPr>
            <a:picLocks noChangeAspect="1"/>
          </p:cNvPicPr>
          <p:nvPr/>
        </p:nvPicPr>
        <p:blipFill>
          <a:blip r:embed="rId2"/>
          <a:stretch>
            <a:fillRect/>
          </a:stretch>
        </p:blipFill>
        <p:spPr>
          <a:xfrm>
            <a:off x="0" y="0"/>
            <a:ext cx="12191695" cy="6858000"/>
          </a:xfrm>
          <a:prstGeom prst="rect">
            <a:avLst/>
          </a:prstGeom>
        </p:spPr>
      </p:pic>
      <p:pic>
        <p:nvPicPr>
          <p:cNvPr id="4" name="anim-g2-300" descr="C:\Users\user\projects\younes-training\heritage\.pptx-cache\s39-2.jpg">    </p:cNvPr>
          <p:cNvPicPr>
            <a:picLocks noChangeAspect="1"/>
          </p:cNvPicPr>
          <p:nvPr/>
        </p:nvPicPr>
        <p:blipFill>
          <a:blip r:embed="rId3"/>
          <a:stretch>
            <a:fillRect/>
          </a:stretch>
        </p:blipFill>
        <p:spPr>
          <a:xfrm>
            <a:off x="0" y="0"/>
            <a:ext cx="12191695" cy="6858000"/>
          </a:xfrm>
          <a:prstGeom prst="rect">
            <a:avLst/>
          </a:prstGeom>
        </p:spPr>
      </p:pic>
      <p:pic>
        <p:nvPicPr>
          <p:cNvPr id="5" name="anim-g3-301" descr="C:\Users\user\projects\younes-training\heritage\.pptx-cache\s39-3.jpg">    </p:cNvPr>
          <p:cNvPicPr>
            <a:picLocks noChangeAspect="1"/>
          </p:cNvPicPr>
          <p:nvPr/>
        </p:nvPicPr>
        <p:blipFill>
          <a:blip r:embed="rId4"/>
          <a:stretch>
            <a:fillRect/>
          </a:stretch>
        </p:blipFill>
        <p:spPr>
          <a:xfrm>
            <a:off x="0" y="0"/>
            <a:ext cx="12191695" cy="6858000"/>
          </a:xfrm>
          <a:prstGeom prst="rect">
            <a:avLst/>
          </a:prstGeom>
        </p:spPr>
      </p:pic>
      <p:pic>
        <p:nvPicPr>
          <p:cNvPr id="6" name="anim-g4-302" descr="C:\Users\user\projects\younes-training\heritage\.pptx-cache\s39-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C:\Users\user\projects\younes-training\heritage\.pptx-cache\s4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C:\Users\user\projects\younes-training\heritage\.pptx-cache\s41-0.jpg">    </p:cNvPr>
          <p:cNvPicPr>
            <a:picLocks noChangeAspect="1"/>
          </p:cNvPicPr>
          <p:nvPr/>
        </p:nvPicPr>
        <p:blipFill>
          <a:blip r:embed="rId1"/>
          <a:stretch>
            <a:fillRect/>
          </a:stretch>
        </p:blipFill>
        <p:spPr>
          <a:xfrm>
            <a:off x="0" y="0"/>
            <a:ext cx="12191695" cy="6858000"/>
          </a:xfrm>
          <a:prstGeom prst="rect">
            <a:avLst/>
          </a:prstGeom>
        </p:spPr>
      </p:pic>
      <p:pic>
        <p:nvPicPr>
          <p:cNvPr id="3" name="anim-g1-303" descr="C:\Users\user\projects\younes-training\heritage\.pptx-cache\s41-1.jpg">    </p:cNvPr>
          <p:cNvPicPr>
            <a:picLocks noChangeAspect="1"/>
          </p:cNvPicPr>
          <p:nvPr/>
        </p:nvPicPr>
        <p:blipFill>
          <a:blip r:embed="rId2"/>
          <a:stretch>
            <a:fillRect/>
          </a:stretch>
        </p:blipFill>
        <p:spPr>
          <a:xfrm>
            <a:off x="0" y="0"/>
            <a:ext cx="12191695" cy="6858000"/>
          </a:xfrm>
          <a:prstGeom prst="rect">
            <a:avLst/>
          </a:prstGeom>
        </p:spPr>
      </p:pic>
      <p:pic>
        <p:nvPicPr>
          <p:cNvPr id="4" name="anim-g2-304" descr="C:\Users\user\projects\younes-training\heritage\.pptx-cache\s41-2.jpg">    </p:cNvPr>
          <p:cNvPicPr>
            <a:picLocks noChangeAspect="1"/>
          </p:cNvPicPr>
          <p:nvPr/>
        </p:nvPicPr>
        <p:blipFill>
          <a:blip r:embed="rId3"/>
          <a:stretch>
            <a:fillRect/>
          </a:stretch>
        </p:blipFill>
        <p:spPr>
          <a:xfrm>
            <a:off x="0" y="0"/>
            <a:ext cx="12191695" cy="6858000"/>
          </a:xfrm>
          <a:prstGeom prst="rect">
            <a:avLst/>
          </a:prstGeom>
        </p:spPr>
      </p:pic>
      <p:pic>
        <p:nvPicPr>
          <p:cNvPr id="5" name="anim-g3-305" descr="C:\Users\user\projects\younes-training\heritage\.pptx-cache\s41-3.jpg">    </p:cNvPr>
          <p:cNvPicPr>
            <a:picLocks noChangeAspect="1"/>
          </p:cNvPicPr>
          <p:nvPr/>
        </p:nvPicPr>
        <p:blipFill>
          <a:blip r:embed="rId4"/>
          <a:stretch>
            <a:fillRect/>
          </a:stretch>
        </p:blipFill>
        <p:spPr>
          <a:xfrm>
            <a:off x="0" y="0"/>
            <a:ext cx="12191695" cy="6858000"/>
          </a:xfrm>
          <a:prstGeom prst="rect">
            <a:avLst/>
          </a:prstGeom>
        </p:spPr>
      </p:pic>
      <p:pic>
        <p:nvPicPr>
          <p:cNvPr id="6" name="anim-g4-306" descr="C:\Users\user\projects\younes-training\heritage\.pptx-cache\s41-4.jpg">    </p:cNvPr>
          <p:cNvPicPr>
            <a:picLocks noChangeAspect="1"/>
          </p:cNvPicPr>
          <p:nvPr/>
        </p:nvPicPr>
        <p:blipFill>
          <a:blip r:embed="rId5"/>
          <a:stretch>
            <a:fillRect/>
          </a:stretch>
        </p:blipFill>
        <p:spPr>
          <a:xfrm>
            <a:off x="0" y="0"/>
            <a:ext cx="12191695" cy="6858000"/>
          </a:xfrm>
          <a:prstGeom prst="rect">
            <a:avLst/>
          </a:prstGeom>
        </p:spPr>
      </p:pic>
      <p:pic>
        <p:nvPicPr>
          <p:cNvPr id="7" name="anim-g5-307" descr="C:\Users\user\projects\younes-training\heritage\.pptx-cache\s41-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C:\Users\user\projects\younes-training\heritage\.pptx-cache\s42-0.jpg">    </p:cNvPr>
          <p:cNvPicPr>
            <a:picLocks noChangeAspect="1"/>
          </p:cNvPicPr>
          <p:nvPr/>
        </p:nvPicPr>
        <p:blipFill>
          <a:blip r:embed="rId1"/>
          <a:stretch>
            <a:fillRect/>
          </a:stretch>
        </p:blipFill>
        <p:spPr>
          <a:xfrm>
            <a:off x="0" y="0"/>
            <a:ext cx="12191695" cy="6858000"/>
          </a:xfrm>
          <a:prstGeom prst="rect">
            <a:avLst/>
          </a:prstGeom>
        </p:spPr>
      </p:pic>
      <p:pic>
        <p:nvPicPr>
          <p:cNvPr id="3" name="anim-g1-308" descr="C:\Users\user\projects\younes-training\heritage\.pptx-cache\s42-1.jpg">    </p:cNvPr>
          <p:cNvPicPr>
            <a:picLocks noChangeAspect="1"/>
          </p:cNvPicPr>
          <p:nvPr/>
        </p:nvPicPr>
        <p:blipFill>
          <a:blip r:embed="rId2"/>
          <a:stretch>
            <a:fillRect/>
          </a:stretch>
        </p:blipFill>
        <p:spPr>
          <a:xfrm>
            <a:off x="0" y="0"/>
            <a:ext cx="12191695" cy="6858000"/>
          </a:xfrm>
          <a:prstGeom prst="rect">
            <a:avLst/>
          </a:prstGeom>
        </p:spPr>
      </p:pic>
      <p:pic>
        <p:nvPicPr>
          <p:cNvPr id="4" name="anim-g2-309" descr="C:\Users\user\projects\younes-training\heritage\.pptx-cache\s42-2.jpg">    </p:cNvPr>
          <p:cNvPicPr>
            <a:picLocks noChangeAspect="1"/>
          </p:cNvPicPr>
          <p:nvPr/>
        </p:nvPicPr>
        <p:blipFill>
          <a:blip r:embed="rId3"/>
          <a:stretch>
            <a:fillRect/>
          </a:stretch>
        </p:blipFill>
        <p:spPr>
          <a:xfrm>
            <a:off x="0" y="0"/>
            <a:ext cx="12191695" cy="6858000"/>
          </a:xfrm>
          <a:prstGeom prst="rect">
            <a:avLst/>
          </a:prstGeom>
        </p:spPr>
      </p:pic>
      <p:pic>
        <p:nvPicPr>
          <p:cNvPr id="5" name="anim-g3-310" descr="C:\Users\user\projects\younes-training\heritage\.pptx-cache\s42-3.jpg">    </p:cNvPr>
          <p:cNvPicPr>
            <a:picLocks noChangeAspect="1"/>
          </p:cNvPicPr>
          <p:nvPr/>
        </p:nvPicPr>
        <p:blipFill>
          <a:blip r:embed="rId4"/>
          <a:stretch>
            <a:fillRect/>
          </a:stretch>
        </p:blipFill>
        <p:spPr>
          <a:xfrm>
            <a:off x="0" y="0"/>
            <a:ext cx="12191695" cy="6858000"/>
          </a:xfrm>
          <a:prstGeom prst="rect">
            <a:avLst/>
          </a:prstGeom>
        </p:spPr>
      </p:pic>
      <p:pic>
        <p:nvPicPr>
          <p:cNvPr id="6" name="anim-g4-311" descr="C:\Users\user\projects\younes-training\heritage\.pptx-cache\s42-4.jpg">    </p:cNvPr>
          <p:cNvPicPr>
            <a:picLocks noChangeAspect="1"/>
          </p:cNvPicPr>
          <p:nvPr/>
        </p:nvPicPr>
        <p:blipFill>
          <a:blip r:embed="rId5"/>
          <a:stretch>
            <a:fillRect/>
          </a:stretch>
        </p:blipFill>
        <p:spPr>
          <a:xfrm>
            <a:off x="0" y="0"/>
            <a:ext cx="12191695" cy="6858000"/>
          </a:xfrm>
          <a:prstGeom prst="rect">
            <a:avLst/>
          </a:prstGeom>
        </p:spPr>
      </p:pic>
      <p:pic>
        <p:nvPicPr>
          <p:cNvPr id="7" name="anim-g5-312" descr="C:\Users\user\projects\younes-training\heritage\.pptx-cache\s42-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C:\Users\user\projects\younes-training\heritage\.pptx-cache\s43-0.jpg">    </p:cNvPr>
          <p:cNvPicPr>
            <a:picLocks noChangeAspect="1"/>
          </p:cNvPicPr>
          <p:nvPr/>
        </p:nvPicPr>
        <p:blipFill>
          <a:blip r:embed="rId1"/>
          <a:stretch>
            <a:fillRect/>
          </a:stretch>
        </p:blipFill>
        <p:spPr>
          <a:xfrm>
            <a:off x="0" y="0"/>
            <a:ext cx="12191695" cy="6858000"/>
          </a:xfrm>
          <a:prstGeom prst="rect">
            <a:avLst/>
          </a:prstGeom>
        </p:spPr>
      </p:pic>
      <p:pic>
        <p:nvPicPr>
          <p:cNvPr id="3" name="anim-g1-313" descr="C:\Users\user\projects\younes-training\heritage\.pptx-cache\s43-1.jpg">    </p:cNvPr>
          <p:cNvPicPr>
            <a:picLocks noChangeAspect="1"/>
          </p:cNvPicPr>
          <p:nvPr/>
        </p:nvPicPr>
        <p:blipFill>
          <a:blip r:embed="rId2"/>
          <a:stretch>
            <a:fillRect/>
          </a:stretch>
        </p:blipFill>
        <p:spPr>
          <a:xfrm>
            <a:off x="0" y="0"/>
            <a:ext cx="12191695" cy="6858000"/>
          </a:xfrm>
          <a:prstGeom prst="rect">
            <a:avLst/>
          </a:prstGeom>
        </p:spPr>
      </p:pic>
      <p:pic>
        <p:nvPicPr>
          <p:cNvPr id="4" name="anim-g2-314" descr="C:\Users\user\projects\younes-training\heritage\.pptx-cache\s43-2.jpg">    </p:cNvPr>
          <p:cNvPicPr>
            <a:picLocks noChangeAspect="1"/>
          </p:cNvPicPr>
          <p:nvPr/>
        </p:nvPicPr>
        <p:blipFill>
          <a:blip r:embed="rId3"/>
          <a:stretch>
            <a:fillRect/>
          </a:stretch>
        </p:blipFill>
        <p:spPr>
          <a:xfrm>
            <a:off x="0" y="0"/>
            <a:ext cx="12191695" cy="6858000"/>
          </a:xfrm>
          <a:prstGeom prst="rect">
            <a:avLst/>
          </a:prstGeom>
        </p:spPr>
      </p:pic>
      <p:pic>
        <p:nvPicPr>
          <p:cNvPr id="5" name="anim-g3-315" descr="C:\Users\user\projects\younes-training\heritage\.pptx-cache\s43-3.jpg">    </p:cNvPr>
          <p:cNvPicPr>
            <a:picLocks noChangeAspect="1"/>
          </p:cNvPicPr>
          <p:nvPr/>
        </p:nvPicPr>
        <p:blipFill>
          <a:blip r:embed="rId4"/>
          <a:stretch>
            <a:fillRect/>
          </a:stretch>
        </p:blipFill>
        <p:spPr>
          <a:xfrm>
            <a:off x="0" y="0"/>
            <a:ext cx="12191695" cy="6858000"/>
          </a:xfrm>
          <a:prstGeom prst="rect">
            <a:avLst/>
          </a:prstGeom>
        </p:spPr>
      </p:pic>
      <p:pic>
        <p:nvPicPr>
          <p:cNvPr id="6" name="anim-g4-316" descr="C:\Users\user\projects\younes-training\heritage\.pptx-cache\s4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زر الإجابة «ب» يُضغط وحده كل بضع ثوانٍ. ما السبب الأرجح؟</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الزر تالف</a:t>
            </a:r>
            <a:endParaRPr lang="ar-SA" sz="2500" dirty="0"/>
          </a:p>
        </p:txBody>
      </p:sp>
      <p:sp>
        <p:nvSpPr>
          <p:cNvPr id="9" name="anim-g1-317"/>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318"/>
          <p:cNvSpPr/>
          <p:nvPr/>
        </p:nvSpPr>
        <p:spPr>
          <a:xfrm>
            <a:off x="10231831" y="2194560"/>
            <a:ext cx="954024" cy="954024"/>
          </a:xfrm>
          <a:prstGeom prst="roundRect">
            <a:avLst>
              <a:gd name="adj" fmla="val 11502"/>
            </a:avLst>
          </a:prstGeom>
          <a:solidFill>
            <a:srgbClr val="A3A9BA"/>
          </a:solidFill>
          <a:ln/>
        </p:spPr>
      </p:sp>
      <p:sp>
        <p:nvSpPr>
          <p:cNvPr id="11" name="anim-g1-319"/>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320"/>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الزر تالف</a:t>
            </a:r>
            <a:endParaRPr lang="ar-SA" sz="2400" dirty="0"/>
          </a:p>
        </p:txBody>
      </p:sp>
      <p:sp>
        <p:nvSpPr>
          <p:cNvPr id="13" name="anim-g1-321"/>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ممكن، لكن الأرجح الطرف نفسه</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الطرف 39 عائم: لا مقاومة سحب خارجية</a:t>
            </a:r>
            <a:endParaRPr lang="ar-SA" sz="2500" dirty="0"/>
          </a:p>
        </p:txBody>
      </p:sp>
      <p:sp>
        <p:nvSpPr>
          <p:cNvPr id="18" name="anim-g1-322"/>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323"/>
          <p:cNvSpPr/>
          <p:nvPr/>
        </p:nvSpPr>
        <p:spPr>
          <a:xfrm>
            <a:off x="10231831" y="3569208"/>
            <a:ext cx="954024" cy="954024"/>
          </a:xfrm>
          <a:prstGeom prst="roundRect">
            <a:avLst>
              <a:gd name="adj" fmla="val 11502"/>
            </a:avLst>
          </a:prstGeom>
          <a:solidFill>
            <a:srgbClr val="2E9E6B"/>
          </a:solidFill>
          <a:ln/>
        </p:spPr>
      </p:sp>
      <p:sp>
        <p:nvSpPr>
          <p:cNvPr id="20" name="anim-g1-32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325"/>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الطرف 39 عائم: لا مقاومة سحب خارجية</a:t>
            </a:r>
            <a:endParaRPr lang="ar-SA" sz="2400" dirty="0"/>
          </a:p>
        </p:txBody>
      </p:sp>
      <p:sp>
        <p:nvSpPr>
          <p:cNvPr id="22" name="anim-g1-326"/>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36 و39 لا سحب داخلي فيهما</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الكود فيه حلقة لا نهائية</a:t>
            </a:r>
            <a:endParaRPr lang="ar-SA" sz="2500" dirty="0"/>
          </a:p>
        </p:txBody>
      </p:sp>
      <p:sp>
        <p:nvSpPr>
          <p:cNvPr id="27" name="anim-g1-327"/>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328"/>
          <p:cNvSpPr/>
          <p:nvPr/>
        </p:nvSpPr>
        <p:spPr>
          <a:xfrm>
            <a:off x="10231831" y="4943856"/>
            <a:ext cx="954024" cy="954024"/>
          </a:xfrm>
          <a:prstGeom prst="roundRect">
            <a:avLst>
              <a:gd name="adj" fmla="val 11502"/>
            </a:avLst>
          </a:prstGeom>
          <a:solidFill>
            <a:srgbClr val="A3A9BA"/>
          </a:solidFill>
          <a:ln/>
        </p:spPr>
      </p:sp>
      <p:sp>
        <p:nvSpPr>
          <p:cNvPr id="29" name="anim-g1-329"/>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330"/>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الكود فيه حلقة لا نهائية</a:t>
            </a:r>
            <a:endParaRPr lang="ar-SA" sz="2400" dirty="0"/>
          </a:p>
        </p:txBody>
      </p:sp>
      <p:sp>
        <p:nvSpPr>
          <p:cNvPr id="31" name="anim-g1-331"/>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الحلقة لا تضغط الأزرار</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٣. الأزرار + الاختيار  ·  ٤٤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مقاومة صغيرة تُسكت الأشباح، وعشرون مللي ثانية تُهدّئ الارتداد: والآن يختار الطفل محطته بثقة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٣. الأزرار + الاختيار  ·  ٤٥</a:t>
            </a:r>
            <a:endParaRPr lang="ar-SA"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٥</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٥</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المكوّن الرابع: المنصة الدوّارة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28BYJ-48 وULN2003… ثم تدور المنصة إلى ما اختاره الطفل</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٤. المنصة الدوّارة  ·  ٤٦</a:t>
            </a:r>
            <a:endParaRPr lang="ar-SA"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332"/>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333"/>
          <p:cNvSpPr/>
          <p:nvPr/>
        </p:nvSpPr>
        <p:spPr>
          <a:xfrm>
            <a:off x="10573207" y="2109978"/>
            <a:ext cx="566928" cy="566928"/>
          </a:xfrm>
          <a:prstGeom prst="ellipse">
            <a:avLst/>
          </a:prstGeom>
          <a:solidFill>
            <a:srgbClr val="D9AE4B"/>
          </a:solidFill>
          <a:ln/>
        </p:spPr>
      </p:sp>
      <p:sp>
        <p:nvSpPr>
          <p:cNvPr id="7" name="anim-g1-334"/>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35"/>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المحرك بدرايفر ULN2003 وبمصدر 6V مستقل</a:t>
            </a:r>
            <a:endParaRPr lang="ar-SA" sz="2400" dirty="0"/>
          </a:p>
        </p:txBody>
      </p:sp>
      <p:sp>
        <p:nvSpPr>
          <p:cNvPr id="9" name="anim-g2-336"/>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337"/>
          <p:cNvSpPr/>
          <p:nvPr/>
        </p:nvSpPr>
        <p:spPr>
          <a:xfrm>
            <a:off x="10573207" y="3166110"/>
            <a:ext cx="566928" cy="566928"/>
          </a:xfrm>
          <a:prstGeom prst="ellipse">
            <a:avLst/>
          </a:prstGeom>
          <a:solidFill>
            <a:srgbClr val="D9AE4B"/>
          </a:solidFill>
          <a:ln/>
        </p:spPr>
      </p:sp>
      <p:sp>
        <p:nvSpPr>
          <p:cNvPr id="11" name="anim-g2-338"/>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39"/>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ترتيب الأطراف الصحيح للمكتبة</a:t>
            </a:r>
            <a:endParaRPr lang="ar-SA" sz="2400" dirty="0"/>
          </a:p>
        </p:txBody>
      </p:sp>
      <p:sp>
        <p:nvSpPr>
          <p:cNvPr id="13" name="anim-g3-340"/>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341"/>
          <p:cNvSpPr/>
          <p:nvPr/>
        </p:nvSpPr>
        <p:spPr>
          <a:xfrm>
            <a:off x="10573207" y="4222242"/>
            <a:ext cx="566928" cy="566928"/>
          </a:xfrm>
          <a:prstGeom prst="ellipse">
            <a:avLst/>
          </a:prstGeom>
          <a:solidFill>
            <a:srgbClr val="D9AE4B"/>
          </a:solidFill>
          <a:ln/>
        </p:spPr>
      </p:sp>
      <p:sp>
        <p:nvSpPr>
          <p:cNvPr id="15" name="anim-g3-342"/>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43"/>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تحسب الخطوات بين المحطات وتختار الطريق الأقصر</a:t>
            </a:r>
            <a:endParaRPr lang="ar-SA" sz="2400" dirty="0"/>
          </a:p>
        </p:txBody>
      </p:sp>
      <p:sp>
        <p:nvSpPr>
          <p:cNvPr id="17" name="anim-g4-344"/>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345"/>
          <p:cNvSpPr/>
          <p:nvPr/>
        </p:nvSpPr>
        <p:spPr>
          <a:xfrm>
            <a:off x="10573207" y="5278374"/>
            <a:ext cx="566928" cy="566928"/>
          </a:xfrm>
          <a:prstGeom prst="ellipse">
            <a:avLst/>
          </a:prstGeom>
          <a:solidFill>
            <a:srgbClr val="D9AE4B"/>
          </a:solidFill>
          <a:ln/>
        </p:spPr>
      </p:sp>
      <p:sp>
        <p:nvSpPr>
          <p:cNvPr id="19" name="anim-g4-346"/>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347"/>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الزر يدير المنصة والشاشة تعلن</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٤. المنصة الدوّارة  ·  ٤٧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محرك خطوي؟</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منصة تعرف أين هي</a:t>
            </a:r>
            <a:endParaRPr lang="ar-SA" sz="3800" dirty="0"/>
          </a:p>
        </p:txBody>
      </p:sp>
      <p:sp>
        <p:nvSpPr>
          <p:cNvPr id="5" name="anim-g1-348"/>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349"/>
          <p:cNvSpPr/>
          <p:nvPr/>
        </p:nvSpPr>
        <p:spPr>
          <a:xfrm>
            <a:off x="10527487" y="2267712"/>
            <a:ext cx="566928" cy="566928"/>
          </a:xfrm>
          <a:prstGeom prst="roundRect">
            <a:avLst>
              <a:gd name="adj" fmla="val 32258"/>
            </a:avLst>
          </a:prstGeom>
          <a:solidFill>
            <a:srgbClr val="F7E6BC"/>
          </a:solidFill>
          <a:ln/>
        </p:spPr>
      </p:sp>
      <p:sp>
        <p:nvSpPr>
          <p:cNvPr id="7" name="anim-g1-350"/>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351"/>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نحو ٢٠٤٨ خطوة للدورة</a:t>
            </a:r>
            <a:endParaRPr lang="ar-SA" sz="2200" dirty="0"/>
          </a:p>
        </p:txBody>
      </p:sp>
      <p:sp>
        <p:nvSpPr>
          <p:cNvPr id="9" name="anim-g1-352"/>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فالربع (محطة واحدة) نحو ٥١٢ خطوة نظريًا</a:t>
            </a:r>
            <a:endParaRPr lang="ar-SA" sz="1900" dirty="0"/>
          </a:p>
        </p:txBody>
      </p:sp>
      <p:sp>
        <p:nvSpPr>
          <p:cNvPr id="10" name="anim-g2-353"/>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354"/>
          <p:cNvSpPr/>
          <p:nvPr/>
        </p:nvSpPr>
        <p:spPr>
          <a:xfrm>
            <a:off x="6920789" y="2267712"/>
            <a:ext cx="566928" cy="566928"/>
          </a:xfrm>
          <a:prstGeom prst="roundRect">
            <a:avLst>
              <a:gd name="adj" fmla="val 32258"/>
            </a:avLst>
          </a:prstGeom>
          <a:solidFill>
            <a:srgbClr val="F7E6BC"/>
          </a:solidFill>
          <a:ln/>
        </p:spPr>
      </p:sp>
      <p:sp>
        <p:nvSpPr>
          <p:cNvPr id="12" name="anim-g2-355"/>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356"/>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بطيء وقوي</a:t>
            </a:r>
            <a:endParaRPr lang="ar-SA" sz="2200" dirty="0"/>
          </a:p>
        </p:txBody>
      </p:sp>
      <p:sp>
        <p:nvSpPr>
          <p:cNvPr id="14" name="anim-g2-357"/>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التروس الداخلية تعطيه قوة تحمل المجسمات</a:t>
            </a:r>
            <a:endParaRPr lang="ar-SA" sz="1900" dirty="0"/>
          </a:p>
        </p:txBody>
      </p:sp>
      <p:sp>
        <p:nvSpPr>
          <p:cNvPr id="15" name="anim-g3-358"/>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359"/>
          <p:cNvSpPr/>
          <p:nvPr/>
        </p:nvSpPr>
        <p:spPr>
          <a:xfrm>
            <a:off x="3314090" y="2267712"/>
            <a:ext cx="566928" cy="566928"/>
          </a:xfrm>
          <a:prstGeom prst="roundRect">
            <a:avLst>
              <a:gd name="adj" fmla="val 32258"/>
            </a:avLst>
          </a:prstGeom>
          <a:solidFill>
            <a:srgbClr val="F7E6BC"/>
          </a:solidFill>
          <a:ln/>
        </p:spPr>
      </p:sp>
      <p:sp>
        <p:nvSpPr>
          <p:cNvPr id="17" name="anim-g3-360"/>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361"/>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الخيمة نقطة البداية</a:t>
            </a:r>
            <a:endParaRPr lang="ar-SA" sz="2200" dirty="0"/>
          </a:p>
        </p:txBody>
      </p:sp>
      <p:sp>
        <p:nvSpPr>
          <p:cNvPr id="19" name="anim-g3-362"/>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نبدأ دائمًا منها، ونحسب كل شيء نسبةً إليها</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٤. المنصة الدوّارة  ·  ٤٨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pic>
        <p:nvPicPr>
          <p:cNvPr id="2" name="Image 0" descr="C:\Users\user\projects\younes-training\heritage\.pptx-cache\s49-0.jpg">    </p:cNvPr>
          <p:cNvPicPr>
            <a:picLocks noChangeAspect="1"/>
          </p:cNvPicPr>
          <p:nvPr/>
        </p:nvPicPr>
        <p:blipFill>
          <a:blip r:embed="rId1"/>
          <a:stretch>
            <a:fillRect/>
          </a:stretch>
        </p:blipFill>
        <p:spPr>
          <a:xfrm>
            <a:off x="0" y="0"/>
            <a:ext cx="12191695" cy="6858000"/>
          </a:xfrm>
          <a:prstGeom prst="rect">
            <a:avLst/>
          </a:prstGeom>
        </p:spPr>
      </p:pic>
      <p:pic>
        <p:nvPicPr>
          <p:cNvPr id="3" name="anim-g1-363" descr="C:\Users\user\projects\younes-training\heritage\.pptx-cache\s49-1.jpg">    </p:cNvPr>
          <p:cNvPicPr>
            <a:picLocks noChangeAspect="1"/>
          </p:cNvPicPr>
          <p:nvPr/>
        </p:nvPicPr>
        <p:blipFill>
          <a:blip r:embed="rId2"/>
          <a:stretch>
            <a:fillRect/>
          </a:stretch>
        </p:blipFill>
        <p:spPr>
          <a:xfrm>
            <a:off x="0" y="0"/>
            <a:ext cx="12191695" cy="6858000"/>
          </a:xfrm>
          <a:prstGeom prst="rect">
            <a:avLst/>
          </a:prstGeom>
        </p:spPr>
      </p:pic>
      <p:pic>
        <p:nvPicPr>
          <p:cNvPr id="4" name="anim-g2-364" descr="C:\Users\user\projects\younes-training\heritage\.pptx-cache\s49-2.jpg">    </p:cNvPr>
          <p:cNvPicPr>
            <a:picLocks noChangeAspect="1"/>
          </p:cNvPicPr>
          <p:nvPr/>
        </p:nvPicPr>
        <p:blipFill>
          <a:blip r:embed="rId3"/>
          <a:stretch>
            <a:fillRect/>
          </a:stretch>
        </p:blipFill>
        <p:spPr>
          <a:xfrm>
            <a:off x="0" y="0"/>
            <a:ext cx="12191695" cy="6858000"/>
          </a:xfrm>
          <a:prstGeom prst="rect">
            <a:avLst/>
          </a:prstGeom>
        </p:spPr>
      </p:pic>
      <p:pic>
        <p:nvPicPr>
          <p:cNvPr id="5" name="anim-g3-365" descr="C:\Users\user\projects\younes-training\heritage\.pptx-cache\s49-3.jpg">    </p:cNvPr>
          <p:cNvPicPr>
            <a:picLocks noChangeAspect="1"/>
          </p:cNvPicPr>
          <p:nvPr/>
        </p:nvPicPr>
        <p:blipFill>
          <a:blip r:embed="rId4"/>
          <a:stretch>
            <a:fillRect/>
          </a:stretch>
        </p:blipFill>
        <p:spPr>
          <a:xfrm>
            <a:off x="0" y="0"/>
            <a:ext cx="12191695" cy="6858000"/>
          </a:xfrm>
          <a:prstGeom prst="rect">
            <a:avLst/>
          </a:prstGeom>
        </p:spPr>
      </p:pic>
      <p:pic>
        <p:nvPicPr>
          <p:cNvPr id="6" name="anim-g4-366" descr="C:\Users\user\projects\younes-training\heritage\.pptx-cache\s49-4.jpg">    </p:cNvPr>
          <p:cNvPicPr>
            <a:picLocks noChangeAspect="1"/>
          </p:cNvPicPr>
          <p:nvPr/>
        </p:nvPicPr>
        <p:blipFill>
          <a:blip r:embed="rId5"/>
          <a:stretch>
            <a:fillRect/>
          </a:stretch>
        </p:blipFill>
        <p:spPr>
          <a:xfrm>
            <a:off x="0" y="0"/>
            <a:ext cx="12191695" cy="6858000"/>
          </a:xfrm>
          <a:prstGeom prst="rect">
            <a:avLst/>
          </a:prstGeom>
        </p:spPr>
      </p:pic>
      <p:pic>
        <p:nvPicPr>
          <p:cNvPr id="7" name="anim-g5-367" descr="C:\Users\user\projects\younes-training\heritage\.pptx-cache\s49-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pic>
        <p:nvPicPr>
          <p:cNvPr id="2" name="Image 0" descr="C:\Users\user\projects\younes-training\heritage\.pptx-cache\s50-0.jpg">    </p:cNvPr>
          <p:cNvPicPr>
            <a:picLocks noChangeAspect="1"/>
          </p:cNvPicPr>
          <p:nvPr/>
        </p:nvPicPr>
        <p:blipFill>
          <a:blip r:embed="rId1"/>
          <a:stretch>
            <a:fillRect/>
          </a:stretch>
        </p:blipFill>
        <p:spPr>
          <a:xfrm>
            <a:off x="0" y="0"/>
            <a:ext cx="12191695" cy="6858000"/>
          </a:xfrm>
          <a:prstGeom prst="rect">
            <a:avLst/>
          </a:prstGeom>
        </p:spPr>
      </p:pic>
      <p:pic>
        <p:nvPicPr>
          <p:cNvPr id="3" name="anim-g1-368" descr="C:\Users\user\projects\younes-training\heritage\.pptx-cache\s50-1.jpg">    </p:cNvPr>
          <p:cNvPicPr>
            <a:picLocks noChangeAspect="1"/>
          </p:cNvPicPr>
          <p:nvPr/>
        </p:nvPicPr>
        <p:blipFill>
          <a:blip r:embed="rId2"/>
          <a:stretch>
            <a:fillRect/>
          </a:stretch>
        </p:blipFill>
        <p:spPr>
          <a:xfrm>
            <a:off x="0" y="0"/>
            <a:ext cx="12191695" cy="6858000"/>
          </a:xfrm>
          <a:prstGeom prst="rect">
            <a:avLst/>
          </a:prstGeom>
        </p:spPr>
      </p:pic>
      <p:pic>
        <p:nvPicPr>
          <p:cNvPr id="4" name="anim-g2-369" descr="C:\Users\user\projects\younes-training\heritage\.pptx-cache\s50-2.jpg">    </p:cNvPr>
          <p:cNvPicPr>
            <a:picLocks noChangeAspect="1"/>
          </p:cNvPicPr>
          <p:nvPr/>
        </p:nvPicPr>
        <p:blipFill>
          <a:blip r:embed="rId3"/>
          <a:stretch>
            <a:fillRect/>
          </a:stretch>
        </p:blipFill>
        <p:spPr>
          <a:xfrm>
            <a:off x="0" y="0"/>
            <a:ext cx="12191695" cy="6858000"/>
          </a:xfrm>
          <a:prstGeom prst="rect">
            <a:avLst/>
          </a:prstGeom>
        </p:spPr>
      </p:pic>
      <p:pic>
        <p:nvPicPr>
          <p:cNvPr id="5" name="anim-g3-370" descr="C:\Users\user\projects\younes-training\heritage\.pptx-cache\s50-3.jpg">    </p:cNvPr>
          <p:cNvPicPr>
            <a:picLocks noChangeAspect="1"/>
          </p:cNvPicPr>
          <p:nvPr/>
        </p:nvPicPr>
        <p:blipFill>
          <a:blip r:embed="rId4"/>
          <a:stretch>
            <a:fillRect/>
          </a:stretch>
        </p:blipFill>
        <p:spPr>
          <a:xfrm>
            <a:off x="0" y="0"/>
            <a:ext cx="12191695" cy="6858000"/>
          </a:xfrm>
          <a:prstGeom prst="rect">
            <a:avLst/>
          </a:prstGeom>
        </p:spPr>
      </p:pic>
      <p:pic>
        <p:nvPicPr>
          <p:cNvPr id="6" name="anim-g4-371" descr="C:\Users\user\projects\younes-training\heritage\.pptx-cache\s5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pic>
        <p:nvPicPr>
          <p:cNvPr id="2" name="Image 0" descr="C:\Users\user\projects\younes-training\heritage\.pptx-cache\s5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pic>
        <p:nvPicPr>
          <p:cNvPr id="2" name="Image 0" descr="C:\Users\user\projects\younes-training\heritage\.pptx-cache\s52-0.jpg">    </p:cNvPr>
          <p:cNvPicPr>
            <a:picLocks noChangeAspect="1"/>
          </p:cNvPicPr>
          <p:nvPr/>
        </p:nvPicPr>
        <p:blipFill>
          <a:blip r:embed="rId1"/>
          <a:stretch>
            <a:fillRect/>
          </a:stretch>
        </p:blipFill>
        <p:spPr>
          <a:xfrm>
            <a:off x="0" y="0"/>
            <a:ext cx="12191695" cy="6858000"/>
          </a:xfrm>
          <a:prstGeom prst="rect">
            <a:avLst/>
          </a:prstGeom>
        </p:spPr>
      </p:pic>
      <p:pic>
        <p:nvPicPr>
          <p:cNvPr id="3" name="anim-g1-372" descr="C:\Users\user\projects\younes-training\heritage\.pptx-cache\s52-1.jpg">    </p:cNvPr>
          <p:cNvPicPr>
            <a:picLocks noChangeAspect="1"/>
          </p:cNvPicPr>
          <p:nvPr/>
        </p:nvPicPr>
        <p:blipFill>
          <a:blip r:embed="rId2"/>
          <a:stretch>
            <a:fillRect/>
          </a:stretch>
        </p:blipFill>
        <p:spPr>
          <a:xfrm>
            <a:off x="0" y="0"/>
            <a:ext cx="12191695" cy="6858000"/>
          </a:xfrm>
          <a:prstGeom prst="rect">
            <a:avLst/>
          </a:prstGeom>
        </p:spPr>
      </p:pic>
      <p:pic>
        <p:nvPicPr>
          <p:cNvPr id="4" name="anim-g2-373" descr="C:\Users\user\projects\younes-training\heritage\.pptx-cache\s52-2.jpg">    </p:cNvPr>
          <p:cNvPicPr>
            <a:picLocks noChangeAspect="1"/>
          </p:cNvPicPr>
          <p:nvPr/>
        </p:nvPicPr>
        <p:blipFill>
          <a:blip r:embed="rId3"/>
          <a:stretch>
            <a:fillRect/>
          </a:stretch>
        </p:blipFill>
        <p:spPr>
          <a:xfrm>
            <a:off x="0" y="0"/>
            <a:ext cx="12191695" cy="6858000"/>
          </a:xfrm>
          <a:prstGeom prst="rect">
            <a:avLst/>
          </a:prstGeom>
        </p:spPr>
      </p:pic>
      <p:pic>
        <p:nvPicPr>
          <p:cNvPr id="5" name="anim-g3-374" descr="C:\Users\user\projects\younes-training\heritage\.pptx-cache\s52-3.jpg">    </p:cNvPr>
          <p:cNvPicPr>
            <a:picLocks noChangeAspect="1"/>
          </p:cNvPicPr>
          <p:nvPr/>
        </p:nvPicPr>
        <p:blipFill>
          <a:blip r:embed="rId4"/>
          <a:stretch>
            <a:fillRect/>
          </a:stretch>
        </p:blipFill>
        <p:spPr>
          <a:xfrm>
            <a:off x="0" y="0"/>
            <a:ext cx="12191695" cy="6858000"/>
          </a:xfrm>
          <a:prstGeom prst="rect">
            <a:avLst/>
          </a:prstGeom>
        </p:spPr>
      </p:pic>
      <p:pic>
        <p:nvPicPr>
          <p:cNvPr id="6" name="anim-g4-375" descr="C:\Users\user\projects\younes-training\heritage\.pptx-cache\s52-4.jpg">    </p:cNvPr>
          <p:cNvPicPr>
            <a:picLocks noChangeAspect="1"/>
          </p:cNvPicPr>
          <p:nvPr/>
        </p:nvPicPr>
        <p:blipFill>
          <a:blip r:embed="rId5"/>
          <a:stretch>
            <a:fillRect/>
          </a:stretch>
        </p:blipFill>
        <p:spPr>
          <a:xfrm>
            <a:off x="0" y="0"/>
            <a:ext cx="12191695" cy="6858000"/>
          </a:xfrm>
          <a:prstGeom prst="rect">
            <a:avLst/>
          </a:prstGeom>
        </p:spPr>
      </p:pic>
      <p:pic>
        <p:nvPicPr>
          <p:cNvPr id="7" name="anim-g5-376" descr="C:\Users\user\projects\younes-training\heritage\.pptx-cache\s52-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pic>
        <p:nvPicPr>
          <p:cNvPr id="2" name="Image 0" descr="C:\Users\user\projects\younes-training\heritage\.pptx-cache\s53-0.jpg">    </p:cNvPr>
          <p:cNvPicPr>
            <a:picLocks noChangeAspect="1"/>
          </p:cNvPicPr>
          <p:nvPr/>
        </p:nvPicPr>
        <p:blipFill>
          <a:blip r:embed="rId1"/>
          <a:stretch>
            <a:fillRect/>
          </a:stretch>
        </p:blipFill>
        <p:spPr>
          <a:xfrm>
            <a:off x="0" y="0"/>
            <a:ext cx="12191695" cy="6858000"/>
          </a:xfrm>
          <a:prstGeom prst="rect">
            <a:avLst/>
          </a:prstGeom>
        </p:spPr>
      </p:pic>
      <p:pic>
        <p:nvPicPr>
          <p:cNvPr id="3" name="anim-g1-377" descr="C:\Users\user\projects\younes-training\heritage\.pptx-cache\s53-1.jpg">    </p:cNvPr>
          <p:cNvPicPr>
            <a:picLocks noChangeAspect="1"/>
          </p:cNvPicPr>
          <p:nvPr/>
        </p:nvPicPr>
        <p:blipFill>
          <a:blip r:embed="rId2"/>
          <a:stretch>
            <a:fillRect/>
          </a:stretch>
        </p:blipFill>
        <p:spPr>
          <a:xfrm>
            <a:off x="0" y="0"/>
            <a:ext cx="12191695" cy="6858000"/>
          </a:xfrm>
          <a:prstGeom prst="rect">
            <a:avLst/>
          </a:prstGeom>
        </p:spPr>
      </p:pic>
      <p:pic>
        <p:nvPicPr>
          <p:cNvPr id="4" name="anim-g2-378" descr="C:\Users\user\projects\younes-training\heritage\.pptx-cache\s53-2.jpg">    </p:cNvPr>
          <p:cNvPicPr>
            <a:picLocks noChangeAspect="1"/>
          </p:cNvPicPr>
          <p:nvPr/>
        </p:nvPicPr>
        <p:blipFill>
          <a:blip r:embed="rId3"/>
          <a:stretch>
            <a:fillRect/>
          </a:stretch>
        </p:blipFill>
        <p:spPr>
          <a:xfrm>
            <a:off x="0" y="0"/>
            <a:ext cx="12191695" cy="6858000"/>
          </a:xfrm>
          <a:prstGeom prst="rect">
            <a:avLst/>
          </a:prstGeom>
        </p:spPr>
      </p:pic>
      <p:pic>
        <p:nvPicPr>
          <p:cNvPr id="5" name="anim-g3-379" descr="C:\Users\user\projects\younes-training\heritage\.pptx-cache\s53-3.jpg">    </p:cNvPr>
          <p:cNvPicPr>
            <a:picLocks noChangeAspect="1"/>
          </p:cNvPicPr>
          <p:nvPr/>
        </p:nvPicPr>
        <p:blipFill>
          <a:blip r:embed="rId4"/>
          <a:stretch>
            <a:fillRect/>
          </a:stretch>
        </p:blipFill>
        <p:spPr>
          <a:xfrm>
            <a:off x="0" y="0"/>
            <a:ext cx="12191695" cy="6858000"/>
          </a:xfrm>
          <a:prstGeom prst="rect">
            <a:avLst/>
          </a:prstGeom>
        </p:spPr>
      </p:pic>
      <p:pic>
        <p:nvPicPr>
          <p:cNvPr id="6" name="anim-g4-380" descr="C:\Users\user\projects\younes-training\heritage\.pptx-cache\s53-4.jpg">    </p:cNvPr>
          <p:cNvPicPr>
            <a:picLocks noChangeAspect="1"/>
          </p:cNvPicPr>
          <p:nvPr/>
        </p:nvPicPr>
        <p:blipFill>
          <a:blip r:embed="rId5"/>
          <a:stretch>
            <a:fillRect/>
          </a:stretch>
        </p:blipFill>
        <p:spPr>
          <a:xfrm>
            <a:off x="0" y="0"/>
            <a:ext cx="12191695" cy="6858000"/>
          </a:xfrm>
          <a:prstGeom prst="rect">
            <a:avLst/>
          </a:prstGeom>
        </p:spPr>
      </p:pic>
      <p:pic>
        <p:nvPicPr>
          <p:cNvPr id="7" name="anim-g5-381" descr="C:\Users\user\projects\younes-training\heritage\.pptx-cache\s53-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pic>
        <p:nvPicPr>
          <p:cNvPr id="2" name="Image 0" descr="C:\Users\user\projects\younes-training\heritage\.pptx-cache\s54-0.jpg">    </p:cNvPr>
          <p:cNvPicPr>
            <a:picLocks noChangeAspect="1"/>
          </p:cNvPicPr>
          <p:nvPr/>
        </p:nvPicPr>
        <p:blipFill>
          <a:blip r:embed="rId1"/>
          <a:stretch>
            <a:fillRect/>
          </a:stretch>
        </p:blipFill>
        <p:spPr>
          <a:xfrm>
            <a:off x="0" y="0"/>
            <a:ext cx="12191695" cy="6858000"/>
          </a:xfrm>
          <a:prstGeom prst="rect">
            <a:avLst/>
          </a:prstGeom>
        </p:spPr>
      </p:pic>
      <p:pic>
        <p:nvPicPr>
          <p:cNvPr id="3" name="anim-g1-382" descr="C:\Users\user\projects\younes-training\heritage\.pptx-cache\s54-1.jpg">    </p:cNvPr>
          <p:cNvPicPr>
            <a:picLocks noChangeAspect="1"/>
          </p:cNvPicPr>
          <p:nvPr/>
        </p:nvPicPr>
        <p:blipFill>
          <a:blip r:embed="rId2"/>
          <a:stretch>
            <a:fillRect/>
          </a:stretch>
        </p:blipFill>
        <p:spPr>
          <a:xfrm>
            <a:off x="0" y="0"/>
            <a:ext cx="12191695" cy="6858000"/>
          </a:xfrm>
          <a:prstGeom prst="rect">
            <a:avLst/>
          </a:prstGeom>
        </p:spPr>
      </p:pic>
      <p:pic>
        <p:nvPicPr>
          <p:cNvPr id="4" name="anim-g2-383" descr="C:\Users\user\projects\younes-training\heritage\.pptx-cache\s54-2.jpg">    </p:cNvPr>
          <p:cNvPicPr>
            <a:picLocks noChangeAspect="1"/>
          </p:cNvPicPr>
          <p:nvPr/>
        </p:nvPicPr>
        <p:blipFill>
          <a:blip r:embed="rId3"/>
          <a:stretch>
            <a:fillRect/>
          </a:stretch>
        </p:blipFill>
        <p:spPr>
          <a:xfrm>
            <a:off x="0" y="0"/>
            <a:ext cx="12191695" cy="6858000"/>
          </a:xfrm>
          <a:prstGeom prst="rect">
            <a:avLst/>
          </a:prstGeom>
        </p:spPr>
      </p:pic>
      <p:pic>
        <p:nvPicPr>
          <p:cNvPr id="5" name="anim-g3-384" descr="C:\Users\user\projects\younes-training\heritage\.pptx-cache\s54-3.jpg">    </p:cNvPr>
          <p:cNvPicPr>
            <a:picLocks noChangeAspect="1"/>
          </p:cNvPicPr>
          <p:nvPr/>
        </p:nvPicPr>
        <p:blipFill>
          <a:blip r:embed="rId4"/>
          <a:stretch>
            <a:fillRect/>
          </a:stretch>
        </p:blipFill>
        <p:spPr>
          <a:xfrm>
            <a:off x="0" y="0"/>
            <a:ext cx="12191695" cy="6858000"/>
          </a:xfrm>
          <a:prstGeom prst="rect">
            <a:avLst/>
          </a:prstGeom>
        </p:spPr>
      </p:pic>
      <p:pic>
        <p:nvPicPr>
          <p:cNvPr id="6" name="anim-g4-385" descr="C:\Users\user\projects\younes-training\heritage\.pptx-cache\s54-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يضغط الطفل الأحمر…</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فتدور الخيمة إليه: أربعة مكونات، كل منها اختُبر وحده، تعمل الآن معًا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٤. المنصة الدوّارة  ·  ٥٥</a:t>
            </a:r>
            <a:endParaRPr lang="ar-SA"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٦</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٦</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المعايرة: الرقم يأتي من القياس</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عشر محاولات لكل محطة… وعامل واحد في كل مرة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المعايرة  ·  ٥٦</a:t>
            </a:r>
            <a:endParaRPr lang="ar-SA"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386"/>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387"/>
          <p:cNvSpPr/>
          <p:nvPr/>
        </p:nvSpPr>
        <p:spPr>
          <a:xfrm>
            <a:off x="10573207" y="2109978"/>
            <a:ext cx="566928" cy="566928"/>
          </a:xfrm>
          <a:prstGeom prst="ellipse">
            <a:avLst/>
          </a:prstGeom>
          <a:solidFill>
            <a:srgbClr val="D9AE4B"/>
          </a:solidFill>
          <a:ln/>
        </p:spPr>
      </p:sp>
      <p:sp>
        <p:nvSpPr>
          <p:cNvPr id="7" name="anim-g1-388"/>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389"/>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تفسّر لماذا تختلف الخطوات الفعلية عن النظرية</a:t>
            </a:r>
            <a:endParaRPr lang="ar-SA" sz="2400" dirty="0"/>
          </a:p>
        </p:txBody>
      </p:sp>
      <p:sp>
        <p:nvSpPr>
          <p:cNvPr id="9" name="anim-g2-390"/>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391"/>
          <p:cNvSpPr/>
          <p:nvPr/>
        </p:nvSpPr>
        <p:spPr>
          <a:xfrm>
            <a:off x="10573207" y="3166110"/>
            <a:ext cx="566928" cy="566928"/>
          </a:xfrm>
          <a:prstGeom prst="ellipse">
            <a:avLst/>
          </a:prstGeom>
          <a:solidFill>
            <a:srgbClr val="D9AE4B"/>
          </a:solidFill>
          <a:ln/>
        </p:spPr>
      </p:sp>
      <p:sp>
        <p:nvSpPr>
          <p:cNvPr id="11" name="anim-g2-392"/>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393"/>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تنفذ خطة اختبار بعشر محاولات لكل محطة</a:t>
            </a:r>
            <a:endParaRPr lang="ar-SA" sz="2400" dirty="0"/>
          </a:p>
        </p:txBody>
      </p:sp>
      <p:sp>
        <p:nvSpPr>
          <p:cNvPr id="13" name="anim-g3-394"/>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395"/>
          <p:cNvSpPr/>
          <p:nvPr/>
        </p:nvSpPr>
        <p:spPr>
          <a:xfrm>
            <a:off x="10573207" y="4222242"/>
            <a:ext cx="566928" cy="566928"/>
          </a:xfrm>
          <a:prstGeom prst="ellipse">
            <a:avLst/>
          </a:prstGeom>
          <a:solidFill>
            <a:srgbClr val="D9AE4B"/>
          </a:solidFill>
          <a:ln/>
        </p:spPr>
      </p:sp>
      <p:sp>
        <p:nvSpPr>
          <p:cNvPr id="15" name="anim-g3-396"/>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397"/>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تغيّر عاملًا واحدًا فقط في كل اختبار</a:t>
            </a:r>
            <a:endParaRPr lang="ar-SA" sz="2400" dirty="0"/>
          </a:p>
        </p:txBody>
      </p:sp>
      <p:sp>
        <p:nvSpPr>
          <p:cNvPr id="17" name="anim-g4-398"/>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399"/>
          <p:cNvSpPr/>
          <p:nvPr/>
        </p:nvSpPr>
        <p:spPr>
          <a:xfrm>
            <a:off x="10573207" y="5278374"/>
            <a:ext cx="566928" cy="566928"/>
          </a:xfrm>
          <a:prstGeom prst="ellipse">
            <a:avLst/>
          </a:prstGeom>
          <a:solidFill>
            <a:srgbClr val="D9AE4B"/>
          </a:solidFill>
          <a:ln/>
        </p:spPr>
      </p:sp>
      <p:sp>
        <p:nvSpPr>
          <p:cNvPr id="19" name="anim-g4-400"/>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01"/>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تسجّل القيمة النهائية في الكود بدليل</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المعايرة  ·  ٥٧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لماذا يخطئ؟</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ثلاثة أسباب تبعد المنصة عن المحطة</a:t>
            </a:r>
            <a:endParaRPr lang="ar-SA" sz="3200" dirty="0"/>
          </a:p>
        </p:txBody>
      </p:sp>
      <p:sp>
        <p:nvSpPr>
          <p:cNvPr id="5" name="anim-g1-40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03"/>
          <p:cNvSpPr/>
          <p:nvPr/>
        </p:nvSpPr>
        <p:spPr>
          <a:xfrm>
            <a:off x="10527487" y="2267712"/>
            <a:ext cx="566928" cy="566928"/>
          </a:xfrm>
          <a:prstGeom prst="roundRect">
            <a:avLst>
              <a:gd name="adj" fmla="val 32258"/>
            </a:avLst>
          </a:prstGeom>
          <a:solidFill>
            <a:srgbClr val="F7E6BC"/>
          </a:solidFill>
          <a:ln/>
        </p:spPr>
      </p:sp>
      <p:sp>
        <p:nvSpPr>
          <p:cNvPr id="7" name="anim-g1-40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0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نسبة التروس</a:t>
            </a:r>
            <a:endParaRPr lang="ar-SA" sz="2200" dirty="0"/>
          </a:p>
        </p:txBody>
      </p:sp>
      <p:sp>
        <p:nvSpPr>
          <p:cNvPr id="9" name="anim-g1-40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الحقيقية نحو ١:٦٣٫٧ لا ١:٦٤: الدورة نحو ٢٠٣٨ خطوة لا ٢٠٤٨</a:t>
            </a:r>
            <a:endParaRPr lang="ar-SA" sz="1900" dirty="0"/>
          </a:p>
        </p:txBody>
      </p:sp>
      <p:sp>
        <p:nvSpPr>
          <p:cNvPr id="10" name="anim-g2-40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08"/>
          <p:cNvSpPr/>
          <p:nvPr/>
        </p:nvSpPr>
        <p:spPr>
          <a:xfrm>
            <a:off x="6920789" y="2267712"/>
            <a:ext cx="566928" cy="566928"/>
          </a:xfrm>
          <a:prstGeom prst="roundRect">
            <a:avLst>
              <a:gd name="adj" fmla="val 32258"/>
            </a:avLst>
          </a:prstGeom>
          <a:solidFill>
            <a:srgbClr val="F7E6BC"/>
          </a:solidFill>
          <a:ln/>
        </p:spPr>
      </p:sp>
      <p:sp>
        <p:nvSpPr>
          <p:cNvPr id="12" name="anim-g2-40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1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الحمل والاحتكاك</a:t>
            </a:r>
            <a:endParaRPr lang="ar-SA" sz="2200" dirty="0"/>
          </a:p>
        </p:txBody>
      </p:sp>
      <p:sp>
        <p:nvSpPr>
          <p:cNvPr id="14" name="anim-g2-41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المجسمات تثقل المنصة فتضيع خطوات، خاصة بالسرعة العالية</a:t>
            </a:r>
            <a:endParaRPr lang="ar-SA" sz="1900" dirty="0"/>
          </a:p>
        </p:txBody>
      </p:sp>
      <p:sp>
        <p:nvSpPr>
          <p:cNvPr id="15" name="anim-g3-41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13"/>
          <p:cNvSpPr/>
          <p:nvPr/>
        </p:nvSpPr>
        <p:spPr>
          <a:xfrm>
            <a:off x="3314090" y="2267712"/>
            <a:ext cx="566928" cy="566928"/>
          </a:xfrm>
          <a:prstGeom prst="roundRect">
            <a:avLst>
              <a:gd name="adj" fmla="val 32258"/>
            </a:avLst>
          </a:prstGeom>
          <a:solidFill>
            <a:srgbClr val="F7E6BC"/>
          </a:solidFill>
          <a:ln/>
        </p:spPr>
      </p:sp>
      <p:sp>
        <p:nvSpPr>
          <p:cNvPr id="17" name="anim-g3-41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41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التراكم</a:t>
            </a:r>
            <a:endParaRPr lang="ar-SA" sz="2200" dirty="0"/>
          </a:p>
        </p:txBody>
      </p:sp>
      <p:sp>
        <p:nvSpPr>
          <p:cNvPr id="19" name="anim-g3-41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خطأ صغير في كل حركة يكبر بعد جولات كثيرة</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المعايرة  ·  ٥٨</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خطوات الفريق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خمس مراحل للمعايرة</a:t>
            </a:r>
            <a:endParaRPr lang="ar-SA" sz="3800" dirty="0"/>
          </a:p>
        </p:txBody>
      </p:sp>
      <p:sp>
        <p:nvSpPr>
          <p:cNvPr id="5" name="Shape 3"/>
          <p:cNvSpPr/>
          <p:nvPr/>
        </p:nvSpPr>
        <p:spPr>
          <a:xfrm>
            <a:off x="8939013" y="1874520"/>
            <a:ext cx="2429722" cy="548640"/>
          </a:xfrm>
          <a:prstGeom prst="roundRect">
            <a:avLst>
              <a:gd name="adj" fmla="val 20000"/>
            </a:avLst>
          </a:prstGeom>
          <a:solidFill>
            <a:srgbClr val="101B45"/>
          </a:solidFill>
          <a:ln/>
        </p:spPr>
      </p:sp>
      <p:sp>
        <p:nvSpPr>
          <p:cNvPr id="6" name="Text 4"/>
          <p:cNvSpPr/>
          <p:nvPr/>
        </p:nvSpPr>
        <p:spPr>
          <a:xfrm>
            <a:off x="8939013" y="1874520"/>
            <a:ext cx="24297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المرحلة</a:t>
            </a:r>
            <a:endParaRPr lang="ar-SA" sz="1900" dirty="0"/>
          </a:p>
        </p:txBody>
      </p:sp>
      <p:sp>
        <p:nvSpPr>
          <p:cNvPr id="7" name="Shape 5"/>
          <p:cNvSpPr/>
          <p:nvPr/>
        </p:nvSpPr>
        <p:spPr>
          <a:xfrm>
            <a:off x="4273556" y="1874520"/>
            <a:ext cx="4555729" cy="548640"/>
          </a:xfrm>
          <a:prstGeom prst="roundRect">
            <a:avLst>
              <a:gd name="adj" fmla="val 20000"/>
            </a:avLst>
          </a:prstGeom>
          <a:solidFill>
            <a:srgbClr val="101B45"/>
          </a:solidFill>
          <a:ln/>
        </p:spPr>
      </p:sp>
      <p:sp>
        <p:nvSpPr>
          <p:cNvPr id="8" name="Text 6"/>
          <p:cNvSpPr/>
          <p:nvPr/>
        </p:nvSpPr>
        <p:spPr>
          <a:xfrm>
            <a:off x="4273556" y="1874520"/>
            <a:ext cx="455572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 فعله الفريق</a:t>
            </a:r>
            <a:endParaRPr lang="ar-SA" sz="1900" dirty="0"/>
          </a:p>
        </p:txBody>
      </p:sp>
      <p:sp>
        <p:nvSpPr>
          <p:cNvPr id="9" name="Shape 7"/>
          <p:cNvSpPr/>
          <p:nvPr/>
        </p:nvSpPr>
        <p:spPr>
          <a:xfrm>
            <a:off x="822960" y="1874520"/>
            <a:ext cx="3340868" cy="548640"/>
          </a:xfrm>
          <a:prstGeom prst="roundRect">
            <a:avLst>
              <a:gd name="adj" fmla="val 20000"/>
            </a:avLst>
          </a:prstGeom>
          <a:solidFill>
            <a:srgbClr val="101B45"/>
          </a:solidFill>
          <a:ln/>
        </p:spPr>
      </p:sp>
      <p:sp>
        <p:nvSpPr>
          <p:cNvPr id="10" name="Text 8"/>
          <p:cNvSpPr/>
          <p:nvPr/>
        </p:nvSpPr>
        <p:spPr>
          <a:xfrm>
            <a:off x="822960" y="1874520"/>
            <a:ext cx="3340868"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الدليل</a:t>
            </a:r>
            <a:endParaRPr lang="ar-SA" sz="1900" dirty="0"/>
          </a:p>
        </p:txBody>
      </p:sp>
      <p:sp>
        <p:nvSpPr>
          <p:cNvPr id="11" name="anim-g1-417"/>
          <p:cNvSpPr/>
          <p:nvPr/>
        </p:nvSpPr>
        <p:spPr>
          <a:xfrm>
            <a:off x="8939013" y="2514600"/>
            <a:ext cx="2429722" cy="616306"/>
          </a:xfrm>
          <a:prstGeom prst="roundRect">
            <a:avLst>
              <a:gd name="adj" fmla="val 17804"/>
            </a:avLst>
          </a:prstGeom>
          <a:solidFill>
            <a:srgbClr val="FBF3DF"/>
          </a:solidFill>
          <a:ln w="12700">
            <a:solidFill>
              <a:srgbClr val="EFDDAF"/>
            </a:solidFill>
            <a:prstDash val="solid"/>
          </a:ln>
        </p:spPr>
      </p:sp>
      <p:sp>
        <p:nvSpPr>
          <p:cNvPr id="12" name="anim-g1-418"/>
          <p:cNvSpPr/>
          <p:nvPr/>
        </p:nvSpPr>
        <p:spPr>
          <a:xfrm>
            <a:off x="9076173" y="2514600"/>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نقطة مرجعية</a:t>
            </a:r>
            <a:endParaRPr lang="ar-SA" sz="2100" dirty="0"/>
          </a:p>
        </p:txBody>
      </p:sp>
      <p:sp>
        <p:nvSpPr>
          <p:cNvPr id="13" name="anim-g1-419"/>
          <p:cNvSpPr/>
          <p:nvPr/>
        </p:nvSpPr>
        <p:spPr>
          <a:xfrm>
            <a:off x="4273556" y="2514600"/>
            <a:ext cx="4555729" cy="616306"/>
          </a:xfrm>
          <a:prstGeom prst="roundRect">
            <a:avLst>
              <a:gd name="adj" fmla="val 17804"/>
            </a:avLst>
          </a:prstGeom>
          <a:solidFill>
            <a:srgbClr val="FFFFFF"/>
          </a:solidFill>
          <a:ln w="12700">
            <a:solidFill>
              <a:srgbClr val="E4DCC8"/>
            </a:solidFill>
            <a:prstDash val="solid"/>
          </a:ln>
        </p:spPr>
      </p:sp>
      <p:sp>
        <p:nvSpPr>
          <p:cNvPr id="14" name="anim-g1-420"/>
          <p:cNvSpPr/>
          <p:nvPr/>
        </p:nvSpPr>
        <p:spPr>
          <a:xfrm>
            <a:off x="4410716" y="2514600"/>
            <a:ext cx="428140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ثبّتنا الخيمة موضعًا للبداية</a:t>
            </a:r>
            <a:endParaRPr lang="ar-SA" sz="2100" dirty="0"/>
          </a:p>
        </p:txBody>
      </p:sp>
      <p:sp>
        <p:nvSpPr>
          <p:cNvPr id="15" name="anim-g1-421"/>
          <p:cNvSpPr/>
          <p:nvPr/>
        </p:nvSpPr>
        <p:spPr>
          <a:xfrm>
            <a:off x="822960" y="2514600"/>
            <a:ext cx="3340868" cy="616306"/>
          </a:xfrm>
          <a:prstGeom prst="roundRect">
            <a:avLst>
              <a:gd name="adj" fmla="val 17804"/>
            </a:avLst>
          </a:prstGeom>
          <a:solidFill>
            <a:srgbClr val="E6F4EC"/>
          </a:solidFill>
          <a:ln w="12700">
            <a:solidFill>
              <a:srgbClr val="CDE9D9"/>
            </a:solidFill>
            <a:prstDash val="solid"/>
          </a:ln>
        </p:spPr>
      </p:sp>
      <p:sp>
        <p:nvSpPr>
          <p:cNvPr id="16" name="anim-g1-422"/>
          <p:cNvSpPr/>
          <p:nvPr/>
        </p:nvSpPr>
        <p:spPr>
          <a:xfrm>
            <a:off x="960120" y="2514600"/>
            <a:ext cx="306654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علامة مرجعية على القاعدة</a:t>
            </a:r>
            <a:endParaRPr lang="ar-SA" sz="2100" dirty="0"/>
          </a:p>
        </p:txBody>
      </p:sp>
      <p:sp>
        <p:nvSpPr>
          <p:cNvPr id="17" name="anim-g2-423"/>
          <p:cNvSpPr/>
          <p:nvPr/>
        </p:nvSpPr>
        <p:spPr>
          <a:xfrm>
            <a:off x="8939013" y="3240634"/>
            <a:ext cx="2429722" cy="616306"/>
          </a:xfrm>
          <a:prstGeom prst="roundRect">
            <a:avLst>
              <a:gd name="adj" fmla="val 17804"/>
            </a:avLst>
          </a:prstGeom>
          <a:solidFill>
            <a:srgbClr val="FBF3DF"/>
          </a:solidFill>
          <a:ln w="12700">
            <a:solidFill>
              <a:srgbClr val="EFDDAF"/>
            </a:solidFill>
            <a:prstDash val="solid"/>
          </a:ln>
        </p:spPr>
      </p:sp>
      <p:sp>
        <p:nvSpPr>
          <p:cNvPr id="18" name="anim-g2-424"/>
          <p:cNvSpPr/>
          <p:nvPr/>
        </p:nvSpPr>
        <p:spPr>
          <a:xfrm>
            <a:off x="9076173" y="3240634"/>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تجربة أولى</a:t>
            </a:r>
            <a:endParaRPr lang="ar-SA" sz="2100" dirty="0"/>
          </a:p>
        </p:txBody>
      </p:sp>
      <p:sp>
        <p:nvSpPr>
          <p:cNvPr id="19" name="anim-g2-425"/>
          <p:cNvSpPr/>
          <p:nvPr/>
        </p:nvSpPr>
        <p:spPr>
          <a:xfrm>
            <a:off x="4273556" y="3240634"/>
            <a:ext cx="4555729" cy="616306"/>
          </a:xfrm>
          <a:prstGeom prst="roundRect">
            <a:avLst>
              <a:gd name="adj" fmla="val 17804"/>
            </a:avLst>
          </a:prstGeom>
          <a:solidFill>
            <a:srgbClr val="FFFFFF"/>
          </a:solidFill>
          <a:ln w="12700">
            <a:solidFill>
              <a:srgbClr val="E4DCC8"/>
            </a:solidFill>
            <a:prstDash val="solid"/>
          </a:ln>
        </p:spPr>
      </p:sp>
      <p:sp>
        <p:nvSpPr>
          <p:cNvPr id="20" name="anim-g2-426"/>
          <p:cNvSpPr/>
          <p:nvPr/>
        </p:nvSpPr>
        <p:spPr>
          <a:xfrm>
            <a:off x="4410716" y="3240634"/>
            <a:ext cx="428140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حرّكنا المنصة بقيمة أولية</a:t>
            </a:r>
            <a:endParaRPr lang="ar-SA" sz="2100" dirty="0"/>
          </a:p>
        </p:txBody>
      </p:sp>
      <p:sp>
        <p:nvSpPr>
          <p:cNvPr id="21" name="anim-g2-427"/>
          <p:cNvSpPr/>
          <p:nvPr/>
        </p:nvSpPr>
        <p:spPr>
          <a:xfrm>
            <a:off x="822960" y="3240634"/>
            <a:ext cx="3340868" cy="616306"/>
          </a:xfrm>
          <a:prstGeom prst="roundRect">
            <a:avLst>
              <a:gd name="adj" fmla="val 17804"/>
            </a:avLst>
          </a:prstGeom>
          <a:solidFill>
            <a:srgbClr val="E6F4EC"/>
          </a:solidFill>
          <a:ln w="12700">
            <a:solidFill>
              <a:srgbClr val="CDE9D9"/>
            </a:solidFill>
            <a:prstDash val="solid"/>
          </a:ln>
        </p:spPr>
      </p:sp>
      <p:sp>
        <p:nvSpPr>
          <p:cNvPr id="22" name="anim-g2-428"/>
          <p:cNvSpPr/>
          <p:nvPr/>
        </p:nvSpPr>
        <p:spPr>
          <a:xfrm>
            <a:off x="960120" y="3240634"/>
            <a:ext cx="306654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عدد الخطوات وزاوية الخطأ</a:t>
            </a:r>
            <a:endParaRPr lang="ar-SA" sz="2100" dirty="0"/>
          </a:p>
        </p:txBody>
      </p:sp>
      <p:sp>
        <p:nvSpPr>
          <p:cNvPr id="23" name="anim-g3-429"/>
          <p:cNvSpPr/>
          <p:nvPr/>
        </p:nvSpPr>
        <p:spPr>
          <a:xfrm>
            <a:off x="8939013" y="3966667"/>
            <a:ext cx="2429722" cy="616306"/>
          </a:xfrm>
          <a:prstGeom prst="roundRect">
            <a:avLst>
              <a:gd name="adj" fmla="val 17804"/>
            </a:avLst>
          </a:prstGeom>
          <a:solidFill>
            <a:srgbClr val="FBF3DF"/>
          </a:solidFill>
          <a:ln w="12700">
            <a:solidFill>
              <a:srgbClr val="EFDDAF"/>
            </a:solidFill>
            <a:prstDash val="solid"/>
          </a:ln>
        </p:spPr>
      </p:sp>
      <p:sp>
        <p:nvSpPr>
          <p:cNvPr id="24" name="anim-g3-430"/>
          <p:cNvSpPr/>
          <p:nvPr/>
        </p:nvSpPr>
        <p:spPr>
          <a:xfrm>
            <a:off x="9076173" y="3966667"/>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تعديل</a:t>
            </a:r>
            <a:endParaRPr lang="ar-SA" sz="2100" dirty="0"/>
          </a:p>
        </p:txBody>
      </p:sp>
      <p:sp>
        <p:nvSpPr>
          <p:cNvPr id="25" name="anim-g3-431"/>
          <p:cNvSpPr/>
          <p:nvPr/>
        </p:nvSpPr>
        <p:spPr>
          <a:xfrm>
            <a:off x="4273556" y="3966667"/>
            <a:ext cx="4555729" cy="616306"/>
          </a:xfrm>
          <a:prstGeom prst="roundRect">
            <a:avLst>
              <a:gd name="adj" fmla="val 17804"/>
            </a:avLst>
          </a:prstGeom>
          <a:solidFill>
            <a:srgbClr val="FFFFFF"/>
          </a:solidFill>
          <a:ln w="12700">
            <a:solidFill>
              <a:srgbClr val="E4DCC8"/>
            </a:solidFill>
            <a:prstDash val="solid"/>
          </a:ln>
        </p:spPr>
      </p:sp>
      <p:sp>
        <p:nvSpPr>
          <p:cNvPr id="26" name="anim-g3-432"/>
          <p:cNvSpPr/>
          <p:nvPr/>
        </p:nvSpPr>
        <p:spPr>
          <a:xfrm>
            <a:off x="4410716" y="3966667"/>
            <a:ext cx="428140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ضبطنا عدد الخطوات أو السرعة</a:t>
            </a:r>
            <a:endParaRPr lang="ar-SA" sz="2100" dirty="0"/>
          </a:p>
        </p:txBody>
      </p:sp>
      <p:sp>
        <p:nvSpPr>
          <p:cNvPr id="27" name="anim-g3-433"/>
          <p:cNvSpPr/>
          <p:nvPr/>
        </p:nvSpPr>
        <p:spPr>
          <a:xfrm>
            <a:off x="822960" y="3966667"/>
            <a:ext cx="3340868" cy="616306"/>
          </a:xfrm>
          <a:prstGeom prst="roundRect">
            <a:avLst>
              <a:gd name="adj" fmla="val 17804"/>
            </a:avLst>
          </a:prstGeom>
          <a:solidFill>
            <a:srgbClr val="E6F4EC"/>
          </a:solidFill>
          <a:ln w="12700">
            <a:solidFill>
              <a:srgbClr val="CDE9D9"/>
            </a:solidFill>
            <a:prstDash val="solid"/>
          </a:ln>
        </p:spPr>
      </p:sp>
      <p:sp>
        <p:nvSpPr>
          <p:cNvPr id="28" name="anim-g3-434"/>
          <p:cNvSpPr/>
          <p:nvPr/>
        </p:nvSpPr>
        <p:spPr>
          <a:xfrm>
            <a:off x="960120" y="3966667"/>
            <a:ext cx="306654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القيمة الجديدة</a:t>
            </a:r>
            <a:endParaRPr lang="ar-SA" sz="2100" dirty="0"/>
          </a:p>
        </p:txBody>
      </p:sp>
      <p:sp>
        <p:nvSpPr>
          <p:cNvPr id="29" name="anim-g4-435"/>
          <p:cNvSpPr/>
          <p:nvPr/>
        </p:nvSpPr>
        <p:spPr>
          <a:xfrm>
            <a:off x="8939013" y="4692701"/>
            <a:ext cx="2429722" cy="616306"/>
          </a:xfrm>
          <a:prstGeom prst="roundRect">
            <a:avLst>
              <a:gd name="adj" fmla="val 17804"/>
            </a:avLst>
          </a:prstGeom>
          <a:solidFill>
            <a:srgbClr val="FBF3DF"/>
          </a:solidFill>
          <a:ln w="12700">
            <a:solidFill>
              <a:srgbClr val="EFDDAF"/>
            </a:solidFill>
            <a:prstDash val="solid"/>
          </a:ln>
        </p:spPr>
      </p:sp>
      <p:sp>
        <p:nvSpPr>
          <p:cNvPr id="30" name="anim-g4-436"/>
          <p:cNvSpPr/>
          <p:nvPr/>
        </p:nvSpPr>
        <p:spPr>
          <a:xfrm>
            <a:off x="9076173" y="4692701"/>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تكرار</a:t>
            </a:r>
            <a:endParaRPr lang="ar-SA" sz="2100" dirty="0"/>
          </a:p>
        </p:txBody>
      </p:sp>
      <p:sp>
        <p:nvSpPr>
          <p:cNvPr id="31" name="anim-g4-437"/>
          <p:cNvSpPr/>
          <p:nvPr/>
        </p:nvSpPr>
        <p:spPr>
          <a:xfrm>
            <a:off x="4273556" y="4692701"/>
            <a:ext cx="4555729" cy="616306"/>
          </a:xfrm>
          <a:prstGeom prst="roundRect">
            <a:avLst>
              <a:gd name="adj" fmla="val 17804"/>
            </a:avLst>
          </a:prstGeom>
          <a:solidFill>
            <a:srgbClr val="FFFFFF"/>
          </a:solidFill>
          <a:ln w="12700">
            <a:solidFill>
              <a:srgbClr val="E4DCC8"/>
            </a:solidFill>
            <a:prstDash val="solid"/>
          </a:ln>
        </p:spPr>
      </p:sp>
      <p:sp>
        <p:nvSpPr>
          <p:cNvPr id="32" name="anim-g4-438"/>
          <p:cNvSpPr/>
          <p:nvPr/>
        </p:nvSpPr>
        <p:spPr>
          <a:xfrm>
            <a:off x="4410716" y="4692701"/>
            <a:ext cx="428140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أعدنا القياس لكل محطة</a:t>
            </a:r>
            <a:endParaRPr lang="ar-SA" sz="2100" dirty="0"/>
          </a:p>
        </p:txBody>
      </p:sp>
      <p:sp>
        <p:nvSpPr>
          <p:cNvPr id="33" name="anim-g4-439"/>
          <p:cNvSpPr/>
          <p:nvPr/>
        </p:nvSpPr>
        <p:spPr>
          <a:xfrm>
            <a:off x="822960" y="4692701"/>
            <a:ext cx="3340868" cy="616306"/>
          </a:xfrm>
          <a:prstGeom prst="roundRect">
            <a:avLst>
              <a:gd name="adj" fmla="val 17804"/>
            </a:avLst>
          </a:prstGeom>
          <a:solidFill>
            <a:srgbClr val="E6F4EC"/>
          </a:solidFill>
          <a:ln w="12700">
            <a:solidFill>
              <a:srgbClr val="CDE9D9"/>
            </a:solidFill>
            <a:prstDash val="solid"/>
          </a:ln>
        </p:spPr>
      </p:sp>
      <p:sp>
        <p:nvSpPr>
          <p:cNvPr id="34" name="anim-g4-440"/>
          <p:cNvSpPr/>
          <p:nvPr/>
        </p:nvSpPr>
        <p:spPr>
          <a:xfrm>
            <a:off x="960120" y="4692701"/>
            <a:ext cx="306654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عدد مرات التكرار</a:t>
            </a:r>
            <a:endParaRPr lang="ar-SA" sz="2100" dirty="0"/>
          </a:p>
        </p:txBody>
      </p:sp>
      <p:sp>
        <p:nvSpPr>
          <p:cNvPr id="35" name="anim-g5-441"/>
          <p:cNvSpPr/>
          <p:nvPr/>
        </p:nvSpPr>
        <p:spPr>
          <a:xfrm>
            <a:off x="8939013" y="5418734"/>
            <a:ext cx="2429722" cy="616306"/>
          </a:xfrm>
          <a:prstGeom prst="roundRect">
            <a:avLst>
              <a:gd name="adj" fmla="val 17804"/>
            </a:avLst>
          </a:prstGeom>
          <a:solidFill>
            <a:srgbClr val="FBF3DF"/>
          </a:solidFill>
          <a:ln w="12700">
            <a:solidFill>
              <a:srgbClr val="EFDDAF"/>
            </a:solidFill>
            <a:prstDash val="solid"/>
          </a:ln>
        </p:spPr>
      </p:sp>
      <p:sp>
        <p:nvSpPr>
          <p:cNvPr id="36" name="anim-g5-442"/>
          <p:cNvSpPr/>
          <p:nvPr/>
        </p:nvSpPr>
        <p:spPr>
          <a:xfrm>
            <a:off x="9076173" y="5418734"/>
            <a:ext cx="2155402"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اعتماد</a:t>
            </a:r>
            <a:endParaRPr lang="ar-SA" sz="2100" dirty="0"/>
          </a:p>
        </p:txBody>
      </p:sp>
      <p:sp>
        <p:nvSpPr>
          <p:cNvPr id="37" name="anim-g5-443"/>
          <p:cNvSpPr/>
          <p:nvPr/>
        </p:nvSpPr>
        <p:spPr>
          <a:xfrm>
            <a:off x="4273556" y="5418734"/>
            <a:ext cx="4555729" cy="616306"/>
          </a:xfrm>
          <a:prstGeom prst="roundRect">
            <a:avLst>
              <a:gd name="adj" fmla="val 17804"/>
            </a:avLst>
          </a:prstGeom>
          <a:solidFill>
            <a:srgbClr val="FFFFFF"/>
          </a:solidFill>
          <a:ln w="12700">
            <a:solidFill>
              <a:srgbClr val="E4DCC8"/>
            </a:solidFill>
            <a:prstDash val="solid"/>
          </a:ln>
        </p:spPr>
      </p:sp>
      <p:sp>
        <p:nvSpPr>
          <p:cNvPr id="38" name="anim-g5-444"/>
          <p:cNvSpPr/>
          <p:nvPr/>
        </p:nvSpPr>
        <p:spPr>
          <a:xfrm>
            <a:off x="4410716" y="5418734"/>
            <a:ext cx="4281409"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سجلنا القيمة النهائية في الكود</a:t>
            </a:r>
            <a:endParaRPr lang="ar-SA" sz="2100" dirty="0"/>
          </a:p>
        </p:txBody>
      </p:sp>
      <p:sp>
        <p:nvSpPr>
          <p:cNvPr id="39" name="anim-g5-445"/>
          <p:cNvSpPr/>
          <p:nvPr/>
        </p:nvSpPr>
        <p:spPr>
          <a:xfrm>
            <a:off x="822960" y="5418734"/>
            <a:ext cx="3340868" cy="616306"/>
          </a:xfrm>
          <a:prstGeom prst="roundRect">
            <a:avLst>
              <a:gd name="adj" fmla="val 17804"/>
            </a:avLst>
          </a:prstGeom>
          <a:solidFill>
            <a:srgbClr val="E6F4EC"/>
          </a:solidFill>
          <a:ln w="12700">
            <a:solidFill>
              <a:srgbClr val="CDE9D9"/>
            </a:solidFill>
            <a:prstDash val="solid"/>
          </a:ln>
        </p:spPr>
      </p:sp>
      <p:sp>
        <p:nvSpPr>
          <p:cNvPr id="40" name="anim-g5-446"/>
          <p:cNvSpPr/>
          <p:nvPr/>
        </p:nvSpPr>
        <p:spPr>
          <a:xfrm>
            <a:off x="960120" y="5418734"/>
            <a:ext cx="3066548"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القيمة الفعلية</a:t>
            </a:r>
            <a:endParaRPr lang="ar-SA" sz="2100" dirty="0"/>
          </a:p>
        </p:txBody>
      </p:sp>
      <p:sp>
        <p:nvSpPr>
          <p:cNvPr id="41" name="Text 3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42" name="Text 4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المعايرة  ·  ٥٩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0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00"/>
                                        <p:tgtEl>
                                          <p:spTgt spid="3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400"/>
                                        <p:tgtEl>
                                          <p:spTgt spid="3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40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00"/>
                                        <p:tgtEl>
                                          <p:spTgt spid="3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pic>
        <p:nvPicPr>
          <p:cNvPr id="2" name="Image 0" descr="C:\Users\user\projects\younes-training\heritage\.pptx-cache\s6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قاعدة الفريق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لا نغيّر أكثر من عامل واحد</a:t>
            </a:r>
            <a:endParaRPr lang="ar-SA" sz="3800" dirty="0"/>
          </a:p>
        </p:txBody>
      </p:sp>
      <p:sp>
        <p:nvSpPr>
          <p:cNvPr id="5" name="anim-g1-447"/>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48"/>
          <p:cNvSpPr/>
          <p:nvPr/>
        </p:nvSpPr>
        <p:spPr>
          <a:xfrm>
            <a:off x="10527487" y="2267712"/>
            <a:ext cx="566928" cy="566928"/>
          </a:xfrm>
          <a:prstGeom prst="roundRect">
            <a:avLst>
              <a:gd name="adj" fmla="val 32258"/>
            </a:avLst>
          </a:prstGeom>
          <a:solidFill>
            <a:srgbClr val="F7E6BC"/>
          </a:solidFill>
          <a:ln/>
        </p:spPr>
      </p:sp>
      <p:sp>
        <p:nvSpPr>
          <p:cNvPr id="7" name="anim-g1-44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1️⃣</a:t>
            </a:r>
            <a:endParaRPr lang="ar-SA" sz="2200" dirty="0"/>
          </a:p>
        </p:txBody>
      </p:sp>
      <p:sp>
        <p:nvSpPr>
          <p:cNvPr id="8" name="anim-g1-450"/>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عامل واحد</a:t>
            </a:r>
            <a:endParaRPr lang="ar-SA" sz="2200" dirty="0"/>
          </a:p>
        </p:txBody>
      </p:sp>
      <p:sp>
        <p:nvSpPr>
          <p:cNvPr id="9" name="anim-g1-451"/>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لو غيّرنا الخطوات والسرعة معًا وتحسّن الأداء… فمن السبب؟ لا نعرف</a:t>
            </a:r>
            <a:endParaRPr lang="ar-SA" sz="1900" dirty="0"/>
          </a:p>
        </p:txBody>
      </p:sp>
      <p:sp>
        <p:nvSpPr>
          <p:cNvPr id="10" name="anim-g2-452"/>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53"/>
          <p:cNvSpPr/>
          <p:nvPr/>
        </p:nvSpPr>
        <p:spPr>
          <a:xfrm>
            <a:off x="5117440" y="2267712"/>
            <a:ext cx="566928" cy="566928"/>
          </a:xfrm>
          <a:prstGeom prst="roundRect">
            <a:avLst>
              <a:gd name="adj" fmla="val 32258"/>
            </a:avLst>
          </a:prstGeom>
          <a:solidFill>
            <a:srgbClr val="F7E6BC"/>
          </a:solidFill>
          <a:ln/>
        </p:spPr>
      </p:sp>
      <p:sp>
        <p:nvSpPr>
          <p:cNvPr id="12" name="anim-g2-454"/>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55"/>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سجّل ثم قرّر</a:t>
            </a:r>
            <a:endParaRPr lang="ar-SA" sz="2200" dirty="0"/>
          </a:p>
        </p:txBody>
      </p:sp>
      <p:sp>
        <p:nvSpPr>
          <p:cNvPr id="14" name="anim-g2-456"/>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التاريخ، والمكوّن، والتعديل، والأثر بعد إعادة الاختبار</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المعايرة  ·  ٦١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تطوير مخطط</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مستشعر البداية (Home Sensor)</a:t>
            </a:r>
            <a:endParaRPr lang="ar-SA" sz="3800" dirty="0"/>
          </a:p>
        </p:txBody>
      </p:sp>
      <p:sp>
        <p:nvSpPr>
          <p:cNvPr id="5" name="anim-g1-457"/>
          <p:cNvSpPr/>
          <p:nvPr/>
        </p:nvSpPr>
        <p:spPr>
          <a:xfrm>
            <a:off x="6233008"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58"/>
          <p:cNvSpPr/>
          <p:nvPr/>
        </p:nvSpPr>
        <p:spPr>
          <a:xfrm>
            <a:off x="10527487" y="2267712"/>
            <a:ext cx="566928" cy="566928"/>
          </a:xfrm>
          <a:prstGeom prst="roundRect">
            <a:avLst>
              <a:gd name="adj" fmla="val 32258"/>
            </a:avLst>
          </a:prstGeom>
          <a:solidFill>
            <a:srgbClr val="F7E6BC"/>
          </a:solidFill>
          <a:ln/>
        </p:spPr>
      </p:sp>
      <p:sp>
        <p:nvSpPr>
          <p:cNvPr id="7" name="anim-g1-45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60"/>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الفكرة</a:t>
            </a:r>
            <a:endParaRPr lang="ar-SA" sz="2200" dirty="0"/>
          </a:p>
        </p:txBody>
      </p:sp>
      <p:sp>
        <p:nvSpPr>
          <p:cNvPr id="9" name="anim-g1-461"/>
          <p:cNvSpPr/>
          <p:nvPr/>
        </p:nvSpPr>
        <p:spPr>
          <a:xfrm>
            <a:off x="6507328"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حساس صغير (مغناطيسي أو ضوئي) عند محطة الخيمة</a:t>
            </a:r>
            <a:endParaRPr lang="ar-SA" sz="1900" dirty="0"/>
          </a:p>
        </p:txBody>
      </p:sp>
      <p:sp>
        <p:nvSpPr>
          <p:cNvPr id="10" name="anim-g2-462"/>
          <p:cNvSpPr/>
          <p:nvPr/>
        </p:nvSpPr>
        <p:spPr>
          <a:xfrm>
            <a:off x="822960" y="2011680"/>
            <a:ext cx="5135728" cy="4023360"/>
          </a:xfrm>
          <a:prstGeom prst="roundRect">
            <a:avLst>
              <a:gd name="adj" fmla="val 4091"/>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63"/>
          <p:cNvSpPr/>
          <p:nvPr/>
        </p:nvSpPr>
        <p:spPr>
          <a:xfrm>
            <a:off x="5117440" y="2267712"/>
            <a:ext cx="566928" cy="566928"/>
          </a:xfrm>
          <a:prstGeom prst="roundRect">
            <a:avLst>
              <a:gd name="adj" fmla="val 32258"/>
            </a:avLst>
          </a:prstGeom>
          <a:solidFill>
            <a:srgbClr val="F7E6BC"/>
          </a:solidFill>
          <a:ln/>
        </p:spPr>
      </p:sp>
      <p:sp>
        <p:nvSpPr>
          <p:cNvPr id="12" name="anim-g2-464"/>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65"/>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الفائدة</a:t>
            </a:r>
            <a:endParaRPr lang="ar-SA" sz="2200" dirty="0"/>
          </a:p>
        </p:txBody>
      </p:sp>
      <p:sp>
        <p:nvSpPr>
          <p:cNvPr id="14" name="anim-g2-466"/>
          <p:cNvSpPr/>
          <p:nvPr/>
        </p:nvSpPr>
        <p:spPr>
          <a:xfrm>
            <a:off x="1097280" y="3493008"/>
            <a:ext cx="458708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بعد كل جولة تعود المنصة حتى يراها الحساس: الخطأ يرجع صفرًا مهما تراكم</a:t>
            </a:r>
            <a:endParaRPr lang="ar-SA" sz="1900" dirty="0"/>
          </a:p>
        </p:txBody>
      </p:sp>
      <p:sp>
        <p:nvSpPr>
          <p:cNvPr id="15" name="Text 1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16" name="Text 1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المعايرة  ·  ٦٢</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pic>
        <p:nvPicPr>
          <p:cNvPr id="2" name="Image 0" descr="C:\Users\user\projects\younes-training\heritage\.pptx-cache\s63-0.jpg">    </p:cNvPr>
          <p:cNvPicPr>
            <a:picLocks noChangeAspect="1"/>
          </p:cNvPicPr>
          <p:nvPr/>
        </p:nvPicPr>
        <p:blipFill>
          <a:blip r:embed="rId1"/>
          <a:stretch>
            <a:fillRect/>
          </a:stretch>
        </p:blipFill>
        <p:spPr>
          <a:xfrm>
            <a:off x="0" y="0"/>
            <a:ext cx="12191695" cy="6858000"/>
          </a:xfrm>
          <a:prstGeom prst="rect">
            <a:avLst/>
          </a:prstGeom>
        </p:spPr>
      </p:pic>
      <p:pic>
        <p:nvPicPr>
          <p:cNvPr id="3" name="anim-g1-467" descr="C:\Users\user\projects\younes-training\heritage\.pptx-cache\s63-1.jpg">    </p:cNvPr>
          <p:cNvPicPr>
            <a:picLocks noChangeAspect="1"/>
          </p:cNvPicPr>
          <p:nvPr/>
        </p:nvPicPr>
        <p:blipFill>
          <a:blip r:embed="rId2"/>
          <a:stretch>
            <a:fillRect/>
          </a:stretch>
        </p:blipFill>
        <p:spPr>
          <a:xfrm>
            <a:off x="0" y="0"/>
            <a:ext cx="12191695" cy="6858000"/>
          </a:xfrm>
          <a:prstGeom prst="rect">
            <a:avLst/>
          </a:prstGeom>
        </p:spPr>
      </p:pic>
      <p:pic>
        <p:nvPicPr>
          <p:cNvPr id="4" name="anim-g2-468" descr="C:\Users\user\projects\younes-training\heritage\.pptx-cache\s63-2.jpg">    </p:cNvPr>
          <p:cNvPicPr>
            <a:picLocks noChangeAspect="1"/>
          </p:cNvPicPr>
          <p:nvPr/>
        </p:nvPicPr>
        <p:blipFill>
          <a:blip r:embed="rId3"/>
          <a:stretch>
            <a:fillRect/>
          </a:stretch>
        </p:blipFill>
        <p:spPr>
          <a:xfrm>
            <a:off x="0" y="0"/>
            <a:ext cx="12191695" cy="6858000"/>
          </a:xfrm>
          <a:prstGeom prst="rect">
            <a:avLst/>
          </a:prstGeom>
        </p:spPr>
      </p:pic>
      <p:pic>
        <p:nvPicPr>
          <p:cNvPr id="5" name="anim-g3-469" descr="C:\Users\user\projects\younes-training\heritage\.pptx-cache\s63-3.jpg">    </p:cNvPr>
          <p:cNvPicPr>
            <a:picLocks noChangeAspect="1"/>
          </p:cNvPicPr>
          <p:nvPr/>
        </p:nvPicPr>
        <p:blipFill>
          <a:blip r:embed="rId4"/>
          <a:stretch>
            <a:fillRect/>
          </a:stretch>
        </p:blipFill>
        <p:spPr>
          <a:xfrm>
            <a:off x="0" y="0"/>
            <a:ext cx="12191695" cy="6858000"/>
          </a:xfrm>
          <a:prstGeom prst="rect">
            <a:avLst/>
          </a:prstGeom>
        </p:spPr>
      </p:pic>
      <p:pic>
        <p:nvPicPr>
          <p:cNvPr id="6" name="anim-g4-470" descr="C:\Users\user\projects\younes-training\heritage\.pptx-cache\s63-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الرقم في الكود ليس تخمينًا…</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إنه نتيجة عشر محاولات، وعامل واحد، وسجلّ صادق</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المعايرة  ·  ٦٤</a:t>
            </a:r>
            <a:endParaRPr lang="ar-SA"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٧</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٧</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المكوّن الخامس: الصوت</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DFPlayer Mini وحده… ثم المنصة تصل فتحكي القصة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٥. الصوت + القصة  ·  ٦٥</a:t>
            </a:r>
            <a:endParaRPr lang="ar-SA"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471"/>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472"/>
          <p:cNvSpPr/>
          <p:nvPr/>
        </p:nvSpPr>
        <p:spPr>
          <a:xfrm>
            <a:off x="10573207" y="2109978"/>
            <a:ext cx="566928" cy="566928"/>
          </a:xfrm>
          <a:prstGeom prst="ellipse">
            <a:avLst/>
          </a:prstGeom>
          <a:solidFill>
            <a:srgbClr val="D9AE4B"/>
          </a:solidFill>
          <a:ln/>
        </p:spPr>
      </p:sp>
      <p:sp>
        <p:nvSpPr>
          <p:cNvPr id="7" name="anim-g1-473"/>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474"/>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تجهّز بطاقة الذاكرة بأسماء ملفات صحيحة</a:t>
            </a:r>
            <a:endParaRPr lang="ar-SA" sz="2400" dirty="0"/>
          </a:p>
        </p:txBody>
      </p:sp>
      <p:sp>
        <p:nvSpPr>
          <p:cNvPr id="9" name="anim-g2-475"/>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476"/>
          <p:cNvSpPr/>
          <p:nvPr/>
        </p:nvSpPr>
        <p:spPr>
          <a:xfrm>
            <a:off x="10573207" y="3166110"/>
            <a:ext cx="566928" cy="566928"/>
          </a:xfrm>
          <a:prstGeom prst="ellipse">
            <a:avLst/>
          </a:prstGeom>
          <a:solidFill>
            <a:srgbClr val="D9AE4B"/>
          </a:solidFill>
          <a:ln/>
        </p:spPr>
      </p:sp>
      <p:sp>
        <p:nvSpPr>
          <p:cNvPr id="11" name="anim-g2-477"/>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478"/>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المشغّل على المنفذ التسلسلي الثاني</a:t>
            </a:r>
            <a:endParaRPr lang="ar-SA" sz="2400" dirty="0"/>
          </a:p>
        </p:txBody>
      </p:sp>
      <p:sp>
        <p:nvSpPr>
          <p:cNvPr id="13" name="anim-g3-479"/>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480"/>
          <p:cNvSpPr/>
          <p:nvPr/>
        </p:nvSpPr>
        <p:spPr>
          <a:xfrm>
            <a:off x="10573207" y="4222242"/>
            <a:ext cx="566928" cy="566928"/>
          </a:xfrm>
          <a:prstGeom prst="ellipse">
            <a:avLst/>
          </a:prstGeom>
          <a:solidFill>
            <a:srgbClr val="D9AE4B"/>
          </a:solidFill>
          <a:ln/>
        </p:spPr>
      </p:sp>
      <p:sp>
        <p:nvSpPr>
          <p:cNvPr id="15" name="anim-g3-481"/>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482"/>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تشغّل ملفًا برقمه وتضبط الصوت</a:t>
            </a:r>
            <a:endParaRPr lang="ar-SA" sz="2400" dirty="0"/>
          </a:p>
        </p:txBody>
      </p:sp>
      <p:sp>
        <p:nvSpPr>
          <p:cNvPr id="17" name="anim-g4-483"/>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484"/>
          <p:cNvSpPr/>
          <p:nvPr/>
        </p:nvSpPr>
        <p:spPr>
          <a:xfrm>
            <a:off x="10573207" y="5278374"/>
            <a:ext cx="566928" cy="566928"/>
          </a:xfrm>
          <a:prstGeom prst="ellipse">
            <a:avLst/>
          </a:prstGeom>
          <a:solidFill>
            <a:srgbClr val="D9AE4B"/>
          </a:solidFill>
          <a:ln/>
        </p:spPr>
      </p:sp>
      <p:sp>
        <p:nvSpPr>
          <p:cNvPr id="19" name="anim-g4-485"/>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486"/>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كل محطة تروي معلومتها</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٥. الصوت + القصة  ·  ٦٦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735263" y="457200"/>
            <a:ext cx="2633472" cy="457200"/>
          </a:xfrm>
          <a:prstGeom prst="roundRect">
            <a:avLst>
              <a:gd name="adj" fmla="val 50000"/>
            </a:avLst>
          </a:prstGeom>
          <a:solidFill>
            <a:srgbClr val="F6EBCF"/>
          </a:solidFill>
          <a:ln/>
        </p:spPr>
      </p:sp>
      <p:sp>
        <p:nvSpPr>
          <p:cNvPr id="3" name="Text 1"/>
          <p:cNvSpPr/>
          <p:nvPr/>
        </p:nvSpPr>
        <p:spPr>
          <a:xfrm>
            <a:off x="8735263" y="457200"/>
            <a:ext cx="263347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بطاقة الذاكرة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ملفات مرقّمة… ومحتوى قابل للتغيير</a:t>
            </a:r>
            <a:endParaRPr lang="ar-SA" sz="3200" dirty="0"/>
          </a:p>
        </p:txBody>
      </p:sp>
      <p:sp>
        <p:nvSpPr>
          <p:cNvPr id="5" name="anim-g1-487"/>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488"/>
          <p:cNvSpPr/>
          <p:nvPr/>
        </p:nvSpPr>
        <p:spPr>
          <a:xfrm>
            <a:off x="10527487" y="2267712"/>
            <a:ext cx="566928" cy="566928"/>
          </a:xfrm>
          <a:prstGeom prst="roundRect">
            <a:avLst>
              <a:gd name="adj" fmla="val 32258"/>
            </a:avLst>
          </a:prstGeom>
          <a:solidFill>
            <a:srgbClr val="F7E6BC"/>
          </a:solidFill>
          <a:ln/>
        </p:spPr>
      </p:sp>
      <p:sp>
        <p:nvSpPr>
          <p:cNvPr id="7" name="anim-g1-48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49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0001.mp3</a:t>
            </a:r>
            <a:endParaRPr lang="ar-SA" sz="2200" dirty="0"/>
          </a:p>
        </p:txBody>
      </p:sp>
      <p:sp>
        <p:nvSpPr>
          <p:cNvPr id="9" name="anim-g1-491"/>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الترحيب</a:t>
            </a:r>
            <a:endParaRPr lang="ar-SA" sz="1900" dirty="0"/>
          </a:p>
        </p:txBody>
      </p:sp>
      <p:sp>
        <p:nvSpPr>
          <p:cNvPr id="10" name="anim-g2-492"/>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493"/>
          <p:cNvSpPr/>
          <p:nvPr/>
        </p:nvSpPr>
        <p:spPr>
          <a:xfrm>
            <a:off x="6920789" y="2267712"/>
            <a:ext cx="566928" cy="566928"/>
          </a:xfrm>
          <a:prstGeom prst="roundRect">
            <a:avLst>
              <a:gd name="adj" fmla="val 32258"/>
            </a:avLst>
          </a:prstGeom>
          <a:solidFill>
            <a:srgbClr val="F7E6BC"/>
          </a:solidFill>
          <a:ln/>
        </p:spPr>
      </p:sp>
      <p:sp>
        <p:nvSpPr>
          <p:cNvPr id="12" name="anim-g2-49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49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0002 – 0005</a:t>
            </a:r>
            <a:endParaRPr lang="ar-SA" sz="2200" dirty="0"/>
          </a:p>
        </p:txBody>
      </p:sp>
      <p:sp>
        <p:nvSpPr>
          <p:cNvPr id="14" name="anim-g2-496"/>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الخيمة، الفخار، الملابس، السيف</a:t>
            </a:r>
            <a:endParaRPr lang="ar-SA" sz="1900" dirty="0"/>
          </a:p>
        </p:txBody>
      </p:sp>
      <p:sp>
        <p:nvSpPr>
          <p:cNvPr id="15" name="anim-g3-497"/>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498"/>
          <p:cNvSpPr/>
          <p:nvPr/>
        </p:nvSpPr>
        <p:spPr>
          <a:xfrm>
            <a:off x="3314090" y="2267712"/>
            <a:ext cx="566928" cy="566928"/>
          </a:xfrm>
          <a:prstGeom prst="roundRect">
            <a:avLst>
              <a:gd name="adj" fmla="val 32258"/>
            </a:avLst>
          </a:prstGeom>
          <a:solidFill>
            <a:srgbClr val="F7E6BC"/>
          </a:solidFill>
          <a:ln/>
        </p:spPr>
      </p:sp>
      <p:sp>
        <p:nvSpPr>
          <p:cNvPr id="17" name="anim-g3-49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0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0006 · 0007</a:t>
            </a:r>
            <a:endParaRPr lang="ar-SA" sz="2200" dirty="0"/>
          </a:p>
        </p:txBody>
      </p:sp>
      <p:sp>
        <p:nvSpPr>
          <p:cNvPr id="19" name="anim-g3-501"/>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أحسنت · حاول مرة أخرى</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٥. الصوت + القصة  ·  ٦٧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pic>
        <p:nvPicPr>
          <p:cNvPr id="2" name="Image 0" descr="C:\Users\user\projects\younes-training\heritage\.pptx-cache\s68-0.jpg">    </p:cNvPr>
          <p:cNvPicPr>
            <a:picLocks noChangeAspect="1"/>
          </p:cNvPicPr>
          <p:nvPr/>
        </p:nvPicPr>
        <p:blipFill>
          <a:blip r:embed="rId1"/>
          <a:stretch>
            <a:fillRect/>
          </a:stretch>
        </p:blipFill>
        <p:spPr>
          <a:xfrm>
            <a:off x="0" y="0"/>
            <a:ext cx="12191695" cy="6858000"/>
          </a:xfrm>
          <a:prstGeom prst="rect">
            <a:avLst/>
          </a:prstGeom>
        </p:spPr>
      </p:pic>
      <p:pic>
        <p:nvPicPr>
          <p:cNvPr id="3" name="anim-g1-502" descr="C:\Users\user\projects\younes-training\heritage\.pptx-cache\s68-1.jpg">    </p:cNvPr>
          <p:cNvPicPr>
            <a:picLocks noChangeAspect="1"/>
          </p:cNvPicPr>
          <p:nvPr/>
        </p:nvPicPr>
        <p:blipFill>
          <a:blip r:embed="rId2"/>
          <a:stretch>
            <a:fillRect/>
          </a:stretch>
        </p:blipFill>
        <p:spPr>
          <a:xfrm>
            <a:off x="0" y="0"/>
            <a:ext cx="12191695" cy="6858000"/>
          </a:xfrm>
          <a:prstGeom prst="rect">
            <a:avLst/>
          </a:prstGeom>
        </p:spPr>
      </p:pic>
      <p:pic>
        <p:nvPicPr>
          <p:cNvPr id="4" name="anim-g2-503" descr="C:\Users\user\projects\younes-training\heritage\.pptx-cache\s68-2.jpg">    </p:cNvPr>
          <p:cNvPicPr>
            <a:picLocks noChangeAspect="1"/>
          </p:cNvPicPr>
          <p:nvPr/>
        </p:nvPicPr>
        <p:blipFill>
          <a:blip r:embed="rId3"/>
          <a:stretch>
            <a:fillRect/>
          </a:stretch>
        </p:blipFill>
        <p:spPr>
          <a:xfrm>
            <a:off x="0" y="0"/>
            <a:ext cx="12191695" cy="6858000"/>
          </a:xfrm>
          <a:prstGeom prst="rect">
            <a:avLst/>
          </a:prstGeom>
        </p:spPr>
      </p:pic>
      <p:pic>
        <p:nvPicPr>
          <p:cNvPr id="5" name="anim-g3-504" descr="C:\Users\user\projects\younes-training\heritage\.pptx-cache\s68-3.jpg">    </p:cNvPr>
          <p:cNvPicPr>
            <a:picLocks noChangeAspect="1"/>
          </p:cNvPicPr>
          <p:nvPr/>
        </p:nvPicPr>
        <p:blipFill>
          <a:blip r:embed="rId4"/>
          <a:stretch>
            <a:fillRect/>
          </a:stretch>
        </p:blipFill>
        <p:spPr>
          <a:xfrm>
            <a:off x="0" y="0"/>
            <a:ext cx="12191695" cy="6858000"/>
          </a:xfrm>
          <a:prstGeom prst="rect">
            <a:avLst/>
          </a:prstGeom>
        </p:spPr>
      </p:pic>
      <p:pic>
        <p:nvPicPr>
          <p:cNvPr id="6" name="anim-g4-505" descr="C:\Users\user\projects\younes-training\heritage\.pptx-cache\s68-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pic>
        <p:nvPicPr>
          <p:cNvPr id="2" name="Image 0" descr="C:\Users\user\projects\younes-training\heritage\.pptx-cache\s6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pic>
        <p:nvPicPr>
          <p:cNvPr id="2" name="Image 0" descr="C:\Users\user\projects\younes-training\heritage\.pptx-cache\s70-0.jpg">    </p:cNvPr>
          <p:cNvPicPr>
            <a:picLocks noChangeAspect="1"/>
          </p:cNvPicPr>
          <p:nvPr/>
        </p:nvPicPr>
        <p:blipFill>
          <a:blip r:embed="rId1"/>
          <a:stretch>
            <a:fillRect/>
          </a:stretch>
        </p:blipFill>
        <p:spPr>
          <a:xfrm>
            <a:off x="0" y="0"/>
            <a:ext cx="12191695" cy="6858000"/>
          </a:xfrm>
          <a:prstGeom prst="rect">
            <a:avLst/>
          </a:prstGeom>
        </p:spPr>
      </p:pic>
      <p:pic>
        <p:nvPicPr>
          <p:cNvPr id="3" name="anim-g1-506" descr="C:\Users\user\projects\younes-training\heritage\.pptx-cache\s70-1.jpg">    </p:cNvPr>
          <p:cNvPicPr>
            <a:picLocks noChangeAspect="1"/>
          </p:cNvPicPr>
          <p:nvPr/>
        </p:nvPicPr>
        <p:blipFill>
          <a:blip r:embed="rId2"/>
          <a:stretch>
            <a:fillRect/>
          </a:stretch>
        </p:blipFill>
        <p:spPr>
          <a:xfrm>
            <a:off x="0" y="0"/>
            <a:ext cx="12191695" cy="6858000"/>
          </a:xfrm>
          <a:prstGeom prst="rect">
            <a:avLst/>
          </a:prstGeom>
        </p:spPr>
      </p:pic>
      <p:pic>
        <p:nvPicPr>
          <p:cNvPr id="4" name="anim-g2-507" descr="C:\Users\user\projects\younes-training\heritage\.pptx-cache\s70-2.jpg">    </p:cNvPr>
          <p:cNvPicPr>
            <a:picLocks noChangeAspect="1"/>
          </p:cNvPicPr>
          <p:nvPr/>
        </p:nvPicPr>
        <p:blipFill>
          <a:blip r:embed="rId3"/>
          <a:stretch>
            <a:fillRect/>
          </a:stretch>
        </p:blipFill>
        <p:spPr>
          <a:xfrm>
            <a:off x="0" y="0"/>
            <a:ext cx="12191695" cy="6858000"/>
          </a:xfrm>
          <a:prstGeom prst="rect">
            <a:avLst/>
          </a:prstGeom>
        </p:spPr>
      </p:pic>
      <p:pic>
        <p:nvPicPr>
          <p:cNvPr id="5" name="anim-g3-508" descr="C:\Users\user\projects\younes-training\heritage\.pptx-cache\s70-3.jpg">    </p:cNvPr>
          <p:cNvPicPr>
            <a:picLocks noChangeAspect="1"/>
          </p:cNvPicPr>
          <p:nvPr/>
        </p:nvPicPr>
        <p:blipFill>
          <a:blip r:embed="rId4"/>
          <a:stretch>
            <a:fillRect/>
          </a:stretch>
        </p:blipFill>
        <p:spPr>
          <a:xfrm>
            <a:off x="0" y="0"/>
            <a:ext cx="12191695" cy="6858000"/>
          </a:xfrm>
          <a:prstGeom prst="rect">
            <a:avLst/>
          </a:prstGeom>
        </p:spPr>
      </p:pic>
      <p:pic>
        <p:nvPicPr>
          <p:cNvPr id="6" name="anim-g4-509" descr="C:\Users\user\projects\younes-training\heritage\.pptx-cache\s70-4.jpg">    </p:cNvPr>
          <p:cNvPicPr>
            <a:picLocks noChangeAspect="1"/>
          </p:cNvPicPr>
          <p:nvPr/>
        </p:nvPicPr>
        <p:blipFill>
          <a:blip r:embed="rId5"/>
          <a:stretch>
            <a:fillRect/>
          </a:stretch>
        </p:blipFill>
        <p:spPr>
          <a:xfrm>
            <a:off x="0" y="0"/>
            <a:ext cx="12191695" cy="6858000"/>
          </a:xfrm>
          <a:prstGeom prst="rect">
            <a:avLst/>
          </a:prstGeom>
        </p:spPr>
      </p:pic>
      <p:pic>
        <p:nvPicPr>
          <p:cNvPr id="7" name="anim-g5-510" descr="C:\Users\user\projects\younes-training\heritage\.pptx-cache\s70-5.jpg">    </p:cNvPr>
          <p:cNvPicPr>
            <a:picLocks noChangeAspect="1"/>
          </p:cNvPicPr>
          <p:nvPr/>
        </p:nvPicPr>
        <p:blipFill>
          <a:blip r:embed="rId6"/>
          <a:stretch>
            <a:fillRect/>
          </a:stretch>
        </p:blipFill>
        <p:spPr>
          <a:xfrm>
            <a:off x="0" y="0"/>
            <a:ext cx="12191695" cy="6858000"/>
          </a:xfrm>
          <a:prstGeom prst="rect">
            <a:avLst/>
          </a:prstGeom>
        </p:spPr>
      </p:pic>
      <p:pic>
        <p:nvPicPr>
          <p:cNvPr id="8" name="anim-g6-511" descr="C:\Users\user\projects\younes-training\heritage\.pptx-cache\s70-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pic>
        <p:nvPicPr>
          <p:cNvPr id="2" name="Image 0" descr="C:\Users\user\projects\younes-training\heritage\.pptx-cache\s71-0.jpg">    </p:cNvPr>
          <p:cNvPicPr>
            <a:picLocks noChangeAspect="1"/>
          </p:cNvPicPr>
          <p:nvPr/>
        </p:nvPicPr>
        <p:blipFill>
          <a:blip r:embed="rId1"/>
          <a:stretch>
            <a:fillRect/>
          </a:stretch>
        </p:blipFill>
        <p:spPr>
          <a:xfrm>
            <a:off x="0" y="0"/>
            <a:ext cx="12191695" cy="6858000"/>
          </a:xfrm>
          <a:prstGeom prst="rect">
            <a:avLst/>
          </a:prstGeom>
        </p:spPr>
      </p:pic>
      <p:pic>
        <p:nvPicPr>
          <p:cNvPr id="3" name="anim-g1-512" descr="C:\Users\user\projects\younes-training\heritage\.pptx-cache\s71-1.jpg">    </p:cNvPr>
          <p:cNvPicPr>
            <a:picLocks noChangeAspect="1"/>
          </p:cNvPicPr>
          <p:nvPr/>
        </p:nvPicPr>
        <p:blipFill>
          <a:blip r:embed="rId2"/>
          <a:stretch>
            <a:fillRect/>
          </a:stretch>
        </p:blipFill>
        <p:spPr>
          <a:xfrm>
            <a:off x="0" y="0"/>
            <a:ext cx="12191695" cy="6858000"/>
          </a:xfrm>
          <a:prstGeom prst="rect">
            <a:avLst/>
          </a:prstGeom>
        </p:spPr>
      </p:pic>
      <p:pic>
        <p:nvPicPr>
          <p:cNvPr id="4" name="anim-g2-513" descr="C:\Users\user\projects\younes-training\heritage\.pptx-cache\s71-2.jpg">    </p:cNvPr>
          <p:cNvPicPr>
            <a:picLocks noChangeAspect="1"/>
          </p:cNvPicPr>
          <p:nvPr/>
        </p:nvPicPr>
        <p:blipFill>
          <a:blip r:embed="rId3"/>
          <a:stretch>
            <a:fillRect/>
          </a:stretch>
        </p:blipFill>
        <p:spPr>
          <a:xfrm>
            <a:off x="0" y="0"/>
            <a:ext cx="12191695" cy="6858000"/>
          </a:xfrm>
          <a:prstGeom prst="rect">
            <a:avLst/>
          </a:prstGeom>
        </p:spPr>
      </p:pic>
      <p:pic>
        <p:nvPicPr>
          <p:cNvPr id="5" name="anim-g3-514" descr="C:\Users\user\projects\younes-training\heritage\.pptx-cache\s71-3.jpg">    </p:cNvPr>
          <p:cNvPicPr>
            <a:picLocks noChangeAspect="1"/>
          </p:cNvPicPr>
          <p:nvPr/>
        </p:nvPicPr>
        <p:blipFill>
          <a:blip r:embed="rId4"/>
          <a:stretch>
            <a:fillRect/>
          </a:stretch>
        </p:blipFill>
        <p:spPr>
          <a:xfrm>
            <a:off x="0" y="0"/>
            <a:ext cx="12191695" cy="6858000"/>
          </a:xfrm>
          <a:prstGeom prst="rect">
            <a:avLst/>
          </a:prstGeom>
        </p:spPr>
      </p:pic>
      <p:pic>
        <p:nvPicPr>
          <p:cNvPr id="6" name="anim-g4-515" descr="C:\Users\user\projects\younes-training\heritage\.pptx-cache\s71-4.jpg">    </p:cNvPr>
          <p:cNvPicPr>
            <a:picLocks noChangeAspect="1"/>
          </p:cNvPicPr>
          <p:nvPr/>
        </p:nvPicPr>
        <p:blipFill>
          <a:blip r:embed="rId5"/>
          <a:stretch>
            <a:fillRect/>
          </a:stretch>
        </p:blipFill>
        <p:spPr>
          <a:xfrm>
            <a:off x="0" y="0"/>
            <a:ext cx="12191695" cy="6858000"/>
          </a:xfrm>
          <a:prstGeom prst="rect">
            <a:avLst/>
          </a:prstGeom>
        </p:spPr>
      </p:pic>
      <p:pic>
        <p:nvPicPr>
          <p:cNvPr id="7" name="anim-g5-516" descr="C:\Users\user\projects\younes-training\heritage\.pptx-cache\s71-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pic>
        <p:nvPicPr>
          <p:cNvPr id="2" name="Image 0" descr="C:\Users\user\projects\younes-training\heritage\.pptx-cache\s72-0.jpg">    </p:cNvPr>
          <p:cNvPicPr>
            <a:picLocks noChangeAspect="1"/>
          </p:cNvPicPr>
          <p:nvPr/>
        </p:nvPicPr>
        <p:blipFill>
          <a:blip r:embed="rId1"/>
          <a:stretch>
            <a:fillRect/>
          </a:stretch>
        </p:blipFill>
        <p:spPr>
          <a:xfrm>
            <a:off x="0" y="0"/>
            <a:ext cx="12191695" cy="6858000"/>
          </a:xfrm>
          <a:prstGeom prst="rect">
            <a:avLst/>
          </a:prstGeom>
        </p:spPr>
      </p:pic>
      <p:pic>
        <p:nvPicPr>
          <p:cNvPr id="3" name="anim-g1-517" descr="C:\Users\user\projects\younes-training\heritage\.pptx-cache\s72-1.jpg">    </p:cNvPr>
          <p:cNvPicPr>
            <a:picLocks noChangeAspect="1"/>
          </p:cNvPicPr>
          <p:nvPr/>
        </p:nvPicPr>
        <p:blipFill>
          <a:blip r:embed="rId2"/>
          <a:stretch>
            <a:fillRect/>
          </a:stretch>
        </p:blipFill>
        <p:spPr>
          <a:xfrm>
            <a:off x="0" y="0"/>
            <a:ext cx="12191695" cy="6858000"/>
          </a:xfrm>
          <a:prstGeom prst="rect">
            <a:avLst/>
          </a:prstGeom>
        </p:spPr>
      </p:pic>
      <p:pic>
        <p:nvPicPr>
          <p:cNvPr id="4" name="anim-g2-518" descr="C:\Users\user\projects\younes-training\heritage\.pptx-cache\s72-2.jpg">    </p:cNvPr>
          <p:cNvPicPr>
            <a:picLocks noChangeAspect="1"/>
          </p:cNvPicPr>
          <p:nvPr/>
        </p:nvPicPr>
        <p:blipFill>
          <a:blip r:embed="rId3"/>
          <a:stretch>
            <a:fillRect/>
          </a:stretch>
        </p:blipFill>
        <p:spPr>
          <a:xfrm>
            <a:off x="0" y="0"/>
            <a:ext cx="12191695" cy="6858000"/>
          </a:xfrm>
          <a:prstGeom prst="rect">
            <a:avLst/>
          </a:prstGeom>
        </p:spPr>
      </p:pic>
      <p:pic>
        <p:nvPicPr>
          <p:cNvPr id="5" name="anim-g3-519" descr="C:\Users\user\projects\younes-training\heritage\.pptx-cache\s72-3.jpg">    </p:cNvPr>
          <p:cNvPicPr>
            <a:picLocks noChangeAspect="1"/>
          </p:cNvPicPr>
          <p:nvPr/>
        </p:nvPicPr>
        <p:blipFill>
          <a:blip r:embed="rId4"/>
          <a:stretch>
            <a:fillRect/>
          </a:stretch>
        </p:blipFill>
        <p:spPr>
          <a:xfrm>
            <a:off x="0" y="0"/>
            <a:ext cx="12191695" cy="6858000"/>
          </a:xfrm>
          <a:prstGeom prst="rect">
            <a:avLst/>
          </a:prstGeom>
        </p:spPr>
      </p:pic>
      <p:pic>
        <p:nvPicPr>
          <p:cNvPr id="6" name="anim-g4-520" descr="C:\Users\user\projects\younes-training\heritage\.pptx-cache\s72-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ملف صغير على بطاقة…</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يجعل الخيمة تحكي عن الضيافة، والسيف يحكي عن العرضة</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٥. الصوت + القصة  ·  ٧٣</a:t>
            </a:r>
            <a:endParaRPr lang="ar-SA"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٨</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٨</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المكوّن السادس: السؤال والإجابة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ليد أخضر وليد أحمر وزرّان… والطفل يجيب</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٦. السؤال والإجابة  ·  ٧٤</a:t>
            </a:r>
            <a:endParaRPr lang="ar-SA"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21"/>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522"/>
          <p:cNvSpPr/>
          <p:nvPr/>
        </p:nvSpPr>
        <p:spPr>
          <a:xfrm>
            <a:off x="10573207" y="2109978"/>
            <a:ext cx="566928" cy="566928"/>
          </a:xfrm>
          <a:prstGeom prst="ellipse">
            <a:avLst/>
          </a:prstGeom>
          <a:solidFill>
            <a:srgbClr val="D9AE4B"/>
          </a:solidFill>
          <a:ln/>
        </p:spPr>
      </p:sp>
      <p:sp>
        <p:nvSpPr>
          <p:cNvPr id="7" name="anim-g1-523"/>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24"/>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توصل الليدين بمقاومتيهما</a:t>
            </a:r>
            <a:endParaRPr lang="ar-SA" sz="2400" dirty="0"/>
          </a:p>
        </p:txBody>
      </p:sp>
      <p:sp>
        <p:nvSpPr>
          <p:cNvPr id="9" name="anim-g2-525"/>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526"/>
          <p:cNvSpPr/>
          <p:nvPr/>
        </p:nvSpPr>
        <p:spPr>
          <a:xfrm>
            <a:off x="10573207" y="3166110"/>
            <a:ext cx="566928" cy="566928"/>
          </a:xfrm>
          <a:prstGeom prst="ellipse">
            <a:avLst/>
          </a:prstGeom>
          <a:solidFill>
            <a:srgbClr val="D9AE4B"/>
          </a:solidFill>
          <a:ln/>
        </p:spPr>
      </p:sp>
      <p:sp>
        <p:nvSpPr>
          <p:cNvPr id="11" name="anim-g2-527"/>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28"/>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تقرأ الإجابة من زرين وتعيد -1 إن لم يُضغط شيء</a:t>
            </a:r>
            <a:endParaRPr lang="ar-SA" sz="2400" dirty="0"/>
          </a:p>
        </p:txBody>
      </p:sp>
      <p:sp>
        <p:nvSpPr>
          <p:cNvPr id="13" name="anim-g3-529"/>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530"/>
          <p:cNvSpPr/>
          <p:nvPr/>
        </p:nvSpPr>
        <p:spPr>
          <a:xfrm>
            <a:off x="10573207" y="4222242"/>
            <a:ext cx="566928" cy="566928"/>
          </a:xfrm>
          <a:prstGeom prst="ellipse">
            <a:avLst/>
          </a:prstGeom>
          <a:solidFill>
            <a:srgbClr val="D9AE4B"/>
          </a:solidFill>
          <a:ln/>
        </p:spPr>
      </p:sp>
      <p:sp>
        <p:nvSpPr>
          <p:cNvPr id="15" name="anim-g3-531"/>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32"/>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تعرض النتيجة بالضوء والصوت معًا</a:t>
            </a:r>
            <a:endParaRPr lang="ar-SA" sz="2400" dirty="0"/>
          </a:p>
        </p:txBody>
      </p:sp>
      <p:sp>
        <p:nvSpPr>
          <p:cNvPr id="17" name="anim-g4-533"/>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534"/>
          <p:cNvSpPr/>
          <p:nvPr/>
        </p:nvSpPr>
        <p:spPr>
          <a:xfrm>
            <a:off x="10573207" y="5278374"/>
            <a:ext cx="566928" cy="566928"/>
          </a:xfrm>
          <a:prstGeom prst="ellipse">
            <a:avLst/>
          </a:prstGeom>
          <a:solidFill>
            <a:srgbClr val="D9AE4B"/>
          </a:solidFill>
          <a:ln/>
        </p:spPr>
      </p:sp>
      <p:sp>
        <p:nvSpPr>
          <p:cNvPr id="19" name="anim-g4-535"/>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536"/>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معلومة ← سؤال ← نتيجة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٦. السؤال والإجابة  ·  ٧٥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name="Slide 7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150047" y="457200"/>
            <a:ext cx="3218688" cy="457200"/>
          </a:xfrm>
          <a:prstGeom prst="roundRect">
            <a:avLst>
              <a:gd name="adj" fmla="val 50000"/>
            </a:avLst>
          </a:prstGeom>
          <a:solidFill>
            <a:srgbClr val="F6EBCF"/>
          </a:solidFill>
          <a:ln/>
        </p:spPr>
      </p:sp>
      <p:sp>
        <p:nvSpPr>
          <p:cNvPr id="3" name="Text 1"/>
          <p:cNvSpPr/>
          <p:nvPr/>
        </p:nvSpPr>
        <p:spPr>
          <a:xfrm>
            <a:off x="8150047" y="457200"/>
            <a:ext cx="321868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تغذية راجعة فورية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عينان وأذنان: الطفل يعرف النتيجة فورًا</a:t>
            </a:r>
            <a:endParaRPr lang="ar-SA" sz="3200" dirty="0"/>
          </a:p>
        </p:txBody>
      </p:sp>
      <p:sp>
        <p:nvSpPr>
          <p:cNvPr id="5" name="anim-g1-537"/>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38"/>
          <p:cNvSpPr/>
          <p:nvPr/>
        </p:nvSpPr>
        <p:spPr>
          <a:xfrm>
            <a:off x="10527487" y="2267712"/>
            <a:ext cx="566928" cy="566928"/>
          </a:xfrm>
          <a:prstGeom prst="roundRect">
            <a:avLst>
              <a:gd name="adj" fmla="val 32258"/>
            </a:avLst>
          </a:prstGeom>
          <a:solidFill>
            <a:srgbClr val="F7E6BC"/>
          </a:solidFill>
          <a:ln/>
        </p:spPr>
      </p:sp>
      <p:sp>
        <p:nvSpPr>
          <p:cNvPr id="7" name="anim-g1-539"/>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40"/>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أخضر ← 4</a:t>
            </a:r>
            <a:endParaRPr lang="ar-SA" sz="2200" dirty="0"/>
          </a:p>
        </p:txBody>
      </p:sp>
      <p:sp>
        <p:nvSpPr>
          <p:cNvPr id="9" name="anim-g1-541"/>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إجابة صحيحة، مع «أحسنت» من السماعة</a:t>
            </a:r>
            <a:endParaRPr lang="ar-SA" sz="1900" dirty="0"/>
          </a:p>
        </p:txBody>
      </p:sp>
      <p:sp>
        <p:nvSpPr>
          <p:cNvPr id="10" name="anim-g2-542"/>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43"/>
          <p:cNvSpPr/>
          <p:nvPr/>
        </p:nvSpPr>
        <p:spPr>
          <a:xfrm>
            <a:off x="6920789" y="2267712"/>
            <a:ext cx="566928" cy="566928"/>
          </a:xfrm>
          <a:prstGeom prst="roundRect">
            <a:avLst>
              <a:gd name="adj" fmla="val 32258"/>
            </a:avLst>
          </a:prstGeom>
          <a:solidFill>
            <a:srgbClr val="F7E6BC"/>
          </a:solidFill>
          <a:ln/>
        </p:spPr>
      </p:sp>
      <p:sp>
        <p:nvSpPr>
          <p:cNvPr id="12" name="anim-g2-544"/>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45"/>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أحمر ← 5</a:t>
            </a:r>
            <a:endParaRPr lang="ar-SA" sz="2200" dirty="0"/>
          </a:p>
        </p:txBody>
      </p:sp>
      <p:sp>
        <p:nvSpPr>
          <p:cNvPr id="14" name="anim-g2-546"/>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ليست صحيحة… مع تشجيع لا عقاب</a:t>
            </a:r>
            <a:endParaRPr lang="ar-SA" sz="1900" dirty="0"/>
          </a:p>
        </p:txBody>
      </p:sp>
      <p:sp>
        <p:nvSpPr>
          <p:cNvPr id="15" name="anim-g3-547"/>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48"/>
          <p:cNvSpPr/>
          <p:nvPr/>
        </p:nvSpPr>
        <p:spPr>
          <a:xfrm>
            <a:off x="3314090" y="2267712"/>
            <a:ext cx="566928" cy="566928"/>
          </a:xfrm>
          <a:prstGeom prst="roundRect">
            <a:avLst>
              <a:gd name="adj" fmla="val 32258"/>
            </a:avLst>
          </a:prstGeom>
          <a:solidFill>
            <a:srgbClr val="F7E6BC"/>
          </a:solidFill>
          <a:ln/>
        </p:spPr>
      </p:sp>
      <p:sp>
        <p:nvSpPr>
          <p:cNvPr id="17" name="anim-g3-549"/>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50"/>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أ ← 36 · ب ← 39</a:t>
            </a:r>
            <a:endParaRPr lang="ar-SA" sz="2200" dirty="0"/>
          </a:p>
        </p:txBody>
      </p:sp>
      <p:sp>
        <p:nvSpPr>
          <p:cNvPr id="19" name="anim-g3-551"/>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زرّان فقط: سؤال بخيارين مناسب للطفل الصغير</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٦. السؤال والإجابة  ·  ٧٦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pic>
        <p:nvPicPr>
          <p:cNvPr id="2" name="Image 0" descr="C:\Users\user\projects\younes-training\heritage\.pptx-cache\s77-0.jpg">    </p:cNvPr>
          <p:cNvPicPr>
            <a:picLocks noChangeAspect="1"/>
          </p:cNvPicPr>
          <p:nvPr/>
        </p:nvPicPr>
        <p:blipFill>
          <a:blip r:embed="rId1"/>
          <a:stretch>
            <a:fillRect/>
          </a:stretch>
        </p:blipFill>
        <p:spPr>
          <a:xfrm>
            <a:off x="0" y="0"/>
            <a:ext cx="12191695" cy="6858000"/>
          </a:xfrm>
          <a:prstGeom prst="rect">
            <a:avLst/>
          </a:prstGeom>
        </p:spPr>
      </p:pic>
      <p:pic>
        <p:nvPicPr>
          <p:cNvPr id="3" name="anim-g1-552" descr="C:\Users\user\projects\younes-training\heritage\.pptx-cache\s77-1.jpg">    </p:cNvPr>
          <p:cNvPicPr>
            <a:picLocks noChangeAspect="1"/>
          </p:cNvPicPr>
          <p:nvPr/>
        </p:nvPicPr>
        <p:blipFill>
          <a:blip r:embed="rId2"/>
          <a:stretch>
            <a:fillRect/>
          </a:stretch>
        </p:blipFill>
        <p:spPr>
          <a:xfrm>
            <a:off x="0" y="0"/>
            <a:ext cx="12191695" cy="6858000"/>
          </a:xfrm>
          <a:prstGeom prst="rect">
            <a:avLst/>
          </a:prstGeom>
        </p:spPr>
      </p:pic>
      <p:pic>
        <p:nvPicPr>
          <p:cNvPr id="4" name="anim-g2-553" descr="C:\Users\user\projects\younes-training\heritage\.pptx-cache\s77-2.jpg">    </p:cNvPr>
          <p:cNvPicPr>
            <a:picLocks noChangeAspect="1"/>
          </p:cNvPicPr>
          <p:nvPr/>
        </p:nvPicPr>
        <p:blipFill>
          <a:blip r:embed="rId3"/>
          <a:stretch>
            <a:fillRect/>
          </a:stretch>
        </p:blipFill>
        <p:spPr>
          <a:xfrm>
            <a:off x="0" y="0"/>
            <a:ext cx="12191695" cy="6858000"/>
          </a:xfrm>
          <a:prstGeom prst="rect">
            <a:avLst/>
          </a:prstGeom>
        </p:spPr>
      </p:pic>
      <p:pic>
        <p:nvPicPr>
          <p:cNvPr id="5" name="anim-g3-554" descr="C:\Users\user\projects\younes-training\heritage\.pptx-cache\s77-3.jpg">    </p:cNvPr>
          <p:cNvPicPr>
            <a:picLocks noChangeAspect="1"/>
          </p:cNvPicPr>
          <p:nvPr/>
        </p:nvPicPr>
        <p:blipFill>
          <a:blip r:embed="rId4"/>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pic>
        <p:nvPicPr>
          <p:cNvPr id="2" name="Image 0" descr="C:\Users\user\projects\younes-training\heritage\.pptx-cache\s78-0.jpg">    </p:cNvPr>
          <p:cNvPicPr>
            <a:picLocks noChangeAspect="1"/>
          </p:cNvPicPr>
          <p:nvPr/>
        </p:nvPicPr>
        <p:blipFill>
          <a:blip r:embed="rId1"/>
          <a:stretch>
            <a:fillRect/>
          </a:stretch>
        </p:blipFill>
        <p:spPr>
          <a:xfrm>
            <a:off x="0" y="0"/>
            <a:ext cx="12191695" cy="6858000"/>
          </a:xfrm>
          <a:prstGeom prst="rect">
            <a:avLst/>
          </a:prstGeom>
        </p:spPr>
      </p:pic>
      <p:pic>
        <p:nvPicPr>
          <p:cNvPr id="3" name="anim-g1-555" descr="C:\Users\user\projects\younes-training\heritage\.pptx-cache\s78-1.jpg">    </p:cNvPr>
          <p:cNvPicPr>
            <a:picLocks noChangeAspect="1"/>
          </p:cNvPicPr>
          <p:nvPr/>
        </p:nvPicPr>
        <p:blipFill>
          <a:blip r:embed="rId2"/>
          <a:stretch>
            <a:fillRect/>
          </a:stretch>
        </p:blipFill>
        <p:spPr>
          <a:xfrm>
            <a:off x="0" y="0"/>
            <a:ext cx="12191695" cy="6858000"/>
          </a:xfrm>
          <a:prstGeom prst="rect">
            <a:avLst/>
          </a:prstGeom>
        </p:spPr>
      </p:pic>
      <p:pic>
        <p:nvPicPr>
          <p:cNvPr id="4" name="anim-g2-556" descr="C:\Users\user\projects\younes-training\heritage\.pptx-cache\s78-2.jpg">    </p:cNvPr>
          <p:cNvPicPr>
            <a:picLocks noChangeAspect="1"/>
          </p:cNvPicPr>
          <p:nvPr/>
        </p:nvPicPr>
        <p:blipFill>
          <a:blip r:embed="rId3"/>
          <a:stretch>
            <a:fillRect/>
          </a:stretch>
        </p:blipFill>
        <p:spPr>
          <a:xfrm>
            <a:off x="0" y="0"/>
            <a:ext cx="12191695" cy="6858000"/>
          </a:xfrm>
          <a:prstGeom prst="rect">
            <a:avLst/>
          </a:prstGeom>
        </p:spPr>
      </p:pic>
      <p:pic>
        <p:nvPicPr>
          <p:cNvPr id="5" name="anim-g3-557" descr="C:\Users\user\projects\younes-training\heritage\.pptx-cache\s78-3.jpg">    </p:cNvPr>
          <p:cNvPicPr>
            <a:picLocks noChangeAspect="1"/>
          </p:cNvPicPr>
          <p:nvPr/>
        </p:nvPicPr>
        <p:blipFill>
          <a:blip r:embed="rId4"/>
          <a:stretch>
            <a:fillRect/>
          </a:stretch>
        </p:blipFill>
        <p:spPr>
          <a:xfrm>
            <a:off x="0" y="0"/>
            <a:ext cx="12191695" cy="6858000"/>
          </a:xfrm>
          <a:prstGeom prst="rect">
            <a:avLst/>
          </a:prstGeom>
        </p:spPr>
      </p:pic>
      <p:pic>
        <p:nvPicPr>
          <p:cNvPr id="6" name="anim-g4-558" descr="C:\Users\user\projects\younes-training\heritage\.pptx-cache\s78-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pic>
        <p:nvPicPr>
          <p:cNvPr id="2" name="Image 0" descr="C:\Users\user\projects\younes-training\heritage\.pptx-cache\s79-0.jpg">    </p:cNvPr>
          <p:cNvPicPr>
            <a:picLocks noChangeAspect="1"/>
          </p:cNvPicPr>
          <p:nvPr/>
        </p:nvPicPr>
        <p:blipFill>
          <a:blip r:embed="rId1"/>
          <a:stretch>
            <a:fillRect/>
          </a:stretch>
        </p:blipFill>
        <p:spPr>
          <a:xfrm>
            <a:off x="0" y="0"/>
            <a:ext cx="12191695" cy="6858000"/>
          </a:xfrm>
          <a:prstGeom prst="rect">
            <a:avLst/>
          </a:prstGeom>
        </p:spPr>
      </p:pic>
      <p:pic>
        <p:nvPicPr>
          <p:cNvPr id="3" name="anim-g1-559" descr="C:\Users\user\projects\younes-training\heritage\.pptx-cache\s79-1.jpg">    </p:cNvPr>
          <p:cNvPicPr>
            <a:picLocks noChangeAspect="1"/>
          </p:cNvPicPr>
          <p:nvPr/>
        </p:nvPicPr>
        <p:blipFill>
          <a:blip r:embed="rId2"/>
          <a:stretch>
            <a:fillRect/>
          </a:stretch>
        </p:blipFill>
        <p:spPr>
          <a:xfrm>
            <a:off x="0" y="0"/>
            <a:ext cx="12191695" cy="6858000"/>
          </a:xfrm>
          <a:prstGeom prst="rect">
            <a:avLst/>
          </a:prstGeom>
        </p:spPr>
      </p:pic>
      <p:pic>
        <p:nvPicPr>
          <p:cNvPr id="4" name="anim-g2-560" descr="C:\Users\user\projects\younes-training\heritage\.pptx-cache\s79-2.jpg">    </p:cNvPr>
          <p:cNvPicPr>
            <a:picLocks noChangeAspect="1"/>
          </p:cNvPicPr>
          <p:nvPr/>
        </p:nvPicPr>
        <p:blipFill>
          <a:blip r:embed="rId3"/>
          <a:stretch>
            <a:fillRect/>
          </a:stretch>
        </p:blipFill>
        <p:spPr>
          <a:xfrm>
            <a:off x="0" y="0"/>
            <a:ext cx="12191695" cy="6858000"/>
          </a:xfrm>
          <a:prstGeom prst="rect">
            <a:avLst/>
          </a:prstGeom>
        </p:spPr>
      </p:pic>
      <p:pic>
        <p:nvPicPr>
          <p:cNvPr id="5" name="anim-g3-561" descr="C:\Users\user\projects\younes-training\heritage\.pptx-cache\s79-3.jpg">    </p:cNvPr>
          <p:cNvPicPr>
            <a:picLocks noChangeAspect="1"/>
          </p:cNvPicPr>
          <p:nvPr/>
        </p:nvPicPr>
        <p:blipFill>
          <a:blip r:embed="rId4"/>
          <a:stretch>
            <a:fillRect/>
          </a:stretch>
        </p:blipFill>
        <p:spPr>
          <a:xfrm>
            <a:off x="0" y="0"/>
            <a:ext cx="12191695" cy="6858000"/>
          </a:xfrm>
          <a:prstGeom prst="rect">
            <a:avLst/>
          </a:prstGeom>
        </p:spPr>
      </p:pic>
      <p:pic>
        <p:nvPicPr>
          <p:cNvPr id="6" name="anim-g4-562" descr="C:\Users\user\projects\younes-training\heritage\.pptx-cache\s79-4.jpg">    </p:cNvPr>
          <p:cNvPicPr>
            <a:picLocks noChangeAspect="1"/>
          </p:cNvPicPr>
          <p:nvPr/>
        </p:nvPicPr>
        <p:blipFill>
          <a:blip r:embed="rId5"/>
          <a:stretch>
            <a:fillRect/>
          </a:stretch>
        </p:blipFill>
        <p:spPr>
          <a:xfrm>
            <a:off x="0" y="0"/>
            <a:ext cx="12191695" cy="6858000"/>
          </a:xfrm>
          <a:prstGeom prst="rect">
            <a:avLst/>
          </a:prstGeom>
        </p:spPr>
      </p:pic>
      <p:pic>
        <p:nvPicPr>
          <p:cNvPr id="7" name="anim-g5-563" descr="C:\Users\user\projects\younes-training\heritage\.pptx-cache\s79-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pic>
        <p:nvPicPr>
          <p:cNvPr id="2" name="Image 0" descr="C:\Users\user\projects\younes-training\heritage\.pptx-cache\s80-0.jpg">    </p:cNvPr>
          <p:cNvPicPr>
            <a:picLocks noChangeAspect="1"/>
          </p:cNvPicPr>
          <p:nvPr/>
        </p:nvPicPr>
        <p:blipFill>
          <a:blip r:embed="rId1"/>
          <a:stretch>
            <a:fillRect/>
          </a:stretch>
        </p:blipFill>
        <p:spPr>
          <a:xfrm>
            <a:off x="0" y="0"/>
            <a:ext cx="12191695" cy="6858000"/>
          </a:xfrm>
          <a:prstGeom prst="rect">
            <a:avLst/>
          </a:prstGeom>
        </p:spPr>
      </p:pic>
      <p:pic>
        <p:nvPicPr>
          <p:cNvPr id="3" name="anim-g1-564" descr="C:\Users\user\projects\younes-training\heritage\.pptx-cache\s80-1.jpg">    </p:cNvPr>
          <p:cNvPicPr>
            <a:picLocks noChangeAspect="1"/>
          </p:cNvPicPr>
          <p:nvPr/>
        </p:nvPicPr>
        <p:blipFill>
          <a:blip r:embed="rId2"/>
          <a:stretch>
            <a:fillRect/>
          </a:stretch>
        </p:blipFill>
        <p:spPr>
          <a:xfrm>
            <a:off x="0" y="0"/>
            <a:ext cx="12191695" cy="6858000"/>
          </a:xfrm>
          <a:prstGeom prst="rect">
            <a:avLst/>
          </a:prstGeom>
        </p:spPr>
      </p:pic>
      <p:pic>
        <p:nvPicPr>
          <p:cNvPr id="4" name="anim-g2-565" descr="C:\Users\user\projects\younes-training\heritage\.pptx-cache\s80-2.jpg">    </p:cNvPr>
          <p:cNvPicPr>
            <a:picLocks noChangeAspect="1"/>
          </p:cNvPicPr>
          <p:nvPr/>
        </p:nvPicPr>
        <p:blipFill>
          <a:blip r:embed="rId3"/>
          <a:stretch>
            <a:fillRect/>
          </a:stretch>
        </p:blipFill>
        <p:spPr>
          <a:xfrm>
            <a:off x="0" y="0"/>
            <a:ext cx="12191695" cy="6858000"/>
          </a:xfrm>
          <a:prstGeom prst="rect">
            <a:avLst/>
          </a:prstGeom>
        </p:spPr>
      </p:pic>
      <p:pic>
        <p:nvPicPr>
          <p:cNvPr id="5" name="anim-g3-566" descr="C:\Users\user\projects\younes-training\heritage\.pptx-cache\s80-3.jpg">    </p:cNvPr>
          <p:cNvPicPr>
            <a:picLocks noChangeAspect="1"/>
          </p:cNvPicPr>
          <p:nvPr/>
        </p:nvPicPr>
        <p:blipFill>
          <a:blip r:embed="rId4"/>
          <a:stretch>
            <a:fillRect/>
          </a:stretch>
        </p:blipFill>
        <p:spPr>
          <a:xfrm>
            <a:off x="0" y="0"/>
            <a:ext cx="12191695" cy="6858000"/>
          </a:xfrm>
          <a:prstGeom prst="rect">
            <a:avLst/>
          </a:prstGeom>
        </p:spPr>
      </p:pic>
      <p:pic>
        <p:nvPicPr>
          <p:cNvPr id="6" name="anim-g4-567" descr="C:\Users\user\projects\younes-training\heritage\.pptx-cache\s80-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name="Slide 8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ستة مكونات: الطفل يقترب، ويختار، ويرى، ويسمع، ويجيب…</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وينتظر مكافأته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٦. السؤال والإجابة  ·  ٨١</a:t>
            </a:r>
            <a:endParaRPr lang="ar-SA" sz="12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٩</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٩</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المكوّن السابع: عملة الذكرى</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سيرفو + ترس + قضيب مسنن… والإجابة الصحيحة تصير ذكرى في اليد</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٧. عملة الذكرى  ·  ٨٢</a:t>
            </a:r>
            <a:endParaRPr lang="ar-SA" sz="1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568"/>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569"/>
          <p:cNvSpPr/>
          <p:nvPr/>
        </p:nvSpPr>
        <p:spPr>
          <a:xfrm>
            <a:off x="10573207" y="2109978"/>
            <a:ext cx="566928" cy="566928"/>
          </a:xfrm>
          <a:prstGeom prst="ellipse">
            <a:avLst/>
          </a:prstGeom>
          <a:solidFill>
            <a:srgbClr val="D9AE4B"/>
          </a:solidFill>
          <a:ln/>
        </p:spPr>
      </p:sp>
      <p:sp>
        <p:nvSpPr>
          <p:cNvPr id="7" name="anim-g1-570"/>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571"/>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تحويل الدوران إلى حركة خطية بالترس والقضيب</a:t>
            </a:r>
            <a:endParaRPr lang="ar-SA" sz="2400" dirty="0"/>
          </a:p>
        </p:txBody>
      </p:sp>
      <p:sp>
        <p:nvSpPr>
          <p:cNvPr id="9" name="anim-g2-572"/>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573"/>
          <p:cNvSpPr/>
          <p:nvPr/>
        </p:nvSpPr>
        <p:spPr>
          <a:xfrm>
            <a:off x="10573207" y="3166110"/>
            <a:ext cx="566928" cy="566928"/>
          </a:xfrm>
          <a:prstGeom prst="ellipse">
            <a:avLst/>
          </a:prstGeom>
          <a:solidFill>
            <a:srgbClr val="D9AE4B"/>
          </a:solidFill>
          <a:ln/>
        </p:spPr>
      </p:sp>
      <p:sp>
        <p:nvSpPr>
          <p:cNvPr id="11" name="anim-g2-574"/>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575"/>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تحسب مسافة الدفع s = r × θ</a:t>
            </a:r>
            <a:endParaRPr lang="ar-SA" sz="2400" dirty="0"/>
          </a:p>
        </p:txBody>
      </p:sp>
      <p:sp>
        <p:nvSpPr>
          <p:cNvPr id="13" name="anim-g3-576"/>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577"/>
          <p:cNvSpPr/>
          <p:nvPr/>
        </p:nvSpPr>
        <p:spPr>
          <a:xfrm>
            <a:off x="10573207" y="4222242"/>
            <a:ext cx="566928" cy="566928"/>
          </a:xfrm>
          <a:prstGeom prst="ellipse">
            <a:avLst/>
          </a:prstGeom>
          <a:solidFill>
            <a:srgbClr val="D9AE4B"/>
          </a:solidFill>
          <a:ln/>
        </p:spPr>
      </p:sp>
      <p:sp>
        <p:nvSpPr>
          <p:cNvPr id="15" name="anim-g3-578"/>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579"/>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تبرمج السيرفو مع قفل يمنع تكرار المكافأة</a:t>
            </a:r>
            <a:endParaRPr lang="ar-SA" sz="2400" dirty="0"/>
          </a:p>
        </p:txBody>
      </p:sp>
      <p:sp>
        <p:nvSpPr>
          <p:cNvPr id="17" name="anim-g4-580"/>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581"/>
          <p:cNvSpPr/>
          <p:nvPr/>
        </p:nvSpPr>
        <p:spPr>
          <a:xfrm>
            <a:off x="10573207" y="5278374"/>
            <a:ext cx="566928" cy="566928"/>
          </a:xfrm>
          <a:prstGeom prst="ellipse">
            <a:avLst/>
          </a:prstGeom>
          <a:solidFill>
            <a:srgbClr val="D9AE4B"/>
          </a:solidFill>
          <a:ln/>
        </p:spPr>
      </p:sp>
      <p:sp>
        <p:nvSpPr>
          <p:cNvPr id="19" name="anim-g4-582"/>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583"/>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تدمج: الإجابة الصحيحة تُخرج العملة</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٧. عملة الذكرى  ·  ٨٣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name="Slide 8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كيف تعمل الآلية؟</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من دوران صغير… إلى عملة في يد طفل</a:t>
            </a:r>
            <a:endParaRPr lang="ar-SA" sz="3200" dirty="0"/>
          </a:p>
        </p:txBody>
      </p:sp>
      <p:sp>
        <p:nvSpPr>
          <p:cNvPr id="5" name="anim-g1-584"/>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585"/>
          <p:cNvSpPr/>
          <p:nvPr/>
        </p:nvSpPr>
        <p:spPr>
          <a:xfrm>
            <a:off x="10527487" y="2267712"/>
            <a:ext cx="566928" cy="566928"/>
          </a:xfrm>
          <a:prstGeom prst="roundRect">
            <a:avLst>
              <a:gd name="adj" fmla="val 32258"/>
            </a:avLst>
          </a:prstGeom>
          <a:solidFill>
            <a:srgbClr val="F7E6BC"/>
          </a:solidFill>
          <a:ln/>
        </p:spPr>
      </p:sp>
      <p:sp>
        <p:nvSpPr>
          <p:cNvPr id="7" name="anim-g1-586"/>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587"/>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السيرفو يدير الترس (Pinion)</a:t>
            </a:r>
            <a:endParaRPr lang="ar-SA" sz="2200" dirty="0"/>
          </a:p>
        </p:txBody>
      </p:sp>
      <p:sp>
        <p:nvSpPr>
          <p:cNvPr id="9" name="anim-g1-588"/>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بزاوية محددة نكتبها في الكود</a:t>
            </a:r>
            <a:endParaRPr lang="ar-SA" sz="1900" dirty="0"/>
          </a:p>
        </p:txBody>
      </p:sp>
      <p:sp>
        <p:nvSpPr>
          <p:cNvPr id="10" name="anim-g2-589"/>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590"/>
          <p:cNvSpPr/>
          <p:nvPr/>
        </p:nvSpPr>
        <p:spPr>
          <a:xfrm>
            <a:off x="5117440" y="2267712"/>
            <a:ext cx="566928" cy="566928"/>
          </a:xfrm>
          <a:prstGeom prst="roundRect">
            <a:avLst>
              <a:gd name="adj" fmla="val 32258"/>
            </a:avLst>
          </a:prstGeom>
          <a:solidFill>
            <a:srgbClr val="F7E6BC"/>
          </a:solidFill>
          <a:ln/>
        </p:spPr>
      </p:sp>
      <p:sp>
        <p:nvSpPr>
          <p:cNvPr id="12" name="anim-g2-591"/>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592"/>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الترس يتشابك مع القضيب (Rack)</a:t>
            </a:r>
            <a:endParaRPr lang="ar-SA" sz="2200" dirty="0"/>
          </a:p>
        </p:txBody>
      </p:sp>
      <p:sp>
        <p:nvSpPr>
          <p:cNvPr id="14" name="anim-g2-593"/>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فيتحول الدوران إلى حركة في خط مستقيم</a:t>
            </a:r>
            <a:endParaRPr lang="ar-SA" sz="1900" dirty="0"/>
          </a:p>
        </p:txBody>
      </p:sp>
      <p:sp>
        <p:nvSpPr>
          <p:cNvPr id="15" name="anim-g3-594"/>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595"/>
          <p:cNvSpPr/>
          <p:nvPr/>
        </p:nvSpPr>
        <p:spPr>
          <a:xfrm>
            <a:off x="10527487" y="4393692"/>
            <a:ext cx="566928" cy="566928"/>
          </a:xfrm>
          <a:prstGeom prst="roundRect">
            <a:avLst>
              <a:gd name="adj" fmla="val 32258"/>
            </a:avLst>
          </a:prstGeom>
          <a:solidFill>
            <a:srgbClr val="F7E6BC"/>
          </a:solidFill>
          <a:ln/>
        </p:spPr>
      </p:sp>
      <p:sp>
        <p:nvSpPr>
          <p:cNvPr id="17" name="anim-g3-596"/>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597"/>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القضيب يدفع العملة</a:t>
            </a:r>
            <a:endParaRPr lang="ar-SA" sz="2200" dirty="0"/>
          </a:p>
        </p:txBody>
      </p:sp>
      <p:sp>
        <p:nvSpPr>
          <p:cNvPr id="19" name="anim-g3-598"/>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من أسفل الخزان إلى فتحة «خذ ذكراك» دون لمس يدوي</a:t>
            </a:r>
            <a:endParaRPr lang="ar-SA" sz="1900" dirty="0"/>
          </a:p>
        </p:txBody>
      </p:sp>
      <p:sp>
        <p:nvSpPr>
          <p:cNvPr id="20" name="anim-g4-599"/>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600"/>
          <p:cNvSpPr/>
          <p:nvPr/>
        </p:nvSpPr>
        <p:spPr>
          <a:xfrm>
            <a:off x="5117440" y="4393692"/>
            <a:ext cx="566928" cy="566928"/>
          </a:xfrm>
          <a:prstGeom prst="roundRect">
            <a:avLst>
              <a:gd name="adj" fmla="val 32258"/>
            </a:avLst>
          </a:prstGeom>
          <a:solidFill>
            <a:srgbClr val="F7E6BC"/>
          </a:solidFill>
          <a:ln/>
        </p:spPr>
      </p:sp>
      <p:sp>
        <p:nvSpPr>
          <p:cNvPr id="22" name="anim-g4-601"/>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602"/>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يعود السيرفو</a:t>
            </a:r>
            <a:endParaRPr lang="ar-SA" sz="2200" dirty="0"/>
          </a:p>
        </p:txBody>
      </p:sp>
      <p:sp>
        <p:nvSpPr>
          <p:cNvPr id="24" name="anim-g4-603"/>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إلى وضع الاستعداد للجولة التالية</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٧. عملة الذكرى  ·  ٨٤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pic>
        <p:nvPicPr>
          <p:cNvPr id="2" name="Image 0" descr="C:\Users\user\projects\younes-training\heritage\.pptx-cache\s85-0.jpg">    </p:cNvPr>
          <p:cNvPicPr>
            <a:picLocks noChangeAspect="1"/>
          </p:cNvPicPr>
          <p:nvPr/>
        </p:nvPicPr>
        <p:blipFill>
          <a:blip r:embed="rId1"/>
          <a:stretch>
            <a:fillRect/>
          </a:stretch>
        </p:blipFill>
        <p:spPr>
          <a:xfrm>
            <a:off x="0" y="0"/>
            <a:ext cx="12191695" cy="6858000"/>
          </a:xfrm>
          <a:prstGeom prst="rect">
            <a:avLst/>
          </a:prstGeom>
        </p:spPr>
      </p:pic>
      <p:pic>
        <p:nvPicPr>
          <p:cNvPr id="3" name="anim-g1-604" descr="C:\Users\user\projects\younes-training\heritage\.pptx-cache\s85-1.jpg">    </p:cNvPr>
          <p:cNvPicPr>
            <a:picLocks noChangeAspect="1"/>
          </p:cNvPicPr>
          <p:nvPr/>
        </p:nvPicPr>
        <p:blipFill>
          <a:blip r:embed="rId2"/>
          <a:stretch>
            <a:fillRect/>
          </a:stretch>
        </p:blipFill>
        <p:spPr>
          <a:xfrm>
            <a:off x="0" y="0"/>
            <a:ext cx="12191695" cy="6858000"/>
          </a:xfrm>
          <a:prstGeom prst="rect">
            <a:avLst/>
          </a:prstGeom>
        </p:spPr>
      </p:pic>
      <p:pic>
        <p:nvPicPr>
          <p:cNvPr id="4" name="anim-g2-605" descr="C:\Users\user\projects\younes-training\heritage\.pptx-cache\s85-2.jpg">    </p:cNvPr>
          <p:cNvPicPr>
            <a:picLocks noChangeAspect="1"/>
          </p:cNvPicPr>
          <p:nvPr/>
        </p:nvPicPr>
        <p:blipFill>
          <a:blip r:embed="rId3"/>
          <a:stretch>
            <a:fillRect/>
          </a:stretch>
        </p:blipFill>
        <p:spPr>
          <a:xfrm>
            <a:off x="0" y="0"/>
            <a:ext cx="12191695" cy="6858000"/>
          </a:xfrm>
          <a:prstGeom prst="rect">
            <a:avLst/>
          </a:prstGeom>
        </p:spPr>
      </p:pic>
      <p:pic>
        <p:nvPicPr>
          <p:cNvPr id="5" name="anim-g3-606" descr="C:\Users\user\projects\younes-training\heritage\.pptx-cache\s85-3.jpg">    </p:cNvPr>
          <p:cNvPicPr>
            <a:picLocks noChangeAspect="1"/>
          </p:cNvPicPr>
          <p:nvPr/>
        </p:nvPicPr>
        <p:blipFill>
          <a:blip r:embed="rId4"/>
          <a:stretch>
            <a:fillRect/>
          </a:stretch>
        </p:blipFill>
        <p:spPr>
          <a:xfrm>
            <a:off x="0" y="0"/>
            <a:ext cx="12191695" cy="6858000"/>
          </a:xfrm>
          <a:prstGeom prst="rect">
            <a:avLst/>
          </a:prstGeom>
        </p:spPr>
      </p:pic>
      <p:pic>
        <p:nvPicPr>
          <p:cNvPr id="6" name="anim-g4-607" descr="C:\Users\user\projects\younes-training\heritage\.pptx-cache\s85-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pic>
        <p:nvPicPr>
          <p:cNvPr id="2" name="Image 0" descr="C:\Users\user\projects\younes-training\heritage\.pptx-cache\s8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pic>
        <p:nvPicPr>
          <p:cNvPr id="2" name="Image 0" descr="C:\Users\user\projects\younes-training\heritage\.pptx-cache\s87-0.jpg">    </p:cNvPr>
          <p:cNvPicPr>
            <a:picLocks noChangeAspect="1"/>
          </p:cNvPicPr>
          <p:nvPr/>
        </p:nvPicPr>
        <p:blipFill>
          <a:blip r:embed="rId1"/>
          <a:stretch>
            <a:fillRect/>
          </a:stretch>
        </p:blipFill>
        <p:spPr>
          <a:xfrm>
            <a:off x="0" y="0"/>
            <a:ext cx="12191695" cy="6858000"/>
          </a:xfrm>
          <a:prstGeom prst="rect">
            <a:avLst/>
          </a:prstGeom>
        </p:spPr>
      </p:pic>
      <p:pic>
        <p:nvPicPr>
          <p:cNvPr id="3" name="anim-g1-608" descr="C:\Users\user\projects\younes-training\heritage\.pptx-cache\s87-1.jpg">    </p:cNvPr>
          <p:cNvPicPr>
            <a:picLocks noChangeAspect="1"/>
          </p:cNvPicPr>
          <p:nvPr/>
        </p:nvPicPr>
        <p:blipFill>
          <a:blip r:embed="rId2"/>
          <a:stretch>
            <a:fillRect/>
          </a:stretch>
        </p:blipFill>
        <p:spPr>
          <a:xfrm>
            <a:off x="0" y="0"/>
            <a:ext cx="12191695" cy="6858000"/>
          </a:xfrm>
          <a:prstGeom prst="rect">
            <a:avLst/>
          </a:prstGeom>
        </p:spPr>
      </p:pic>
      <p:pic>
        <p:nvPicPr>
          <p:cNvPr id="4" name="anim-g2-609" descr="C:\Users\user\projects\younes-training\heritage\.pptx-cache\s87-2.jpg">    </p:cNvPr>
          <p:cNvPicPr>
            <a:picLocks noChangeAspect="1"/>
          </p:cNvPicPr>
          <p:nvPr/>
        </p:nvPicPr>
        <p:blipFill>
          <a:blip r:embed="rId3"/>
          <a:stretch>
            <a:fillRect/>
          </a:stretch>
        </p:blipFill>
        <p:spPr>
          <a:xfrm>
            <a:off x="0" y="0"/>
            <a:ext cx="12191695" cy="6858000"/>
          </a:xfrm>
          <a:prstGeom prst="rect">
            <a:avLst/>
          </a:prstGeom>
        </p:spPr>
      </p:pic>
      <p:pic>
        <p:nvPicPr>
          <p:cNvPr id="5" name="anim-g3-610" descr="C:\Users\user\projects\younes-training\heritage\.pptx-cache\s87-3.jpg">    </p:cNvPr>
          <p:cNvPicPr>
            <a:picLocks noChangeAspect="1"/>
          </p:cNvPicPr>
          <p:nvPr/>
        </p:nvPicPr>
        <p:blipFill>
          <a:blip r:embed="rId4"/>
          <a:stretch>
            <a:fillRect/>
          </a:stretch>
        </p:blipFill>
        <p:spPr>
          <a:xfrm>
            <a:off x="0" y="0"/>
            <a:ext cx="12191695" cy="6858000"/>
          </a:xfrm>
          <a:prstGeom prst="rect">
            <a:avLst/>
          </a:prstGeom>
        </p:spPr>
      </p:pic>
      <p:pic>
        <p:nvPicPr>
          <p:cNvPr id="6" name="anim-g4-611" descr="C:\Users\user\projects\younes-training\heritage\.pptx-cache\s87-4.jpg">    </p:cNvPr>
          <p:cNvPicPr>
            <a:picLocks noChangeAspect="1"/>
          </p:cNvPicPr>
          <p:nvPr/>
        </p:nvPicPr>
        <p:blipFill>
          <a:blip r:embed="rId5"/>
          <a:stretch>
            <a:fillRect/>
          </a:stretch>
        </p:blipFill>
        <p:spPr>
          <a:xfrm>
            <a:off x="0" y="0"/>
            <a:ext cx="12191695" cy="6858000"/>
          </a:xfrm>
          <a:prstGeom prst="rect">
            <a:avLst/>
          </a:prstGeom>
        </p:spPr>
      </p:pic>
      <p:pic>
        <p:nvPicPr>
          <p:cNvPr id="7" name="anim-g5-612" descr="C:\Users\user\projects\younes-training\heritage\.pptx-cache\s87-5.jpg">    </p:cNvPr>
          <p:cNvPicPr>
            <a:picLocks noChangeAspect="1"/>
          </p:cNvPicPr>
          <p:nvPr/>
        </p:nvPicPr>
        <p:blipFill>
          <a:blip r:embed="rId6"/>
          <a:stretch>
            <a:fillRect/>
          </a:stretch>
        </p:blipFill>
        <p:spPr>
          <a:xfrm>
            <a:off x="0" y="0"/>
            <a:ext cx="12191695" cy="6858000"/>
          </a:xfrm>
          <a:prstGeom prst="rect">
            <a:avLst/>
          </a:prstGeom>
        </p:spPr>
      </p:pic>
      <p:pic>
        <p:nvPicPr>
          <p:cNvPr id="8" name="anim-g6-613" descr="C:\Users\user\projects\younes-training\heritage\.pptx-cache\s87-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pic>
        <p:nvPicPr>
          <p:cNvPr id="2" name="Image 0" descr="C:\Users\user\projects\younes-training\heritage\.pptx-cache\s88-0.jpg">    </p:cNvPr>
          <p:cNvPicPr>
            <a:picLocks noChangeAspect="1"/>
          </p:cNvPicPr>
          <p:nvPr/>
        </p:nvPicPr>
        <p:blipFill>
          <a:blip r:embed="rId1"/>
          <a:stretch>
            <a:fillRect/>
          </a:stretch>
        </p:blipFill>
        <p:spPr>
          <a:xfrm>
            <a:off x="0" y="0"/>
            <a:ext cx="12191695" cy="6858000"/>
          </a:xfrm>
          <a:prstGeom prst="rect">
            <a:avLst/>
          </a:prstGeom>
        </p:spPr>
      </p:pic>
      <p:pic>
        <p:nvPicPr>
          <p:cNvPr id="3" name="anim-g1-614" descr="C:\Users\user\projects\younes-training\heritage\.pptx-cache\s88-1.jpg">    </p:cNvPr>
          <p:cNvPicPr>
            <a:picLocks noChangeAspect="1"/>
          </p:cNvPicPr>
          <p:nvPr/>
        </p:nvPicPr>
        <p:blipFill>
          <a:blip r:embed="rId2"/>
          <a:stretch>
            <a:fillRect/>
          </a:stretch>
        </p:blipFill>
        <p:spPr>
          <a:xfrm>
            <a:off x="0" y="0"/>
            <a:ext cx="12191695" cy="6858000"/>
          </a:xfrm>
          <a:prstGeom prst="rect">
            <a:avLst/>
          </a:prstGeom>
        </p:spPr>
      </p:pic>
      <p:pic>
        <p:nvPicPr>
          <p:cNvPr id="4" name="anim-g2-615" descr="C:\Users\user\projects\younes-training\heritage\.pptx-cache\s88-2.jpg">    </p:cNvPr>
          <p:cNvPicPr>
            <a:picLocks noChangeAspect="1"/>
          </p:cNvPicPr>
          <p:nvPr/>
        </p:nvPicPr>
        <p:blipFill>
          <a:blip r:embed="rId3"/>
          <a:stretch>
            <a:fillRect/>
          </a:stretch>
        </p:blipFill>
        <p:spPr>
          <a:xfrm>
            <a:off x="0" y="0"/>
            <a:ext cx="12191695" cy="6858000"/>
          </a:xfrm>
          <a:prstGeom prst="rect">
            <a:avLst/>
          </a:prstGeom>
        </p:spPr>
      </p:pic>
      <p:pic>
        <p:nvPicPr>
          <p:cNvPr id="5" name="anim-g3-616" descr="C:\Users\user\projects\younes-training\heritage\.pptx-cache\s88-3.jpg">    </p:cNvPr>
          <p:cNvPicPr>
            <a:picLocks noChangeAspect="1"/>
          </p:cNvPicPr>
          <p:nvPr/>
        </p:nvPicPr>
        <p:blipFill>
          <a:blip r:embed="rId4"/>
          <a:stretch>
            <a:fillRect/>
          </a:stretch>
        </p:blipFill>
        <p:spPr>
          <a:xfrm>
            <a:off x="0" y="0"/>
            <a:ext cx="12191695" cy="6858000"/>
          </a:xfrm>
          <a:prstGeom prst="rect">
            <a:avLst/>
          </a:prstGeom>
        </p:spPr>
      </p:pic>
      <p:pic>
        <p:nvPicPr>
          <p:cNvPr id="6" name="anim-g4-617" descr="C:\Users\user\projects\younes-training\heritage\.pptx-cache\s88-4.jpg">    </p:cNvPr>
          <p:cNvPicPr>
            <a:picLocks noChangeAspect="1"/>
          </p:cNvPicPr>
          <p:nvPr/>
        </p:nvPicPr>
        <p:blipFill>
          <a:blip r:embed="rId5"/>
          <a:stretch>
            <a:fillRect/>
          </a:stretch>
        </p:blipFill>
        <p:spPr>
          <a:xfrm>
            <a:off x="0" y="0"/>
            <a:ext cx="12191695" cy="6858000"/>
          </a:xfrm>
          <a:prstGeom prst="rect">
            <a:avLst/>
          </a:prstGeom>
        </p:spPr>
      </p:pic>
      <p:pic>
        <p:nvPicPr>
          <p:cNvPr id="7" name="anim-g5-618" descr="C:\Users\user\projects\younes-training\heritage\.pptx-cache\s88-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pic>
        <p:nvPicPr>
          <p:cNvPr id="2" name="Image 0" descr="C:\Users\user\projects\younes-training\heritage\.pptx-cache\s89-0.jpg">    </p:cNvPr>
          <p:cNvPicPr>
            <a:picLocks noChangeAspect="1"/>
          </p:cNvPicPr>
          <p:nvPr/>
        </p:nvPicPr>
        <p:blipFill>
          <a:blip r:embed="rId1"/>
          <a:stretch>
            <a:fillRect/>
          </a:stretch>
        </p:blipFill>
        <p:spPr>
          <a:xfrm>
            <a:off x="0" y="0"/>
            <a:ext cx="12191695" cy="6858000"/>
          </a:xfrm>
          <a:prstGeom prst="rect">
            <a:avLst/>
          </a:prstGeom>
        </p:spPr>
      </p:pic>
      <p:pic>
        <p:nvPicPr>
          <p:cNvPr id="3" name="anim-g1-619" descr="C:\Users\user\projects\younes-training\heritage\.pptx-cache\s89-1.jpg">    </p:cNvPr>
          <p:cNvPicPr>
            <a:picLocks noChangeAspect="1"/>
          </p:cNvPicPr>
          <p:nvPr/>
        </p:nvPicPr>
        <p:blipFill>
          <a:blip r:embed="rId2"/>
          <a:stretch>
            <a:fillRect/>
          </a:stretch>
        </p:blipFill>
        <p:spPr>
          <a:xfrm>
            <a:off x="0" y="0"/>
            <a:ext cx="12191695" cy="6858000"/>
          </a:xfrm>
          <a:prstGeom prst="rect">
            <a:avLst/>
          </a:prstGeom>
        </p:spPr>
      </p:pic>
      <p:pic>
        <p:nvPicPr>
          <p:cNvPr id="4" name="anim-g2-620" descr="C:\Users\user\projects\younes-training\heritage\.pptx-cache\s89-2.jpg">    </p:cNvPr>
          <p:cNvPicPr>
            <a:picLocks noChangeAspect="1"/>
          </p:cNvPicPr>
          <p:nvPr/>
        </p:nvPicPr>
        <p:blipFill>
          <a:blip r:embed="rId3"/>
          <a:stretch>
            <a:fillRect/>
          </a:stretch>
        </p:blipFill>
        <p:spPr>
          <a:xfrm>
            <a:off x="0" y="0"/>
            <a:ext cx="12191695" cy="6858000"/>
          </a:xfrm>
          <a:prstGeom prst="rect">
            <a:avLst/>
          </a:prstGeom>
        </p:spPr>
      </p:pic>
      <p:pic>
        <p:nvPicPr>
          <p:cNvPr id="5" name="anim-g3-621" descr="C:\Users\user\projects\younes-training\heritage\.pptx-cache\s89-3.jpg">    </p:cNvPr>
          <p:cNvPicPr>
            <a:picLocks noChangeAspect="1"/>
          </p:cNvPicPr>
          <p:nvPr/>
        </p:nvPicPr>
        <p:blipFill>
          <a:blip r:embed="rId4"/>
          <a:stretch>
            <a:fillRect/>
          </a:stretch>
        </p:blipFill>
        <p:spPr>
          <a:xfrm>
            <a:off x="0" y="0"/>
            <a:ext cx="12191695" cy="6858000"/>
          </a:xfrm>
          <a:prstGeom prst="rect">
            <a:avLst/>
          </a:prstGeom>
        </p:spPr>
      </p:pic>
      <p:pic>
        <p:nvPicPr>
          <p:cNvPr id="6" name="anim-g4-622" descr="C:\Users\user\projects\younes-training\heritage\.pptx-cache\s89-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name="Slide 9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لماذا لا يحصل الطفل على عملة عند كل محطة تلقائيًا؟</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لتوفير العملات</a:t>
            </a:r>
            <a:endParaRPr lang="ar-SA" sz="2500" dirty="0"/>
          </a:p>
        </p:txBody>
      </p:sp>
      <p:sp>
        <p:nvSpPr>
          <p:cNvPr id="9" name="anim-g1-623"/>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624"/>
          <p:cNvSpPr/>
          <p:nvPr/>
        </p:nvSpPr>
        <p:spPr>
          <a:xfrm>
            <a:off x="10231831" y="2194560"/>
            <a:ext cx="954024" cy="954024"/>
          </a:xfrm>
          <a:prstGeom prst="roundRect">
            <a:avLst>
              <a:gd name="adj" fmla="val 11502"/>
            </a:avLst>
          </a:prstGeom>
          <a:solidFill>
            <a:srgbClr val="A3A9BA"/>
          </a:solidFill>
          <a:ln/>
        </p:spPr>
      </p:sp>
      <p:sp>
        <p:nvSpPr>
          <p:cNvPr id="11" name="anim-g1-62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626"/>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لتوفير العملات</a:t>
            </a:r>
            <a:endParaRPr lang="ar-SA" sz="2400" dirty="0"/>
          </a:p>
        </p:txBody>
      </p:sp>
      <p:sp>
        <p:nvSpPr>
          <p:cNvPr id="13" name="anim-g1-627"/>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ليس السبب الأساسي</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السيرفو بطيء</a:t>
            </a:r>
            <a:endParaRPr lang="ar-SA" sz="2500" dirty="0"/>
          </a:p>
        </p:txBody>
      </p:sp>
      <p:sp>
        <p:nvSpPr>
          <p:cNvPr id="18" name="anim-g1-628"/>
          <p:cNvSpPr/>
          <p:nvPr/>
        </p:nvSpPr>
        <p:spPr>
          <a:xfrm>
            <a:off x="822960" y="3432048"/>
            <a:ext cx="10545775" cy="1228344"/>
          </a:xfrm>
          <a:prstGeom prst="roundRect">
            <a:avLst>
              <a:gd name="adj" fmla="val 11911"/>
            </a:avLst>
          </a:prstGeom>
          <a:solidFill>
            <a:srgbClr val="F7F7F9"/>
          </a:solidFill>
          <a:ln w="19050">
            <a:solidFill>
              <a:srgbClr val="E4DCC8"/>
            </a:solidFill>
            <a:prstDash val="solid"/>
          </a:ln>
        </p:spPr>
      </p:sp>
      <p:sp>
        <p:nvSpPr>
          <p:cNvPr id="19" name="anim-g1-629"/>
          <p:cNvSpPr/>
          <p:nvPr/>
        </p:nvSpPr>
        <p:spPr>
          <a:xfrm>
            <a:off x="10231831" y="3569208"/>
            <a:ext cx="954024" cy="954024"/>
          </a:xfrm>
          <a:prstGeom prst="roundRect">
            <a:avLst>
              <a:gd name="adj" fmla="val 11502"/>
            </a:avLst>
          </a:prstGeom>
          <a:solidFill>
            <a:srgbClr val="A3A9BA"/>
          </a:solidFill>
          <a:ln/>
        </p:spPr>
      </p:sp>
      <p:sp>
        <p:nvSpPr>
          <p:cNvPr id="20" name="anim-g1-630"/>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21" name="anim-g1-631"/>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لأن السيرفو بطيء</a:t>
            </a:r>
            <a:endParaRPr lang="ar-SA" sz="2400" dirty="0"/>
          </a:p>
        </p:txBody>
      </p:sp>
      <p:sp>
        <p:nvSpPr>
          <p:cNvPr id="22" name="anim-g1-632"/>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السيرفو سريع بما يكفي</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لأن المكافأة مرتبطة بالتعلم: تُمنح بعد إجابة صحيحة</a:t>
            </a:r>
            <a:endParaRPr lang="ar-SA" sz="2500" dirty="0"/>
          </a:p>
        </p:txBody>
      </p:sp>
      <p:sp>
        <p:nvSpPr>
          <p:cNvPr id="27" name="anim-g1-633"/>
          <p:cNvSpPr/>
          <p:nvPr/>
        </p:nvSpPr>
        <p:spPr>
          <a:xfrm>
            <a:off x="822960" y="4806696"/>
            <a:ext cx="10545775" cy="1228344"/>
          </a:xfrm>
          <a:prstGeom prst="roundRect">
            <a:avLst>
              <a:gd name="adj" fmla="val 11911"/>
            </a:avLst>
          </a:prstGeom>
          <a:solidFill>
            <a:srgbClr val="E6F4EC"/>
          </a:solidFill>
          <a:ln w="31750">
            <a:solidFill>
              <a:srgbClr val="2E9E6B"/>
            </a:solidFill>
            <a:prstDash val="solid"/>
          </a:ln>
        </p:spPr>
      </p:sp>
      <p:sp>
        <p:nvSpPr>
          <p:cNvPr id="28" name="anim-g1-634"/>
          <p:cNvSpPr/>
          <p:nvPr/>
        </p:nvSpPr>
        <p:spPr>
          <a:xfrm>
            <a:off x="10231831" y="4943856"/>
            <a:ext cx="954024" cy="954024"/>
          </a:xfrm>
          <a:prstGeom prst="roundRect">
            <a:avLst>
              <a:gd name="adj" fmla="val 11502"/>
            </a:avLst>
          </a:prstGeom>
          <a:solidFill>
            <a:srgbClr val="2E9E6B"/>
          </a:solidFill>
          <a:ln/>
        </p:spPr>
      </p:sp>
      <p:sp>
        <p:nvSpPr>
          <p:cNvPr id="29" name="anim-g1-635"/>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30" name="anim-g1-636"/>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لأن المكافأة مرتبطة بالتعلم: تُمنح بعد إجابة صحيحة</a:t>
            </a:r>
            <a:endParaRPr lang="ar-SA" sz="2400" dirty="0"/>
          </a:p>
        </p:txBody>
      </p:sp>
      <p:sp>
        <p:nvSpPr>
          <p:cNvPr id="31" name="anim-g1-637"/>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«العملة ليست مكافأة عشوائية»… إنها ذكرى معلومة تعلّمها</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٧. عملة الذكرى  ·  ٩٠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name="Slide 9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ترس يدور، وقضيب يدفع، وعملة خشبية تخرج: المعلومة صارت ذكرى يحملها الطفل إلى بيته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٧. عملة الذكرى  ·  ٩١</a:t>
            </a:r>
            <a:endParaRPr lang="ar-SA" sz="1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١٠</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١٠</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الطاقة الآمنة والتركيب الكامل</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سبعة مكونات في صندوق واحد… بلا مفاجآت</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الطاقة والتركيب الكامل  ·  ٩٢</a:t>
            </a:r>
            <a:endParaRPr lang="ar-SA" sz="12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38"/>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639"/>
          <p:cNvSpPr/>
          <p:nvPr/>
        </p:nvSpPr>
        <p:spPr>
          <a:xfrm>
            <a:off x="10573207" y="2286000"/>
            <a:ext cx="566928" cy="566928"/>
          </a:xfrm>
          <a:prstGeom prst="ellipse">
            <a:avLst/>
          </a:prstGeom>
          <a:solidFill>
            <a:srgbClr val="D9AE4B"/>
          </a:solidFill>
          <a:ln/>
        </p:spPr>
      </p:sp>
      <p:sp>
        <p:nvSpPr>
          <p:cNvPr id="7" name="anim-g1-640"/>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641"/>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تشرح لماذا نفصل مصادر طاقة المحركات</a:t>
            </a:r>
            <a:endParaRPr lang="ar-SA" sz="2400" dirty="0"/>
          </a:p>
        </p:txBody>
      </p:sp>
      <p:sp>
        <p:nvSpPr>
          <p:cNvPr id="9" name="anim-g2-642"/>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643"/>
          <p:cNvSpPr/>
          <p:nvPr/>
        </p:nvSpPr>
        <p:spPr>
          <a:xfrm>
            <a:off x="10573207" y="3694176"/>
            <a:ext cx="566928" cy="566928"/>
          </a:xfrm>
          <a:prstGeom prst="ellipse">
            <a:avLst/>
          </a:prstGeom>
          <a:solidFill>
            <a:srgbClr val="D9AE4B"/>
          </a:solidFill>
          <a:ln/>
        </p:spPr>
      </p:sp>
      <p:sp>
        <p:nvSpPr>
          <p:cNvPr id="11" name="anim-g2-644"/>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645"/>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تصل الأرضي المشترك وتفحصه</a:t>
            </a:r>
            <a:endParaRPr lang="ar-SA" sz="2400" dirty="0"/>
          </a:p>
        </p:txBody>
      </p:sp>
      <p:sp>
        <p:nvSpPr>
          <p:cNvPr id="13" name="anim-g3-646"/>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647"/>
          <p:cNvSpPr/>
          <p:nvPr/>
        </p:nvSpPr>
        <p:spPr>
          <a:xfrm>
            <a:off x="10573207" y="5102352"/>
            <a:ext cx="566928" cy="566928"/>
          </a:xfrm>
          <a:prstGeom prst="ellipse">
            <a:avLst/>
          </a:prstGeom>
          <a:solidFill>
            <a:srgbClr val="D9AE4B"/>
          </a:solidFill>
          <a:ln/>
        </p:spPr>
      </p:sp>
      <p:sp>
        <p:nvSpPr>
          <p:cNvPr id="15" name="anim-g3-648"/>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649"/>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تركّب المنظومة كاملة بأطرافها الحقيقية</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الطاقة والتركيب الكامل  ·  ٩٣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name="Slide 9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9027871" y="457200"/>
            <a:ext cx="2340864" cy="457200"/>
          </a:xfrm>
          <a:prstGeom prst="roundRect">
            <a:avLst>
              <a:gd name="adj" fmla="val 50000"/>
            </a:avLst>
          </a:prstGeom>
          <a:solidFill>
            <a:srgbClr val="F6EBCF"/>
          </a:solidFill>
          <a:ln/>
        </p:spPr>
      </p:sp>
      <p:sp>
        <p:nvSpPr>
          <p:cNvPr id="3" name="Text 1"/>
          <p:cNvSpPr/>
          <p:nvPr/>
        </p:nvSpPr>
        <p:spPr>
          <a:xfrm>
            <a:off x="9027871" y="457200"/>
            <a:ext cx="234086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قرار الفريق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ثلاثة مصادر… وأرضي واحد</a:t>
            </a:r>
            <a:endParaRPr lang="ar-SA" sz="3800" dirty="0"/>
          </a:p>
        </p:txBody>
      </p:sp>
      <p:sp>
        <p:nvSpPr>
          <p:cNvPr id="5" name="anim-g1-650"/>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651"/>
          <p:cNvSpPr/>
          <p:nvPr/>
        </p:nvSpPr>
        <p:spPr>
          <a:xfrm>
            <a:off x="10527487" y="2267712"/>
            <a:ext cx="566928" cy="566928"/>
          </a:xfrm>
          <a:prstGeom prst="roundRect">
            <a:avLst>
              <a:gd name="adj" fmla="val 32258"/>
            </a:avLst>
          </a:prstGeom>
          <a:solidFill>
            <a:srgbClr val="F7E6BC"/>
          </a:solidFill>
          <a:ln/>
        </p:spPr>
      </p:sp>
      <p:sp>
        <p:nvSpPr>
          <p:cNvPr id="7" name="anim-g1-652"/>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653"/>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6V للمنصة</a:t>
            </a:r>
            <a:endParaRPr lang="ar-SA" sz="2200" dirty="0"/>
          </a:p>
        </p:txBody>
      </p:sp>
      <p:sp>
        <p:nvSpPr>
          <p:cNvPr id="9" name="anim-g1-654"/>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المحرك الخطوي يسحب تيارًا ثابتًا أثناء الحركة</a:t>
            </a:r>
            <a:endParaRPr lang="ar-SA" sz="1900" dirty="0"/>
          </a:p>
        </p:txBody>
      </p:sp>
      <p:sp>
        <p:nvSpPr>
          <p:cNvPr id="10" name="anim-g2-655"/>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656"/>
          <p:cNvSpPr/>
          <p:nvPr/>
        </p:nvSpPr>
        <p:spPr>
          <a:xfrm>
            <a:off x="6920789" y="2267712"/>
            <a:ext cx="566928" cy="566928"/>
          </a:xfrm>
          <a:prstGeom prst="roundRect">
            <a:avLst>
              <a:gd name="adj" fmla="val 32258"/>
            </a:avLst>
          </a:prstGeom>
          <a:solidFill>
            <a:srgbClr val="F7E6BC"/>
          </a:solidFill>
          <a:ln/>
        </p:spPr>
      </p:sp>
      <p:sp>
        <p:nvSpPr>
          <p:cNvPr id="12" name="anim-g2-657"/>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658"/>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4.5V للسيرفو</a:t>
            </a:r>
            <a:endParaRPr lang="ar-SA" sz="2200" dirty="0"/>
          </a:p>
        </p:txBody>
      </p:sp>
      <p:sp>
        <p:nvSpPr>
          <p:cNvPr id="14" name="anim-g2-659"/>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السيرفو يسحب دفعة تيار مفاجئة عند الحركة</a:t>
            </a:r>
            <a:endParaRPr lang="ar-SA" sz="1900" dirty="0"/>
          </a:p>
        </p:txBody>
      </p:sp>
      <p:sp>
        <p:nvSpPr>
          <p:cNvPr id="15" name="anim-g3-660"/>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661"/>
          <p:cNvSpPr/>
          <p:nvPr/>
        </p:nvSpPr>
        <p:spPr>
          <a:xfrm>
            <a:off x="3314090" y="2267712"/>
            <a:ext cx="566928" cy="566928"/>
          </a:xfrm>
          <a:prstGeom prst="roundRect">
            <a:avLst>
              <a:gd name="adj" fmla="val 32258"/>
            </a:avLst>
          </a:prstGeom>
          <a:solidFill>
            <a:srgbClr val="F7E6BC"/>
          </a:solidFill>
          <a:ln/>
        </p:spPr>
      </p:sp>
      <p:sp>
        <p:nvSpPr>
          <p:cNvPr id="17" name="anim-g3-662"/>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663"/>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GND مشترك</a:t>
            </a:r>
            <a:endParaRPr lang="ar-SA" sz="2200" dirty="0"/>
          </a:p>
        </p:txBody>
      </p:sp>
      <p:sp>
        <p:nvSpPr>
          <p:cNvPr id="19" name="anim-g3-664"/>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بين المصادر ولوحة ESP32: مرجع واحد للإشارات</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الطاقة والتركيب الكامل  ·  ٩٤</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pic>
        <p:nvPicPr>
          <p:cNvPr id="2" name="Image 0" descr="C:\Users\user\projects\younes-training\heritage\.pptx-cache\s95-0.jpg">    </p:cNvPr>
          <p:cNvPicPr>
            <a:picLocks noChangeAspect="1"/>
          </p:cNvPicPr>
          <p:nvPr/>
        </p:nvPicPr>
        <p:blipFill>
          <a:blip r:embed="rId1"/>
          <a:stretch>
            <a:fillRect/>
          </a:stretch>
        </p:blipFill>
        <p:spPr>
          <a:xfrm>
            <a:off x="0" y="0"/>
            <a:ext cx="12191695" cy="6858000"/>
          </a:xfrm>
          <a:prstGeom prst="rect">
            <a:avLst/>
          </a:prstGeom>
        </p:spPr>
      </p:pic>
      <p:pic>
        <p:nvPicPr>
          <p:cNvPr id="3" name="anim-g1-665" descr="C:\Users\user\projects\younes-training\heritage\.pptx-cache\s95-1.jpg">    </p:cNvPr>
          <p:cNvPicPr>
            <a:picLocks noChangeAspect="1"/>
          </p:cNvPicPr>
          <p:nvPr/>
        </p:nvPicPr>
        <p:blipFill>
          <a:blip r:embed="rId2"/>
          <a:stretch>
            <a:fillRect/>
          </a:stretch>
        </p:blipFill>
        <p:spPr>
          <a:xfrm>
            <a:off x="0" y="0"/>
            <a:ext cx="12191695" cy="6858000"/>
          </a:xfrm>
          <a:prstGeom prst="rect">
            <a:avLst/>
          </a:prstGeom>
        </p:spPr>
      </p:pic>
      <p:pic>
        <p:nvPicPr>
          <p:cNvPr id="4" name="anim-g2-666" descr="C:\Users\user\projects\younes-training\heritage\.pptx-cache\s95-2.jpg">    </p:cNvPr>
          <p:cNvPicPr>
            <a:picLocks noChangeAspect="1"/>
          </p:cNvPicPr>
          <p:nvPr/>
        </p:nvPicPr>
        <p:blipFill>
          <a:blip r:embed="rId3"/>
          <a:stretch>
            <a:fillRect/>
          </a:stretch>
        </p:blipFill>
        <p:spPr>
          <a:xfrm>
            <a:off x="0" y="0"/>
            <a:ext cx="12191695" cy="6858000"/>
          </a:xfrm>
          <a:prstGeom prst="rect">
            <a:avLst/>
          </a:prstGeom>
        </p:spPr>
      </p:pic>
      <p:pic>
        <p:nvPicPr>
          <p:cNvPr id="5" name="anim-g3-667" descr="C:\Users\user\projects\younes-training\heritage\.pptx-cache\s95-3.jpg">    </p:cNvPr>
          <p:cNvPicPr>
            <a:picLocks noChangeAspect="1"/>
          </p:cNvPicPr>
          <p:nvPr/>
        </p:nvPicPr>
        <p:blipFill>
          <a:blip r:embed="rId4"/>
          <a:stretch>
            <a:fillRect/>
          </a:stretch>
        </p:blipFill>
        <p:spPr>
          <a:xfrm>
            <a:off x="0" y="0"/>
            <a:ext cx="12191695" cy="6858000"/>
          </a:xfrm>
          <a:prstGeom prst="rect">
            <a:avLst/>
          </a:prstGeom>
        </p:spPr>
      </p:pic>
      <p:pic>
        <p:nvPicPr>
          <p:cNvPr id="6" name="anim-g4-668" descr="C:\Users\user\projects\younes-training\heritage\.pptx-cache\s95-4.jpg">    </p:cNvPr>
          <p:cNvPicPr>
            <a:picLocks noChangeAspect="1"/>
          </p:cNvPicPr>
          <p:nvPr/>
        </p:nvPicPr>
        <p:blipFill>
          <a:blip r:embed="rId5"/>
          <a:stretch>
            <a:fillRect/>
          </a:stretch>
        </p:blipFill>
        <p:spPr>
          <a:xfrm>
            <a:off x="0" y="0"/>
            <a:ext cx="12191695" cy="6858000"/>
          </a:xfrm>
          <a:prstGeom prst="rect">
            <a:avLst/>
          </a:prstGeom>
        </p:spPr>
      </p:pic>
      <p:pic>
        <p:nvPicPr>
          <p:cNvPr id="7" name="anim-g5-669" descr="C:\Users\user\projects\younes-training\heritage\.pptx-cache\s95-5.jpg">    </p:cNvPr>
          <p:cNvPicPr>
            <a:picLocks noChangeAspect="1"/>
          </p:cNvPicPr>
          <p:nvPr/>
        </p:nvPicPr>
        <p:blipFill>
          <a:blip r:embed="rId6"/>
          <a:stretch>
            <a:fillRect/>
          </a:stretch>
        </p:blipFill>
        <p:spPr>
          <a:xfrm>
            <a:off x="0" y="0"/>
            <a:ext cx="12191695" cy="6858000"/>
          </a:xfrm>
          <a:prstGeom prst="rect">
            <a:avLst/>
          </a:prstGeom>
        </p:spPr>
      </p:pic>
      <p:pic>
        <p:nvPicPr>
          <p:cNvPr id="8" name="anim-g6-670" descr="C:\Users\user\projects\younes-training\heritage\.pptx-cache\s95-6.jpg">    </p:cNvPr>
          <p:cNvPicPr>
            <a:picLocks noChangeAspect="1"/>
          </p:cNvPicPr>
          <p:nvPr/>
        </p:nvPicPr>
        <p:blipFill>
          <a:blip r:embed="rId7"/>
          <a:stretch>
            <a:fillRect/>
          </a:stretch>
        </p:blipFill>
        <p:spPr>
          <a:xfrm>
            <a:off x="0" y="0"/>
            <a:ext cx="12191695" cy="6858000"/>
          </a:xfrm>
          <a:prstGeom prst="rect">
            <a:avLst/>
          </a:prstGeom>
        </p:spPr>
      </p:pic>
      <p:pic>
        <p:nvPicPr>
          <p:cNvPr id="9" name="anim-g7-671" descr="C:\Users\user\projects\younes-training\heritage\.pptx-cache\s95-7.jpg">    </p:cNvPr>
          <p:cNvPicPr>
            <a:picLocks noChangeAspect="1"/>
          </p:cNvPicPr>
          <p:nvPr/>
        </p:nvPicPr>
        <p:blipFill>
          <a:blip r:embed="rId8"/>
          <a:stretch>
            <a:fillRect/>
          </a:stretch>
        </p:blipFill>
        <p:spPr>
          <a:xfrm>
            <a:off x="0" y="0"/>
            <a:ext cx="12191695" cy="6858000"/>
          </a:xfrm>
          <a:prstGeom prst="rect">
            <a:avLst/>
          </a:prstGeom>
        </p:spPr>
      </p:pic>
      <p:pic>
        <p:nvPicPr>
          <p:cNvPr id="10" name="anim-g8-672" descr="C:\Users\user\projects\younes-training\heritage\.pptx-cache\s95-8.jpg">    </p:cNvPr>
          <p:cNvPicPr>
            <a:picLocks noChangeAspect="1"/>
          </p:cNvPicPr>
          <p:nvPr/>
        </p:nvPicPr>
        <p:blipFill>
          <a:blip r:embed="rId9"/>
          <a:stretch>
            <a:fillRect/>
          </a:stretch>
        </p:blipFill>
        <p:spPr>
          <a:xfrm>
            <a:off x="0" y="0"/>
            <a:ext cx="12191695" cy="6858000"/>
          </a:xfrm>
          <a:prstGeom prst="rect">
            <a:avLst/>
          </a:prstGeom>
        </p:spPr>
      </p:pic>
      <p:pic>
        <p:nvPicPr>
          <p:cNvPr id="11" name="anim-g9-673" descr="C:\Users\user\projects\younes-training\heritage\.pptx-cache\s95-9.jpg">    </p:cNvPr>
          <p:cNvPicPr>
            <a:picLocks noChangeAspect="1"/>
          </p:cNvPicPr>
          <p:nvPr/>
        </p:nvPicPr>
        <p:blipFill>
          <a:blip r:embed="rId10"/>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4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4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name="Slide 9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قصص من الفريق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مشكلات حقيقية… بصيغة هندسية</a:t>
            </a:r>
            <a:endParaRPr lang="ar-SA" sz="3800" dirty="0"/>
          </a:p>
        </p:txBody>
      </p:sp>
      <p:sp>
        <p:nvSpPr>
          <p:cNvPr id="5" name="Shape 3"/>
          <p:cNvSpPr/>
          <p:nvPr/>
        </p:nvSpPr>
        <p:spPr>
          <a:xfrm>
            <a:off x="8500313" y="1874520"/>
            <a:ext cx="2868422" cy="548640"/>
          </a:xfrm>
          <a:prstGeom prst="roundRect">
            <a:avLst>
              <a:gd name="adj" fmla="val 20000"/>
            </a:avLst>
          </a:prstGeom>
          <a:solidFill>
            <a:srgbClr val="101B45"/>
          </a:solidFill>
          <a:ln/>
        </p:spPr>
      </p:sp>
      <p:sp>
        <p:nvSpPr>
          <p:cNvPr id="6" name="Text 4"/>
          <p:cNvSpPr/>
          <p:nvPr/>
        </p:nvSpPr>
        <p:spPr>
          <a:xfrm>
            <a:off x="8500313" y="1874520"/>
            <a:ext cx="28684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المشكلة</a:t>
            </a:r>
            <a:endParaRPr lang="ar-SA" sz="1900" dirty="0"/>
          </a:p>
        </p:txBody>
      </p:sp>
      <p:sp>
        <p:nvSpPr>
          <p:cNvPr id="7" name="Shape 5"/>
          <p:cNvSpPr/>
          <p:nvPr/>
        </p:nvSpPr>
        <p:spPr>
          <a:xfrm>
            <a:off x="4661637" y="1874520"/>
            <a:ext cx="3728949" cy="548640"/>
          </a:xfrm>
          <a:prstGeom prst="roundRect">
            <a:avLst>
              <a:gd name="adj" fmla="val 20000"/>
            </a:avLst>
          </a:prstGeom>
          <a:solidFill>
            <a:srgbClr val="101B45"/>
          </a:solidFill>
          <a:ln/>
        </p:spPr>
      </p:sp>
      <p:sp>
        <p:nvSpPr>
          <p:cNvPr id="8" name="Text 6"/>
          <p:cNvSpPr/>
          <p:nvPr/>
        </p:nvSpPr>
        <p:spPr>
          <a:xfrm>
            <a:off x="4661637" y="1874520"/>
            <a:ext cx="372894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الفرضية والاختبار</a:t>
            </a:r>
            <a:endParaRPr lang="ar-SA" sz="1900" dirty="0"/>
          </a:p>
        </p:txBody>
      </p:sp>
      <p:sp>
        <p:nvSpPr>
          <p:cNvPr id="9" name="Shape 7"/>
          <p:cNvSpPr/>
          <p:nvPr/>
        </p:nvSpPr>
        <p:spPr>
          <a:xfrm>
            <a:off x="822960" y="1874520"/>
            <a:ext cx="3728949" cy="548640"/>
          </a:xfrm>
          <a:prstGeom prst="roundRect">
            <a:avLst>
              <a:gd name="adj" fmla="val 20000"/>
            </a:avLst>
          </a:prstGeom>
          <a:solidFill>
            <a:srgbClr val="101B45"/>
          </a:solidFill>
          <a:ln/>
        </p:spPr>
      </p:sp>
      <p:sp>
        <p:nvSpPr>
          <p:cNvPr id="10" name="Text 8"/>
          <p:cNvSpPr/>
          <p:nvPr/>
        </p:nvSpPr>
        <p:spPr>
          <a:xfrm>
            <a:off x="822960" y="1874520"/>
            <a:ext cx="372894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الدرس</a:t>
            </a:r>
            <a:endParaRPr lang="ar-SA" sz="1900" dirty="0"/>
          </a:p>
        </p:txBody>
      </p:sp>
      <p:sp>
        <p:nvSpPr>
          <p:cNvPr id="11" name="anim-g1-674"/>
          <p:cNvSpPr/>
          <p:nvPr/>
        </p:nvSpPr>
        <p:spPr>
          <a:xfrm>
            <a:off x="8500313" y="2514600"/>
            <a:ext cx="2868422" cy="797814"/>
          </a:xfrm>
          <a:prstGeom prst="roundRect">
            <a:avLst>
              <a:gd name="adj" fmla="val 13754"/>
            </a:avLst>
          </a:prstGeom>
          <a:solidFill>
            <a:srgbClr val="FBF3DF"/>
          </a:solidFill>
          <a:ln w="12700">
            <a:solidFill>
              <a:srgbClr val="EFDDAF"/>
            </a:solidFill>
            <a:prstDash val="solid"/>
          </a:ln>
        </p:spPr>
      </p:sp>
      <p:sp>
        <p:nvSpPr>
          <p:cNvPr id="12" name="anim-g1-675"/>
          <p:cNvSpPr/>
          <p:nvPr/>
        </p:nvSpPr>
        <p:spPr>
          <a:xfrm>
            <a:off x="8637473" y="2514600"/>
            <a:ext cx="25941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تعطّل لوحة ESP32</a:t>
            </a:r>
            <a:endParaRPr lang="ar-SA" sz="2100" dirty="0"/>
          </a:p>
        </p:txBody>
      </p:sp>
      <p:sp>
        <p:nvSpPr>
          <p:cNvPr id="13" name="anim-g1-676"/>
          <p:cNvSpPr/>
          <p:nvPr/>
        </p:nvSpPr>
        <p:spPr>
          <a:xfrm>
            <a:off x="4661637" y="2514600"/>
            <a:ext cx="3728949" cy="797814"/>
          </a:xfrm>
          <a:prstGeom prst="roundRect">
            <a:avLst>
              <a:gd name="adj" fmla="val 13754"/>
            </a:avLst>
          </a:prstGeom>
          <a:solidFill>
            <a:srgbClr val="FFFFFF"/>
          </a:solidFill>
          <a:ln w="12700">
            <a:solidFill>
              <a:srgbClr val="E4DCC8"/>
            </a:solidFill>
            <a:prstDash val="solid"/>
          </a:ln>
        </p:spPr>
      </p:sp>
      <p:sp>
        <p:nvSpPr>
          <p:cNvPr id="14" name="anim-g1-677"/>
          <p:cNvSpPr/>
          <p:nvPr/>
        </p:nvSpPr>
        <p:spPr>
          <a:xfrm>
            <a:off x="4798797" y="2514600"/>
            <a:ext cx="345462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كود بسيط على لوحة بديلة لعزل السبب</a:t>
            </a:r>
            <a:endParaRPr lang="ar-SA" sz="2100" dirty="0"/>
          </a:p>
        </p:txBody>
      </p:sp>
      <p:sp>
        <p:nvSpPr>
          <p:cNvPr id="15" name="anim-g1-678"/>
          <p:cNvSpPr/>
          <p:nvPr/>
        </p:nvSpPr>
        <p:spPr>
          <a:xfrm>
            <a:off x="822960" y="2514600"/>
            <a:ext cx="3728949" cy="797814"/>
          </a:xfrm>
          <a:prstGeom prst="roundRect">
            <a:avLst>
              <a:gd name="adj" fmla="val 13754"/>
            </a:avLst>
          </a:prstGeom>
          <a:solidFill>
            <a:srgbClr val="E6F4EC"/>
          </a:solidFill>
          <a:ln w="12700">
            <a:solidFill>
              <a:srgbClr val="CDE9D9"/>
            </a:solidFill>
            <a:prstDash val="solid"/>
          </a:ln>
        </p:spPr>
      </p:sp>
      <p:sp>
        <p:nvSpPr>
          <p:cNvPr id="16" name="anim-g1-679"/>
          <p:cNvSpPr/>
          <p:nvPr/>
        </p:nvSpPr>
        <p:spPr>
          <a:xfrm>
            <a:off x="960120" y="2514600"/>
            <a:ext cx="345462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ابدأ بأبسط اختبار قبل تغيير أجزاء كثيرة</a:t>
            </a:r>
            <a:endParaRPr lang="ar-SA" sz="2100" dirty="0"/>
          </a:p>
        </p:txBody>
      </p:sp>
      <p:sp>
        <p:nvSpPr>
          <p:cNvPr id="17" name="anim-g2-680"/>
          <p:cNvSpPr/>
          <p:nvPr/>
        </p:nvSpPr>
        <p:spPr>
          <a:xfrm>
            <a:off x="8500313" y="3422142"/>
            <a:ext cx="2868422" cy="797814"/>
          </a:xfrm>
          <a:prstGeom prst="roundRect">
            <a:avLst>
              <a:gd name="adj" fmla="val 13754"/>
            </a:avLst>
          </a:prstGeom>
          <a:solidFill>
            <a:srgbClr val="FBF3DF"/>
          </a:solidFill>
          <a:ln w="12700">
            <a:solidFill>
              <a:srgbClr val="EFDDAF"/>
            </a:solidFill>
            <a:prstDash val="solid"/>
          </a:ln>
        </p:spPr>
      </p:sp>
      <p:sp>
        <p:nvSpPr>
          <p:cNvPr id="18" name="anim-g2-681"/>
          <p:cNvSpPr/>
          <p:nvPr/>
        </p:nvSpPr>
        <p:spPr>
          <a:xfrm>
            <a:off x="8637473" y="3422142"/>
            <a:ext cx="25941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سيرفو غير مستقر</a:t>
            </a:r>
            <a:endParaRPr lang="ar-SA" sz="2100" dirty="0"/>
          </a:p>
        </p:txBody>
      </p:sp>
      <p:sp>
        <p:nvSpPr>
          <p:cNvPr id="19" name="anim-g2-682"/>
          <p:cNvSpPr/>
          <p:nvPr/>
        </p:nvSpPr>
        <p:spPr>
          <a:xfrm>
            <a:off x="4661637" y="3422142"/>
            <a:ext cx="3728949" cy="797814"/>
          </a:xfrm>
          <a:prstGeom prst="roundRect">
            <a:avLst>
              <a:gd name="adj" fmla="val 13754"/>
            </a:avLst>
          </a:prstGeom>
          <a:solidFill>
            <a:srgbClr val="FFFFFF"/>
          </a:solidFill>
          <a:ln w="12700">
            <a:solidFill>
              <a:srgbClr val="E4DCC8"/>
            </a:solidFill>
            <a:prstDash val="solid"/>
          </a:ln>
        </p:spPr>
      </p:sp>
      <p:sp>
        <p:nvSpPr>
          <p:cNvPr id="20" name="anim-g2-683"/>
          <p:cNvSpPr/>
          <p:nvPr/>
        </p:nvSpPr>
        <p:spPr>
          <a:xfrm>
            <a:off x="4798797" y="3422142"/>
            <a:ext cx="345462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تغيير المنفذ وفحص التغذية والأرضي</a:t>
            </a:r>
            <a:endParaRPr lang="ar-SA" sz="2100" dirty="0"/>
          </a:p>
        </p:txBody>
      </p:sp>
      <p:sp>
        <p:nvSpPr>
          <p:cNvPr id="21" name="anim-g2-684"/>
          <p:cNvSpPr/>
          <p:nvPr/>
        </p:nvSpPr>
        <p:spPr>
          <a:xfrm>
            <a:off x="822960" y="3422142"/>
            <a:ext cx="3728949" cy="797814"/>
          </a:xfrm>
          <a:prstGeom prst="roundRect">
            <a:avLst>
              <a:gd name="adj" fmla="val 13754"/>
            </a:avLst>
          </a:prstGeom>
          <a:solidFill>
            <a:srgbClr val="E6F4EC"/>
          </a:solidFill>
          <a:ln w="12700">
            <a:solidFill>
              <a:srgbClr val="CDE9D9"/>
            </a:solidFill>
            <a:prstDash val="solid"/>
          </a:ln>
        </p:spPr>
      </p:sp>
      <p:sp>
        <p:nvSpPr>
          <p:cNvPr id="22" name="anim-g2-685"/>
          <p:cNvSpPr/>
          <p:nvPr/>
        </p:nvSpPr>
        <p:spPr>
          <a:xfrm>
            <a:off x="960120" y="3422142"/>
            <a:ext cx="345462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ليست كل مشكلة برمجية</a:t>
            </a:r>
            <a:endParaRPr lang="ar-SA" sz="2100" dirty="0"/>
          </a:p>
        </p:txBody>
      </p:sp>
      <p:sp>
        <p:nvSpPr>
          <p:cNvPr id="23" name="anim-g3-686"/>
          <p:cNvSpPr/>
          <p:nvPr/>
        </p:nvSpPr>
        <p:spPr>
          <a:xfrm>
            <a:off x="8500313" y="4329684"/>
            <a:ext cx="2868422" cy="797814"/>
          </a:xfrm>
          <a:prstGeom prst="roundRect">
            <a:avLst>
              <a:gd name="adj" fmla="val 13754"/>
            </a:avLst>
          </a:prstGeom>
          <a:solidFill>
            <a:srgbClr val="FBF3DF"/>
          </a:solidFill>
          <a:ln w="12700">
            <a:solidFill>
              <a:srgbClr val="EFDDAF"/>
            </a:solidFill>
            <a:prstDash val="solid"/>
          </a:ln>
        </p:spPr>
      </p:sp>
      <p:sp>
        <p:nvSpPr>
          <p:cNvPr id="24" name="anim-g3-687"/>
          <p:cNvSpPr/>
          <p:nvPr/>
        </p:nvSpPr>
        <p:spPr>
          <a:xfrm>
            <a:off x="8637473" y="4329684"/>
            <a:ext cx="25941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المحرك مختلف داخل النظام</a:t>
            </a:r>
            <a:endParaRPr lang="ar-SA" sz="2100" dirty="0"/>
          </a:p>
        </p:txBody>
      </p:sp>
      <p:sp>
        <p:nvSpPr>
          <p:cNvPr id="25" name="anim-g3-688"/>
          <p:cNvSpPr/>
          <p:nvPr/>
        </p:nvSpPr>
        <p:spPr>
          <a:xfrm>
            <a:off x="4661637" y="4329684"/>
            <a:ext cx="3728949" cy="797814"/>
          </a:xfrm>
          <a:prstGeom prst="roundRect">
            <a:avLst>
              <a:gd name="adj" fmla="val 13754"/>
            </a:avLst>
          </a:prstGeom>
          <a:solidFill>
            <a:srgbClr val="FFFFFF"/>
          </a:solidFill>
          <a:ln w="12700">
            <a:solidFill>
              <a:srgbClr val="E4DCC8"/>
            </a:solidFill>
            <a:prstDash val="solid"/>
          </a:ln>
        </p:spPr>
      </p:sp>
      <p:sp>
        <p:nvSpPr>
          <p:cNvPr id="26" name="anim-g3-689"/>
          <p:cNvSpPr/>
          <p:nvPr/>
        </p:nvSpPr>
        <p:spPr>
          <a:xfrm>
            <a:off x="4798797" y="4329684"/>
            <a:ext cx="345462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اختباره منفردًا ثم مع الحمل الفعلي</a:t>
            </a:r>
            <a:endParaRPr lang="ar-SA" sz="2100" dirty="0"/>
          </a:p>
        </p:txBody>
      </p:sp>
      <p:sp>
        <p:nvSpPr>
          <p:cNvPr id="27" name="anim-g3-690"/>
          <p:cNvSpPr/>
          <p:nvPr/>
        </p:nvSpPr>
        <p:spPr>
          <a:xfrm>
            <a:off x="822960" y="4329684"/>
            <a:ext cx="3728949" cy="797814"/>
          </a:xfrm>
          <a:prstGeom prst="roundRect">
            <a:avLst>
              <a:gd name="adj" fmla="val 13754"/>
            </a:avLst>
          </a:prstGeom>
          <a:solidFill>
            <a:srgbClr val="E6F4EC"/>
          </a:solidFill>
          <a:ln w="12700">
            <a:solidFill>
              <a:srgbClr val="CDE9D9"/>
            </a:solidFill>
            <a:prstDash val="solid"/>
          </a:ln>
        </p:spPr>
      </p:sp>
      <p:sp>
        <p:nvSpPr>
          <p:cNvPr id="28" name="anim-g3-691"/>
          <p:cNvSpPr/>
          <p:nvPr/>
        </p:nvSpPr>
        <p:spPr>
          <a:xfrm>
            <a:off x="960120" y="4329684"/>
            <a:ext cx="345462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الدمج التدريجي يكشف أثر الحمل والطاقة</a:t>
            </a:r>
            <a:endParaRPr lang="ar-SA" sz="2100" dirty="0"/>
          </a:p>
        </p:txBody>
      </p:sp>
      <p:sp>
        <p:nvSpPr>
          <p:cNvPr id="29" name="anim-g4-692"/>
          <p:cNvSpPr/>
          <p:nvPr/>
        </p:nvSpPr>
        <p:spPr>
          <a:xfrm>
            <a:off x="8500313" y="5237226"/>
            <a:ext cx="2868422" cy="797814"/>
          </a:xfrm>
          <a:prstGeom prst="roundRect">
            <a:avLst>
              <a:gd name="adj" fmla="val 13754"/>
            </a:avLst>
          </a:prstGeom>
          <a:solidFill>
            <a:srgbClr val="FBF3DF"/>
          </a:solidFill>
          <a:ln w="12700">
            <a:solidFill>
              <a:srgbClr val="EFDDAF"/>
            </a:solidFill>
            <a:prstDash val="solid"/>
          </a:ln>
        </p:spPr>
      </p:sp>
      <p:sp>
        <p:nvSpPr>
          <p:cNvPr id="30" name="anim-g4-693"/>
          <p:cNvSpPr/>
          <p:nvPr/>
        </p:nvSpPr>
        <p:spPr>
          <a:xfrm>
            <a:off x="8637473" y="5237226"/>
            <a:ext cx="25941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توقف غير دقيق</a:t>
            </a:r>
            <a:endParaRPr lang="ar-SA" sz="2100" dirty="0"/>
          </a:p>
        </p:txBody>
      </p:sp>
      <p:sp>
        <p:nvSpPr>
          <p:cNvPr id="31" name="anim-g4-694"/>
          <p:cNvSpPr/>
          <p:nvPr/>
        </p:nvSpPr>
        <p:spPr>
          <a:xfrm>
            <a:off x="4661637" y="5237226"/>
            <a:ext cx="3728949" cy="797814"/>
          </a:xfrm>
          <a:prstGeom prst="roundRect">
            <a:avLst>
              <a:gd name="adj" fmla="val 13754"/>
            </a:avLst>
          </a:prstGeom>
          <a:solidFill>
            <a:srgbClr val="FFFFFF"/>
          </a:solidFill>
          <a:ln w="12700">
            <a:solidFill>
              <a:srgbClr val="E4DCC8"/>
            </a:solidFill>
            <a:prstDash val="solid"/>
          </a:ln>
        </p:spPr>
      </p:sp>
      <p:sp>
        <p:nvSpPr>
          <p:cNvPr id="32" name="anim-g4-695"/>
          <p:cNvSpPr/>
          <p:nvPr/>
        </p:nvSpPr>
        <p:spPr>
          <a:xfrm>
            <a:off x="4798797" y="5237226"/>
            <a:ext cx="345462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تكرار القياس وتعديل الخطوات والسرعة</a:t>
            </a:r>
            <a:endParaRPr lang="ar-SA" sz="2100" dirty="0"/>
          </a:p>
        </p:txBody>
      </p:sp>
      <p:sp>
        <p:nvSpPr>
          <p:cNvPr id="33" name="anim-g4-696"/>
          <p:cNvSpPr/>
          <p:nvPr/>
        </p:nvSpPr>
        <p:spPr>
          <a:xfrm>
            <a:off x="822960" y="5237226"/>
            <a:ext cx="3728949" cy="797814"/>
          </a:xfrm>
          <a:prstGeom prst="roundRect">
            <a:avLst>
              <a:gd name="adj" fmla="val 13754"/>
            </a:avLst>
          </a:prstGeom>
          <a:solidFill>
            <a:srgbClr val="E6F4EC"/>
          </a:solidFill>
          <a:ln w="12700">
            <a:solidFill>
              <a:srgbClr val="CDE9D9"/>
            </a:solidFill>
            <a:prstDash val="solid"/>
          </a:ln>
        </p:spPr>
      </p:sp>
      <p:sp>
        <p:nvSpPr>
          <p:cNvPr id="34" name="anim-g4-697"/>
          <p:cNvSpPr/>
          <p:nvPr/>
        </p:nvSpPr>
        <p:spPr>
          <a:xfrm>
            <a:off x="960120" y="5237226"/>
            <a:ext cx="345462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القيمة النهائية من قياس ميداني</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الطاقة والتركيب الكامل  ·  ٩٦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pic>
        <p:nvPicPr>
          <p:cNvPr id="2" name="Image 0" descr="C:\Users\user\projects\younes-training\heritage\.pptx-cache\s9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محرك على مصدره، وسيرفو على مصدره، وأرضي واحد يجمعهم: صندوق يعمل طوال يوم المعرض</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الطاقة والتركيب الكامل  ·  ٩٨</a:t>
            </a:r>
            <a:endParaRPr lang="ar-SA" sz="12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١١</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١١</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آلة الحالات</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من كود «يعمل» إلى كود عالمي: لا delay طويلة، ولا أزرار في غير وقتها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آلة الحالات  ·  ٩٩</a:t>
            </a:r>
            <a:endParaRPr lang="ar-SA" sz="1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698"/>
          <p:cNvSpPr/>
          <p:nvPr/>
        </p:nvSpPr>
        <p:spPr>
          <a:xfrm>
            <a:off x="822960" y="1920240"/>
            <a:ext cx="10545775" cy="946404"/>
          </a:xfrm>
          <a:prstGeom prst="roundRect">
            <a:avLst>
              <a:gd name="adj" fmla="val 15459"/>
            </a:avLst>
          </a:prstGeom>
          <a:solidFill>
            <a:srgbClr val="FFFFFF"/>
          </a:solidFill>
          <a:ln w="12700">
            <a:solidFill>
              <a:srgbClr val="E4DCC8"/>
            </a:solidFill>
            <a:prstDash val="solid"/>
          </a:ln>
        </p:spPr>
      </p:sp>
      <p:sp>
        <p:nvSpPr>
          <p:cNvPr id="6" name="anim-g1-699"/>
          <p:cNvSpPr/>
          <p:nvPr/>
        </p:nvSpPr>
        <p:spPr>
          <a:xfrm>
            <a:off x="10573207" y="2109978"/>
            <a:ext cx="566928" cy="566928"/>
          </a:xfrm>
          <a:prstGeom prst="ellipse">
            <a:avLst/>
          </a:prstGeom>
          <a:solidFill>
            <a:srgbClr val="D9AE4B"/>
          </a:solidFill>
          <a:ln/>
        </p:spPr>
      </p:sp>
      <p:sp>
        <p:nvSpPr>
          <p:cNvPr id="7" name="anim-g1-700"/>
          <p:cNvSpPr/>
          <p:nvPr/>
        </p:nvSpPr>
        <p:spPr>
          <a:xfrm>
            <a:off x="10573207" y="2109978"/>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01"/>
          <p:cNvSpPr/>
          <p:nvPr/>
        </p:nvSpPr>
        <p:spPr>
          <a:xfrm>
            <a:off x="1097280" y="1920240"/>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تقسّم الجولة إلى ست حالات واضحة</a:t>
            </a:r>
            <a:endParaRPr lang="ar-SA" sz="2400" dirty="0"/>
          </a:p>
        </p:txBody>
      </p:sp>
      <p:sp>
        <p:nvSpPr>
          <p:cNvPr id="9" name="anim-g2-702"/>
          <p:cNvSpPr/>
          <p:nvPr/>
        </p:nvSpPr>
        <p:spPr>
          <a:xfrm>
            <a:off x="822960" y="2976372"/>
            <a:ext cx="10545775" cy="946404"/>
          </a:xfrm>
          <a:prstGeom prst="roundRect">
            <a:avLst>
              <a:gd name="adj" fmla="val 15459"/>
            </a:avLst>
          </a:prstGeom>
          <a:solidFill>
            <a:srgbClr val="FFFFFF"/>
          </a:solidFill>
          <a:ln w="12700">
            <a:solidFill>
              <a:srgbClr val="E4DCC8"/>
            </a:solidFill>
            <a:prstDash val="solid"/>
          </a:ln>
        </p:spPr>
      </p:sp>
      <p:sp>
        <p:nvSpPr>
          <p:cNvPr id="10" name="anim-g2-703"/>
          <p:cNvSpPr/>
          <p:nvPr/>
        </p:nvSpPr>
        <p:spPr>
          <a:xfrm>
            <a:off x="10573207" y="3166110"/>
            <a:ext cx="566928" cy="566928"/>
          </a:xfrm>
          <a:prstGeom prst="ellipse">
            <a:avLst/>
          </a:prstGeom>
          <a:solidFill>
            <a:srgbClr val="D9AE4B"/>
          </a:solidFill>
          <a:ln/>
        </p:spPr>
      </p:sp>
      <p:sp>
        <p:nvSpPr>
          <p:cNvPr id="11" name="anim-g2-704"/>
          <p:cNvSpPr/>
          <p:nvPr/>
        </p:nvSpPr>
        <p:spPr>
          <a:xfrm>
            <a:off x="10573207" y="316611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05"/>
          <p:cNvSpPr/>
          <p:nvPr/>
        </p:nvSpPr>
        <p:spPr>
          <a:xfrm>
            <a:off x="1097280" y="2976372"/>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تكتبها بـ enum وswitch</a:t>
            </a:r>
            <a:endParaRPr lang="ar-SA" sz="2400" dirty="0"/>
          </a:p>
        </p:txBody>
      </p:sp>
      <p:sp>
        <p:nvSpPr>
          <p:cNvPr id="13" name="anim-g3-706"/>
          <p:cNvSpPr/>
          <p:nvPr/>
        </p:nvSpPr>
        <p:spPr>
          <a:xfrm>
            <a:off x="822960" y="4032504"/>
            <a:ext cx="10545775" cy="946404"/>
          </a:xfrm>
          <a:prstGeom prst="roundRect">
            <a:avLst>
              <a:gd name="adj" fmla="val 15459"/>
            </a:avLst>
          </a:prstGeom>
          <a:solidFill>
            <a:srgbClr val="FFFFFF"/>
          </a:solidFill>
          <a:ln w="12700">
            <a:solidFill>
              <a:srgbClr val="E4DCC8"/>
            </a:solidFill>
            <a:prstDash val="solid"/>
          </a:ln>
        </p:spPr>
      </p:sp>
      <p:sp>
        <p:nvSpPr>
          <p:cNvPr id="14" name="anim-g3-707"/>
          <p:cNvSpPr/>
          <p:nvPr/>
        </p:nvSpPr>
        <p:spPr>
          <a:xfrm>
            <a:off x="10573207" y="4222242"/>
            <a:ext cx="566928" cy="566928"/>
          </a:xfrm>
          <a:prstGeom prst="ellipse">
            <a:avLst/>
          </a:prstGeom>
          <a:solidFill>
            <a:srgbClr val="D9AE4B"/>
          </a:solidFill>
          <a:ln/>
        </p:spPr>
      </p:sp>
      <p:sp>
        <p:nvSpPr>
          <p:cNvPr id="15" name="anim-g3-708"/>
          <p:cNvSpPr/>
          <p:nvPr/>
        </p:nvSpPr>
        <p:spPr>
          <a:xfrm>
            <a:off x="10573207" y="422224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09"/>
          <p:cNvSpPr/>
          <p:nvPr/>
        </p:nvSpPr>
        <p:spPr>
          <a:xfrm>
            <a:off x="1097280" y="4032504"/>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تقفل الأزرار التي لا تناسب الحالة</a:t>
            </a:r>
            <a:endParaRPr lang="ar-SA" sz="2400" dirty="0"/>
          </a:p>
        </p:txBody>
      </p:sp>
      <p:sp>
        <p:nvSpPr>
          <p:cNvPr id="17" name="anim-g4-710"/>
          <p:cNvSpPr/>
          <p:nvPr/>
        </p:nvSpPr>
        <p:spPr>
          <a:xfrm>
            <a:off x="822960" y="5088636"/>
            <a:ext cx="10545775" cy="946404"/>
          </a:xfrm>
          <a:prstGeom prst="roundRect">
            <a:avLst>
              <a:gd name="adj" fmla="val 15459"/>
            </a:avLst>
          </a:prstGeom>
          <a:solidFill>
            <a:srgbClr val="FFFFFF"/>
          </a:solidFill>
          <a:ln w="12700">
            <a:solidFill>
              <a:srgbClr val="E4DCC8"/>
            </a:solidFill>
            <a:prstDash val="solid"/>
          </a:ln>
        </p:spPr>
      </p:sp>
      <p:sp>
        <p:nvSpPr>
          <p:cNvPr id="18" name="anim-g4-711"/>
          <p:cNvSpPr/>
          <p:nvPr/>
        </p:nvSpPr>
        <p:spPr>
          <a:xfrm>
            <a:off x="10573207" y="5278374"/>
            <a:ext cx="566928" cy="566928"/>
          </a:xfrm>
          <a:prstGeom prst="ellipse">
            <a:avLst/>
          </a:prstGeom>
          <a:solidFill>
            <a:srgbClr val="D9AE4B"/>
          </a:solidFill>
          <a:ln/>
        </p:spPr>
      </p:sp>
      <p:sp>
        <p:nvSpPr>
          <p:cNvPr id="19" name="anim-g4-712"/>
          <p:cNvSpPr/>
          <p:nvPr/>
        </p:nvSpPr>
        <p:spPr>
          <a:xfrm>
            <a:off x="10573207" y="5278374"/>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713"/>
          <p:cNvSpPr/>
          <p:nvPr/>
        </p:nvSpPr>
        <p:spPr>
          <a:xfrm>
            <a:off x="1097280" y="5088636"/>
            <a:ext cx="9247327" cy="946404"/>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تدير الحركة والصوت دون حبس (non-blocking)</a:t>
            </a:r>
            <a:endParaRPr lang="ar-SA" sz="2400" dirty="0"/>
          </a:p>
        </p:txBody>
      </p:sp>
      <p:sp>
        <p:nvSpPr>
          <p:cNvPr id="21" name="Text 19"/>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2" name="Text 20"/>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آلة الحالات  ·  ١٠٠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name="Slide 10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33311" y="457200"/>
            <a:ext cx="4535424" cy="457200"/>
          </a:xfrm>
          <a:prstGeom prst="roundRect">
            <a:avLst>
              <a:gd name="adj" fmla="val 50000"/>
            </a:avLst>
          </a:prstGeom>
          <a:solidFill>
            <a:srgbClr val="F6EBCF"/>
          </a:solidFill>
          <a:ln/>
        </p:spPr>
      </p:sp>
      <p:sp>
        <p:nvSpPr>
          <p:cNvPr id="3" name="Text 1"/>
          <p:cNvSpPr/>
          <p:nvPr/>
        </p:nvSpPr>
        <p:spPr>
          <a:xfrm>
            <a:off x="6833311" y="457200"/>
            <a:ext cx="453542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جدول الحالات من ملف الفريق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ست حالات… كل منها تنتظر شيئًا واحدًا</a:t>
            </a:r>
            <a:endParaRPr lang="ar-SA" sz="3200" dirty="0"/>
          </a:p>
        </p:txBody>
      </p:sp>
      <p:sp>
        <p:nvSpPr>
          <p:cNvPr id="5" name="Shape 3"/>
          <p:cNvSpPr/>
          <p:nvPr/>
        </p:nvSpPr>
        <p:spPr>
          <a:xfrm>
            <a:off x="8787155" y="1874520"/>
            <a:ext cx="2581580" cy="548640"/>
          </a:xfrm>
          <a:prstGeom prst="roundRect">
            <a:avLst>
              <a:gd name="adj" fmla="val 20000"/>
            </a:avLst>
          </a:prstGeom>
          <a:solidFill>
            <a:srgbClr val="101B45"/>
          </a:solidFill>
          <a:ln/>
        </p:spPr>
      </p:sp>
      <p:sp>
        <p:nvSpPr>
          <p:cNvPr id="6" name="Text 4"/>
          <p:cNvSpPr/>
          <p:nvPr/>
        </p:nvSpPr>
        <p:spPr>
          <a:xfrm>
            <a:off x="8787155" y="1874520"/>
            <a:ext cx="2581580"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الحالة</a:t>
            </a:r>
            <a:endParaRPr lang="ar-SA" sz="1900" dirty="0"/>
          </a:p>
        </p:txBody>
      </p:sp>
      <p:sp>
        <p:nvSpPr>
          <p:cNvPr id="7" name="Shape 5"/>
          <p:cNvSpPr/>
          <p:nvPr/>
        </p:nvSpPr>
        <p:spPr>
          <a:xfrm>
            <a:off x="4948479" y="1874520"/>
            <a:ext cx="3728949" cy="548640"/>
          </a:xfrm>
          <a:prstGeom prst="roundRect">
            <a:avLst>
              <a:gd name="adj" fmla="val 20000"/>
            </a:avLst>
          </a:prstGeom>
          <a:solidFill>
            <a:srgbClr val="101B45"/>
          </a:solidFill>
          <a:ln/>
        </p:spPr>
      </p:sp>
      <p:sp>
        <p:nvSpPr>
          <p:cNvPr id="8" name="Text 6"/>
          <p:cNvSpPr/>
          <p:nvPr/>
        </p:nvSpPr>
        <p:spPr>
          <a:xfrm>
            <a:off x="4948479" y="1874520"/>
            <a:ext cx="372894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ماذا تنتظر؟</a:t>
            </a:r>
            <a:endParaRPr lang="ar-SA" sz="1900" dirty="0"/>
          </a:p>
        </p:txBody>
      </p:sp>
      <p:sp>
        <p:nvSpPr>
          <p:cNvPr id="9" name="Shape 7"/>
          <p:cNvSpPr/>
          <p:nvPr/>
        </p:nvSpPr>
        <p:spPr>
          <a:xfrm>
            <a:off x="822960" y="1874520"/>
            <a:ext cx="4015791" cy="548640"/>
          </a:xfrm>
          <a:prstGeom prst="roundRect">
            <a:avLst>
              <a:gd name="adj" fmla="val 20000"/>
            </a:avLst>
          </a:prstGeom>
          <a:solidFill>
            <a:srgbClr val="101B45"/>
          </a:solidFill>
          <a:ln/>
        </p:spPr>
      </p:sp>
      <p:sp>
        <p:nvSpPr>
          <p:cNvPr id="10" name="Text 8"/>
          <p:cNvSpPr/>
          <p:nvPr/>
        </p:nvSpPr>
        <p:spPr>
          <a:xfrm>
            <a:off x="822960" y="1874520"/>
            <a:ext cx="4015791"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الانتقال</a:t>
            </a:r>
            <a:endParaRPr lang="ar-SA" sz="1900" dirty="0"/>
          </a:p>
        </p:txBody>
      </p:sp>
      <p:sp>
        <p:nvSpPr>
          <p:cNvPr id="11" name="anim-g1-714"/>
          <p:cNvSpPr/>
          <p:nvPr/>
        </p:nvSpPr>
        <p:spPr>
          <a:xfrm>
            <a:off x="8787155" y="2514600"/>
            <a:ext cx="2581580" cy="495300"/>
          </a:xfrm>
          <a:prstGeom prst="roundRect">
            <a:avLst>
              <a:gd name="adj" fmla="val 22154"/>
            </a:avLst>
          </a:prstGeom>
          <a:solidFill>
            <a:srgbClr val="FBF3DF"/>
          </a:solidFill>
          <a:ln w="12700">
            <a:solidFill>
              <a:srgbClr val="EFDDAF"/>
            </a:solidFill>
            <a:prstDash val="solid"/>
          </a:ln>
        </p:spPr>
      </p:sp>
      <p:sp>
        <p:nvSpPr>
          <p:cNvPr id="12" name="anim-g1-715"/>
          <p:cNvSpPr/>
          <p:nvPr/>
        </p:nvSpPr>
        <p:spPr>
          <a:xfrm>
            <a:off x="8924315" y="2514600"/>
            <a:ext cx="2307260"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WAIT انتظار زائر</a:t>
            </a:r>
            <a:endParaRPr lang="ar-SA" sz="2100" dirty="0"/>
          </a:p>
        </p:txBody>
      </p:sp>
      <p:sp>
        <p:nvSpPr>
          <p:cNvPr id="13" name="anim-g1-716"/>
          <p:cNvSpPr/>
          <p:nvPr/>
        </p:nvSpPr>
        <p:spPr>
          <a:xfrm>
            <a:off x="4948479" y="2514600"/>
            <a:ext cx="3728949" cy="495300"/>
          </a:xfrm>
          <a:prstGeom prst="roundRect">
            <a:avLst>
              <a:gd name="adj" fmla="val 22154"/>
            </a:avLst>
          </a:prstGeom>
          <a:solidFill>
            <a:srgbClr val="FFFFFF"/>
          </a:solidFill>
          <a:ln w="12700">
            <a:solidFill>
              <a:srgbClr val="E4DCC8"/>
            </a:solidFill>
            <a:prstDash val="solid"/>
          </a:ln>
        </p:spPr>
      </p:sp>
      <p:sp>
        <p:nvSpPr>
          <p:cNvPr id="14" name="anim-g1-717"/>
          <p:cNvSpPr/>
          <p:nvPr/>
        </p:nvSpPr>
        <p:spPr>
          <a:xfrm>
            <a:off x="5085639" y="2514600"/>
            <a:ext cx="3454629"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مسافة مناسبة من HC-SR04</a:t>
            </a:r>
            <a:endParaRPr lang="ar-SA" sz="2100" dirty="0"/>
          </a:p>
        </p:txBody>
      </p:sp>
      <p:sp>
        <p:nvSpPr>
          <p:cNvPr id="15" name="anim-g1-718"/>
          <p:cNvSpPr/>
          <p:nvPr/>
        </p:nvSpPr>
        <p:spPr>
          <a:xfrm>
            <a:off x="822960" y="2514600"/>
            <a:ext cx="4015791" cy="495300"/>
          </a:xfrm>
          <a:prstGeom prst="roundRect">
            <a:avLst>
              <a:gd name="adj" fmla="val 22154"/>
            </a:avLst>
          </a:prstGeom>
          <a:solidFill>
            <a:srgbClr val="E6F4EC"/>
          </a:solidFill>
          <a:ln w="12700">
            <a:solidFill>
              <a:srgbClr val="CDE9D9"/>
            </a:solidFill>
            <a:prstDash val="solid"/>
          </a:ln>
        </p:spPr>
      </p:sp>
      <p:sp>
        <p:nvSpPr>
          <p:cNvPr id="16" name="anim-g1-719"/>
          <p:cNvSpPr/>
          <p:nvPr/>
        </p:nvSpPr>
        <p:spPr>
          <a:xfrm>
            <a:off x="960120" y="2514600"/>
            <a:ext cx="3741471"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ترحيب ← CHOOSE</a:t>
            </a:r>
            <a:endParaRPr lang="ar-SA" sz="2100" dirty="0"/>
          </a:p>
        </p:txBody>
      </p:sp>
      <p:sp>
        <p:nvSpPr>
          <p:cNvPr id="17" name="anim-g2-720"/>
          <p:cNvSpPr/>
          <p:nvPr/>
        </p:nvSpPr>
        <p:spPr>
          <a:xfrm>
            <a:off x="8787155" y="3119628"/>
            <a:ext cx="2581580" cy="495300"/>
          </a:xfrm>
          <a:prstGeom prst="roundRect">
            <a:avLst>
              <a:gd name="adj" fmla="val 22154"/>
            </a:avLst>
          </a:prstGeom>
          <a:solidFill>
            <a:srgbClr val="FBF3DF"/>
          </a:solidFill>
          <a:ln w="12700">
            <a:solidFill>
              <a:srgbClr val="EFDDAF"/>
            </a:solidFill>
            <a:prstDash val="solid"/>
          </a:ln>
        </p:spPr>
      </p:sp>
      <p:sp>
        <p:nvSpPr>
          <p:cNvPr id="18" name="anim-g2-721"/>
          <p:cNvSpPr/>
          <p:nvPr/>
        </p:nvSpPr>
        <p:spPr>
          <a:xfrm>
            <a:off x="8924315" y="3119628"/>
            <a:ext cx="2307260"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CHOOSE اختيار عنصر</a:t>
            </a:r>
            <a:endParaRPr lang="ar-SA" sz="2100" dirty="0"/>
          </a:p>
        </p:txBody>
      </p:sp>
      <p:sp>
        <p:nvSpPr>
          <p:cNvPr id="19" name="anim-g2-722"/>
          <p:cNvSpPr/>
          <p:nvPr/>
        </p:nvSpPr>
        <p:spPr>
          <a:xfrm>
            <a:off x="4948479" y="3119628"/>
            <a:ext cx="3728949" cy="495300"/>
          </a:xfrm>
          <a:prstGeom prst="roundRect">
            <a:avLst>
              <a:gd name="adj" fmla="val 22154"/>
            </a:avLst>
          </a:prstGeom>
          <a:solidFill>
            <a:srgbClr val="FFFFFF"/>
          </a:solidFill>
          <a:ln w="12700">
            <a:solidFill>
              <a:srgbClr val="E4DCC8"/>
            </a:solidFill>
            <a:prstDash val="solid"/>
          </a:ln>
        </p:spPr>
      </p:sp>
      <p:sp>
        <p:nvSpPr>
          <p:cNvPr id="20" name="anim-g2-723"/>
          <p:cNvSpPr/>
          <p:nvPr/>
        </p:nvSpPr>
        <p:spPr>
          <a:xfrm>
            <a:off x="5085639" y="3119628"/>
            <a:ext cx="3454629"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ضغط أحد أزرار المحطات</a:t>
            </a:r>
            <a:endParaRPr lang="ar-SA" sz="2100" dirty="0"/>
          </a:p>
        </p:txBody>
      </p:sp>
      <p:sp>
        <p:nvSpPr>
          <p:cNvPr id="21" name="anim-g2-724"/>
          <p:cNvSpPr/>
          <p:nvPr/>
        </p:nvSpPr>
        <p:spPr>
          <a:xfrm>
            <a:off x="822960" y="3119628"/>
            <a:ext cx="4015791" cy="495300"/>
          </a:xfrm>
          <a:prstGeom prst="roundRect">
            <a:avLst>
              <a:gd name="adj" fmla="val 22154"/>
            </a:avLst>
          </a:prstGeom>
          <a:solidFill>
            <a:srgbClr val="E6F4EC"/>
          </a:solidFill>
          <a:ln w="12700">
            <a:solidFill>
              <a:srgbClr val="CDE9D9"/>
            </a:solidFill>
            <a:prstDash val="solid"/>
          </a:ln>
        </p:spPr>
      </p:sp>
      <p:sp>
        <p:nvSpPr>
          <p:cNvPr id="22" name="anim-g2-725"/>
          <p:cNvSpPr/>
          <p:nvPr/>
        </p:nvSpPr>
        <p:spPr>
          <a:xfrm>
            <a:off x="960120" y="3119628"/>
            <a:ext cx="3741471"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دوران ومحتوى ← BUSY</a:t>
            </a:r>
            <a:endParaRPr lang="ar-SA" sz="2100" dirty="0"/>
          </a:p>
        </p:txBody>
      </p:sp>
      <p:sp>
        <p:nvSpPr>
          <p:cNvPr id="23" name="anim-g3-726"/>
          <p:cNvSpPr/>
          <p:nvPr/>
        </p:nvSpPr>
        <p:spPr>
          <a:xfrm>
            <a:off x="8787155" y="3724656"/>
            <a:ext cx="2581580" cy="495300"/>
          </a:xfrm>
          <a:prstGeom prst="roundRect">
            <a:avLst>
              <a:gd name="adj" fmla="val 22154"/>
            </a:avLst>
          </a:prstGeom>
          <a:solidFill>
            <a:srgbClr val="FBF3DF"/>
          </a:solidFill>
          <a:ln w="12700">
            <a:solidFill>
              <a:srgbClr val="EFDDAF"/>
            </a:solidFill>
            <a:prstDash val="solid"/>
          </a:ln>
        </p:spPr>
      </p:sp>
      <p:sp>
        <p:nvSpPr>
          <p:cNvPr id="24" name="anim-g3-727"/>
          <p:cNvSpPr/>
          <p:nvPr/>
        </p:nvSpPr>
        <p:spPr>
          <a:xfrm>
            <a:off x="8924315" y="3724656"/>
            <a:ext cx="2307260"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BUSY انشغال</a:t>
            </a:r>
            <a:endParaRPr lang="ar-SA" sz="2100" dirty="0"/>
          </a:p>
        </p:txBody>
      </p:sp>
      <p:sp>
        <p:nvSpPr>
          <p:cNvPr id="25" name="anim-g3-728"/>
          <p:cNvSpPr/>
          <p:nvPr/>
        </p:nvSpPr>
        <p:spPr>
          <a:xfrm>
            <a:off x="4948479" y="3724656"/>
            <a:ext cx="3728949" cy="495300"/>
          </a:xfrm>
          <a:prstGeom prst="roundRect">
            <a:avLst>
              <a:gd name="adj" fmla="val 22154"/>
            </a:avLst>
          </a:prstGeom>
          <a:solidFill>
            <a:srgbClr val="FFFFFF"/>
          </a:solidFill>
          <a:ln w="12700">
            <a:solidFill>
              <a:srgbClr val="E4DCC8"/>
            </a:solidFill>
            <a:prstDash val="solid"/>
          </a:ln>
        </p:spPr>
      </p:sp>
      <p:sp>
        <p:nvSpPr>
          <p:cNvPr id="26" name="anim-g3-729"/>
          <p:cNvSpPr/>
          <p:nvPr/>
        </p:nvSpPr>
        <p:spPr>
          <a:xfrm>
            <a:off x="5085639" y="3724656"/>
            <a:ext cx="3454629"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انتهاء الحركة والصوت</a:t>
            </a:r>
            <a:endParaRPr lang="ar-SA" sz="2100" dirty="0"/>
          </a:p>
        </p:txBody>
      </p:sp>
      <p:sp>
        <p:nvSpPr>
          <p:cNvPr id="27" name="anim-g3-730"/>
          <p:cNvSpPr/>
          <p:nvPr/>
        </p:nvSpPr>
        <p:spPr>
          <a:xfrm>
            <a:off x="822960" y="3724656"/>
            <a:ext cx="4015791" cy="495300"/>
          </a:xfrm>
          <a:prstGeom prst="roundRect">
            <a:avLst>
              <a:gd name="adj" fmla="val 22154"/>
            </a:avLst>
          </a:prstGeom>
          <a:solidFill>
            <a:srgbClr val="E6F4EC"/>
          </a:solidFill>
          <a:ln w="12700">
            <a:solidFill>
              <a:srgbClr val="CDE9D9"/>
            </a:solidFill>
            <a:prstDash val="solid"/>
          </a:ln>
        </p:spPr>
      </p:sp>
      <p:sp>
        <p:nvSpPr>
          <p:cNvPr id="28" name="anim-g3-731"/>
          <p:cNvSpPr/>
          <p:nvPr/>
        </p:nvSpPr>
        <p:spPr>
          <a:xfrm>
            <a:off x="960120" y="3724656"/>
            <a:ext cx="3741471"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السؤال الأول ← ANS1</a:t>
            </a:r>
            <a:endParaRPr lang="ar-SA" sz="2100" dirty="0"/>
          </a:p>
        </p:txBody>
      </p:sp>
      <p:sp>
        <p:nvSpPr>
          <p:cNvPr id="29" name="anim-g4-732"/>
          <p:cNvSpPr/>
          <p:nvPr/>
        </p:nvSpPr>
        <p:spPr>
          <a:xfrm>
            <a:off x="8787155" y="4329684"/>
            <a:ext cx="2581580" cy="495300"/>
          </a:xfrm>
          <a:prstGeom prst="roundRect">
            <a:avLst>
              <a:gd name="adj" fmla="val 22154"/>
            </a:avLst>
          </a:prstGeom>
          <a:solidFill>
            <a:srgbClr val="FBF3DF"/>
          </a:solidFill>
          <a:ln w="12700">
            <a:solidFill>
              <a:srgbClr val="EFDDAF"/>
            </a:solidFill>
            <a:prstDash val="solid"/>
          </a:ln>
        </p:spPr>
      </p:sp>
      <p:sp>
        <p:nvSpPr>
          <p:cNvPr id="30" name="anim-g4-733"/>
          <p:cNvSpPr/>
          <p:nvPr/>
        </p:nvSpPr>
        <p:spPr>
          <a:xfrm>
            <a:off x="8924315" y="4329684"/>
            <a:ext cx="2307260"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ANS1 إجابة أولى</a:t>
            </a:r>
            <a:endParaRPr lang="ar-SA" sz="2100" dirty="0"/>
          </a:p>
        </p:txBody>
      </p:sp>
      <p:sp>
        <p:nvSpPr>
          <p:cNvPr id="31" name="anim-g4-734"/>
          <p:cNvSpPr/>
          <p:nvPr/>
        </p:nvSpPr>
        <p:spPr>
          <a:xfrm>
            <a:off x="4948479" y="4329684"/>
            <a:ext cx="3728949" cy="495300"/>
          </a:xfrm>
          <a:prstGeom prst="roundRect">
            <a:avLst>
              <a:gd name="adj" fmla="val 22154"/>
            </a:avLst>
          </a:prstGeom>
          <a:solidFill>
            <a:srgbClr val="FFFFFF"/>
          </a:solidFill>
          <a:ln w="12700">
            <a:solidFill>
              <a:srgbClr val="E4DCC8"/>
            </a:solidFill>
            <a:prstDash val="solid"/>
          </a:ln>
        </p:spPr>
      </p:sp>
      <p:sp>
        <p:nvSpPr>
          <p:cNvPr id="32" name="anim-g4-735"/>
          <p:cNvSpPr/>
          <p:nvPr/>
        </p:nvSpPr>
        <p:spPr>
          <a:xfrm>
            <a:off x="5085639" y="4329684"/>
            <a:ext cx="3454629"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إجابة الطفل</a:t>
            </a:r>
            <a:endParaRPr lang="ar-SA" sz="2100" dirty="0"/>
          </a:p>
        </p:txBody>
      </p:sp>
      <p:sp>
        <p:nvSpPr>
          <p:cNvPr id="33" name="anim-g4-736"/>
          <p:cNvSpPr/>
          <p:nvPr/>
        </p:nvSpPr>
        <p:spPr>
          <a:xfrm>
            <a:off x="822960" y="4329684"/>
            <a:ext cx="4015791" cy="495300"/>
          </a:xfrm>
          <a:prstGeom prst="roundRect">
            <a:avLst>
              <a:gd name="adj" fmla="val 22154"/>
            </a:avLst>
          </a:prstGeom>
          <a:solidFill>
            <a:srgbClr val="E6F4EC"/>
          </a:solidFill>
          <a:ln w="12700">
            <a:solidFill>
              <a:srgbClr val="CDE9D9"/>
            </a:solidFill>
            <a:prstDash val="solid"/>
          </a:ln>
        </p:spPr>
      </p:sp>
      <p:sp>
        <p:nvSpPr>
          <p:cNvPr id="34" name="anim-g4-737"/>
          <p:cNvSpPr/>
          <p:nvPr/>
        </p:nvSpPr>
        <p:spPr>
          <a:xfrm>
            <a:off x="960120" y="4329684"/>
            <a:ext cx="3741471"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عملة ← CHOOSE · أو مساعد ← ANS2</a:t>
            </a:r>
            <a:endParaRPr lang="ar-SA" sz="2100" dirty="0"/>
          </a:p>
        </p:txBody>
      </p:sp>
      <p:sp>
        <p:nvSpPr>
          <p:cNvPr id="35" name="anim-g5-738"/>
          <p:cNvSpPr/>
          <p:nvPr/>
        </p:nvSpPr>
        <p:spPr>
          <a:xfrm>
            <a:off x="8787155" y="4934712"/>
            <a:ext cx="2581580" cy="495300"/>
          </a:xfrm>
          <a:prstGeom prst="roundRect">
            <a:avLst>
              <a:gd name="adj" fmla="val 22154"/>
            </a:avLst>
          </a:prstGeom>
          <a:solidFill>
            <a:srgbClr val="FBF3DF"/>
          </a:solidFill>
          <a:ln w="12700">
            <a:solidFill>
              <a:srgbClr val="EFDDAF"/>
            </a:solidFill>
            <a:prstDash val="solid"/>
          </a:ln>
        </p:spPr>
      </p:sp>
      <p:sp>
        <p:nvSpPr>
          <p:cNvPr id="36" name="anim-g5-739"/>
          <p:cNvSpPr/>
          <p:nvPr/>
        </p:nvSpPr>
        <p:spPr>
          <a:xfrm>
            <a:off x="8924315" y="4934712"/>
            <a:ext cx="2307260"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ANS2 إجابة ثانية</a:t>
            </a:r>
            <a:endParaRPr lang="ar-SA" sz="2100" dirty="0"/>
          </a:p>
        </p:txBody>
      </p:sp>
      <p:sp>
        <p:nvSpPr>
          <p:cNvPr id="37" name="anim-g5-740"/>
          <p:cNvSpPr/>
          <p:nvPr/>
        </p:nvSpPr>
        <p:spPr>
          <a:xfrm>
            <a:off x="4948479" y="4934712"/>
            <a:ext cx="3728949" cy="495300"/>
          </a:xfrm>
          <a:prstGeom prst="roundRect">
            <a:avLst>
              <a:gd name="adj" fmla="val 22154"/>
            </a:avLst>
          </a:prstGeom>
          <a:solidFill>
            <a:srgbClr val="FFFFFF"/>
          </a:solidFill>
          <a:ln w="12700">
            <a:solidFill>
              <a:srgbClr val="E4DCC8"/>
            </a:solidFill>
            <a:prstDash val="solid"/>
          </a:ln>
        </p:spPr>
      </p:sp>
      <p:sp>
        <p:nvSpPr>
          <p:cNvPr id="38" name="anim-g5-741"/>
          <p:cNvSpPr/>
          <p:nvPr/>
        </p:nvSpPr>
        <p:spPr>
          <a:xfrm>
            <a:off x="5085639" y="4934712"/>
            <a:ext cx="3454629"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إجابة بعد المساعدة</a:t>
            </a:r>
            <a:endParaRPr lang="ar-SA" sz="2100" dirty="0"/>
          </a:p>
        </p:txBody>
      </p:sp>
      <p:sp>
        <p:nvSpPr>
          <p:cNvPr id="39" name="anim-g5-742"/>
          <p:cNvSpPr/>
          <p:nvPr/>
        </p:nvSpPr>
        <p:spPr>
          <a:xfrm>
            <a:off x="822960" y="4934712"/>
            <a:ext cx="4015791" cy="495300"/>
          </a:xfrm>
          <a:prstGeom prst="roundRect">
            <a:avLst>
              <a:gd name="adj" fmla="val 22154"/>
            </a:avLst>
          </a:prstGeom>
          <a:solidFill>
            <a:srgbClr val="E6F4EC"/>
          </a:solidFill>
          <a:ln w="12700">
            <a:solidFill>
              <a:srgbClr val="CDE9D9"/>
            </a:solidFill>
            <a:prstDash val="solid"/>
          </a:ln>
        </p:spPr>
      </p:sp>
      <p:sp>
        <p:nvSpPr>
          <p:cNvPr id="40" name="anim-g5-743"/>
          <p:cNvSpPr/>
          <p:nvPr/>
        </p:nvSpPr>
        <p:spPr>
          <a:xfrm>
            <a:off x="960120" y="4934712"/>
            <a:ext cx="3741471"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مع أو دون عملة ← CHOOSE</a:t>
            </a:r>
            <a:endParaRPr lang="ar-SA" sz="2100" dirty="0"/>
          </a:p>
        </p:txBody>
      </p:sp>
      <p:sp>
        <p:nvSpPr>
          <p:cNvPr id="41" name="anim-g6-744"/>
          <p:cNvSpPr/>
          <p:nvPr/>
        </p:nvSpPr>
        <p:spPr>
          <a:xfrm>
            <a:off x="8787155" y="5539740"/>
            <a:ext cx="2581580" cy="495300"/>
          </a:xfrm>
          <a:prstGeom prst="roundRect">
            <a:avLst>
              <a:gd name="adj" fmla="val 22154"/>
            </a:avLst>
          </a:prstGeom>
          <a:solidFill>
            <a:srgbClr val="FBF3DF"/>
          </a:solidFill>
          <a:ln w="12700">
            <a:solidFill>
              <a:srgbClr val="EFDDAF"/>
            </a:solidFill>
            <a:prstDash val="solid"/>
          </a:ln>
        </p:spPr>
      </p:sp>
      <p:sp>
        <p:nvSpPr>
          <p:cNvPr id="42" name="anim-g6-745"/>
          <p:cNvSpPr/>
          <p:nvPr/>
        </p:nvSpPr>
        <p:spPr>
          <a:xfrm>
            <a:off x="8924315" y="5539740"/>
            <a:ext cx="2307260"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DONE نهاية الجولة</a:t>
            </a:r>
            <a:endParaRPr lang="ar-SA" sz="2100" dirty="0"/>
          </a:p>
        </p:txBody>
      </p:sp>
      <p:sp>
        <p:nvSpPr>
          <p:cNvPr id="43" name="anim-g6-746"/>
          <p:cNvSpPr/>
          <p:nvPr/>
        </p:nvSpPr>
        <p:spPr>
          <a:xfrm>
            <a:off x="4948479" y="5539740"/>
            <a:ext cx="3728949" cy="495300"/>
          </a:xfrm>
          <a:prstGeom prst="roundRect">
            <a:avLst>
              <a:gd name="adj" fmla="val 22154"/>
            </a:avLst>
          </a:prstGeom>
          <a:solidFill>
            <a:srgbClr val="FFFFFF"/>
          </a:solidFill>
          <a:ln w="12700">
            <a:solidFill>
              <a:srgbClr val="E4DCC8"/>
            </a:solidFill>
            <a:prstDash val="solid"/>
          </a:ln>
        </p:spPr>
      </p:sp>
      <p:sp>
        <p:nvSpPr>
          <p:cNvPr id="44" name="anim-g6-747"/>
          <p:cNvSpPr/>
          <p:nvPr/>
        </p:nvSpPr>
        <p:spPr>
          <a:xfrm>
            <a:off x="5085639" y="5539740"/>
            <a:ext cx="3454629"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انتهاء الوقت أو العملات الأربع</a:t>
            </a:r>
            <a:endParaRPr lang="ar-SA" sz="2100" dirty="0"/>
          </a:p>
        </p:txBody>
      </p:sp>
      <p:sp>
        <p:nvSpPr>
          <p:cNvPr id="45" name="anim-g6-748"/>
          <p:cNvSpPr/>
          <p:nvPr/>
        </p:nvSpPr>
        <p:spPr>
          <a:xfrm>
            <a:off x="822960" y="5539740"/>
            <a:ext cx="4015791" cy="495300"/>
          </a:xfrm>
          <a:prstGeom prst="roundRect">
            <a:avLst>
              <a:gd name="adj" fmla="val 22154"/>
            </a:avLst>
          </a:prstGeom>
          <a:solidFill>
            <a:srgbClr val="E6F4EC"/>
          </a:solidFill>
          <a:ln w="12700">
            <a:solidFill>
              <a:srgbClr val="CDE9D9"/>
            </a:solidFill>
            <a:prstDash val="solid"/>
          </a:ln>
        </p:spPr>
      </p:sp>
      <p:sp>
        <p:nvSpPr>
          <p:cNvPr id="46" name="anim-g6-749"/>
          <p:cNvSpPr/>
          <p:nvPr/>
        </p:nvSpPr>
        <p:spPr>
          <a:xfrm>
            <a:off x="960120" y="5539740"/>
            <a:ext cx="3741471" cy="495300"/>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إعادة الضبط ← WAIT</a:t>
            </a:r>
            <a:endParaRPr lang="ar-SA" sz="2100" dirty="0"/>
          </a:p>
        </p:txBody>
      </p:sp>
      <p:sp>
        <p:nvSpPr>
          <p:cNvPr id="47" name="Text 4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48" name="Text 4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آلة الحالات  ·  ١٠١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0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00"/>
                                        <p:tgtEl>
                                          <p:spTgt spid="3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fade">
                                      <p:cBhvr>
                                        <p:cTn id="93" dur="400"/>
                                        <p:tgtEl>
                                          <p:spTgt spid="37"/>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8"/>
                                        </p:tgtEl>
                                        <p:attrNameLst>
                                          <p:attrName>style.visibility</p:attrName>
                                        </p:attrNameLst>
                                      </p:cBhvr>
                                      <p:to>
                                        <p:strVal val="visible"/>
                                      </p:to>
                                    </p:set>
                                    <p:animEffect transition="in" filter="fade">
                                      <p:cBhvr>
                                        <p:cTn id="96" dur="400"/>
                                        <p:tgtEl>
                                          <p:spTgt spid="38"/>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fade">
                                      <p:cBhvr>
                                        <p:cTn id="99" dur="400"/>
                                        <p:tgtEl>
                                          <p:spTgt spid="39"/>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400"/>
                                        <p:tgtEl>
                                          <p:spTgt spid="40"/>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41"/>
                                        </p:tgtEl>
                                        <p:attrNameLst>
                                          <p:attrName>style.visibility</p:attrName>
                                        </p:attrNameLst>
                                      </p:cBhvr>
                                      <p:to>
                                        <p:strVal val="visible"/>
                                      </p:to>
                                    </p:set>
                                    <p:animEffect transition="in" filter="fade">
                                      <p:cBhvr>
                                        <p:cTn id="107" dur="400"/>
                                        <p:tgtEl>
                                          <p:spTgt spid="4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2"/>
                                        </p:tgtEl>
                                        <p:attrNameLst>
                                          <p:attrName>style.visibility</p:attrName>
                                        </p:attrNameLst>
                                      </p:cBhvr>
                                      <p:to>
                                        <p:strVal val="visible"/>
                                      </p:to>
                                    </p:set>
                                    <p:animEffect transition="in" filter="fade">
                                      <p:cBhvr>
                                        <p:cTn id="110" dur="400"/>
                                        <p:tgtEl>
                                          <p:spTgt spid="42"/>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3"/>
                                        </p:tgtEl>
                                        <p:attrNameLst>
                                          <p:attrName>style.visibility</p:attrName>
                                        </p:attrNameLst>
                                      </p:cBhvr>
                                      <p:to>
                                        <p:strVal val="visible"/>
                                      </p:to>
                                    </p:set>
                                    <p:animEffect transition="in" filter="fade">
                                      <p:cBhvr>
                                        <p:cTn id="113" dur="400"/>
                                        <p:tgtEl>
                                          <p:spTgt spid="43"/>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4"/>
                                        </p:tgtEl>
                                        <p:attrNameLst>
                                          <p:attrName>style.visibility</p:attrName>
                                        </p:attrNameLst>
                                      </p:cBhvr>
                                      <p:to>
                                        <p:strVal val="visible"/>
                                      </p:to>
                                    </p:set>
                                    <p:animEffect transition="in" filter="fade">
                                      <p:cBhvr>
                                        <p:cTn id="116" dur="400"/>
                                        <p:tgtEl>
                                          <p:spTgt spid="44"/>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400"/>
                                        <p:tgtEl>
                                          <p:spTgt spid="45"/>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Effect transition="in" filter="fade">
                                      <p:cBhvr>
                                        <p:cTn id="122"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pic>
        <p:nvPicPr>
          <p:cNvPr id="2" name="Image 0" descr="C:\Users\user\projects\younes-training\heritage\.pptx-cache\s1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pic>
        <p:nvPicPr>
          <p:cNvPr id="2" name="Image 0" descr="C:\Users\user\projects\younes-training\heritage\.pptx-cache\s103-0.jpg">    </p:cNvPr>
          <p:cNvPicPr>
            <a:picLocks noChangeAspect="1"/>
          </p:cNvPicPr>
          <p:nvPr/>
        </p:nvPicPr>
        <p:blipFill>
          <a:blip r:embed="rId1"/>
          <a:stretch>
            <a:fillRect/>
          </a:stretch>
        </p:blipFill>
        <p:spPr>
          <a:xfrm>
            <a:off x="0" y="0"/>
            <a:ext cx="12191695" cy="6858000"/>
          </a:xfrm>
          <a:prstGeom prst="rect">
            <a:avLst/>
          </a:prstGeom>
        </p:spPr>
      </p:pic>
      <p:pic>
        <p:nvPicPr>
          <p:cNvPr id="3" name="anim-g1-750" descr="C:\Users\user\projects\younes-training\heritage\.pptx-cache\s103-1.jpg">    </p:cNvPr>
          <p:cNvPicPr>
            <a:picLocks noChangeAspect="1"/>
          </p:cNvPicPr>
          <p:nvPr/>
        </p:nvPicPr>
        <p:blipFill>
          <a:blip r:embed="rId2"/>
          <a:stretch>
            <a:fillRect/>
          </a:stretch>
        </p:blipFill>
        <p:spPr>
          <a:xfrm>
            <a:off x="0" y="0"/>
            <a:ext cx="12191695" cy="6858000"/>
          </a:xfrm>
          <a:prstGeom prst="rect">
            <a:avLst/>
          </a:prstGeom>
        </p:spPr>
      </p:pic>
      <p:pic>
        <p:nvPicPr>
          <p:cNvPr id="4" name="anim-g2-751" descr="C:\Users\user\projects\younes-training\heritage\.pptx-cache\s103-2.jpg">    </p:cNvPr>
          <p:cNvPicPr>
            <a:picLocks noChangeAspect="1"/>
          </p:cNvPicPr>
          <p:nvPr/>
        </p:nvPicPr>
        <p:blipFill>
          <a:blip r:embed="rId3"/>
          <a:stretch>
            <a:fillRect/>
          </a:stretch>
        </p:blipFill>
        <p:spPr>
          <a:xfrm>
            <a:off x="0" y="0"/>
            <a:ext cx="12191695" cy="6858000"/>
          </a:xfrm>
          <a:prstGeom prst="rect">
            <a:avLst/>
          </a:prstGeom>
        </p:spPr>
      </p:pic>
      <p:pic>
        <p:nvPicPr>
          <p:cNvPr id="5" name="anim-g3-752" descr="C:\Users\user\projects\younes-training\heritage\.pptx-cache\s103-3.jpg">    </p:cNvPr>
          <p:cNvPicPr>
            <a:picLocks noChangeAspect="1"/>
          </p:cNvPicPr>
          <p:nvPr/>
        </p:nvPicPr>
        <p:blipFill>
          <a:blip r:embed="rId4"/>
          <a:stretch>
            <a:fillRect/>
          </a:stretch>
        </p:blipFill>
        <p:spPr>
          <a:xfrm>
            <a:off x="0" y="0"/>
            <a:ext cx="12191695" cy="6858000"/>
          </a:xfrm>
          <a:prstGeom prst="rect">
            <a:avLst/>
          </a:prstGeom>
        </p:spPr>
      </p:pic>
      <p:pic>
        <p:nvPicPr>
          <p:cNvPr id="6" name="anim-g4-753" descr="C:\Users\user\projects\younes-training\heritage\.pptx-cache\s103-4.jpg">    </p:cNvPr>
          <p:cNvPicPr>
            <a:picLocks noChangeAspect="1"/>
          </p:cNvPicPr>
          <p:nvPr/>
        </p:nvPicPr>
        <p:blipFill>
          <a:blip r:embed="rId5"/>
          <a:stretch>
            <a:fillRect/>
          </a:stretch>
        </p:blipFill>
        <p:spPr>
          <a:xfrm>
            <a:off x="0" y="0"/>
            <a:ext cx="12191695" cy="6858000"/>
          </a:xfrm>
          <a:prstGeom prst="rect">
            <a:avLst/>
          </a:prstGeom>
        </p:spPr>
      </p:pic>
      <p:pic>
        <p:nvPicPr>
          <p:cNvPr id="7" name="anim-g5-754" descr="C:\Users\user\projects\younes-training\heritage\.pptx-cache\s103-5.jpg">    </p:cNvPr>
          <p:cNvPicPr>
            <a:picLocks noChangeAspect="1"/>
          </p:cNvPicPr>
          <p:nvPr/>
        </p:nvPicPr>
        <p:blipFill>
          <a:blip r:embed="rId6"/>
          <a:stretch>
            <a:fillRect/>
          </a:stretch>
        </p:blipFill>
        <p:spPr>
          <a:xfrm>
            <a:off x="0" y="0"/>
            <a:ext cx="12191695" cy="6858000"/>
          </a:xfrm>
          <a:prstGeom prst="rect">
            <a:avLst/>
          </a:prstGeom>
        </p:spPr>
      </p:pic>
      <p:pic>
        <p:nvPicPr>
          <p:cNvPr id="8" name="anim-g6-755" descr="C:\Users\user\projects\younes-training\heritage\.pptx-cache\s103-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pic>
        <p:nvPicPr>
          <p:cNvPr id="2" name="Image 0" descr="C:\Users\user\projects\younes-training\heritage\.pptx-cache\s104-0.jpg">    </p:cNvPr>
          <p:cNvPicPr>
            <a:picLocks noChangeAspect="1"/>
          </p:cNvPicPr>
          <p:nvPr/>
        </p:nvPicPr>
        <p:blipFill>
          <a:blip r:embed="rId1"/>
          <a:stretch>
            <a:fillRect/>
          </a:stretch>
        </p:blipFill>
        <p:spPr>
          <a:xfrm>
            <a:off x="0" y="0"/>
            <a:ext cx="12191695" cy="6858000"/>
          </a:xfrm>
          <a:prstGeom prst="rect">
            <a:avLst/>
          </a:prstGeom>
        </p:spPr>
      </p:pic>
      <p:pic>
        <p:nvPicPr>
          <p:cNvPr id="3" name="anim-g1-756" descr="C:\Users\user\projects\younes-training\heritage\.pptx-cache\s104-1.jpg">    </p:cNvPr>
          <p:cNvPicPr>
            <a:picLocks noChangeAspect="1"/>
          </p:cNvPicPr>
          <p:nvPr/>
        </p:nvPicPr>
        <p:blipFill>
          <a:blip r:embed="rId2"/>
          <a:stretch>
            <a:fillRect/>
          </a:stretch>
        </p:blipFill>
        <p:spPr>
          <a:xfrm>
            <a:off x="0" y="0"/>
            <a:ext cx="12191695" cy="6858000"/>
          </a:xfrm>
          <a:prstGeom prst="rect">
            <a:avLst/>
          </a:prstGeom>
        </p:spPr>
      </p:pic>
      <p:pic>
        <p:nvPicPr>
          <p:cNvPr id="4" name="anim-g2-757" descr="C:\Users\user\projects\younes-training\heritage\.pptx-cache\s104-2.jpg">    </p:cNvPr>
          <p:cNvPicPr>
            <a:picLocks noChangeAspect="1"/>
          </p:cNvPicPr>
          <p:nvPr/>
        </p:nvPicPr>
        <p:blipFill>
          <a:blip r:embed="rId3"/>
          <a:stretch>
            <a:fillRect/>
          </a:stretch>
        </p:blipFill>
        <p:spPr>
          <a:xfrm>
            <a:off x="0" y="0"/>
            <a:ext cx="12191695" cy="6858000"/>
          </a:xfrm>
          <a:prstGeom prst="rect">
            <a:avLst/>
          </a:prstGeom>
        </p:spPr>
      </p:pic>
      <p:pic>
        <p:nvPicPr>
          <p:cNvPr id="5" name="anim-g3-758" descr="C:\Users\user\projects\younes-training\heritage\.pptx-cache\s104-3.jpg">    </p:cNvPr>
          <p:cNvPicPr>
            <a:picLocks noChangeAspect="1"/>
          </p:cNvPicPr>
          <p:nvPr/>
        </p:nvPicPr>
        <p:blipFill>
          <a:blip r:embed="rId4"/>
          <a:stretch>
            <a:fillRect/>
          </a:stretch>
        </p:blipFill>
        <p:spPr>
          <a:xfrm>
            <a:off x="0" y="0"/>
            <a:ext cx="12191695" cy="6858000"/>
          </a:xfrm>
          <a:prstGeom prst="rect">
            <a:avLst/>
          </a:prstGeom>
        </p:spPr>
      </p:pic>
      <p:pic>
        <p:nvPicPr>
          <p:cNvPr id="6" name="anim-g4-759" descr="C:\Users\user\projects\younes-training\heritage\.pptx-cache\s104-4.jpg">    </p:cNvPr>
          <p:cNvPicPr>
            <a:picLocks noChangeAspect="1"/>
          </p:cNvPicPr>
          <p:nvPr/>
        </p:nvPicPr>
        <p:blipFill>
          <a:blip r:embed="rId5"/>
          <a:stretch>
            <a:fillRect/>
          </a:stretch>
        </p:blipFill>
        <p:spPr>
          <a:xfrm>
            <a:off x="0" y="0"/>
            <a:ext cx="12191695" cy="6858000"/>
          </a:xfrm>
          <a:prstGeom prst="rect">
            <a:avLst/>
          </a:prstGeom>
        </p:spPr>
      </p:pic>
      <p:pic>
        <p:nvPicPr>
          <p:cNvPr id="7" name="anim-g5-760" descr="C:\Users\user\projects\younes-training\heritage\.pptx-cache\s104-5.jpg">    </p:cNvPr>
          <p:cNvPicPr>
            <a:picLocks noChangeAspect="1"/>
          </p:cNvPicPr>
          <p:nvPr/>
        </p:nvPicPr>
        <p:blipFill>
          <a:blip r:embed="rId6"/>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pic>
        <p:nvPicPr>
          <p:cNvPr id="2" name="Image 0" descr="C:\Users\user\projects\younes-training\heritage\.pptx-cache\s105-0.jpg">    </p:cNvPr>
          <p:cNvPicPr>
            <a:picLocks noChangeAspect="1"/>
          </p:cNvPicPr>
          <p:nvPr/>
        </p:nvPicPr>
        <p:blipFill>
          <a:blip r:embed="rId1"/>
          <a:stretch>
            <a:fillRect/>
          </a:stretch>
        </p:blipFill>
        <p:spPr>
          <a:xfrm>
            <a:off x="0" y="0"/>
            <a:ext cx="12191695" cy="6858000"/>
          </a:xfrm>
          <a:prstGeom prst="rect">
            <a:avLst/>
          </a:prstGeom>
        </p:spPr>
      </p:pic>
      <p:pic>
        <p:nvPicPr>
          <p:cNvPr id="3" name="anim-g1-761" descr="C:\Users\user\projects\younes-training\heritage\.pptx-cache\s105-1.jpg">    </p:cNvPr>
          <p:cNvPicPr>
            <a:picLocks noChangeAspect="1"/>
          </p:cNvPicPr>
          <p:nvPr/>
        </p:nvPicPr>
        <p:blipFill>
          <a:blip r:embed="rId2"/>
          <a:stretch>
            <a:fillRect/>
          </a:stretch>
        </p:blipFill>
        <p:spPr>
          <a:xfrm>
            <a:off x="0" y="0"/>
            <a:ext cx="12191695" cy="6858000"/>
          </a:xfrm>
          <a:prstGeom prst="rect">
            <a:avLst/>
          </a:prstGeom>
        </p:spPr>
      </p:pic>
      <p:pic>
        <p:nvPicPr>
          <p:cNvPr id="4" name="anim-g2-762" descr="C:\Users\user\projects\younes-training\heritage\.pptx-cache\s105-2.jpg">    </p:cNvPr>
          <p:cNvPicPr>
            <a:picLocks noChangeAspect="1"/>
          </p:cNvPicPr>
          <p:nvPr/>
        </p:nvPicPr>
        <p:blipFill>
          <a:blip r:embed="rId3"/>
          <a:stretch>
            <a:fillRect/>
          </a:stretch>
        </p:blipFill>
        <p:spPr>
          <a:xfrm>
            <a:off x="0" y="0"/>
            <a:ext cx="12191695" cy="6858000"/>
          </a:xfrm>
          <a:prstGeom prst="rect">
            <a:avLst/>
          </a:prstGeom>
        </p:spPr>
      </p:pic>
      <p:pic>
        <p:nvPicPr>
          <p:cNvPr id="5" name="anim-g3-763" descr="C:\Users\user\projects\younes-training\heritage\.pptx-cache\s105-3.jpg">    </p:cNvPr>
          <p:cNvPicPr>
            <a:picLocks noChangeAspect="1"/>
          </p:cNvPicPr>
          <p:nvPr/>
        </p:nvPicPr>
        <p:blipFill>
          <a:blip r:embed="rId4"/>
          <a:stretch>
            <a:fillRect/>
          </a:stretch>
        </p:blipFill>
        <p:spPr>
          <a:xfrm>
            <a:off x="0" y="0"/>
            <a:ext cx="12191695" cy="6858000"/>
          </a:xfrm>
          <a:prstGeom prst="rect">
            <a:avLst/>
          </a:prstGeom>
        </p:spPr>
      </p:pic>
      <p:pic>
        <p:nvPicPr>
          <p:cNvPr id="6" name="anim-g4-764" descr="C:\Users\user\projects\younes-training\heritage\.pptx-cache\s105-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name="Slide 10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اختبر نفسك</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طفل يضغط زر «السيف» والمنصة ما زالت تدور إلى الخيمة. ماذا يحدث؟</a:t>
            </a:r>
            <a:endParaRPr lang="ar-SA" sz="3200" dirty="0"/>
          </a:p>
        </p:txBody>
      </p:sp>
      <p:sp>
        <p:nvSpPr>
          <p:cNvPr id="5" name="Shape 3"/>
          <p:cNvSpPr/>
          <p:nvPr/>
        </p:nvSpPr>
        <p:spPr>
          <a:xfrm>
            <a:off x="822960" y="2057400"/>
            <a:ext cx="10545775" cy="1228344"/>
          </a:xfrm>
          <a:prstGeom prst="roundRect">
            <a:avLst>
              <a:gd name="adj" fmla="val 11911"/>
            </a:avLst>
          </a:prstGeom>
          <a:solidFill>
            <a:srgbClr val="FFFFFF"/>
          </a:solidFill>
          <a:ln w="19050">
            <a:solidFill>
              <a:srgbClr val="E4DCC8"/>
            </a:solidFill>
            <a:prstDash val="solid"/>
          </a:ln>
        </p:spPr>
      </p:sp>
      <p:sp>
        <p:nvSpPr>
          <p:cNvPr id="6" name="Shape 4"/>
          <p:cNvSpPr/>
          <p:nvPr/>
        </p:nvSpPr>
        <p:spPr>
          <a:xfrm>
            <a:off x="10231831" y="2194560"/>
            <a:ext cx="954024" cy="954024"/>
          </a:xfrm>
          <a:prstGeom prst="roundRect">
            <a:avLst>
              <a:gd name="adj" fmla="val 11502"/>
            </a:avLst>
          </a:prstGeom>
          <a:solidFill>
            <a:srgbClr val="101B45"/>
          </a:solidFill>
          <a:ln/>
        </p:spPr>
      </p:sp>
      <p:sp>
        <p:nvSpPr>
          <p:cNvPr id="7" name="Text 5"/>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8" name="Text 6"/>
          <p:cNvSpPr/>
          <p:nvPr/>
        </p:nvSpPr>
        <p:spPr>
          <a:xfrm>
            <a:off x="1097280" y="2057400"/>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تتوقف وتذهب للسيف</a:t>
            </a:r>
            <a:endParaRPr lang="ar-SA" sz="2500" dirty="0"/>
          </a:p>
        </p:txBody>
      </p:sp>
      <p:sp>
        <p:nvSpPr>
          <p:cNvPr id="9" name="anim-g1-765"/>
          <p:cNvSpPr/>
          <p:nvPr/>
        </p:nvSpPr>
        <p:spPr>
          <a:xfrm>
            <a:off x="822960" y="2057400"/>
            <a:ext cx="10545775" cy="1228344"/>
          </a:xfrm>
          <a:prstGeom prst="roundRect">
            <a:avLst>
              <a:gd name="adj" fmla="val 11911"/>
            </a:avLst>
          </a:prstGeom>
          <a:solidFill>
            <a:srgbClr val="F7F7F9"/>
          </a:solidFill>
          <a:ln w="19050">
            <a:solidFill>
              <a:srgbClr val="E4DCC8"/>
            </a:solidFill>
            <a:prstDash val="solid"/>
          </a:ln>
        </p:spPr>
      </p:sp>
      <p:sp>
        <p:nvSpPr>
          <p:cNvPr id="10" name="anim-g1-766"/>
          <p:cNvSpPr/>
          <p:nvPr/>
        </p:nvSpPr>
        <p:spPr>
          <a:xfrm>
            <a:off x="10231831" y="2194560"/>
            <a:ext cx="954024" cy="954024"/>
          </a:xfrm>
          <a:prstGeom prst="roundRect">
            <a:avLst>
              <a:gd name="adj" fmla="val 11502"/>
            </a:avLst>
          </a:prstGeom>
          <a:solidFill>
            <a:srgbClr val="A3A9BA"/>
          </a:solidFill>
          <a:ln/>
        </p:spPr>
      </p:sp>
      <p:sp>
        <p:nvSpPr>
          <p:cNvPr id="11" name="anim-g1-767"/>
          <p:cNvSpPr/>
          <p:nvPr/>
        </p:nvSpPr>
        <p:spPr>
          <a:xfrm>
            <a:off x="10231831" y="2194560"/>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أ</a:t>
            </a:r>
            <a:endParaRPr lang="ar-SA" sz="2400" dirty="0"/>
          </a:p>
        </p:txBody>
      </p:sp>
      <p:sp>
        <p:nvSpPr>
          <p:cNvPr id="12" name="anim-g1-768"/>
          <p:cNvSpPr/>
          <p:nvPr/>
        </p:nvSpPr>
        <p:spPr>
          <a:xfrm>
            <a:off x="1097280" y="2093976"/>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تتوقف وتذهب للسيف</a:t>
            </a:r>
            <a:endParaRPr lang="ar-SA" sz="2400" dirty="0"/>
          </a:p>
        </p:txBody>
      </p:sp>
      <p:sp>
        <p:nvSpPr>
          <p:cNvPr id="13" name="anim-g1-769"/>
          <p:cNvSpPr/>
          <p:nvPr/>
        </p:nvSpPr>
        <p:spPr>
          <a:xfrm>
            <a:off x="1097280" y="2720706"/>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هذا ما يحدث بلا آلة حالات: فوضى</a:t>
            </a:r>
            <a:endParaRPr lang="ar-SA" sz="1800" dirty="0"/>
          </a:p>
        </p:txBody>
      </p:sp>
      <p:sp>
        <p:nvSpPr>
          <p:cNvPr id="14" name="Shape 12"/>
          <p:cNvSpPr/>
          <p:nvPr/>
        </p:nvSpPr>
        <p:spPr>
          <a:xfrm>
            <a:off x="822960" y="3432048"/>
            <a:ext cx="10545775" cy="1228344"/>
          </a:xfrm>
          <a:prstGeom prst="roundRect">
            <a:avLst>
              <a:gd name="adj" fmla="val 11911"/>
            </a:avLst>
          </a:prstGeom>
          <a:solidFill>
            <a:srgbClr val="FFFFFF"/>
          </a:solidFill>
          <a:ln w="19050">
            <a:solidFill>
              <a:srgbClr val="E4DCC8"/>
            </a:solidFill>
            <a:prstDash val="solid"/>
          </a:ln>
        </p:spPr>
      </p:sp>
      <p:sp>
        <p:nvSpPr>
          <p:cNvPr id="15" name="Shape 13"/>
          <p:cNvSpPr/>
          <p:nvPr/>
        </p:nvSpPr>
        <p:spPr>
          <a:xfrm>
            <a:off x="10231831" y="3569208"/>
            <a:ext cx="954024" cy="954024"/>
          </a:xfrm>
          <a:prstGeom prst="roundRect">
            <a:avLst>
              <a:gd name="adj" fmla="val 11502"/>
            </a:avLst>
          </a:prstGeom>
          <a:solidFill>
            <a:srgbClr val="101B45"/>
          </a:solidFill>
          <a:ln/>
        </p:spPr>
      </p:sp>
      <p:sp>
        <p:nvSpPr>
          <p:cNvPr id="16" name="Text 14"/>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ب</a:t>
            </a:r>
            <a:endParaRPr lang="ar-SA" sz="2400" dirty="0"/>
          </a:p>
        </p:txBody>
      </p:sp>
      <p:sp>
        <p:nvSpPr>
          <p:cNvPr id="17" name="Text 15"/>
          <p:cNvSpPr/>
          <p:nvPr/>
        </p:nvSpPr>
        <p:spPr>
          <a:xfrm>
            <a:off x="1097280" y="3432048"/>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لا شيء: الحالة BUSY لا تقرأ أزرار المحطات</a:t>
            </a:r>
            <a:endParaRPr lang="ar-SA" sz="2500" dirty="0"/>
          </a:p>
        </p:txBody>
      </p:sp>
      <p:sp>
        <p:nvSpPr>
          <p:cNvPr id="18" name="anim-g1-770"/>
          <p:cNvSpPr/>
          <p:nvPr/>
        </p:nvSpPr>
        <p:spPr>
          <a:xfrm>
            <a:off x="822960" y="3432048"/>
            <a:ext cx="10545775" cy="1228344"/>
          </a:xfrm>
          <a:prstGeom prst="roundRect">
            <a:avLst>
              <a:gd name="adj" fmla="val 11911"/>
            </a:avLst>
          </a:prstGeom>
          <a:solidFill>
            <a:srgbClr val="E6F4EC"/>
          </a:solidFill>
          <a:ln w="31750">
            <a:solidFill>
              <a:srgbClr val="2E9E6B"/>
            </a:solidFill>
            <a:prstDash val="solid"/>
          </a:ln>
        </p:spPr>
      </p:sp>
      <p:sp>
        <p:nvSpPr>
          <p:cNvPr id="19" name="anim-g1-771"/>
          <p:cNvSpPr/>
          <p:nvPr/>
        </p:nvSpPr>
        <p:spPr>
          <a:xfrm>
            <a:off x="10231831" y="3569208"/>
            <a:ext cx="954024" cy="954024"/>
          </a:xfrm>
          <a:prstGeom prst="roundRect">
            <a:avLst>
              <a:gd name="adj" fmla="val 11502"/>
            </a:avLst>
          </a:prstGeom>
          <a:solidFill>
            <a:srgbClr val="2E9E6B"/>
          </a:solidFill>
          <a:ln/>
        </p:spPr>
      </p:sp>
      <p:sp>
        <p:nvSpPr>
          <p:cNvPr id="20" name="anim-g1-772"/>
          <p:cNvSpPr/>
          <p:nvPr/>
        </p:nvSpPr>
        <p:spPr>
          <a:xfrm>
            <a:off x="10231831" y="3569208"/>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a:t>
            </a:r>
            <a:endParaRPr lang="ar-SA" sz="2400" dirty="0"/>
          </a:p>
        </p:txBody>
      </p:sp>
      <p:sp>
        <p:nvSpPr>
          <p:cNvPr id="21" name="anim-g1-773"/>
          <p:cNvSpPr/>
          <p:nvPr/>
        </p:nvSpPr>
        <p:spPr>
          <a:xfrm>
            <a:off x="1097280" y="3468624"/>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131B34"/>
                </a:solidFill>
                <a:latin typeface="Cairo" pitchFamily="34" charset="0"/>
                <a:ea typeface="Cairo" pitchFamily="34" charset="-122"/>
                <a:cs typeface="Cairo" pitchFamily="34" charset="-120"/>
              </a:rPr>
              <a:t>لا شيء: الحالة BUSY لا تقرأ أزرار المحطات</a:t>
            </a:r>
            <a:endParaRPr lang="ar-SA" sz="2400" dirty="0"/>
          </a:p>
        </p:txBody>
      </p:sp>
      <p:sp>
        <p:nvSpPr>
          <p:cNvPr id="22" name="anim-g1-774"/>
          <p:cNvSpPr/>
          <p:nvPr/>
        </p:nvSpPr>
        <p:spPr>
          <a:xfrm>
            <a:off x="1097280" y="4095354"/>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1D5E40"/>
                </a:solidFill>
                <a:latin typeface="Cairo" pitchFamily="34" charset="0"/>
                <a:ea typeface="Cairo" pitchFamily="34" charset="-122"/>
                <a:cs typeface="Cairo" pitchFamily="34" charset="-120"/>
              </a:rPr>
              <a:t>صحيح: قفل مقصود يحمي التجربة والتشغيل</a:t>
            </a:r>
            <a:endParaRPr lang="ar-SA" sz="1800" dirty="0"/>
          </a:p>
        </p:txBody>
      </p:sp>
      <p:sp>
        <p:nvSpPr>
          <p:cNvPr id="23" name="Shape 21"/>
          <p:cNvSpPr/>
          <p:nvPr/>
        </p:nvSpPr>
        <p:spPr>
          <a:xfrm>
            <a:off x="822960" y="4806696"/>
            <a:ext cx="10545775" cy="1228344"/>
          </a:xfrm>
          <a:prstGeom prst="roundRect">
            <a:avLst>
              <a:gd name="adj" fmla="val 11911"/>
            </a:avLst>
          </a:prstGeom>
          <a:solidFill>
            <a:srgbClr val="FFFFFF"/>
          </a:solidFill>
          <a:ln w="19050">
            <a:solidFill>
              <a:srgbClr val="E4DCC8"/>
            </a:solidFill>
            <a:prstDash val="solid"/>
          </a:ln>
        </p:spPr>
      </p:sp>
      <p:sp>
        <p:nvSpPr>
          <p:cNvPr id="24" name="Shape 22"/>
          <p:cNvSpPr/>
          <p:nvPr/>
        </p:nvSpPr>
        <p:spPr>
          <a:xfrm>
            <a:off x="10231831" y="4943856"/>
            <a:ext cx="954024" cy="954024"/>
          </a:xfrm>
          <a:prstGeom prst="roundRect">
            <a:avLst>
              <a:gd name="adj" fmla="val 11502"/>
            </a:avLst>
          </a:prstGeom>
          <a:solidFill>
            <a:srgbClr val="101B45"/>
          </a:solidFill>
          <a:ln/>
        </p:spPr>
      </p:sp>
      <p:sp>
        <p:nvSpPr>
          <p:cNvPr id="25" name="Text 23"/>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26" name="Text 24"/>
          <p:cNvSpPr/>
          <p:nvPr/>
        </p:nvSpPr>
        <p:spPr>
          <a:xfrm>
            <a:off x="1097280" y="4806696"/>
            <a:ext cx="8951671" cy="1228344"/>
          </a:xfrm>
          <a:prstGeom prst="rect">
            <a:avLst/>
          </a:prstGeom>
          <a:noFill/>
          <a:ln/>
        </p:spPr>
        <p:txBody>
          <a:bodyPr wrap="square" lIns="0" tIns="0" rIns="0" bIns="0" rtlCol="0" anchor="ctr">
            <a:normAutofit/>
          </a:bodyPr>
          <a:lstStyle/>
          <a:p>
            <a:pPr rtl="1" algn="r" indent="0" marL="0">
              <a:buNone/>
            </a:pPr>
            <a:r>
              <a:rPr lang="ar-SA" altLang="en-US" sz="2500" b="1" dirty="0">
                <a:solidFill>
                  <a:srgbClr val="131B34"/>
                </a:solidFill>
                <a:latin typeface="Cairo" pitchFamily="34" charset="0"/>
                <a:ea typeface="Cairo" pitchFamily="34" charset="-122"/>
                <a:cs typeface="Cairo" pitchFamily="34" charset="-120"/>
              </a:rPr>
              <a:t>يتعطل الروبوت</a:t>
            </a:r>
            <a:endParaRPr lang="ar-SA" sz="2500" dirty="0"/>
          </a:p>
        </p:txBody>
      </p:sp>
      <p:sp>
        <p:nvSpPr>
          <p:cNvPr id="27" name="anim-g1-775"/>
          <p:cNvSpPr/>
          <p:nvPr/>
        </p:nvSpPr>
        <p:spPr>
          <a:xfrm>
            <a:off x="822960" y="4806696"/>
            <a:ext cx="10545775" cy="1228344"/>
          </a:xfrm>
          <a:prstGeom prst="roundRect">
            <a:avLst>
              <a:gd name="adj" fmla="val 11911"/>
            </a:avLst>
          </a:prstGeom>
          <a:solidFill>
            <a:srgbClr val="F7F7F9"/>
          </a:solidFill>
          <a:ln w="19050">
            <a:solidFill>
              <a:srgbClr val="E4DCC8"/>
            </a:solidFill>
            <a:prstDash val="solid"/>
          </a:ln>
        </p:spPr>
      </p:sp>
      <p:sp>
        <p:nvSpPr>
          <p:cNvPr id="28" name="anim-g1-776"/>
          <p:cNvSpPr/>
          <p:nvPr/>
        </p:nvSpPr>
        <p:spPr>
          <a:xfrm>
            <a:off x="10231831" y="4943856"/>
            <a:ext cx="954024" cy="954024"/>
          </a:xfrm>
          <a:prstGeom prst="roundRect">
            <a:avLst>
              <a:gd name="adj" fmla="val 11502"/>
            </a:avLst>
          </a:prstGeom>
          <a:solidFill>
            <a:srgbClr val="A3A9BA"/>
          </a:solidFill>
          <a:ln/>
        </p:spPr>
      </p:sp>
      <p:sp>
        <p:nvSpPr>
          <p:cNvPr id="29" name="anim-g1-777"/>
          <p:cNvSpPr/>
          <p:nvPr/>
        </p:nvSpPr>
        <p:spPr>
          <a:xfrm>
            <a:off x="10231831" y="4943856"/>
            <a:ext cx="954024" cy="954024"/>
          </a:xfrm>
          <a:prstGeom prst="rect">
            <a:avLst/>
          </a:prstGeom>
          <a:noFill/>
          <a:ln/>
        </p:spPr>
        <p:txBody>
          <a:bodyPr wrap="square" lIns="0" tIns="0" rIns="0" bIns="0" rtlCol="0" anchor="ctr">
            <a:normAutofit/>
          </a:bodyPr>
          <a:lstStyle/>
          <a:p>
            <a:pPr rtl="1" algn="ctr" indent="0" marL="0">
              <a:buNone/>
            </a:pPr>
            <a:r>
              <a:rPr lang="ar-SA" altLang="en-US" sz="2400" dirty="0">
                <a:solidFill>
                  <a:srgbClr val="FFFFFF"/>
                </a:solidFill>
                <a:latin typeface="Cairo Black" pitchFamily="34" charset="0"/>
                <a:ea typeface="Cairo Black" pitchFamily="34" charset="-122"/>
                <a:cs typeface="Cairo Black" pitchFamily="34" charset="-120"/>
              </a:rPr>
              <a:t>ج</a:t>
            </a:r>
            <a:endParaRPr lang="ar-SA" sz="2400" dirty="0"/>
          </a:p>
        </p:txBody>
      </p:sp>
      <p:sp>
        <p:nvSpPr>
          <p:cNvPr id="30" name="anim-g1-778"/>
          <p:cNvSpPr/>
          <p:nvPr/>
        </p:nvSpPr>
        <p:spPr>
          <a:xfrm>
            <a:off x="1097280" y="4843272"/>
            <a:ext cx="8951671" cy="614172"/>
          </a:xfrm>
          <a:prstGeom prst="rect">
            <a:avLst/>
          </a:prstGeom>
          <a:noFill/>
          <a:ln/>
        </p:spPr>
        <p:txBody>
          <a:bodyPr wrap="square" lIns="0" tIns="0" rIns="0" bIns="0" rtlCol="0" anchor="ctr">
            <a:normAutofit/>
          </a:bodyPr>
          <a:lstStyle/>
          <a:p>
            <a:pPr rtl="1" algn="r" indent="0" marL="0">
              <a:buNone/>
            </a:pPr>
            <a:r>
              <a:rPr lang="ar-SA" altLang="en-US" sz="2400" b="1" dirty="0">
                <a:solidFill>
                  <a:srgbClr val="8A90A3"/>
                </a:solidFill>
                <a:latin typeface="Cairo" pitchFamily="34" charset="0"/>
                <a:ea typeface="Cairo" pitchFamily="34" charset="-122"/>
                <a:cs typeface="Cairo" pitchFamily="34" charset="-120"/>
              </a:rPr>
              <a:t>يتعطل الروبوت</a:t>
            </a:r>
            <a:endParaRPr lang="ar-SA" sz="2400" dirty="0"/>
          </a:p>
        </p:txBody>
      </p:sp>
      <p:sp>
        <p:nvSpPr>
          <p:cNvPr id="31" name="anim-g1-779"/>
          <p:cNvSpPr/>
          <p:nvPr/>
        </p:nvSpPr>
        <p:spPr>
          <a:xfrm>
            <a:off x="1097280" y="5470002"/>
            <a:ext cx="8951671" cy="515904"/>
          </a:xfrm>
          <a:prstGeom prst="rect">
            <a:avLst/>
          </a:prstGeom>
          <a:noFill/>
          <a:ln/>
        </p:spPr>
        <p:txBody>
          <a:bodyPr wrap="square" lIns="0" tIns="0" rIns="0" bIns="0" rtlCol="0" anchor="ctr">
            <a:normAutofit/>
          </a:bodyPr>
          <a:lstStyle/>
          <a:p>
            <a:pPr rtl="1" algn="r" indent="0" marL="0">
              <a:buNone/>
            </a:pPr>
            <a:r>
              <a:rPr lang="ar-SA" altLang="en-US" sz="1800" b="1" dirty="0">
                <a:solidFill>
                  <a:srgbClr val="9A4A4A"/>
                </a:solidFill>
                <a:latin typeface="Cairo" pitchFamily="34" charset="0"/>
                <a:ea typeface="Cairo" pitchFamily="34" charset="-122"/>
                <a:cs typeface="Cairo" pitchFamily="34" charset="-120"/>
              </a:rPr>
              <a:t>آلة الحالات تمنع ذلك</a:t>
            </a:r>
            <a:endParaRPr lang="ar-SA" sz="1800" dirty="0"/>
          </a:p>
        </p:txBody>
      </p:sp>
      <p:sp>
        <p:nvSpPr>
          <p:cNvPr id="32" name="Text 30"/>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3" name="Text 31"/>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آلة الحالات  ·  ١٠٦</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4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4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animEffect transition="in" filter="fade">
                                      <p:cBhvr>
                                        <p:cTn id="4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8" grpId="0" animBg="1"/>
      <p:bldP spid="19" grpId="0" animBg="1"/>
      <p:bldP spid="20" grpId="0" animBg="1"/>
      <p:bldP spid="21" grpId="0" animBg="1"/>
      <p:bldP spid="22" grpId="0" animBg="1"/>
      <p:bldP spid="27" grpId="0" animBg="1"/>
      <p:bldP spid="28" grpId="0" animBg="1"/>
      <p:bldP spid="29" grpId="0" animBg="1"/>
      <p:bldP spid="30" grpId="0" animBg="1"/>
      <p:bldP spid="31"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name="Slide 10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ست حالات، وswitch واحدة، ولا delay طويلة: الروبوت يرى ويسمع ويتحرك…</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في الوقت نفسه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آلة الحالات  ·  ١٠٧</a:t>
            </a:r>
            <a:endParaRPr lang="ar-SA" sz="12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١٢</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١٢</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روبوت يقرر</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لا رحلة واحدة للجميع: القرار يتغير بحسب إجابة الطفل</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القرار المستقل  ·  ١٠٨</a:t>
            </a:r>
            <a:endParaRPr lang="ar-SA" sz="12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780"/>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781"/>
          <p:cNvSpPr/>
          <p:nvPr/>
        </p:nvSpPr>
        <p:spPr>
          <a:xfrm>
            <a:off x="10573207" y="2286000"/>
            <a:ext cx="566928" cy="566928"/>
          </a:xfrm>
          <a:prstGeom prst="ellipse">
            <a:avLst/>
          </a:prstGeom>
          <a:solidFill>
            <a:srgbClr val="D9AE4B"/>
          </a:solidFill>
          <a:ln/>
        </p:spPr>
      </p:sp>
      <p:sp>
        <p:nvSpPr>
          <p:cNvPr id="7" name="anim-g1-782"/>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783"/>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ترسم شجرة القرار بمساراتها الثلاثة</a:t>
            </a:r>
            <a:endParaRPr lang="ar-SA" sz="2400" dirty="0"/>
          </a:p>
        </p:txBody>
      </p:sp>
      <p:sp>
        <p:nvSpPr>
          <p:cNvPr id="9" name="anim-g2-784"/>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785"/>
          <p:cNvSpPr/>
          <p:nvPr/>
        </p:nvSpPr>
        <p:spPr>
          <a:xfrm>
            <a:off x="10573207" y="3694176"/>
            <a:ext cx="566928" cy="566928"/>
          </a:xfrm>
          <a:prstGeom prst="ellipse">
            <a:avLst/>
          </a:prstGeom>
          <a:solidFill>
            <a:srgbClr val="D9AE4B"/>
          </a:solidFill>
          <a:ln/>
        </p:spPr>
      </p:sp>
      <p:sp>
        <p:nvSpPr>
          <p:cNvPr id="11" name="anim-g2-786"/>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787"/>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تكتب دالتي الإجابة الأولى والثانية</a:t>
            </a:r>
            <a:endParaRPr lang="ar-SA" sz="2400" dirty="0"/>
          </a:p>
        </p:txBody>
      </p:sp>
      <p:sp>
        <p:nvSpPr>
          <p:cNvPr id="13" name="anim-g3-788"/>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789"/>
          <p:cNvSpPr/>
          <p:nvPr/>
        </p:nvSpPr>
        <p:spPr>
          <a:xfrm>
            <a:off x="10573207" y="5102352"/>
            <a:ext cx="566928" cy="566928"/>
          </a:xfrm>
          <a:prstGeom prst="ellipse">
            <a:avLst/>
          </a:prstGeom>
          <a:solidFill>
            <a:srgbClr val="D9AE4B"/>
          </a:solidFill>
          <a:ln/>
        </p:spPr>
      </p:sp>
      <p:sp>
        <p:nvSpPr>
          <p:cNvPr id="15" name="anim-g3-790"/>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791"/>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تصمم سؤالًا مساعدًا يعلّم لا يعاقب</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القرار المستقل  ·  ١٠٩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name="Slide 1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18527" y="457200"/>
            <a:ext cx="3950208" cy="457200"/>
          </a:xfrm>
          <a:prstGeom prst="roundRect">
            <a:avLst>
              <a:gd name="adj" fmla="val 50000"/>
            </a:avLst>
          </a:prstGeom>
          <a:solidFill>
            <a:srgbClr val="F6EBCF"/>
          </a:solidFill>
          <a:ln/>
        </p:spPr>
      </p:sp>
      <p:sp>
        <p:nvSpPr>
          <p:cNvPr id="3" name="Text 1"/>
          <p:cNvSpPr/>
          <p:nvPr/>
        </p:nvSpPr>
        <p:spPr>
          <a:xfrm>
            <a:off x="7418527" y="457200"/>
            <a:ext cx="395020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المسارات من ملف الفريق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ثلاثة مسارات… لثلاثة أطفال مختلفين</a:t>
            </a:r>
            <a:endParaRPr lang="ar-SA" sz="3200" dirty="0"/>
          </a:p>
        </p:txBody>
      </p:sp>
      <p:sp>
        <p:nvSpPr>
          <p:cNvPr id="5" name="Shape 3"/>
          <p:cNvSpPr/>
          <p:nvPr/>
        </p:nvSpPr>
        <p:spPr>
          <a:xfrm>
            <a:off x="9705569" y="1874520"/>
            <a:ext cx="1663166" cy="548640"/>
          </a:xfrm>
          <a:prstGeom prst="roundRect">
            <a:avLst>
              <a:gd name="adj" fmla="val 20000"/>
            </a:avLst>
          </a:prstGeom>
          <a:solidFill>
            <a:srgbClr val="101B45"/>
          </a:solidFill>
          <a:ln/>
        </p:spPr>
      </p:sp>
      <p:sp>
        <p:nvSpPr>
          <p:cNvPr id="6" name="Text 4"/>
          <p:cNvSpPr/>
          <p:nvPr/>
        </p:nvSpPr>
        <p:spPr>
          <a:xfrm>
            <a:off x="9705569" y="1874520"/>
            <a:ext cx="1663166"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المسار</a:t>
            </a:r>
            <a:endParaRPr lang="ar-SA" sz="1900" dirty="0"/>
          </a:p>
        </p:txBody>
      </p:sp>
      <p:sp>
        <p:nvSpPr>
          <p:cNvPr id="7" name="Shape 5"/>
          <p:cNvSpPr/>
          <p:nvPr/>
        </p:nvSpPr>
        <p:spPr>
          <a:xfrm>
            <a:off x="6982295" y="1874520"/>
            <a:ext cx="2613547" cy="548640"/>
          </a:xfrm>
          <a:prstGeom prst="roundRect">
            <a:avLst>
              <a:gd name="adj" fmla="val 20000"/>
            </a:avLst>
          </a:prstGeom>
          <a:solidFill>
            <a:srgbClr val="101B45"/>
          </a:solidFill>
          <a:ln/>
        </p:spPr>
      </p:sp>
      <p:sp>
        <p:nvSpPr>
          <p:cNvPr id="8" name="Text 6"/>
          <p:cNvSpPr/>
          <p:nvPr/>
        </p:nvSpPr>
        <p:spPr>
          <a:xfrm>
            <a:off x="6982295" y="1874520"/>
            <a:ext cx="261354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استجابة الطفل</a:t>
            </a:r>
            <a:endParaRPr lang="ar-SA" sz="1900" dirty="0"/>
          </a:p>
        </p:txBody>
      </p:sp>
      <p:sp>
        <p:nvSpPr>
          <p:cNvPr id="9" name="Shape 7"/>
          <p:cNvSpPr/>
          <p:nvPr/>
        </p:nvSpPr>
        <p:spPr>
          <a:xfrm>
            <a:off x="3308639" y="1874520"/>
            <a:ext cx="3563927" cy="548640"/>
          </a:xfrm>
          <a:prstGeom prst="roundRect">
            <a:avLst>
              <a:gd name="adj" fmla="val 20000"/>
            </a:avLst>
          </a:prstGeom>
          <a:solidFill>
            <a:srgbClr val="101B45"/>
          </a:solidFill>
          <a:ln/>
        </p:spPr>
      </p:sp>
      <p:sp>
        <p:nvSpPr>
          <p:cNvPr id="10" name="Text 8"/>
          <p:cNvSpPr/>
          <p:nvPr/>
        </p:nvSpPr>
        <p:spPr>
          <a:xfrm>
            <a:off x="3308639" y="1874520"/>
            <a:ext cx="356392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قرار الروبوت</a:t>
            </a:r>
            <a:endParaRPr lang="ar-SA" sz="1900" dirty="0"/>
          </a:p>
        </p:txBody>
      </p:sp>
      <p:sp>
        <p:nvSpPr>
          <p:cNvPr id="11" name="Shape 9"/>
          <p:cNvSpPr/>
          <p:nvPr/>
        </p:nvSpPr>
        <p:spPr>
          <a:xfrm>
            <a:off x="822960" y="1874520"/>
            <a:ext cx="2375951" cy="548640"/>
          </a:xfrm>
          <a:prstGeom prst="roundRect">
            <a:avLst>
              <a:gd name="adj" fmla="val 20000"/>
            </a:avLst>
          </a:prstGeom>
          <a:solidFill>
            <a:srgbClr val="101B45"/>
          </a:solidFill>
          <a:ln/>
        </p:spPr>
      </p:sp>
      <p:sp>
        <p:nvSpPr>
          <p:cNvPr id="12" name="Text 10"/>
          <p:cNvSpPr/>
          <p:nvPr/>
        </p:nvSpPr>
        <p:spPr>
          <a:xfrm>
            <a:off x="822960" y="1874520"/>
            <a:ext cx="2375951"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الناتج</a:t>
            </a:r>
            <a:endParaRPr lang="ar-SA" sz="1900" dirty="0"/>
          </a:p>
        </p:txBody>
      </p:sp>
      <p:sp>
        <p:nvSpPr>
          <p:cNvPr id="13" name="anim-g1-792"/>
          <p:cNvSpPr/>
          <p:nvPr/>
        </p:nvSpPr>
        <p:spPr>
          <a:xfrm>
            <a:off x="9705569" y="2514600"/>
            <a:ext cx="1663166" cy="1100328"/>
          </a:xfrm>
          <a:prstGeom prst="roundRect">
            <a:avLst>
              <a:gd name="adj" fmla="val 9972"/>
            </a:avLst>
          </a:prstGeom>
          <a:solidFill>
            <a:srgbClr val="FBF3DF"/>
          </a:solidFill>
          <a:ln w="12700">
            <a:solidFill>
              <a:srgbClr val="EFDDAF"/>
            </a:solidFill>
            <a:prstDash val="solid"/>
          </a:ln>
        </p:spPr>
      </p:sp>
      <p:sp>
        <p:nvSpPr>
          <p:cNvPr id="14" name="anim-g1-793"/>
          <p:cNvSpPr/>
          <p:nvPr/>
        </p:nvSpPr>
        <p:spPr>
          <a:xfrm>
            <a:off x="9842729" y="2514600"/>
            <a:ext cx="1388846"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أ</a:t>
            </a:r>
            <a:endParaRPr lang="ar-SA" sz="2100" dirty="0"/>
          </a:p>
        </p:txBody>
      </p:sp>
      <p:sp>
        <p:nvSpPr>
          <p:cNvPr id="15" name="anim-g1-794"/>
          <p:cNvSpPr/>
          <p:nvPr/>
        </p:nvSpPr>
        <p:spPr>
          <a:xfrm>
            <a:off x="6982295" y="2514600"/>
            <a:ext cx="2613547" cy="1100328"/>
          </a:xfrm>
          <a:prstGeom prst="roundRect">
            <a:avLst>
              <a:gd name="adj" fmla="val 9972"/>
            </a:avLst>
          </a:prstGeom>
          <a:solidFill>
            <a:srgbClr val="FFFFFF"/>
          </a:solidFill>
          <a:ln w="12700">
            <a:solidFill>
              <a:srgbClr val="E4DCC8"/>
            </a:solidFill>
            <a:prstDash val="solid"/>
          </a:ln>
        </p:spPr>
      </p:sp>
      <p:sp>
        <p:nvSpPr>
          <p:cNvPr id="16" name="anim-g1-795"/>
          <p:cNvSpPr/>
          <p:nvPr/>
        </p:nvSpPr>
        <p:spPr>
          <a:xfrm>
            <a:off x="7119455" y="2514600"/>
            <a:ext cx="233922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صحيحة من أول مرة</a:t>
            </a:r>
            <a:endParaRPr lang="ar-SA" sz="2100" dirty="0"/>
          </a:p>
        </p:txBody>
      </p:sp>
      <p:sp>
        <p:nvSpPr>
          <p:cNvPr id="17" name="anim-g1-796"/>
          <p:cNvSpPr/>
          <p:nvPr/>
        </p:nvSpPr>
        <p:spPr>
          <a:xfrm>
            <a:off x="3308639" y="2514600"/>
            <a:ext cx="3563927" cy="1100328"/>
          </a:xfrm>
          <a:prstGeom prst="roundRect">
            <a:avLst>
              <a:gd name="adj" fmla="val 9972"/>
            </a:avLst>
          </a:prstGeom>
          <a:solidFill>
            <a:srgbClr val="FFFFFF"/>
          </a:solidFill>
          <a:ln w="12700">
            <a:solidFill>
              <a:srgbClr val="E4DCC8"/>
            </a:solidFill>
            <a:prstDash val="solid"/>
          </a:ln>
        </p:spPr>
      </p:sp>
      <p:sp>
        <p:nvSpPr>
          <p:cNvPr id="18" name="anim-g1-797"/>
          <p:cNvSpPr/>
          <p:nvPr/>
        </p:nvSpPr>
        <p:spPr>
          <a:xfrm>
            <a:off x="3445799" y="2514600"/>
            <a:ext cx="328960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تغذية راجعة إيجابية ويُفعّل Servo</a:t>
            </a:r>
            <a:endParaRPr lang="ar-SA" sz="2100" dirty="0"/>
          </a:p>
        </p:txBody>
      </p:sp>
      <p:sp>
        <p:nvSpPr>
          <p:cNvPr id="19" name="anim-g1-798"/>
          <p:cNvSpPr/>
          <p:nvPr/>
        </p:nvSpPr>
        <p:spPr>
          <a:xfrm>
            <a:off x="822960" y="2514600"/>
            <a:ext cx="2375951" cy="1100328"/>
          </a:xfrm>
          <a:prstGeom prst="roundRect">
            <a:avLst>
              <a:gd name="adj" fmla="val 9972"/>
            </a:avLst>
          </a:prstGeom>
          <a:solidFill>
            <a:srgbClr val="E6F4EC"/>
          </a:solidFill>
          <a:ln w="12700">
            <a:solidFill>
              <a:srgbClr val="CDE9D9"/>
            </a:solidFill>
            <a:prstDash val="solid"/>
          </a:ln>
        </p:spPr>
      </p:sp>
      <p:sp>
        <p:nvSpPr>
          <p:cNvPr id="20" name="anim-g1-799"/>
          <p:cNvSpPr/>
          <p:nvPr/>
        </p:nvSpPr>
        <p:spPr>
          <a:xfrm>
            <a:off x="960120" y="2514600"/>
            <a:ext cx="2101631"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 عملة الذكرى</a:t>
            </a:r>
            <a:endParaRPr lang="ar-SA" sz="2100" dirty="0"/>
          </a:p>
        </p:txBody>
      </p:sp>
      <p:sp>
        <p:nvSpPr>
          <p:cNvPr id="21" name="anim-g2-800"/>
          <p:cNvSpPr/>
          <p:nvPr/>
        </p:nvSpPr>
        <p:spPr>
          <a:xfrm>
            <a:off x="9705569" y="3724656"/>
            <a:ext cx="1663166" cy="1100328"/>
          </a:xfrm>
          <a:prstGeom prst="roundRect">
            <a:avLst>
              <a:gd name="adj" fmla="val 9972"/>
            </a:avLst>
          </a:prstGeom>
          <a:solidFill>
            <a:srgbClr val="FBF3DF"/>
          </a:solidFill>
          <a:ln w="12700">
            <a:solidFill>
              <a:srgbClr val="EFDDAF"/>
            </a:solidFill>
            <a:prstDash val="solid"/>
          </a:ln>
        </p:spPr>
      </p:sp>
      <p:sp>
        <p:nvSpPr>
          <p:cNvPr id="22" name="anim-g2-801"/>
          <p:cNvSpPr/>
          <p:nvPr/>
        </p:nvSpPr>
        <p:spPr>
          <a:xfrm>
            <a:off x="9842729" y="3724656"/>
            <a:ext cx="1388846"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ب</a:t>
            </a:r>
            <a:endParaRPr lang="ar-SA" sz="2100" dirty="0"/>
          </a:p>
        </p:txBody>
      </p:sp>
      <p:sp>
        <p:nvSpPr>
          <p:cNvPr id="23" name="anim-g2-802"/>
          <p:cNvSpPr/>
          <p:nvPr/>
        </p:nvSpPr>
        <p:spPr>
          <a:xfrm>
            <a:off x="6982295" y="3724656"/>
            <a:ext cx="2613547" cy="1100328"/>
          </a:xfrm>
          <a:prstGeom prst="roundRect">
            <a:avLst>
              <a:gd name="adj" fmla="val 9972"/>
            </a:avLst>
          </a:prstGeom>
          <a:solidFill>
            <a:srgbClr val="FFFFFF"/>
          </a:solidFill>
          <a:ln w="12700">
            <a:solidFill>
              <a:srgbClr val="E4DCC8"/>
            </a:solidFill>
            <a:prstDash val="solid"/>
          </a:ln>
        </p:spPr>
      </p:sp>
      <p:sp>
        <p:nvSpPr>
          <p:cNvPr id="24" name="anim-g2-803"/>
          <p:cNvSpPr/>
          <p:nvPr/>
        </p:nvSpPr>
        <p:spPr>
          <a:xfrm>
            <a:off x="7119455" y="3724656"/>
            <a:ext cx="233922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خاطئة أولًا</a:t>
            </a:r>
            <a:endParaRPr lang="ar-SA" sz="2100" dirty="0"/>
          </a:p>
        </p:txBody>
      </p:sp>
      <p:sp>
        <p:nvSpPr>
          <p:cNvPr id="25" name="anim-g2-804"/>
          <p:cNvSpPr/>
          <p:nvPr/>
        </p:nvSpPr>
        <p:spPr>
          <a:xfrm>
            <a:off x="3308639" y="3724656"/>
            <a:ext cx="3563927" cy="1100328"/>
          </a:xfrm>
          <a:prstGeom prst="roundRect">
            <a:avLst>
              <a:gd name="adj" fmla="val 9972"/>
            </a:avLst>
          </a:prstGeom>
          <a:solidFill>
            <a:srgbClr val="FFFFFF"/>
          </a:solidFill>
          <a:ln w="12700">
            <a:solidFill>
              <a:srgbClr val="E4DCC8"/>
            </a:solidFill>
            <a:prstDash val="solid"/>
          </a:ln>
        </p:spPr>
      </p:sp>
      <p:sp>
        <p:nvSpPr>
          <p:cNvPr id="26" name="anim-g2-805"/>
          <p:cNvSpPr/>
          <p:nvPr/>
        </p:nvSpPr>
        <p:spPr>
          <a:xfrm>
            <a:off x="3445799" y="3724656"/>
            <a:ext cx="328960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سؤال ثانٍ بمساعدة إضافية</a:t>
            </a:r>
            <a:endParaRPr lang="ar-SA" sz="2100" dirty="0"/>
          </a:p>
        </p:txBody>
      </p:sp>
      <p:sp>
        <p:nvSpPr>
          <p:cNvPr id="27" name="anim-g2-806"/>
          <p:cNvSpPr/>
          <p:nvPr/>
        </p:nvSpPr>
        <p:spPr>
          <a:xfrm>
            <a:off x="822960" y="3724656"/>
            <a:ext cx="2375951" cy="1100328"/>
          </a:xfrm>
          <a:prstGeom prst="roundRect">
            <a:avLst>
              <a:gd name="adj" fmla="val 9972"/>
            </a:avLst>
          </a:prstGeom>
          <a:solidFill>
            <a:srgbClr val="E6F4EC"/>
          </a:solidFill>
          <a:ln w="12700">
            <a:solidFill>
              <a:srgbClr val="CDE9D9"/>
            </a:solidFill>
            <a:prstDash val="solid"/>
          </a:ln>
        </p:spPr>
      </p:sp>
      <p:sp>
        <p:nvSpPr>
          <p:cNvPr id="28" name="anim-g2-807"/>
          <p:cNvSpPr/>
          <p:nvPr/>
        </p:nvSpPr>
        <p:spPr>
          <a:xfrm>
            <a:off x="960120" y="3724656"/>
            <a:ext cx="2101631"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 فرصة تعلّم ثانية</a:t>
            </a:r>
            <a:endParaRPr lang="ar-SA" sz="2100" dirty="0"/>
          </a:p>
        </p:txBody>
      </p:sp>
      <p:sp>
        <p:nvSpPr>
          <p:cNvPr id="29" name="anim-g3-808"/>
          <p:cNvSpPr/>
          <p:nvPr/>
        </p:nvSpPr>
        <p:spPr>
          <a:xfrm>
            <a:off x="9705569" y="4934712"/>
            <a:ext cx="1663166" cy="1100328"/>
          </a:xfrm>
          <a:prstGeom prst="roundRect">
            <a:avLst>
              <a:gd name="adj" fmla="val 9972"/>
            </a:avLst>
          </a:prstGeom>
          <a:solidFill>
            <a:srgbClr val="FBF3DF"/>
          </a:solidFill>
          <a:ln w="12700">
            <a:solidFill>
              <a:srgbClr val="EFDDAF"/>
            </a:solidFill>
            <a:prstDash val="solid"/>
          </a:ln>
        </p:spPr>
      </p:sp>
      <p:sp>
        <p:nvSpPr>
          <p:cNvPr id="30" name="anim-g3-809"/>
          <p:cNvSpPr/>
          <p:nvPr/>
        </p:nvSpPr>
        <p:spPr>
          <a:xfrm>
            <a:off x="9842729" y="4934712"/>
            <a:ext cx="1388846"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ب٢</a:t>
            </a:r>
            <a:endParaRPr lang="ar-SA" sz="2100" dirty="0"/>
          </a:p>
        </p:txBody>
      </p:sp>
      <p:sp>
        <p:nvSpPr>
          <p:cNvPr id="31" name="anim-g3-810"/>
          <p:cNvSpPr/>
          <p:nvPr/>
        </p:nvSpPr>
        <p:spPr>
          <a:xfrm>
            <a:off x="6982295" y="4934712"/>
            <a:ext cx="2613547" cy="1100328"/>
          </a:xfrm>
          <a:prstGeom prst="roundRect">
            <a:avLst>
              <a:gd name="adj" fmla="val 9972"/>
            </a:avLst>
          </a:prstGeom>
          <a:solidFill>
            <a:srgbClr val="FFFFFF"/>
          </a:solidFill>
          <a:ln w="12700">
            <a:solidFill>
              <a:srgbClr val="E4DCC8"/>
            </a:solidFill>
            <a:prstDash val="solid"/>
          </a:ln>
        </p:spPr>
      </p:sp>
      <p:sp>
        <p:nvSpPr>
          <p:cNvPr id="32" name="anim-g3-811"/>
          <p:cNvSpPr/>
          <p:nvPr/>
        </p:nvSpPr>
        <p:spPr>
          <a:xfrm>
            <a:off x="7119455" y="4934712"/>
            <a:ext cx="233922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خاطئة في الثانية أيضًا</a:t>
            </a:r>
            <a:endParaRPr lang="ar-SA" sz="2100" dirty="0"/>
          </a:p>
        </p:txBody>
      </p:sp>
      <p:sp>
        <p:nvSpPr>
          <p:cNvPr id="33" name="anim-g3-812"/>
          <p:cNvSpPr/>
          <p:nvPr/>
        </p:nvSpPr>
        <p:spPr>
          <a:xfrm>
            <a:off x="3308639" y="4934712"/>
            <a:ext cx="3563927" cy="1100328"/>
          </a:xfrm>
          <a:prstGeom prst="roundRect">
            <a:avLst>
              <a:gd name="adj" fmla="val 9972"/>
            </a:avLst>
          </a:prstGeom>
          <a:solidFill>
            <a:srgbClr val="FFFFFF"/>
          </a:solidFill>
          <a:ln w="12700">
            <a:solidFill>
              <a:srgbClr val="E4DCC8"/>
            </a:solidFill>
            <a:prstDash val="solid"/>
          </a:ln>
        </p:spPr>
      </p:sp>
      <p:sp>
        <p:nvSpPr>
          <p:cNvPr id="34" name="anim-g3-813"/>
          <p:cNvSpPr/>
          <p:nvPr/>
        </p:nvSpPr>
        <p:spPr>
          <a:xfrm>
            <a:off x="3445799" y="4934712"/>
            <a:ext cx="3289607"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ينهي المحطة دون العملة</a:t>
            </a:r>
            <a:endParaRPr lang="ar-SA" sz="2100" dirty="0"/>
          </a:p>
        </p:txBody>
      </p:sp>
      <p:sp>
        <p:nvSpPr>
          <p:cNvPr id="35" name="anim-g3-814"/>
          <p:cNvSpPr/>
          <p:nvPr/>
        </p:nvSpPr>
        <p:spPr>
          <a:xfrm>
            <a:off x="822960" y="4934712"/>
            <a:ext cx="2375951" cy="1100328"/>
          </a:xfrm>
          <a:prstGeom prst="roundRect">
            <a:avLst>
              <a:gd name="adj" fmla="val 9972"/>
            </a:avLst>
          </a:prstGeom>
          <a:solidFill>
            <a:srgbClr val="E6F4EC"/>
          </a:solidFill>
          <a:ln w="12700">
            <a:solidFill>
              <a:srgbClr val="CDE9D9"/>
            </a:solidFill>
            <a:prstDash val="solid"/>
          </a:ln>
        </p:spPr>
      </p:sp>
      <p:sp>
        <p:nvSpPr>
          <p:cNvPr id="36" name="anim-g3-815"/>
          <p:cNvSpPr/>
          <p:nvPr/>
        </p:nvSpPr>
        <p:spPr>
          <a:xfrm>
            <a:off x="960120" y="4934712"/>
            <a:ext cx="2101631" cy="1100328"/>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 الجولة التالية</a:t>
            </a:r>
            <a:endParaRPr lang="ar-SA" sz="2100" dirty="0"/>
          </a:p>
        </p:txBody>
      </p:sp>
      <p:sp>
        <p:nvSpPr>
          <p:cNvPr id="37" name="Text 3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8" name="Text 3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القرار المستقل  ·  ١١٠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pic>
        <p:nvPicPr>
          <p:cNvPr id="2" name="Image 0" descr="C:\Users\user\projects\younes-training\heritage\.pptx-cache\s1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pic>
        <p:nvPicPr>
          <p:cNvPr id="2" name="Image 0" descr="C:\Users\user\projects\younes-training\heritage\.pptx-cache\s112-0.jpg">    </p:cNvPr>
          <p:cNvPicPr>
            <a:picLocks noChangeAspect="1"/>
          </p:cNvPicPr>
          <p:nvPr/>
        </p:nvPicPr>
        <p:blipFill>
          <a:blip r:embed="rId1"/>
          <a:stretch>
            <a:fillRect/>
          </a:stretch>
        </p:blipFill>
        <p:spPr>
          <a:xfrm>
            <a:off x="0" y="0"/>
            <a:ext cx="12191695" cy="6858000"/>
          </a:xfrm>
          <a:prstGeom prst="rect">
            <a:avLst/>
          </a:prstGeom>
        </p:spPr>
      </p:pic>
      <p:pic>
        <p:nvPicPr>
          <p:cNvPr id="3" name="anim-g1-816" descr="C:\Users\user\projects\younes-training\heritage\.pptx-cache\s112-1.jpg">    </p:cNvPr>
          <p:cNvPicPr>
            <a:picLocks noChangeAspect="1"/>
          </p:cNvPicPr>
          <p:nvPr/>
        </p:nvPicPr>
        <p:blipFill>
          <a:blip r:embed="rId2"/>
          <a:stretch>
            <a:fillRect/>
          </a:stretch>
        </p:blipFill>
        <p:spPr>
          <a:xfrm>
            <a:off x="0" y="0"/>
            <a:ext cx="12191695" cy="6858000"/>
          </a:xfrm>
          <a:prstGeom prst="rect">
            <a:avLst/>
          </a:prstGeom>
        </p:spPr>
      </p:pic>
      <p:pic>
        <p:nvPicPr>
          <p:cNvPr id="4" name="anim-g2-817" descr="C:\Users\user\projects\younes-training\heritage\.pptx-cache\s112-2.jpg">    </p:cNvPr>
          <p:cNvPicPr>
            <a:picLocks noChangeAspect="1"/>
          </p:cNvPicPr>
          <p:nvPr/>
        </p:nvPicPr>
        <p:blipFill>
          <a:blip r:embed="rId3"/>
          <a:stretch>
            <a:fillRect/>
          </a:stretch>
        </p:blipFill>
        <p:spPr>
          <a:xfrm>
            <a:off x="0" y="0"/>
            <a:ext cx="12191695" cy="6858000"/>
          </a:xfrm>
          <a:prstGeom prst="rect">
            <a:avLst/>
          </a:prstGeom>
        </p:spPr>
      </p:pic>
      <p:pic>
        <p:nvPicPr>
          <p:cNvPr id="5" name="anim-g3-818" descr="C:\Users\user\projects\younes-training\heritage\.pptx-cache\s112-3.jpg">    </p:cNvPr>
          <p:cNvPicPr>
            <a:picLocks noChangeAspect="1"/>
          </p:cNvPicPr>
          <p:nvPr/>
        </p:nvPicPr>
        <p:blipFill>
          <a:blip r:embed="rId4"/>
          <a:stretch>
            <a:fillRect/>
          </a:stretch>
        </p:blipFill>
        <p:spPr>
          <a:xfrm>
            <a:off x="0" y="0"/>
            <a:ext cx="12191695" cy="6858000"/>
          </a:xfrm>
          <a:prstGeom prst="rect">
            <a:avLst/>
          </a:prstGeom>
        </p:spPr>
      </p:pic>
      <p:pic>
        <p:nvPicPr>
          <p:cNvPr id="6" name="anim-g4-819" descr="C:\Users\user\projects\younes-training\heritage\.pptx-cache\s112-4.jpg">    </p:cNvPr>
          <p:cNvPicPr>
            <a:picLocks noChangeAspect="1"/>
          </p:cNvPicPr>
          <p:nvPr/>
        </p:nvPicPr>
        <p:blipFill>
          <a:blip r:embed="rId5"/>
          <a:stretch>
            <a:fillRect/>
          </a:stretch>
        </p:blipFill>
        <p:spPr>
          <a:xfrm>
            <a:off x="0" y="0"/>
            <a:ext cx="12191695" cy="6858000"/>
          </a:xfrm>
          <a:prstGeom prst="rect">
            <a:avLst/>
          </a:prstGeom>
        </p:spPr>
      </p:pic>
      <p:pic>
        <p:nvPicPr>
          <p:cNvPr id="7" name="anim-g5-820" descr="C:\Users\user\projects\younes-training\heritage\.pptx-cache\s112-5.jpg">    </p:cNvPr>
          <p:cNvPicPr>
            <a:picLocks noChangeAspect="1"/>
          </p:cNvPicPr>
          <p:nvPr/>
        </p:nvPicPr>
        <p:blipFill>
          <a:blip r:embed="rId6"/>
          <a:stretch>
            <a:fillRect/>
          </a:stretch>
        </p:blipFill>
        <p:spPr>
          <a:xfrm>
            <a:off x="0" y="0"/>
            <a:ext cx="12191695" cy="6858000"/>
          </a:xfrm>
          <a:prstGeom prst="rect">
            <a:avLst/>
          </a:prstGeom>
        </p:spPr>
      </p:pic>
      <p:pic>
        <p:nvPicPr>
          <p:cNvPr id="8" name="anim-g6-821" descr="C:\Users\user\projects\younes-training\heritage\.pptx-cache\s112-6.jpg">    </p:cNvPr>
          <p:cNvPicPr>
            <a:picLocks noChangeAspect="1"/>
          </p:cNvPicPr>
          <p:nvPr/>
        </p:nvPicPr>
        <p:blipFill>
          <a:blip r:embed="rId7"/>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4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name="Slide 1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فن السؤال المساعد</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المساعدة تعلّم… لا تكشف الجواب</a:t>
            </a:r>
            <a:endParaRPr lang="ar-SA" sz="3800" dirty="0"/>
          </a:p>
        </p:txBody>
      </p:sp>
      <p:sp>
        <p:nvSpPr>
          <p:cNvPr id="5" name="anim-g1-822"/>
          <p:cNvSpPr/>
          <p:nvPr/>
        </p:nvSpPr>
        <p:spPr>
          <a:xfrm>
            <a:off x="8036357"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23"/>
          <p:cNvSpPr/>
          <p:nvPr/>
        </p:nvSpPr>
        <p:spPr>
          <a:xfrm>
            <a:off x="10527487" y="2267712"/>
            <a:ext cx="566928" cy="566928"/>
          </a:xfrm>
          <a:prstGeom prst="roundRect">
            <a:avLst>
              <a:gd name="adj" fmla="val 32258"/>
            </a:avLst>
          </a:prstGeom>
          <a:solidFill>
            <a:srgbClr val="F7E6BC"/>
          </a:solidFill>
          <a:ln/>
        </p:spPr>
      </p:sp>
      <p:sp>
        <p:nvSpPr>
          <p:cNvPr id="7" name="anim-g1-824"/>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25"/>
          <p:cNvSpPr/>
          <p:nvPr/>
        </p:nvSpPr>
        <p:spPr>
          <a:xfrm>
            <a:off x="8310677"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معلومة جديدة</a:t>
            </a:r>
            <a:endParaRPr lang="ar-SA" sz="2200" dirty="0"/>
          </a:p>
        </p:txBody>
      </p:sp>
      <p:sp>
        <p:nvSpPr>
          <p:cNvPr id="9" name="anim-g1-826"/>
          <p:cNvSpPr/>
          <p:nvPr/>
        </p:nvSpPr>
        <p:spPr>
          <a:xfrm>
            <a:off x="8310677"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«تذكّر: كان الضيف يُستقبل فيها…» قبل السؤال</a:t>
            </a:r>
            <a:endParaRPr lang="ar-SA" sz="1900" dirty="0"/>
          </a:p>
        </p:txBody>
      </p:sp>
      <p:sp>
        <p:nvSpPr>
          <p:cNvPr id="10" name="anim-g2-827"/>
          <p:cNvSpPr/>
          <p:nvPr/>
        </p:nvSpPr>
        <p:spPr>
          <a:xfrm>
            <a:off x="4429658"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28"/>
          <p:cNvSpPr/>
          <p:nvPr/>
        </p:nvSpPr>
        <p:spPr>
          <a:xfrm>
            <a:off x="6920789" y="2267712"/>
            <a:ext cx="566928" cy="566928"/>
          </a:xfrm>
          <a:prstGeom prst="roundRect">
            <a:avLst>
              <a:gd name="adj" fmla="val 32258"/>
            </a:avLst>
          </a:prstGeom>
          <a:solidFill>
            <a:srgbClr val="F7E6BC"/>
          </a:solidFill>
          <a:ln/>
        </p:spPr>
      </p:sp>
      <p:sp>
        <p:nvSpPr>
          <p:cNvPr id="12" name="anim-g2-829"/>
          <p:cNvSpPr/>
          <p:nvPr/>
        </p:nvSpPr>
        <p:spPr>
          <a:xfrm>
            <a:off x="6920789"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830"/>
          <p:cNvSpPr/>
          <p:nvPr/>
        </p:nvSpPr>
        <p:spPr>
          <a:xfrm>
            <a:off x="4703978"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صيغة مختلفة</a:t>
            </a:r>
            <a:endParaRPr lang="ar-SA" sz="2200" dirty="0"/>
          </a:p>
        </p:txBody>
      </p:sp>
      <p:sp>
        <p:nvSpPr>
          <p:cNvPr id="14" name="anim-g2-831"/>
          <p:cNvSpPr/>
          <p:nvPr/>
        </p:nvSpPr>
        <p:spPr>
          <a:xfrm>
            <a:off x="4703978"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لا نكرر السؤال نفسه بكلماته</a:t>
            </a:r>
            <a:endParaRPr lang="ar-SA" sz="1900" dirty="0"/>
          </a:p>
        </p:txBody>
      </p:sp>
      <p:sp>
        <p:nvSpPr>
          <p:cNvPr id="15" name="anim-g3-832"/>
          <p:cNvSpPr/>
          <p:nvPr/>
        </p:nvSpPr>
        <p:spPr>
          <a:xfrm>
            <a:off x="822960" y="2011680"/>
            <a:ext cx="3332378" cy="4023360"/>
          </a:xfrm>
          <a:prstGeom prst="roundRect">
            <a:avLst>
              <a:gd name="adj" fmla="val 4939"/>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833"/>
          <p:cNvSpPr/>
          <p:nvPr/>
        </p:nvSpPr>
        <p:spPr>
          <a:xfrm>
            <a:off x="3314090" y="2267712"/>
            <a:ext cx="566928" cy="566928"/>
          </a:xfrm>
          <a:prstGeom prst="roundRect">
            <a:avLst>
              <a:gd name="adj" fmla="val 32258"/>
            </a:avLst>
          </a:prstGeom>
          <a:solidFill>
            <a:srgbClr val="F7E6BC"/>
          </a:solidFill>
          <a:ln/>
        </p:spPr>
      </p:sp>
      <p:sp>
        <p:nvSpPr>
          <p:cNvPr id="17" name="anim-g3-834"/>
          <p:cNvSpPr/>
          <p:nvPr/>
        </p:nvSpPr>
        <p:spPr>
          <a:xfrm>
            <a:off x="331409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835"/>
          <p:cNvSpPr/>
          <p:nvPr/>
        </p:nvSpPr>
        <p:spPr>
          <a:xfrm>
            <a:off x="1097280" y="2944368"/>
            <a:ext cx="278373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نبرة مشجعة</a:t>
            </a:r>
            <a:endParaRPr lang="ar-SA" sz="2200" dirty="0"/>
          </a:p>
        </p:txBody>
      </p:sp>
      <p:sp>
        <p:nvSpPr>
          <p:cNvPr id="19" name="anim-g3-836"/>
          <p:cNvSpPr/>
          <p:nvPr/>
        </p:nvSpPr>
        <p:spPr>
          <a:xfrm>
            <a:off x="1097280" y="3493008"/>
            <a:ext cx="2783738" cy="240487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الأحمر ليس عقابًا: «حاول مرة أخرى»</a:t>
            </a:r>
            <a:endParaRPr lang="ar-SA" sz="1900" dirty="0"/>
          </a:p>
        </p:txBody>
      </p:sp>
      <p:sp>
        <p:nvSpPr>
          <p:cNvPr id="20" name="Text 18"/>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1" name="Text 19"/>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القرار المستقل  ·  ١١٣</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pic>
        <p:nvPicPr>
          <p:cNvPr id="2" name="Image 0" descr="C:\Users\user\projects\younes-training\heritage\.pptx-cache\s114-0.jpg">    </p:cNvPr>
          <p:cNvPicPr>
            <a:picLocks noChangeAspect="1"/>
          </p:cNvPicPr>
          <p:nvPr/>
        </p:nvPicPr>
        <p:blipFill>
          <a:blip r:embed="rId1"/>
          <a:stretch>
            <a:fillRect/>
          </a:stretch>
        </p:blipFill>
        <p:spPr>
          <a:xfrm>
            <a:off x="0" y="0"/>
            <a:ext cx="12191695" cy="6858000"/>
          </a:xfrm>
          <a:prstGeom prst="rect">
            <a:avLst/>
          </a:prstGeom>
        </p:spPr>
      </p:pic>
      <p:pic>
        <p:nvPicPr>
          <p:cNvPr id="3" name="anim-g1-837" descr="C:\Users\user\projects\younes-training\heritage\.pptx-cache\s114-1.jpg">    </p:cNvPr>
          <p:cNvPicPr>
            <a:picLocks noChangeAspect="1"/>
          </p:cNvPicPr>
          <p:nvPr/>
        </p:nvPicPr>
        <p:blipFill>
          <a:blip r:embed="rId2"/>
          <a:stretch>
            <a:fillRect/>
          </a:stretch>
        </p:blipFill>
        <p:spPr>
          <a:xfrm>
            <a:off x="0" y="0"/>
            <a:ext cx="12191695" cy="6858000"/>
          </a:xfrm>
          <a:prstGeom prst="rect">
            <a:avLst/>
          </a:prstGeom>
        </p:spPr>
      </p:pic>
      <p:pic>
        <p:nvPicPr>
          <p:cNvPr id="4" name="anim-g2-838" descr="C:\Users\user\projects\younes-training\heritage\.pptx-cache\s114-2.jpg">    </p:cNvPr>
          <p:cNvPicPr>
            <a:picLocks noChangeAspect="1"/>
          </p:cNvPicPr>
          <p:nvPr/>
        </p:nvPicPr>
        <p:blipFill>
          <a:blip r:embed="rId3"/>
          <a:stretch>
            <a:fillRect/>
          </a:stretch>
        </p:blipFill>
        <p:spPr>
          <a:xfrm>
            <a:off x="0" y="0"/>
            <a:ext cx="12191695" cy="6858000"/>
          </a:xfrm>
          <a:prstGeom prst="rect">
            <a:avLst/>
          </a:prstGeom>
        </p:spPr>
      </p:pic>
      <p:pic>
        <p:nvPicPr>
          <p:cNvPr id="5" name="anim-g3-839" descr="C:\Users\user\projects\younes-training\heritage\.pptx-cache\s114-3.jpg">    </p:cNvPr>
          <p:cNvPicPr>
            <a:picLocks noChangeAspect="1"/>
          </p:cNvPicPr>
          <p:nvPr/>
        </p:nvPicPr>
        <p:blipFill>
          <a:blip r:embed="rId4"/>
          <a:stretch>
            <a:fillRect/>
          </a:stretch>
        </p:blipFill>
        <p:spPr>
          <a:xfrm>
            <a:off x="0" y="0"/>
            <a:ext cx="12191695" cy="6858000"/>
          </a:xfrm>
          <a:prstGeom prst="rect">
            <a:avLst/>
          </a:prstGeom>
        </p:spPr>
      </p:pic>
      <p:pic>
        <p:nvPicPr>
          <p:cNvPr id="6" name="anim-g4-840" descr="C:\Users\user\projects\younes-training\heritage\.pptx-cache\s114-4.jpg">    </p:cNvPr>
          <p:cNvPicPr>
            <a:picLocks noChangeAspect="1"/>
          </p:cNvPicPr>
          <p:nvPr/>
        </p:nvPicPr>
        <p:blipFill>
          <a:blip r:embed="rId5"/>
          <a:stretch>
            <a:fillRect/>
          </a:stretch>
        </p:blipFill>
        <p:spPr>
          <a:xfrm>
            <a:off x="0" y="0"/>
            <a:ext cx="12191695"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4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4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name="Slide 1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rtl="1"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الروبوت لا يعطي الجميع الرحلة نفسها: يكافئ من عرف، ويساعد من أخطأ، ويشجع من تعثر</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القرار المستقل  ·  ١١٥</a:t>
            </a:r>
            <a:endParaRPr lang="ar-SA" sz="1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١٣</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١٣</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الجولة الكاملة</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من «اقترب لبدء اللعبة»… إلى «حارس الذكريات التراثية»</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الجولة الكاملة  ·  ١١٦</a:t>
            </a:r>
            <a:endParaRPr lang="ar-SA" sz="12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248095" y="457200"/>
            <a:ext cx="5120640" cy="457200"/>
          </a:xfrm>
          <a:prstGeom prst="roundRect">
            <a:avLst>
              <a:gd name="adj" fmla="val 50000"/>
            </a:avLst>
          </a:prstGeom>
          <a:solidFill>
            <a:srgbClr val="F6EBCF"/>
          </a:solidFill>
          <a:ln/>
        </p:spPr>
      </p:sp>
      <p:sp>
        <p:nvSpPr>
          <p:cNvPr id="3" name="Text 1"/>
          <p:cNvSpPr/>
          <p:nvPr/>
        </p:nvSpPr>
        <p:spPr>
          <a:xfrm>
            <a:off x="6248095" y="457200"/>
            <a:ext cx="512064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بنهاية هذا المحور تستطيع أن</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أهداف المحور</a:t>
            </a:r>
            <a:endParaRPr lang="ar-SA" sz="3800" dirty="0"/>
          </a:p>
        </p:txBody>
      </p:sp>
      <p:sp>
        <p:nvSpPr>
          <p:cNvPr id="5" name="anim-g1-841"/>
          <p:cNvSpPr/>
          <p:nvPr/>
        </p:nvSpPr>
        <p:spPr>
          <a:xfrm>
            <a:off x="822960" y="1920240"/>
            <a:ext cx="10545775" cy="1298448"/>
          </a:xfrm>
          <a:prstGeom prst="roundRect">
            <a:avLst>
              <a:gd name="adj" fmla="val 11268"/>
            </a:avLst>
          </a:prstGeom>
          <a:solidFill>
            <a:srgbClr val="FFFFFF"/>
          </a:solidFill>
          <a:ln w="12700">
            <a:solidFill>
              <a:srgbClr val="E4DCC8"/>
            </a:solidFill>
            <a:prstDash val="solid"/>
          </a:ln>
        </p:spPr>
      </p:sp>
      <p:sp>
        <p:nvSpPr>
          <p:cNvPr id="6" name="anim-g1-842"/>
          <p:cNvSpPr/>
          <p:nvPr/>
        </p:nvSpPr>
        <p:spPr>
          <a:xfrm>
            <a:off x="10573207" y="2286000"/>
            <a:ext cx="566928" cy="566928"/>
          </a:xfrm>
          <a:prstGeom prst="ellipse">
            <a:avLst/>
          </a:prstGeom>
          <a:solidFill>
            <a:srgbClr val="D9AE4B"/>
          </a:solidFill>
          <a:ln/>
        </p:spPr>
      </p:sp>
      <p:sp>
        <p:nvSpPr>
          <p:cNvPr id="7" name="anim-g1-843"/>
          <p:cNvSpPr/>
          <p:nvPr/>
        </p:nvSpPr>
        <p:spPr>
          <a:xfrm>
            <a:off x="10573207" y="2286000"/>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844"/>
          <p:cNvSpPr/>
          <p:nvPr/>
        </p:nvSpPr>
        <p:spPr>
          <a:xfrm>
            <a:off x="1097280" y="1920240"/>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تتبع تجربة الطفل كاملة</a:t>
            </a:r>
            <a:endParaRPr lang="ar-SA" sz="2400" dirty="0"/>
          </a:p>
        </p:txBody>
      </p:sp>
      <p:sp>
        <p:nvSpPr>
          <p:cNvPr id="9" name="anim-g2-845"/>
          <p:cNvSpPr/>
          <p:nvPr/>
        </p:nvSpPr>
        <p:spPr>
          <a:xfrm>
            <a:off x="822960" y="3328416"/>
            <a:ext cx="10545775" cy="1298448"/>
          </a:xfrm>
          <a:prstGeom prst="roundRect">
            <a:avLst>
              <a:gd name="adj" fmla="val 11268"/>
            </a:avLst>
          </a:prstGeom>
          <a:solidFill>
            <a:srgbClr val="FFFFFF"/>
          </a:solidFill>
          <a:ln w="12700">
            <a:solidFill>
              <a:srgbClr val="E4DCC8"/>
            </a:solidFill>
            <a:prstDash val="solid"/>
          </a:ln>
        </p:spPr>
      </p:sp>
      <p:sp>
        <p:nvSpPr>
          <p:cNvPr id="10" name="anim-g2-846"/>
          <p:cNvSpPr/>
          <p:nvPr/>
        </p:nvSpPr>
        <p:spPr>
          <a:xfrm>
            <a:off x="10573207" y="3694176"/>
            <a:ext cx="566928" cy="566928"/>
          </a:xfrm>
          <a:prstGeom prst="ellipse">
            <a:avLst/>
          </a:prstGeom>
          <a:solidFill>
            <a:srgbClr val="D9AE4B"/>
          </a:solidFill>
          <a:ln/>
        </p:spPr>
      </p:sp>
      <p:sp>
        <p:nvSpPr>
          <p:cNvPr id="11" name="anim-g2-847"/>
          <p:cNvSpPr/>
          <p:nvPr/>
        </p:nvSpPr>
        <p:spPr>
          <a:xfrm>
            <a:off x="10573207" y="3694176"/>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848"/>
          <p:cNvSpPr/>
          <p:nvPr/>
        </p:nvSpPr>
        <p:spPr>
          <a:xfrm>
            <a:off x="1097280" y="3328416"/>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تختبر المشروع بخطة اختبار حقيقية</a:t>
            </a:r>
            <a:endParaRPr lang="ar-SA" sz="2400" dirty="0"/>
          </a:p>
        </p:txBody>
      </p:sp>
      <p:sp>
        <p:nvSpPr>
          <p:cNvPr id="13" name="anim-g3-849"/>
          <p:cNvSpPr/>
          <p:nvPr/>
        </p:nvSpPr>
        <p:spPr>
          <a:xfrm>
            <a:off x="822960" y="4736592"/>
            <a:ext cx="10545775" cy="1298448"/>
          </a:xfrm>
          <a:prstGeom prst="roundRect">
            <a:avLst>
              <a:gd name="adj" fmla="val 11268"/>
            </a:avLst>
          </a:prstGeom>
          <a:solidFill>
            <a:srgbClr val="FFFFFF"/>
          </a:solidFill>
          <a:ln w="12700">
            <a:solidFill>
              <a:srgbClr val="E4DCC8"/>
            </a:solidFill>
            <a:prstDash val="solid"/>
          </a:ln>
        </p:spPr>
      </p:sp>
      <p:sp>
        <p:nvSpPr>
          <p:cNvPr id="14" name="anim-g3-850"/>
          <p:cNvSpPr/>
          <p:nvPr/>
        </p:nvSpPr>
        <p:spPr>
          <a:xfrm>
            <a:off x="10573207" y="5102352"/>
            <a:ext cx="566928" cy="566928"/>
          </a:xfrm>
          <a:prstGeom prst="ellipse">
            <a:avLst/>
          </a:prstGeom>
          <a:solidFill>
            <a:srgbClr val="D9AE4B"/>
          </a:solidFill>
          <a:ln/>
        </p:spPr>
      </p:sp>
      <p:sp>
        <p:nvSpPr>
          <p:cNvPr id="15" name="anim-g3-851"/>
          <p:cNvSpPr/>
          <p:nvPr/>
        </p:nvSpPr>
        <p:spPr>
          <a:xfrm>
            <a:off x="10573207" y="5102352"/>
            <a:ext cx="566928" cy="566928"/>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852"/>
          <p:cNvSpPr/>
          <p:nvPr/>
        </p:nvSpPr>
        <p:spPr>
          <a:xfrm>
            <a:off x="1097280" y="4736592"/>
            <a:ext cx="9247327" cy="1298448"/>
          </a:xfrm>
          <a:prstGeom prst="rect">
            <a:avLst/>
          </a:prstGeom>
          <a:noFill/>
          <a:ln/>
        </p:spPr>
        <p:txBody>
          <a:bodyPr wrap="square" lIns="0" tIns="0" rIns="0" bIns="0" rtlCol="0" anchor="ctr">
            <a:normAutofit/>
          </a:bodyPr>
          <a:lstStyle/>
          <a:p>
            <a:pPr algn="r" indent="0" marL="0">
              <a:buNone/>
            </a:pPr>
            <a:r>
              <a:rPr lang="ar-SA" altLang="en-US" sz="2400" b="1" dirty="0">
                <a:solidFill>
                  <a:srgbClr val="101B45"/>
                </a:solidFill>
                <a:latin typeface="Cairo Black" pitchFamily="34" charset="0"/>
                <a:ea typeface="Cairo Black" pitchFamily="34" charset="-122"/>
                <a:cs typeface="Cairo Black" pitchFamily="34" charset="-120"/>
              </a:rPr>
              <a:t>تسجل النتائج الفعلية لا التقديرية</a:t>
            </a:r>
            <a:endParaRPr lang="ar-SA" sz="24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الجولة الكاملة  ·  ١١٧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pic>
        <p:nvPicPr>
          <p:cNvPr id="2" name="Image 0" descr="C:\Users\user\projects\younes-training\heritage\.pptx-cache\s11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pic>
        <p:nvPicPr>
          <p:cNvPr id="2" name="Image 0" descr="C:\Users\user\projects\younes-training\heritage\.pptx-cache\s11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442655" y="457200"/>
            <a:ext cx="2926080" cy="457200"/>
          </a:xfrm>
          <a:prstGeom prst="roundRect">
            <a:avLst>
              <a:gd name="adj" fmla="val 50000"/>
            </a:avLst>
          </a:prstGeom>
          <a:solidFill>
            <a:srgbClr val="F6EBCF"/>
          </a:solidFill>
          <a:ln/>
        </p:spPr>
      </p:sp>
      <p:sp>
        <p:nvSpPr>
          <p:cNvPr id="3" name="Text 1"/>
          <p:cNvSpPr/>
          <p:nvPr/>
        </p:nvSpPr>
        <p:spPr>
          <a:xfrm>
            <a:off x="8442655" y="457200"/>
            <a:ext cx="292608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خطة الاختبار</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200" dirty="0">
                <a:solidFill>
                  <a:srgbClr val="101B45"/>
                </a:solidFill>
                <a:latin typeface="Cairo Black" pitchFamily="34" charset="0"/>
                <a:ea typeface="Cairo Black" pitchFamily="34" charset="-122"/>
                <a:cs typeface="Cairo Black" pitchFamily="34" charset="-120"/>
              </a:rPr>
              <a:t>النتائج الفعلية فقط: لا أرقام تقديرية</a:t>
            </a:r>
            <a:endParaRPr lang="ar-SA" sz="3200" dirty="0"/>
          </a:p>
        </p:txBody>
      </p:sp>
      <p:sp>
        <p:nvSpPr>
          <p:cNvPr id="5" name="Shape 3"/>
          <p:cNvSpPr/>
          <p:nvPr/>
        </p:nvSpPr>
        <p:spPr>
          <a:xfrm>
            <a:off x="7792928" y="1874520"/>
            <a:ext cx="3575807" cy="548640"/>
          </a:xfrm>
          <a:prstGeom prst="roundRect">
            <a:avLst>
              <a:gd name="adj" fmla="val 20000"/>
            </a:avLst>
          </a:prstGeom>
          <a:solidFill>
            <a:srgbClr val="101B45"/>
          </a:solidFill>
          <a:ln/>
        </p:spPr>
      </p:sp>
      <p:sp>
        <p:nvSpPr>
          <p:cNvPr id="6" name="Text 4"/>
          <p:cNvSpPr/>
          <p:nvPr/>
        </p:nvSpPr>
        <p:spPr>
          <a:xfrm>
            <a:off x="7792928" y="1874520"/>
            <a:ext cx="357580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الاختبار</a:t>
            </a:r>
            <a:endParaRPr lang="ar-SA" sz="1900" dirty="0"/>
          </a:p>
        </p:txBody>
      </p:sp>
      <p:sp>
        <p:nvSpPr>
          <p:cNvPr id="7" name="Shape 5"/>
          <p:cNvSpPr/>
          <p:nvPr/>
        </p:nvSpPr>
        <p:spPr>
          <a:xfrm>
            <a:off x="5895297" y="1874520"/>
            <a:ext cx="1787903" cy="548640"/>
          </a:xfrm>
          <a:prstGeom prst="roundRect">
            <a:avLst>
              <a:gd name="adj" fmla="val 20000"/>
            </a:avLst>
          </a:prstGeom>
          <a:solidFill>
            <a:srgbClr val="101B45"/>
          </a:solidFill>
          <a:ln/>
        </p:spPr>
      </p:sp>
      <p:sp>
        <p:nvSpPr>
          <p:cNvPr id="8" name="Text 6"/>
          <p:cNvSpPr/>
          <p:nvPr/>
        </p:nvSpPr>
        <p:spPr>
          <a:xfrm>
            <a:off x="5895297" y="1874520"/>
            <a:ext cx="178790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المحاولات</a:t>
            </a:r>
            <a:endParaRPr lang="ar-SA" sz="1900" dirty="0"/>
          </a:p>
        </p:txBody>
      </p:sp>
      <p:sp>
        <p:nvSpPr>
          <p:cNvPr id="9" name="Shape 7"/>
          <p:cNvSpPr/>
          <p:nvPr/>
        </p:nvSpPr>
        <p:spPr>
          <a:xfrm>
            <a:off x="3997665" y="1874520"/>
            <a:ext cx="1787903" cy="548640"/>
          </a:xfrm>
          <a:prstGeom prst="roundRect">
            <a:avLst>
              <a:gd name="adj" fmla="val 20000"/>
            </a:avLst>
          </a:prstGeom>
          <a:solidFill>
            <a:srgbClr val="101B45"/>
          </a:solidFill>
          <a:ln/>
        </p:spPr>
      </p:sp>
      <p:sp>
        <p:nvSpPr>
          <p:cNvPr id="10" name="Text 8"/>
          <p:cNvSpPr/>
          <p:nvPr/>
        </p:nvSpPr>
        <p:spPr>
          <a:xfrm>
            <a:off x="3997665" y="1874520"/>
            <a:ext cx="1787903"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النجاح</a:t>
            </a:r>
            <a:endParaRPr lang="ar-SA" sz="1900" dirty="0"/>
          </a:p>
        </p:txBody>
      </p:sp>
      <p:sp>
        <p:nvSpPr>
          <p:cNvPr id="11" name="Shape 9"/>
          <p:cNvSpPr/>
          <p:nvPr/>
        </p:nvSpPr>
        <p:spPr>
          <a:xfrm>
            <a:off x="822960" y="1874520"/>
            <a:ext cx="3064977" cy="548640"/>
          </a:xfrm>
          <a:prstGeom prst="roundRect">
            <a:avLst>
              <a:gd name="adj" fmla="val 20000"/>
            </a:avLst>
          </a:prstGeom>
          <a:solidFill>
            <a:srgbClr val="101B45"/>
          </a:solidFill>
          <a:ln/>
        </p:spPr>
      </p:sp>
      <p:sp>
        <p:nvSpPr>
          <p:cNvPr id="12" name="Text 10"/>
          <p:cNvSpPr/>
          <p:nvPr/>
        </p:nvSpPr>
        <p:spPr>
          <a:xfrm>
            <a:off x="822960" y="1874520"/>
            <a:ext cx="3064977"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الملاحظة</a:t>
            </a:r>
            <a:endParaRPr lang="ar-SA" sz="1900" dirty="0"/>
          </a:p>
        </p:txBody>
      </p:sp>
      <p:sp>
        <p:nvSpPr>
          <p:cNvPr id="13" name="anim-g1-853"/>
          <p:cNvSpPr/>
          <p:nvPr/>
        </p:nvSpPr>
        <p:spPr>
          <a:xfrm>
            <a:off x="7792928" y="2514600"/>
            <a:ext cx="3575807" cy="616306"/>
          </a:xfrm>
          <a:prstGeom prst="roundRect">
            <a:avLst>
              <a:gd name="adj" fmla="val 17804"/>
            </a:avLst>
          </a:prstGeom>
          <a:solidFill>
            <a:srgbClr val="FBF3DF"/>
          </a:solidFill>
          <a:ln w="12700">
            <a:solidFill>
              <a:srgbClr val="EFDDAF"/>
            </a:solidFill>
            <a:prstDash val="solid"/>
          </a:ln>
        </p:spPr>
      </p:sp>
      <p:sp>
        <p:nvSpPr>
          <p:cNvPr id="14" name="anim-g1-854"/>
          <p:cNvSpPr/>
          <p:nvPr/>
        </p:nvSpPr>
        <p:spPr>
          <a:xfrm>
            <a:off x="7930088" y="2514600"/>
            <a:ext cx="330148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توقف المنصة عند كل محطة (×٤)</a:t>
            </a:r>
            <a:endParaRPr lang="ar-SA" sz="2100" dirty="0"/>
          </a:p>
        </p:txBody>
      </p:sp>
      <p:sp>
        <p:nvSpPr>
          <p:cNvPr id="15" name="anim-g1-855"/>
          <p:cNvSpPr/>
          <p:nvPr/>
        </p:nvSpPr>
        <p:spPr>
          <a:xfrm>
            <a:off x="5895297" y="2514600"/>
            <a:ext cx="1787903" cy="616306"/>
          </a:xfrm>
          <a:prstGeom prst="roundRect">
            <a:avLst>
              <a:gd name="adj" fmla="val 17804"/>
            </a:avLst>
          </a:prstGeom>
          <a:solidFill>
            <a:srgbClr val="FFFFFF"/>
          </a:solidFill>
          <a:ln w="12700">
            <a:solidFill>
              <a:srgbClr val="E4DCC8"/>
            </a:solidFill>
            <a:prstDash val="solid"/>
          </a:ln>
        </p:spPr>
      </p:sp>
      <p:sp>
        <p:nvSpPr>
          <p:cNvPr id="16" name="anim-g1-856"/>
          <p:cNvSpPr/>
          <p:nvPr/>
        </p:nvSpPr>
        <p:spPr>
          <a:xfrm>
            <a:off x="6032457" y="2514600"/>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١٠</a:t>
            </a:r>
            <a:endParaRPr lang="ar-SA" sz="2100" dirty="0"/>
          </a:p>
        </p:txBody>
      </p:sp>
      <p:sp>
        <p:nvSpPr>
          <p:cNvPr id="17" name="anim-g1-857"/>
          <p:cNvSpPr/>
          <p:nvPr/>
        </p:nvSpPr>
        <p:spPr>
          <a:xfrm>
            <a:off x="3997665" y="2514600"/>
            <a:ext cx="1787903" cy="616306"/>
          </a:xfrm>
          <a:prstGeom prst="roundRect">
            <a:avLst>
              <a:gd name="adj" fmla="val 17804"/>
            </a:avLst>
          </a:prstGeom>
          <a:solidFill>
            <a:srgbClr val="FFFFFF"/>
          </a:solidFill>
          <a:ln w="12700">
            <a:solidFill>
              <a:srgbClr val="E4DCC8"/>
            </a:solidFill>
            <a:prstDash val="solid"/>
          </a:ln>
        </p:spPr>
      </p:sp>
      <p:sp>
        <p:nvSpPr>
          <p:cNvPr id="18" name="anim-g1-858"/>
          <p:cNvSpPr/>
          <p:nvPr/>
        </p:nvSpPr>
        <p:spPr>
          <a:xfrm>
            <a:off x="4134825" y="2514600"/>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 ١٠</a:t>
            </a:r>
            <a:endParaRPr lang="ar-SA" sz="2100" dirty="0"/>
          </a:p>
        </p:txBody>
      </p:sp>
      <p:sp>
        <p:nvSpPr>
          <p:cNvPr id="19" name="anim-g1-859"/>
          <p:cNvSpPr/>
          <p:nvPr/>
        </p:nvSpPr>
        <p:spPr>
          <a:xfrm>
            <a:off x="822960" y="2514600"/>
            <a:ext cx="3064977" cy="616306"/>
          </a:xfrm>
          <a:prstGeom prst="roundRect">
            <a:avLst>
              <a:gd name="adj" fmla="val 17804"/>
            </a:avLst>
          </a:prstGeom>
          <a:solidFill>
            <a:srgbClr val="E6F4EC"/>
          </a:solidFill>
          <a:ln w="12700">
            <a:solidFill>
              <a:srgbClr val="CDE9D9"/>
            </a:solidFill>
            <a:prstDash val="solid"/>
          </a:ln>
        </p:spPr>
      </p:sp>
      <p:sp>
        <p:nvSpPr>
          <p:cNvPr id="20" name="anim-g1-860"/>
          <p:cNvSpPr/>
          <p:nvPr/>
        </p:nvSpPr>
        <p:spPr>
          <a:xfrm>
            <a:off x="960120" y="2514600"/>
            <a:ext cx="279065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زاوية الخطأ</a:t>
            </a:r>
            <a:endParaRPr lang="ar-SA" sz="2100" dirty="0"/>
          </a:p>
        </p:txBody>
      </p:sp>
      <p:sp>
        <p:nvSpPr>
          <p:cNvPr id="21" name="anim-g2-861"/>
          <p:cNvSpPr/>
          <p:nvPr/>
        </p:nvSpPr>
        <p:spPr>
          <a:xfrm>
            <a:off x="7792928" y="3240634"/>
            <a:ext cx="3575807" cy="616306"/>
          </a:xfrm>
          <a:prstGeom prst="roundRect">
            <a:avLst>
              <a:gd name="adj" fmla="val 17804"/>
            </a:avLst>
          </a:prstGeom>
          <a:solidFill>
            <a:srgbClr val="FBF3DF"/>
          </a:solidFill>
          <a:ln w="12700">
            <a:solidFill>
              <a:srgbClr val="EFDDAF"/>
            </a:solidFill>
            <a:prstDash val="solid"/>
          </a:ln>
        </p:spPr>
      </p:sp>
      <p:sp>
        <p:nvSpPr>
          <p:cNvPr id="22" name="anim-g2-862"/>
          <p:cNvSpPr/>
          <p:nvPr/>
        </p:nvSpPr>
        <p:spPr>
          <a:xfrm>
            <a:off x="7930088" y="3240634"/>
            <a:ext cx="330148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استشعار اقتراب الزائر</a:t>
            </a:r>
            <a:endParaRPr lang="ar-SA" sz="2100" dirty="0"/>
          </a:p>
        </p:txBody>
      </p:sp>
      <p:sp>
        <p:nvSpPr>
          <p:cNvPr id="23" name="anim-g2-863"/>
          <p:cNvSpPr/>
          <p:nvPr/>
        </p:nvSpPr>
        <p:spPr>
          <a:xfrm>
            <a:off x="5895297" y="3240634"/>
            <a:ext cx="1787903" cy="616306"/>
          </a:xfrm>
          <a:prstGeom prst="roundRect">
            <a:avLst>
              <a:gd name="adj" fmla="val 17804"/>
            </a:avLst>
          </a:prstGeom>
          <a:solidFill>
            <a:srgbClr val="FFFFFF"/>
          </a:solidFill>
          <a:ln w="12700">
            <a:solidFill>
              <a:srgbClr val="E4DCC8"/>
            </a:solidFill>
            <a:prstDash val="solid"/>
          </a:ln>
        </p:spPr>
      </p:sp>
      <p:sp>
        <p:nvSpPr>
          <p:cNvPr id="24" name="anim-g2-864"/>
          <p:cNvSpPr/>
          <p:nvPr/>
        </p:nvSpPr>
        <p:spPr>
          <a:xfrm>
            <a:off x="6032457" y="3240634"/>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١٠</a:t>
            </a:r>
            <a:endParaRPr lang="ar-SA" sz="2100" dirty="0"/>
          </a:p>
        </p:txBody>
      </p:sp>
      <p:sp>
        <p:nvSpPr>
          <p:cNvPr id="25" name="anim-g2-865"/>
          <p:cNvSpPr/>
          <p:nvPr/>
        </p:nvSpPr>
        <p:spPr>
          <a:xfrm>
            <a:off x="3997665" y="3240634"/>
            <a:ext cx="1787903" cy="616306"/>
          </a:xfrm>
          <a:prstGeom prst="roundRect">
            <a:avLst>
              <a:gd name="adj" fmla="val 17804"/>
            </a:avLst>
          </a:prstGeom>
          <a:solidFill>
            <a:srgbClr val="FFFFFF"/>
          </a:solidFill>
          <a:ln w="12700">
            <a:solidFill>
              <a:srgbClr val="E4DCC8"/>
            </a:solidFill>
            <a:prstDash val="solid"/>
          </a:ln>
        </p:spPr>
      </p:sp>
      <p:sp>
        <p:nvSpPr>
          <p:cNvPr id="26" name="anim-g2-866"/>
          <p:cNvSpPr/>
          <p:nvPr/>
        </p:nvSpPr>
        <p:spPr>
          <a:xfrm>
            <a:off x="4134825" y="3240634"/>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 ١٠</a:t>
            </a:r>
            <a:endParaRPr lang="ar-SA" sz="2100" dirty="0"/>
          </a:p>
        </p:txBody>
      </p:sp>
      <p:sp>
        <p:nvSpPr>
          <p:cNvPr id="27" name="anim-g2-867"/>
          <p:cNvSpPr/>
          <p:nvPr/>
        </p:nvSpPr>
        <p:spPr>
          <a:xfrm>
            <a:off x="822960" y="3240634"/>
            <a:ext cx="3064977" cy="616306"/>
          </a:xfrm>
          <a:prstGeom prst="roundRect">
            <a:avLst>
              <a:gd name="adj" fmla="val 17804"/>
            </a:avLst>
          </a:prstGeom>
          <a:solidFill>
            <a:srgbClr val="E6F4EC"/>
          </a:solidFill>
          <a:ln w="12700">
            <a:solidFill>
              <a:srgbClr val="CDE9D9"/>
            </a:solidFill>
            <a:prstDash val="solid"/>
          </a:ln>
        </p:spPr>
      </p:sp>
      <p:sp>
        <p:nvSpPr>
          <p:cNvPr id="28" name="anim-g2-868"/>
          <p:cNvSpPr/>
          <p:nvPr/>
        </p:nvSpPr>
        <p:spPr>
          <a:xfrm>
            <a:off x="960120" y="3240634"/>
            <a:ext cx="279065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المسافة المعتمدة</a:t>
            </a:r>
            <a:endParaRPr lang="ar-SA" sz="2100" dirty="0"/>
          </a:p>
        </p:txBody>
      </p:sp>
      <p:sp>
        <p:nvSpPr>
          <p:cNvPr id="29" name="anim-g3-869"/>
          <p:cNvSpPr/>
          <p:nvPr/>
        </p:nvSpPr>
        <p:spPr>
          <a:xfrm>
            <a:off x="7792928" y="3966667"/>
            <a:ext cx="3575807" cy="616306"/>
          </a:xfrm>
          <a:prstGeom prst="roundRect">
            <a:avLst>
              <a:gd name="adj" fmla="val 17804"/>
            </a:avLst>
          </a:prstGeom>
          <a:solidFill>
            <a:srgbClr val="FBF3DF"/>
          </a:solidFill>
          <a:ln w="12700">
            <a:solidFill>
              <a:srgbClr val="EFDDAF"/>
            </a:solidFill>
            <a:prstDash val="solid"/>
          </a:ln>
        </p:spPr>
      </p:sp>
      <p:sp>
        <p:nvSpPr>
          <p:cNvPr id="30" name="anim-g3-870"/>
          <p:cNvSpPr/>
          <p:nvPr/>
        </p:nvSpPr>
        <p:spPr>
          <a:xfrm>
            <a:off x="7930088" y="3966667"/>
            <a:ext cx="330148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إخراج عملة الذكرى</a:t>
            </a:r>
            <a:endParaRPr lang="ar-SA" sz="2100" dirty="0"/>
          </a:p>
        </p:txBody>
      </p:sp>
      <p:sp>
        <p:nvSpPr>
          <p:cNvPr id="31" name="anim-g3-871"/>
          <p:cNvSpPr/>
          <p:nvPr/>
        </p:nvSpPr>
        <p:spPr>
          <a:xfrm>
            <a:off x="5895297" y="3966667"/>
            <a:ext cx="1787903" cy="616306"/>
          </a:xfrm>
          <a:prstGeom prst="roundRect">
            <a:avLst>
              <a:gd name="adj" fmla="val 17804"/>
            </a:avLst>
          </a:prstGeom>
          <a:solidFill>
            <a:srgbClr val="FFFFFF"/>
          </a:solidFill>
          <a:ln w="12700">
            <a:solidFill>
              <a:srgbClr val="E4DCC8"/>
            </a:solidFill>
            <a:prstDash val="solid"/>
          </a:ln>
        </p:spPr>
      </p:sp>
      <p:sp>
        <p:nvSpPr>
          <p:cNvPr id="32" name="anim-g3-872"/>
          <p:cNvSpPr/>
          <p:nvPr/>
        </p:nvSpPr>
        <p:spPr>
          <a:xfrm>
            <a:off x="6032457" y="3966667"/>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١٠</a:t>
            </a:r>
            <a:endParaRPr lang="ar-SA" sz="2100" dirty="0"/>
          </a:p>
        </p:txBody>
      </p:sp>
      <p:sp>
        <p:nvSpPr>
          <p:cNvPr id="33" name="anim-g3-873"/>
          <p:cNvSpPr/>
          <p:nvPr/>
        </p:nvSpPr>
        <p:spPr>
          <a:xfrm>
            <a:off x="3997665" y="3966667"/>
            <a:ext cx="1787903" cy="616306"/>
          </a:xfrm>
          <a:prstGeom prst="roundRect">
            <a:avLst>
              <a:gd name="adj" fmla="val 17804"/>
            </a:avLst>
          </a:prstGeom>
          <a:solidFill>
            <a:srgbClr val="FFFFFF"/>
          </a:solidFill>
          <a:ln w="12700">
            <a:solidFill>
              <a:srgbClr val="E4DCC8"/>
            </a:solidFill>
            <a:prstDash val="solid"/>
          </a:ln>
        </p:spPr>
      </p:sp>
      <p:sp>
        <p:nvSpPr>
          <p:cNvPr id="34" name="anim-g3-874"/>
          <p:cNvSpPr/>
          <p:nvPr/>
        </p:nvSpPr>
        <p:spPr>
          <a:xfrm>
            <a:off x="4134825" y="3966667"/>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 ١٠</a:t>
            </a:r>
            <a:endParaRPr lang="ar-SA" sz="2100" dirty="0"/>
          </a:p>
        </p:txBody>
      </p:sp>
      <p:sp>
        <p:nvSpPr>
          <p:cNvPr id="35" name="anim-g3-875"/>
          <p:cNvSpPr/>
          <p:nvPr/>
        </p:nvSpPr>
        <p:spPr>
          <a:xfrm>
            <a:off x="822960" y="3966667"/>
            <a:ext cx="3064977" cy="616306"/>
          </a:xfrm>
          <a:prstGeom prst="roundRect">
            <a:avLst>
              <a:gd name="adj" fmla="val 17804"/>
            </a:avLst>
          </a:prstGeom>
          <a:solidFill>
            <a:srgbClr val="E6F4EC"/>
          </a:solidFill>
          <a:ln w="12700">
            <a:solidFill>
              <a:srgbClr val="CDE9D9"/>
            </a:solidFill>
            <a:prstDash val="solid"/>
          </a:ln>
        </p:spPr>
      </p:sp>
      <p:sp>
        <p:nvSpPr>
          <p:cNvPr id="36" name="anim-g3-876"/>
          <p:cNvSpPr/>
          <p:nvPr/>
        </p:nvSpPr>
        <p:spPr>
          <a:xfrm>
            <a:off x="960120" y="3966667"/>
            <a:ext cx="279065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انحشار أم خروج سليم</a:t>
            </a:r>
            <a:endParaRPr lang="ar-SA" sz="2100" dirty="0"/>
          </a:p>
        </p:txBody>
      </p:sp>
      <p:sp>
        <p:nvSpPr>
          <p:cNvPr id="37" name="anim-g4-877"/>
          <p:cNvSpPr/>
          <p:nvPr/>
        </p:nvSpPr>
        <p:spPr>
          <a:xfrm>
            <a:off x="7792928" y="4692701"/>
            <a:ext cx="3575807" cy="616306"/>
          </a:xfrm>
          <a:prstGeom prst="roundRect">
            <a:avLst>
              <a:gd name="adj" fmla="val 17804"/>
            </a:avLst>
          </a:prstGeom>
          <a:solidFill>
            <a:srgbClr val="FBF3DF"/>
          </a:solidFill>
          <a:ln w="12700">
            <a:solidFill>
              <a:srgbClr val="EFDDAF"/>
            </a:solidFill>
            <a:prstDash val="solid"/>
          </a:ln>
        </p:spPr>
      </p:sp>
      <p:sp>
        <p:nvSpPr>
          <p:cNvPr id="38" name="anim-g4-878"/>
          <p:cNvSpPr/>
          <p:nvPr/>
        </p:nvSpPr>
        <p:spPr>
          <a:xfrm>
            <a:off x="7930088" y="4692701"/>
            <a:ext cx="330148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الأزرار والصوت والليدان</a:t>
            </a:r>
            <a:endParaRPr lang="ar-SA" sz="2100" dirty="0"/>
          </a:p>
        </p:txBody>
      </p:sp>
      <p:sp>
        <p:nvSpPr>
          <p:cNvPr id="39" name="anim-g4-879"/>
          <p:cNvSpPr/>
          <p:nvPr/>
        </p:nvSpPr>
        <p:spPr>
          <a:xfrm>
            <a:off x="5895297" y="4692701"/>
            <a:ext cx="1787903" cy="616306"/>
          </a:xfrm>
          <a:prstGeom prst="roundRect">
            <a:avLst>
              <a:gd name="adj" fmla="val 17804"/>
            </a:avLst>
          </a:prstGeom>
          <a:solidFill>
            <a:srgbClr val="FFFFFF"/>
          </a:solidFill>
          <a:ln w="12700">
            <a:solidFill>
              <a:srgbClr val="E4DCC8"/>
            </a:solidFill>
            <a:prstDash val="solid"/>
          </a:ln>
        </p:spPr>
      </p:sp>
      <p:sp>
        <p:nvSpPr>
          <p:cNvPr id="40" name="anim-g4-880"/>
          <p:cNvSpPr/>
          <p:nvPr/>
        </p:nvSpPr>
        <p:spPr>
          <a:xfrm>
            <a:off x="6032457" y="4692701"/>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١٠</a:t>
            </a:r>
            <a:endParaRPr lang="ar-SA" sz="2100" dirty="0"/>
          </a:p>
        </p:txBody>
      </p:sp>
      <p:sp>
        <p:nvSpPr>
          <p:cNvPr id="41" name="anim-g4-881"/>
          <p:cNvSpPr/>
          <p:nvPr/>
        </p:nvSpPr>
        <p:spPr>
          <a:xfrm>
            <a:off x="3997665" y="4692701"/>
            <a:ext cx="1787903" cy="616306"/>
          </a:xfrm>
          <a:prstGeom prst="roundRect">
            <a:avLst>
              <a:gd name="adj" fmla="val 17804"/>
            </a:avLst>
          </a:prstGeom>
          <a:solidFill>
            <a:srgbClr val="FFFFFF"/>
          </a:solidFill>
          <a:ln w="12700">
            <a:solidFill>
              <a:srgbClr val="E4DCC8"/>
            </a:solidFill>
            <a:prstDash val="solid"/>
          </a:ln>
        </p:spPr>
      </p:sp>
      <p:sp>
        <p:nvSpPr>
          <p:cNvPr id="42" name="anim-g4-882"/>
          <p:cNvSpPr/>
          <p:nvPr/>
        </p:nvSpPr>
        <p:spPr>
          <a:xfrm>
            <a:off x="4134825" y="4692701"/>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 ١٠</a:t>
            </a:r>
            <a:endParaRPr lang="ar-SA" sz="2100" dirty="0"/>
          </a:p>
        </p:txBody>
      </p:sp>
      <p:sp>
        <p:nvSpPr>
          <p:cNvPr id="43" name="anim-g4-883"/>
          <p:cNvSpPr/>
          <p:nvPr/>
        </p:nvSpPr>
        <p:spPr>
          <a:xfrm>
            <a:off x="822960" y="4692701"/>
            <a:ext cx="3064977" cy="616306"/>
          </a:xfrm>
          <a:prstGeom prst="roundRect">
            <a:avLst>
              <a:gd name="adj" fmla="val 17804"/>
            </a:avLst>
          </a:prstGeom>
          <a:solidFill>
            <a:srgbClr val="E6F4EC"/>
          </a:solidFill>
          <a:ln w="12700">
            <a:solidFill>
              <a:srgbClr val="CDE9D9"/>
            </a:solidFill>
            <a:prstDash val="solid"/>
          </a:ln>
        </p:spPr>
      </p:sp>
      <p:sp>
        <p:nvSpPr>
          <p:cNvPr id="44" name="anim-g4-884"/>
          <p:cNvSpPr/>
          <p:nvPr/>
        </p:nvSpPr>
        <p:spPr>
          <a:xfrm>
            <a:off x="960120" y="4692701"/>
            <a:ext cx="279065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ضغطات وهمية؟</a:t>
            </a:r>
            <a:endParaRPr lang="ar-SA" sz="2100" dirty="0"/>
          </a:p>
        </p:txBody>
      </p:sp>
      <p:sp>
        <p:nvSpPr>
          <p:cNvPr id="45" name="anim-g5-885"/>
          <p:cNvSpPr/>
          <p:nvPr/>
        </p:nvSpPr>
        <p:spPr>
          <a:xfrm>
            <a:off x="7792928" y="5418734"/>
            <a:ext cx="3575807" cy="616306"/>
          </a:xfrm>
          <a:prstGeom prst="roundRect">
            <a:avLst>
              <a:gd name="adj" fmla="val 17804"/>
            </a:avLst>
          </a:prstGeom>
          <a:solidFill>
            <a:srgbClr val="FBF3DF"/>
          </a:solidFill>
          <a:ln w="12700">
            <a:solidFill>
              <a:srgbClr val="EFDDAF"/>
            </a:solidFill>
            <a:prstDash val="solid"/>
          </a:ln>
        </p:spPr>
      </p:sp>
      <p:sp>
        <p:nvSpPr>
          <p:cNvPr id="46" name="anim-g5-886"/>
          <p:cNvSpPr/>
          <p:nvPr/>
        </p:nvSpPr>
        <p:spPr>
          <a:xfrm>
            <a:off x="7930088" y="5418734"/>
            <a:ext cx="330148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الجولة كاملة بالمسارين</a:t>
            </a:r>
            <a:endParaRPr lang="ar-SA" sz="2100" dirty="0"/>
          </a:p>
        </p:txBody>
      </p:sp>
      <p:sp>
        <p:nvSpPr>
          <p:cNvPr id="47" name="anim-g5-887"/>
          <p:cNvSpPr/>
          <p:nvPr/>
        </p:nvSpPr>
        <p:spPr>
          <a:xfrm>
            <a:off x="5895297" y="5418734"/>
            <a:ext cx="1787903" cy="616306"/>
          </a:xfrm>
          <a:prstGeom prst="roundRect">
            <a:avLst>
              <a:gd name="adj" fmla="val 17804"/>
            </a:avLst>
          </a:prstGeom>
          <a:solidFill>
            <a:srgbClr val="FFFFFF"/>
          </a:solidFill>
          <a:ln w="12700">
            <a:solidFill>
              <a:srgbClr val="E4DCC8"/>
            </a:solidFill>
            <a:prstDash val="solid"/>
          </a:ln>
        </p:spPr>
      </p:sp>
      <p:sp>
        <p:nvSpPr>
          <p:cNvPr id="48" name="anim-g5-888"/>
          <p:cNvSpPr/>
          <p:nvPr/>
        </p:nvSpPr>
        <p:spPr>
          <a:xfrm>
            <a:off x="6032457" y="5418734"/>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٥</a:t>
            </a:r>
            <a:endParaRPr lang="ar-SA" sz="2100" dirty="0"/>
          </a:p>
        </p:txBody>
      </p:sp>
      <p:sp>
        <p:nvSpPr>
          <p:cNvPr id="49" name="anim-g5-889"/>
          <p:cNvSpPr/>
          <p:nvPr/>
        </p:nvSpPr>
        <p:spPr>
          <a:xfrm>
            <a:off x="3997665" y="5418734"/>
            <a:ext cx="1787903" cy="616306"/>
          </a:xfrm>
          <a:prstGeom prst="roundRect">
            <a:avLst>
              <a:gd name="adj" fmla="val 17804"/>
            </a:avLst>
          </a:prstGeom>
          <a:solidFill>
            <a:srgbClr val="FFFFFF"/>
          </a:solidFill>
          <a:ln w="12700">
            <a:solidFill>
              <a:srgbClr val="E4DCC8"/>
            </a:solidFill>
            <a:prstDash val="solid"/>
          </a:ln>
        </p:spPr>
      </p:sp>
      <p:sp>
        <p:nvSpPr>
          <p:cNvPr id="50" name="anim-g5-890"/>
          <p:cNvSpPr/>
          <p:nvPr/>
        </p:nvSpPr>
        <p:spPr>
          <a:xfrm>
            <a:off x="4134825" y="5418734"/>
            <a:ext cx="1513583"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 / ٥</a:t>
            </a:r>
            <a:endParaRPr lang="ar-SA" sz="2100" dirty="0"/>
          </a:p>
        </p:txBody>
      </p:sp>
      <p:sp>
        <p:nvSpPr>
          <p:cNvPr id="51" name="anim-g5-891"/>
          <p:cNvSpPr/>
          <p:nvPr/>
        </p:nvSpPr>
        <p:spPr>
          <a:xfrm>
            <a:off x="822960" y="5418734"/>
            <a:ext cx="3064977" cy="616306"/>
          </a:xfrm>
          <a:prstGeom prst="roundRect">
            <a:avLst>
              <a:gd name="adj" fmla="val 17804"/>
            </a:avLst>
          </a:prstGeom>
          <a:solidFill>
            <a:srgbClr val="E6F4EC"/>
          </a:solidFill>
          <a:ln w="12700">
            <a:solidFill>
              <a:srgbClr val="CDE9D9"/>
            </a:solidFill>
            <a:prstDash val="solid"/>
          </a:ln>
        </p:spPr>
      </p:sp>
      <p:sp>
        <p:nvSpPr>
          <p:cNvPr id="52" name="anim-g5-892"/>
          <p:cNvSpPr/>
          <p:nvPr/>
        </p:nvSpPr>
        <p:spPr>
          <a:xfrm>
            <a:off x="960120" y="5418734"/>
            <a:ext cx="2790657" cy="616306"/>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زمن الجولة الفعلي</a:t>
            </a:r>
            <a:endParaRPr lang="ar-SA" sz="2100" dirty="0"/>
          </a:p>
        </p:txBody>
      </p:sp>
      <p:sp>
        <p:nvSpPr>
          <p:cNvPr id="53" name="Text 51"/>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54" name="Text 52"/>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الجولة الكاملة  ·  ١٢٠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4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4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400"/>
                                        <p:tgtEl>
                                          <p:spTgt spid="1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00"/>
                                        <p:tgtEl>
                                          <p:spTgt spid="1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00"/>
                                        <p:tgtEl>
                                          <p:spTgt spid="1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0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fade">
                                      <p:cBhvr>
                                        <p:cTn id="33" dur="4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4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400"/>
                                        <p:tgtEl>
                                          <p:spTgt spid="2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400"/>
                                        <p:tgtEl>
                                          <p:spTgt spid="2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400"/>
                                        <p:tgtEl>
                                          <p:spTgt spid="2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400"/>
                                        <p:tgtEl>
                                          <p:spTgt spid="2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400"/>
                                        <p:tgtEl>
                                          <p:spTgt spid="2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8"/>
                                        </p:tgtEl>
                                        <p:attrNameLst>
                                          <p:attrName>style.visibility</p:attrName>
                                        </p:attrNameLst>
                                      </p:cBhvr>
                                      <p:to>
                                        <p:strVal val="visible"/>
                                      </p:to>
                                    </p:set>
                                    <p:animEffect transition="in" filter="fade">
                                      <p:cBhvr>
                                        <p:cTn id="54" dur="400"/>
                                        <p:tgtEl>
                                          <p:spTgt spid="28"/>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400"/>
                                        <p:tgtEl>
                                          <p:spTgt spid="2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0"/>
                                        </p:tgtEl>
                                        <p:attrNameLst>
                                          <p:attrName>style.visibility</p:attrName>
                                        </p:attrNameLst>
                                      </p:cBhvr>
                                      <p:to>
                                        <p:strVal val="visible"/>
                                      </p:to>
                                    </p:set>
                                    <p:animEffect transition="in" filter="fade">
                                      <p:cBhvr>
                                        <p:cTn id="62" dur="400"/>
                                        <p:tgtEl>
                                          <p:spTgt spid="30"/>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4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400"/>
                                        <p:tgtEl>
                                          <p:spTgt spid="32"/>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400"/>
                                        <p:tgtEl>
                                          <p:spTgt spid="3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fade">
                                      <p:cBhvr>
                                        <p:cTn id="74" dur="400"/>
                                        <p:tgtEl>
                                          <p:spTgt spid="34"/>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5"/>
                                        </p:tgtEl>
                                        <p:attrNameLst>
                                          <p:attrName>style.visibility</p:attrName>
                                        </p:attrNameLst>
                                      </p:cBhvr>
                                      <p:to>
                                        <p:strVal val="visible"/>
                                      </p:to>
                                    </p:set>
                                    <p:animEffect transition="in" filter="fade">
                                      <p:cBhvr>
                                        <p:cTn id="77" dur="400"/>
                                        <p:tgtEl>
                                          <p:spTgt spid="3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400"/>
                                        <p:tgtEl>
                                          <p:spTgt spid="36"/>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400"/>
                                        <p:tgtEl>
                                          <p:spTgt spid="37"/>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400"/>
                                        <p:tgtEl>
                                          <p:spTgt spid="38"/>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400"/>
                                        <p:tgtEl>
                                          <p:spTgt spid="39"/>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400"/>
                                        <p:tgtEl>
                                          <p:spTgt spid="4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400"/>
                                        <p:tgtEl>
                                          <p:spTgt spid="41"/>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400"/>
                                        <p:tgtEl>
                                          <p:spTgt spid="42"/>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00"/>
                                        <p:tgtEl>
                                          <p:spTgt spid="43"/>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00"/>
                                        <p:tgtEl>
                                          <p:spTgt spid="44"/>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5"/>
                                        </p:tgtEl>
                                        <p:attrNameLst>
                                          <p:attrName>style.visibility</p:attrName>
                                        </p:attrNameLst>
                                      </p:cBhvr>
                                      <p:to>
                                        <p:strVal val="visible"/>
                                      </p:to>
                                    </p:set>
                                    <p:animEffect transition="in" filter="fade">
                                      <p:cBhvr>
                                        <p:cTn id="111" dur="400"/>
                                        <p:tgtEl>
                                          <p:spTgt spid="45"/>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Effect transition="in" filter="fade">
                                      <p:cBhvr>
                                        <p:cTn id="114" dur="400"/>
                                        <p:tgtEl>
                                          <p:spTgt spid="46"/>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7"/>
                                        </p:tgtEl>
                                        <p:attrNameLst>
                                          <p:attrName>style.visibility</p:attrName>
                                        </p:attrNameLst>
                                      </p:cBhvr>
                                      <p:to>
                                        <p:strVal val="visible"/>
                                      </p:to>
                                    </p:set>
                                    <p:animEffect transition="in" filter="fade">
                                      <p:cBhvr>
                                        <p:cTn id="117" dur="400"/>
                                        <p:tgtEl>
                                          <p:spTgt spid="47"/>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8"/>
                                        </p:tgtEl>
                                        <p:attrNameLst>
                                          <p:attrName>style.visibility</p:attrName>
                                        </p:attrNameLst>
                                      </p:cBhvr>
                                      <p:to>
                                        <p:strVal val="visible"/>
                                      </p:to>
                                    </p:set>
                                    <p:animEffect transition="in" filter="fade">
                                      <p:cBhvr>
                                        <p:cTn id="120" dur="400"/>
                                        <p:tgtEl>
                                          <p:spTgt spid="48"/>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9"/>
                                        </p:tgtEl>
                                        <p:attrNameLst>
                                          <p:attrName>style.visibility</p:attrName>
                                        </p:attrNameLst>
                                      </p:cBhvr>
                                      <p:to>
                                        <p:strVal val="visible"/>
                                      </p:to>
                                    </p:set>
                                    <p:animEffect transition="in" filter="fade">
                                      <p:cBhvr>
                                        <p:cTn id="123" dur="400"/>
                                        <p:tgtEl>
                                          <p:spTgt spid="49"/>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50"/>
                                        </p:tgtEl>
                                        <p:attrNameLst>
                                          <p:attrName>style.visibility</p:attrName>
                                        </p:attrNameLst>
                                      </p:cBhvr>
                                      <p:to>
                                        <p:strVal val="visible"/>
                                      </p:to>
                                    </p:set>
                                    <p:animEffect transition="in" filter="fade">
                                      <p:cBhvr>
                                        <p:cTn id="126" dur="400"/>
                                        <p:tgtEl>
                                          <p:spTgt spid="50"/>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1"/>
                                        </p:tgtEl>
                                        <p:attrNameLst>
                                          <p:attrName>style.visibility</p:attrName>
                                        </p:attrNameLst>
                                      </p:cBhvr>
                                      <p:to>
                                        <p:strVal val="visible"/>
                                      </p:to>
                                    </p:set>
                                    <p:animEffect transition="in" filter="fade">
                                      <p:cBhvr>
                                        <p:cTn id="129" dur="400"/>
                                        <p:tgtEl>
                                          <p:spTgt spid="51"/>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2"/>
                                        </p:tgtEl>
                                        <p:attrNameLst>
                                          <p:attrName>style.visibility</p:attrName>
                                        </p:attrNameLst>
                                      </p:cBhvr>
                                      <p:to>
                                        <p:strVal val="visible"/>
                                      </p:to>
                                    </p:set>
                                    <p:animEffect transition="in" filter="fade">
                                      <p:cBhvr>
                                        <p:cTn id="132"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name="Slide 1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857439" y="457200"/>
            <a:ext cx="3511296" cy="457200"/>
          </a:xfrm>
          <a:prstGeom prst="roundRect">
            <a:avLst>
              <a:gd name="adj" fmla="val 50000"/>
            </a:avLst>
          </a:prstGeom>
          <a:solidFill>
            <a:srgbClr val="F6EBCF"/>
          </a:solidFill>
          <a:ln/>
        </p:spPr>
      </p:sp>
      <p:sp>
        <p:nvSpPr>
          <p:cNvPr id="3" name="Text 1"/>
          <p:cNvSpPr/>
          <p:nvPr/>
        </p:nvSpPr>
        <p:spPr>
          <a:xfrm>
            <a:off x="7857439" y="457200"/>
            <a:ext cx="3511296"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الأثر وكيف نقيسه</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لا نكتب أثرًا قبل أن نقيسه</a:t>
            </a:r>
            <a:endParaRPr lang="ar-SA" sz="3800" dirty="0"/>
          </a:p>
        </p:txBody>
      </p:sp>
      <p:sp>
        <p:nvSpPr>
          <p:cNvPr id="5" name="anim-g1-893"/>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894"/>
          <p:cNvSpPr/>
          <p:nvPr/>
        </p:nvSpPr>
        <p:spPr>
          <a:xfrm>
            <a:off x="10527487" y="2267712"/>
            <a:ext cx="566928" cy="566928"/>
          </a:xfrm>
          <a:prstGeom prst="roundRect">
            <a:avLst>
              <a:gd name="adj" fmla="val 32258"/>
            </a:avLst>
          </a:prstGeom>
          <a:solidFill>
            <a:srgbClr val="F7E6BC"/>
          </a:solidFill>
          <a:ln/>
        </p:spPr>
      </p:sp>
      <p:sp>
        <p:nvSpPr>
          <p:cNvPr id="7" name="anim-g1-89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8" name="anim-g1-896"/>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إكمال الجولة</a:t>
            </a:r>
            <a:endParaRPr lang="ar-SA" sz="2200" dirty="0"/>
          </a:p>
        </p:txBody>
      </p:sp>
      <p:sp>
        <p:nvSpPr>
          <p:cNvPr id="9" name="anim-g1-897"/>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عدد الجولات المكتملة، أو ملاحظة فريق العرض</a:t>
            </a:r>
            <a:endParaRPr lang="ar-SA" sz="1900" dirty="0"/>
          </a:p>
        </p:txBody>
      </p:sp>
      <p:sp>
        <p:nvSpPr>
          <p:cNvPr id="10" name="anim-g2-898"/>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899"/>
          <p:cNvSpPr/>
          <p:nvPr/>
        </p:nvSpPr>
        <p:spPr>
          <a:xfrm>
            <a:off x="5117440" y="2267712"/>
            <a:ext cx="566928" cy="566928"/>
          </a:xfrm>
          <a:prstGeom prst="roundRect">
            <a:avLst>
              <a:gd name="adj" fmla="val 32258"/>
            </a:avLst>
          </a:prstGeom>
          <a:solidFill>
            <a:srgbClr val="F7E6BC"/>
          </a:solidFill>
          <a:ln/>
        </p:spPr>
      </p:sp>
      <p:sp>
        <p:nvSpPr>
          <p:cNvPr id="12" name="anim-g2-900"/>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3" name="anim-g2-901"/>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تذكّر المعلومة</a:t>
            </a:r>
            <a:endParaRPr lang="ar-SA" sz="2200" dirty="0"/>
          </a:p>
        </p:txBody>
      </p:sp>
      <p:sp>
        <p:nvSpPr>
          <p:cNvPr id="14" name="anim-g2-902"/>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سؤال قصير بعد الجولة، بموافقة المدرسة</a:t>
            </a:r>
            <a:endParaRPr lang="ar-SA" sz="1900" dirty="0"/>
          </a:p>
        </p:txBody>
      </p:sp>
      <p:sp>
        <p:nvSpPr>
          <p:cNvPr id="15" name="anim-g3-903"/>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04"/>
          <p:cNvSpPr/>
          <p:nvPr/>
        </p:nvSpPr>
        <p:spPr>
          <a:xfrm>
            <a:off x="10527487" y="4393692"/>
            <a:ext cx="566928" cy="566928"/>
          </a:xfrm>
          <a:prstGeom prst="roundRect">
            <a:avLst>
              <a:gd name="adj" fmla="val 32258"/>
            </a:avLst>
          </a:prstGeom>
          <a:solidFill>
            <a:srgbClr val="F7E6BC"/>
          </a:solidFill>
          <a:ln/>
        </p:spPr>
      </p:sp>
      <p:sp>
        <p:nvSpPr>
          <p:cNvPr id="17" name="anim-g3-905"/>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18" name="anim-g3-906"/>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جاذبية المحطات</a:t>
            </a:r>
            <a:endParaRPr lang="ar-SA" sz="2200" dirty="0"/>
          </a:p>
        </p:txBody>
      </p:sp>
      <p:sp>
        <p:nvSpPr>
          <p:cNvPr id="19" name="anim-g3-907"/>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أي محطة يختارها الأطفال أكثر؟</a:t>
            </a:r>
            <a:endParaRPr lang="ar-SA" sz="1900" dirty="0"/>
          </a:p>
        </p:txBody>
      </p:sp>
      <p:sp>
        <p:nvSpPr>
          <p:cNvPr id="20" name="anim-g4-908"/>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909"/>
          <p:cNvSpPr/>
          <p:nvPr/>
        </p:nvSpPr>
        <p:spPr>
          <a:xfrm>
            <a:off x="5117440" y="4393692"/>
            <a:ext cx="566928" cy="566928"/>
          </a:xfrm>
          <a:prstGeom prst="roundRect">
            <a:avLst>
              <a:gd name="adj" fmla="val 32258"/>
            </a:avLst>
          </a:prstGeom>
          <a:solidFill>
            <a:srgbClr val="F7E6BC"/>
          </a:solidFill>
          <a:ln/>
        </p:spPr>
      </p:sp>
      <p:sp>
        <p:nvSpPr>
          <p:cNvPr id="22" name="anim-g4-910"/>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a:t>
            </a:r>
            <a:endParaRPr lang="ar-SA" sz="2200" dirty="0"/>
          </a:p>
        </p:txBody>
      </p:sp>
      <p:sp>
        <p:nvSpPr>
          <p:cNvPr id="23" name="anim-g4-911"/>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وضوح التفاعل</a:t>
            </a:r>
            <a:endParaRPr lang="ar-SA" sz="2200" dirty="0"/>
          </a:p>
        </p:txBody>
      </p:sp>
      <p:sp>
        <p:nvSpPr>
          <p:cNvPr id="24" name="anim-g4-912"/>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ملاحظات الأطفال والمعلمين أو استبيان مبسط</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الجولة الكاملة  ·  ١٢١</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name="Slide 1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خلاصة المحور</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يختار، ويرى، ويسمع، ويجيب، ثم يحمل عملة مرتبطة بما تعلّمه: هذه هي «تراث نعيشه…</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وذكرى نحملها»</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الجولة الكاملة  ·  ١٢٢</a:t>
            </a:r>
            <a:endParaRPr lang="ar-SA" sz="12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 y="2103120"/>
            <a:ext cx="2651760" cy="2651760"/>
          </a:xfrm>
          <a:prstGeom prst="ellipse">
            <a:avLst/>
          </a:prstGeom>
          <a:solidFill>
            <a:srgbClr val="D9AE4B">
              <a:alpha val="12000"/>
            </a:srgbClr>
          </a:solidFill>
          <a:ln w="63500">
            <a:solidFill>
              <a:srgbClr val="D9AE4B">
                <a:alpha val="60000"/>
              </a:srgbClr>
            </a:solidFill>
            <a:prstDash val="solid"/>
          </a:ln>
        </p:spPr>
      </p:sp>
      <p:sp>
        <p:nvSpPr>
          <p:cNvPr id="3" name="Text 1"/>
          <p:cNvSpPr/>
          <p:nvPr/>
        </p:nvSpPr>
        <p:spPr>
          <a:xfrm>
            <a:off x="1097280" y="2103120"/>
            <a:ext cx="2651760" cy="2651760"/>
          </a:xfrm>
          <a:prstGeom prst="rect">
            <a:avLst/>
          </a:prstGeom>
          <a:noFill/>
          <a:ln/>
        </p:spPr>
        <p:txBody>
          <a:bodyPr wrap="square" lIns="0" tIns="0" rIns="0" bIns="0" rtlCol="0" anchor="ctr">
            <a:normAutofit/>
          </a:bodyPr>
          <a:lstStyle/>
          <a:p>
            <a:pPr rtl="1" algn="ctr" indent="0" marL="0">
              <a:buNone/>
            </a:pPr>
            <a:r>
              <a:rPr lang="ar-SA" altLang="en-US" sz="12000" dirty="0">
                <a:solidFill>
                  <a:srgbClr val="F0CC7A"/>
                </a:solidFill>
                <a:latin typeface="Cairo Black" pitchFamily="34" charset="0"/>
                <a:ea typeface="Cairo Black" pitchFamily="34" charset="-122"/>
                <a:cs typeface="Cairo Black" pitchFamily="34" charset="-120"/>
              </a:rPr>
              <a:t>١٤</a:t>
            </a:r>
            <a:endParaRPr lang="ar-SA" sz="12000" dirty="0"/>
          </a:p>
        </p:txBody>
      </p:sp>
      <p:sp>
        <p:nvSpPr>
          <p:cNvPr id="4" name="Text 2"/>
          <p:cNvSpPr/>
          <p:nvPr/>
        </p:nvSpPr>
        <p:spPr>
          <a:xfrm>
            <a:off x="4206240" y="1828800"/>
            <a:ext cx="7162495" cy="457200"/>
          </a:xfrm>
          <a:prstGeom prst="rect">
            <a:avLst/>
          </a:prstGeom>
          <a:noFill/>
          <a:ln/>
        </p:spPr>
        <p:txBody>
          <a:bodyPr wrap="square" lIns="0" tIns="0" rIns="0" bIns="0" rtlCol="0" anchor="ctr">
            <a:normAutofit/>
          </a:bodyPr>
          <a:lstStyle/>
          <a:p>
            <a:pPr rtl="1" algn="r" indent="0" marL="0">
              <a:buNone/>
            </a:pPr>
            <a:r>
              <a:rPr lang="ar-SA" altLang="en-US" sz="2000" b="1" dirty="0">
                <a:solidFill>
                  <a:srgbClr val="D9AE4B"/>
                </a:solidFill>
                <a:latin typeface="Cairo" pitchFamily="34" charset="0"/>
                <a:ea typeface="Cairo" pitchFamily="34" charset="-122"/>
                <a:cs typeface="Cairo" pitchFamily="34" charset="-120"/>
              </a:rPr>
              <a:t>المحور ١٤</a:t>
            </a:r>
            <a:endParaRPr lang="ar-SA" sz="2000" dirty="0"/>
          </a:p>
        </p:txBody>
      </p:sp>
      <p:sp>
        <p:nvSpPr>
          <p:cNvPr id="5" name="Text 3"/>
          <p:cNvSpPr/>
          <p:nvPr/>
        </p:nvSpPr>
        <p:spPr>
          <a:xfrm>
            <a:off x="4206240" y="2286000"/>
            <a:ext cx="7162495" cy="1371600"/>
          </a:xfrm>
          <a:prstGeom prst="rect">
            <a:avLst/>
          </a:prstGeom>
          <a:noFill/>
          <a:ln/>
        </p:spPr>
        <p:txBody>
          <a:bodyPr wrap="square" lIns="0" tIns="0" rIns="0" bIns="0" rtlCol="0" anchor="ctr">
            <a:normAutofit/>
          </a:bodyPr>
          <a:lstStyle/>
          <a:p>
            <a:pPr rtl="1" algn="r" indent="0" marL="0">
              <a:buNone/>
            </a:pPr>
            <a:r>
              <a:rPr lang="ar-SA" altLang="en-US" sz="5600" dirty="0">
                <a:solidFill>
                  <a:srgbClr val="FFFFFF"/>
                </a:solidFill>
                <a:latin typeface="Cairo Black" pitchFamily="34" charset="0"/>
                <a:ea typeface="Cairo Black" pitchFamily="34" charset="-122"/>
                <a:cs typeface="Cairo Black" pitchFamily="34" charset="-120"/>
              </a:rPr>
              <a:t>🎪 البوث والعرض والتحكيم</a:t>
            </a:r>
            <a:endParaRPr lang="ar-SA" sz="5600" dirty="0"/>
          </a:p>
        </p:txBody>
      </p:sp>
      <p:sp>
        <p:nvSpPr>
          <p:cNvPr id="6" name="Text 4"/>
          <p:cNvSpPr/>
          <p:nvPr/>
        </p:nvSpPr>
        <p:spPr>
          <a:xfrm>
            <a:off x="4206240" y="3749040"/>
            <a:ext cx="7162495" cy="822960"/>
          </a:xfrm>
          <a:prstGeom prst="rect">
            <a:avLst/>
          </a:prstGeom>
          <a:noFill/>
          <a:ln/>
        </p:spPr>
        <p:txBody>
          <a:bodyPr wrap="square" lIns="0" tIns="0" rIns="0" bIns="0" rtlCol="0" anchor="ctr">
            <a:normAutofit/>
          </a:bodyPr>
          <a:lstStyle/>
          <a:p>
            <a:pPr rtl="1" algn="r" indent="0" marL="0">
              <a:buNone/>
            </a:pPr>
            <a:r>
              <a:rPr lang="ar-SA" altLang="en-US" sz="2200" b="1" dirty="0">
                <a:solidFill>
                  <a:srgbClr val="C9CFE6"/>
                </a:solidFill>
                <a:latin typeface="Cairo" pitchFamily="34" charset="0"/>
                <a:ea typeface="Cairo" pitchFamily="34" charset="-122"/>
                <a:cs typeface="Cairo" pitchFamily="34" charset="-120"/>
              </a:rPr>
              <a:t>المسرح الذي يحكي فيه الطالبان قصة مشروعهما</a:t>
            </a:r>
            <a:endParaRPr lang="ar-SA" sz="2200" dirty="0"/>
          </a:p>
        </p:txBody>
      </p:sp>
      <p:sp>
        <p:nvSpPr>
          <p:cNvPr id="7" name="Text 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8" name="Text 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البوث والختام  ·  ١٢٣</a:t>
            </a:r>
            <a:endParaRPr lang="ar-SA" sz="12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pic>
        <p:nvPicPr>
          <p:cNvPr id="2" name="Image 0" descr="C:\Users\user\projects\younes-training\heritage\.pptx-cache\s12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296351" y="457200"/>
            <a:ext cx="3072384" cy="457200"/>
          </a:xfrm>
          <a:prstGeom prst="roundRect">
            <a:avLst>
              <a:gd name="adj" fmla="val 50000"/>
            </a:avLst>
          </a:prstGeom>
          <a:solidFill>
            <a:srgbClr val="F6EBCF"/>
          </a:solidFill>
          <a:ln/>
        </p:spPr>
      </p:sp>
      <p:sp>
        <p:nvSpPr>
          <p:cNvPr id="3" name="Text 1"/>
          <p:cNvSpPr/>
          <p:nvPr/>
        </p:nvSpPr>
        <p:spPr>
          <a:xfrm>
            <a:off x="8296351" y="457200"/>
            <a:ext cx="3072384"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فيديو ٥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لقطة واحدة متصلة… بلا مونتاج</a:t>
            </a:r>
            <a:endParaRPr lang="ar-SA" sz="3800" dirty="0"/>
          </a:p>
        </p:txBody>
      </p:sp>
      <p:sp>
        <p:nvSpPr>
          <p:cNvPr id="5" name="anim-g1-913"/>
          <p:cNvSpPr/>
          <p:nvPr/>
        </p:nvSpPr>
        <p:spPr>
          <a:xfrm>
            <a:off x="6233008"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6" name="anim-g1-914"/>
          <p:cNvSpPr/>
          <p:nvPr/>
        </p:nvSpPr>
        <p:spPr>
          <a:xfrm>
            <a:off x="10527487" y="2267712"/>
            <a:ext cx="566928" cy="566928"/>
          </a:xfrm>
          <a:prstGeom prst="roundRect">
            <a:avLst>
              <a:gd name="adj" fmla="val 32258"/>
            </a:avLst>
          </a:prstGeom>
          <a:solidFill>
            <a:srgbClr val="F7E6BC"/>
          </a:solidFill>
          <a:ln/>
        </p:spPr>
      </p:sp>
      <p:sp>
        <p:nvSpPr>
          <p:cNvPr id="7" name="anim-g1-915"/>
          <p:cNvSpPr/>
          <p:nvPr/>
        </p:nvSpPr>
        <p:spPr>
          <a:xfrm>
            <a:off x="10527487"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1️⃣</a:t>
            </a:r>
            <a:endParaRPr lang="ar-SA" sz="2200" dirty="0"/>
          </a:p>
        </p:txBody>
      </p:sp>
      <p:sp>
        <p:nvSpPr>
          <p:cNvPr id="8" name="anim-g1-916"/>
          <p:cNvSpPr/>
          <p:nvPr/>
        </p:nvSpPr>
        <p:spPr>
          <a:xfrm>
            <a:off x="6507328"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المشكلة</a:t>
            </a:r>
            <a:endParaRPr lang="ar-SA" sz="2200" dirty="0"/>
          </a:p>
        </p:txBody>
      </p:sp>
      <p:sp>
        <p:nvSpPr>
          <p:cNvPr id="9" name="anim-g1-917"/>
          <p:cNvSpPr/>
          <p:nvPr/>
        </p:nvSpPr>
        <p:spPr>
          <a:xfrm>
            <a:off x="6507328"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التراث في الكتب ثابت، والطفل يحب ما يتحرك</a:t>
            </a:r>
            <a:endParaRPr lang="ar-SA" sz="1900" dirty="0"/>
          </a:p>
        </p:txBody>
      </p:sp>
      <p:sp>
        <p:nvSpPr>
          <p:cNvPr id="10" name="anim-g2-918"/>
          <p:cNvSpPr/>
          <p:nvPr/>
        </p:nvSpPr>
        <p:spPr>
          <a:xfrm>
            <a:off x="822960" y="201168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1" name="anim-g2-919"/>
          <p:cNvSpPr/>
          <p:nvPr/>
        </p:nvSpPr>
        <p:spPr>
          <a:xfrm>
            <a:off x="5117440" y="2267712"/>
            <a:ext cx="566928" cy="566928"/>
          </a:xfrm>
          <a:prstGeom prst="roundRect">
            <a:avLst>
              <a:gd name="adj" fmla="val 32258"/>
            </a:avLst>
          </a:prstGeom>
          <a:solidFill>
            <a:srgbClr val="F7E6BC"/>
          </a:solidFill>
          <a:ln/>
        </p:spPr>
      </p:sp>
      <p:sp>
        <p:nvSpPr>
          <p:cNvPr id="12" name="anim-g2-920"/>
          <p:cNvSpPr/>
          <p:nvPr/>
        </p:nvSpPr>
        <p:spPr>
          <a:xfrm>
            <a:off x="5117440" y="226771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2️⃣</a:t>
            </a:r>
            <a:endParaRPr lang="ar-SA" sz="2200" dirty="0"/>
          </a:p>
        </p:txBody>
      </p:sp>
      <p:sp>
        <p:nvSpPr>
          <p:cNvPr id="13" name="anim-g2-921"/>
          <p:cNvSpPr/>
          <p:nvPr/>
        </p:nvSpPr>
        <p:spPr>
          <a:xfrm>
            <a:off x="1097280" y="294436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رحلة الحل</a:t>
            </a:r>
            <a:endParaRPr lang="ar-SA" sz="2200" dirty="0"/>
          </a:p>
        </p:txBody>
      </p:sp>
      <p:sp>
        <p:nvSpPr>
          <p:cNvPr id="14" name="anim-g2-922"/>
          <p:cNvSpPr/>
          <p:nvPr/>
        </p:nvSpPr>
        <p:spPr>
          <a:xfrm>
            <a:off x="1097280" y="349300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الأفكار الثلاث، ولماذا اخترنا المنصة</a:t>
            </a:r>
            <a:endParaRPr lang="ar-SA" sz="1900" dirty="0"/>
          </a:p>
        </p:txBody>
      </p:sp>
      <p:sp>
        <p:nvSpPr>
          <p:cNvPr id="15" name="anim-g3-923"/>
          <p:cNvSpPr/>
          <p:nvPr/>
        </p:nvSpPr>
        <p:spPr>
          <a:xfrm>
            <a:off x="6233008"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16" name="anim-g3-924"/>
          <p:cNvSpPr/>
          <p:nvPr/>
        </p:nvSpPr>
        <p:spPr>
          <a:xfrm>
            <a:off x="10527487" y="4393692"/>
            <a:ext cx="566928" cy="566928"/>
          </a:xfrm>
          <a:prstGeom prst="roundRect">
            <a:avLst>
              <a:gd name="adj" fmla="val 32258"/>
            </a:avLst>
          </a:prstGeom>
          <a:solidFill>
            <a:srgbClr val="F7E6BC"/>
          </a:solidFill>
          <a:ln/>
        </p:spPr>
      </p:sp>
      <p:sp>
        <p:nvSpPr>
          <p:cNvPr id="17" name="anim-g3-925"/>
          <p:cNvSpPr/>
          <p:nvPr/>
        </p:nvSpPr>
        <p:spPr>
          <a:xfrm>
            <a:off x="10527487"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3️⃣</a:t>
            </a:r>
            <a:endParaRPr lang="ar-SA" sz="2200" dirty="0"/>
          </a:p>
        </p:txBody>
      </p:sp>
      <p:sp>
        <p:nvSpPr>
          <p:cNvPr id="18" name="anim-g3-926"/>
          <p:cNvSpPr/>
          <p:nvPr/>
        </p:nvSpPr>
        <p:spPr>
          <a:xfrm>
            <a:off x="6507328"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تشغيل الروبوت</a:t>
            </a:r>
            <a:endParaRPr lang="ar-SA" sz="2200" dirty="0"/>
          </a:p>
        </p:txBody>
      </p:sp>
      <p:sp>
        <p:nvSpPr>
          <p:cNvPr id="19" name="anim-g3-927"/>
          <p:cNvSpPr/>
          <p:nvPr/>
        </p:nvSpPr>
        <p:spPr>
          <a:xfrm>
            <a:off x="6507328"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جولة حية بالمسارين: الصحيح والمساعدة</a:t>
            </a:r>
            <a:endParaRPr lang="ar-SA" sz="1900" dirty="0"/>
          </a:p>
        </p:txBody>
      </p:sp>
      <p:sp>
        <p:nvSpPr>
          <p:cNvPr id="20" name="anim-g4-928"/>
          <p:cNvSpPr/>
          <p:nvPr/>
        </p:nvSpPr>
        <p:spPr>
          <a:xfrm>
            <a:off x="822960" y="4137660"/>
            <a:ext cx="5135728" cy="1897380"/>
          </a:xfrm>
          <a:prstGeom prst="roundRect">
            <a:avLst>
              <a:gd name="adj" fmla="val 8675"/>
            </a:avLst>
          </a:prstGeom>
          <a:solidFill>
            <a:srgbClr val="FFFFFF"/>
          </a:solidFill>
          <a:ln w="12700">
            <a:solidFill>
              <a:srgbClr val="E4DCC8"/>
            </a:solidFill>
            <a:prstDash val="solid"/>
          </a:ln>
          <a:effectLst>
            <a:outerShdw sx="100000" sy="100000" kx="0" ky="0" algn="bl" rotWithShape="0" blurRad="152400" dist="38100" dir="5400000">
              <a:srgbClr val="101B45">
                <a:alpha val="8000"/>
              </a:srgbClr>
            </a:outerShdw>
          </a:effectLst>
        </p:spPr>
      </p:sp>
      <p:sp>
        <p:nvSpPr>
          <p:cNvPr id="21" name="anim-g4-929"/>
          <p:cNvSpPr/>
          <p:nvPr/>
        </p:nvSpPr>
        <p:spPr>
          <a:xfrm>
            <a:off x="5117440" y="4393692"/>
            <a:ext cx="566928" cy="566928"/>
          </a:xfrm>
          <a:prstGeom prst="roundRect">
            <a:avLst>
              <a:gd name="adj" fmla="val 32258"/>
            </a:avLst>
          </a:prstGeom>
          <a:solidFill>
            <a:srgbClr val="F7E6BC"/>
          </a:solidFill>
          <a:ln/>
        </p:spPr>
      </p:sp>
      <p:sp>
        <p:nvSpPr>
          <p:cNvPr id="22" name="anim-g4-930"/>
          <p:cNvSpPr/>
          <p:nvPr/>
        </p:nvSpPr>
        <p:spPr>
          <a:xfrm>
            <a:off x="5117440" y="4393692"/>
            <a:ext cx="566928" cy="566928"/>
          </a:xfrm>
          <a:prstGeom prst="rect">
            <a:avLst/>
          </a:prstGeom>
          <a:noFill/>
          <a:ln/>
        </p:spPr>
        <p:txBody>
          <a:bodyPr wrap="square" lIns="0" tIns="0" rIns="0" bIns="0" rtlCol="0" anchor="ctr">
            <a:normAutofit/>
          </a:bodyPr>
          <a:lstStyle/>
          <a:p>
            <a:pPr rtl="1" algn="ctr" indent="0" marL="0">
              <a:buNone/>
            </a:pPr>
            <a:r>
              <a:rPr lang="ar-SA" altLang="en-US" sz="2200" dirty="0">
                <a:solidFill>
                  <a:srgbClr val="131B34"/>
                </a:solidFill>
                <a:latin typeface="Cairo" pitchFamily="34" charset="0"/>
                <a:ea typeface="Cairo" pitchFamily="34" charset="-122"/>
                <a:cs typeface="Cairo" pitchFamily="34" charset="-120"/>
              </a:rPr>
              <a:t>4️⃣</a:t>
            </a:r>
            <a:endParaRPr lang="ar-SA" sz="2200" dirty="0"/>
          </a:p>
        </p:txBody>
      </p:sp>
      <p:sp>
        <p:nvSpPr>
          <p:cNvPr id="23" name="anim-g4-931"/>
          <p:cNvSpPr/>
          <p:nvPr/>
        </p:nvSpPr>
        <p:spPr>
          <a:xfrm>
            <a:off x="1097280" y="5070348"/>
            <a:ext cx="4587088" cy="548640"/>
          </a:xfrm>
          <a:prstGeom prst="rect">
            <a:avLst/>
          </a:prstGeom>
          <a:noFill/>
          <a:ln/>
        </p:spPr>
        <p:txBody>
          <a:bodyPr wrap="square" lIns="0" tIns="0" rIns="0" bIns="0" rtlCol="0" anchor="ctr">
            <a:normAutofit/>
          </a:bodyPr>
          <a:lstStyle/>
          <a:p>
            <a:pPr rtl="1" algn="r" indent="0" marL="0">
              <a:buNone/>
            </a:pPr>
            <a:r>
              <a:rPr lang="ar-SA" altLang="en-US" sz="2200" dirty="0">
                <a:solidFill>
                  <a:srgbClr val="101B45"/>
                </a:solidFill>
                <a:latin typeface="Cairo Black" pitchFamily="34" charset="0"/>
                <a:ea typeface="Cairo Black" pitchFamily="34" charset="-122"/>
                <a:cs typeface="Cairo Black" pitchFamily="34" charset="-120"/>
              </a:rPr>
              <a:t>الهوية والبوث</a:t>
            </a:r>
            <a:endParaRPr lang="ar-SA" sz="2200" dirty="0"/>
          </a:p>
        </p:txBody>
      </p:sp>
      <p:sp>
        <p:nvSpPr>
          <p:cNvPr id="24" name="anim-g4-932"/>
          <p:cNvSpPr/>
          <p:nvPr/>
        </p:nvSpPr>
        <p:spPr>
          <a:xfrm>
            <a:off x="1097280" y="5618988"/>
            <a:ext cx="4587088" cy="278892"/>
          </a:xfrm>
          <a:prstGeom prst="rect">
            <a:avLst/>
          </a:prstGeom>
          <a:noFill/>
          <a:ln/>
        </p:spPr>
        <p:txBody>
          <a:bodyPr wrap="square" lIns="0" tIns="0" rIns="0" bIns="0" rtlCol="0" anchor="t">
            <a:normAutofit/>
          </a:bodyPr>
          <a:lstStyle/>
          <a:p>
            <a:pPr rtl="1" algn="r" indent="0" marL="0">
              <a:lnSpc>
                <a:spcPct val="115000"/>
              </a:lnSpc>
              <a:buNone/>
            </a:pPr>
            <a:r>
              <a:rPr lang="ar-SA" altLang="en-US" sz="1900" b="1" dirty="0">
                <a:solidFill>
                  <a:srgbClr val="3B4460"/>
                </a:solidFill>
                <a:latin typeface="Cairo" pitchFamily="34" charset="0"/>
                <a:ea typeface="Cairo" pitchFamily="34" charset="-122"/>
                <a:cs typeface="Cairo" pitchFamily="34" charset="-120"/>
              </a:rPr>
              <a:t>السدو والألوان والشعار</a:t>
            </a:r>
            <a:endParaRPr lang="ar-SA" sz="1900" dirty="0"/>
          </a:p>
        </p:txBody>
      </p:sp>
      <p:sp>
        <p:nvSpPr>
          <p:cNvPr id="25" name="Text 2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26" name="Text 2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البوث والختام  ·  ١٢٥</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00"/>
                                        <p:tgtEl>
                                          <p:spTgt spid="21"/>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400"/>
                                        <p:tgtEl>
                                          <p:spTgt spid="22"/>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animEffect transition="in" filter="fade">
                                      <p:cBhvr>
                                        <p:cTn id="67" dur="400"/>
                                        <p:tgtEl>
                                          <p:spTgt spid="23"/>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4"/>
                                        </p:tgtEl>
                                        <p:attrNameLst>
                                          <p:attrName>style.visibility</p:attrName>
                                        </p:attrNameLst>
                                      </p:cBhvr>
                                      <p:to>
                                        <p:strVal val="visible"/>
                                      </p:to>
                                    </p:set>
                                    <p:animEffect transition="in" filter="fade">
                                      <p:cBhvr>
                                        <p:cTn id="70"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pic>
        <p:nvPicPr>
          <p:cNvPr id="2" name="Image 0" descr="C:\Users\user\projects\younes-training\heritage\.pptx-cache\s12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711135" y="457200"/>
            <a:ext cx="3657600" cy="457200"/>
          </a:xfrm>
          <a:prstGeom prst="roundRect">
            <a:avLst>
              <a:gd name="adj" fmla="val 50000"/>
            </a:avLst>
          </a:prstGeom>
          <a:solidFill>
            <a:srgbClr val="F6EBCF"/>
          </a:solidFill>
          <a:ln/>
        </p:spPr>
      </p:sp>
      <p:sp>
        <p:nvSpPr>
          <p:cNvPr id="3" name="Text 1"/>
          <p:cNvSpPr/>
          <p:nvPr/>
        </p:nvSpPr>
        <p:spPr>
          <a:xfrm>
            <a:off x="7711135" y="457200"/>
            <a:ext cx="3657600"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 الاستخدام والتوسع</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من المسابقة… إلى كل مكان</a:t>
            </a:r>
            <a:endParaRPr lang="ar-SA" sz="3800" dirty="0"/>
          </a:p>
        </p:txBody>
      </p:sp>
      <p:sp>
        <p:nvSpPr>
          <p:cNvPr id="5" name="Shape 3"/>
          <p:cNvSpPr/>
          <p:nvPr/>
        </p:nvSpPr>
        <p:spPr>
          <a:xfrm>
            <a:off x="8939013" y="1874520"/>
            <a:ext cx="2429722" cy="548640"/>
          </a:xfrm>
          <a:prstGeom prst="roundRect">
            <a:avLst>
              <a:gd name="adj" fmla="val 20000"/>
            </a:avLst>
          </a:prstGeom>
          <a:solidFill>
            <a:srgbClr val="101B45"/>
          </a:solidFill>
          <a:ln/>
        </p:spPr>
      </p:sp>
      <p:sp>
        <p:nvSpPr>
          <p:cNvPr id="6" name="Text 4"/>
          <p:cNvSpPr/>
          <p:nvPr/>
        </p:nvSpPr>
        <p:spPr>
          <a:xfrm>
            <a:off x="8939013" y="1874520"/>
            <a:ext cx="2429722"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المجال</a:t>
            </a:r>
            <a:endParaRPr lang="ar-SA" sz="1900" dirty="0"/>
          </a:p>
        </p:txBody>
      </p:sp>
      <p:sp>
        <p:nvSpPr>
          <p:cNvPr id="7" name="Shape 5"/>
          <p:cNvSpPr/>
          <p:nvPr/>
        </p:nvSpPr>
        <p:spPr>
          <a:xfrm>
            <a:off x="4880987" y="1874520"/>
            <a:ext cx="3948299" cy="548640"/>
          </a:xfrm>
          <a:prstGeom prst="roundRect">
            <a:avLst>
              <a:gd name="adj" fmla="val 20000"/>
            </a:avLst>
          </a:prstGeom>
          <a:solidFill>
            <a:srgbClr val="101B45"/>
          </a:solidFill>
          <a:ln/>
        </p:spPr>
      </p:sp>
      <p:sp>
        <p:nvSpPr>
          <p:cNvPr id="8" name="Text 6"/>
          <p:cNvSpPr/>
          <p:nvPr/>
        </p:nvSpPr>
        <p:spPr>
          <a:xfrm>
            <a:off x="4880987" y="1874520"/>
            <a:ext cx="394829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الاستخدام</a:t>
            </a:r>
            <a:endParaRPr lang="ar-SA" sz="1900" dirty="0"/>
          </a:p>
        </p:txBody>
      </p:sp>
      <p:sp>
        <p:nvSpPr>
          <p:cNvPr id="9" name="Shape 7"/>
          <p:cNvSpPr/>
          <p:nvPr/>
        </p:nvSpPr>
        <p:spPr>
          <a:xfrm>
            <a:off x="822960" y="1874520"/>
            <a:ext cx="3948299" cy="548640"/>
          </a:xfrm>
          <a:prstGeom prst="roundRect">
            <a:avLst>
              <a:gd name="adj" fmla="val 20000"/>
            </a:avLst>
          </a:prstGeom>
          <a:solidFill>
            <a:srgbClr val="101B45"/>
          </a:solidFill>
          <a:ln/>
        </p:spPr>
      </p:sp>
      <p:sp>
        <p:nvSpPr>
          <p:cNvPr id="10" name="Text 8"/>
          <p:cNvSpPr/>
          <p:nvPr/>
        </p:nvSpPr>
        <p:spPr>
          <a:xfrm>
            <a:off x="822960" y="1874520"/>
            <a:ext cx="3948299" cy="548640"/>
          </a:xfrm>
          <a:prstGeom prst="rect">
            <a:avLst/>
          </a:prstGeom>
          <a:noFill/>
          <a:ln/>
        </p:spPr>
        <p:txBody>
          <a:bodyPr wrap="square" lIns="0" tIns="0" rIns="0" bIns="0" rtlCol="0" anchor="ctr">
            <a:normAutofit/>
          </a:bodyPr>
          <a:lstStyle/>
          <a:p>
            <a:pPr rtl="1" algn="ctr" indent="0" marL="0">
              <a:buNone/>
            </a:pPr>
            <a:r>
              <a:rPr lang="ar-SA" altLang="en-US" sz="1900" dirty="0">
                <a:solidFill>
                  <a:srgbClr val="FFFFFF"/>
                </a:solidFill>
                <a:latin typeface="Cairo Black" pitchFamily="34" charset="0"/>
                <a:ea typeface="Cairo Black" pitchFamily="34" charset="-122"/>
                <a:cs typeface="Cairo Black" pitchFamily="34" charset="-120"/>
              </a:rPr>
              <a:t>ما يلزم قبل التطبيق</a:t>
            </a:r>
            <a:endParaRPr lang="ar-SA" sz="1900" dirty="0"/>
          </a:p>
        </p:txBody>
      </p:sp>
      <p:sp>
        <p:nvSpPr>
          <p:cNvPr id="11" name="anim-g1-933"/>
          <p:cNvSpPr/>
          <p:nvPr/>
        </p:nvSpPr>
        <p:spPr>
          <a:xfrm>
            <a:off x="8939013" y="2514600"/>
            <a:ext cx="2429722" cy="797814"/>
          </a:xfrm>
          <a:prstGeom prst="roundRect">
            <a:avLst>
              <a:gd name="adj" fmla="val 13754"/>
            </a:avLst>
          </a:prstGeom>
          <a:solidFill>
            <a:srgbClr val="FBF3DF"/>
          </a:solidFill>
          <a:ln w="12700">
            <a:solidFill>
              <a:srgbClr val="EFDDAF"/>
            </a:solidFill>
            <a:prstDash val="solid"/>
          </a:ln>
        </p:spPr>
      </p:sp>
      <p:sp>
        <p:nvSpPr>
          <p:cNvPr id="12" name="anim-g1-934"/>
          <p:cNvSpPr/>
          <p:nvPr/>
        </p:nvSpPr>
        <p:spPr>
          <a:xfrm>
            <a:off x="9076173" y="2514600"/>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المدارس</a:t>
            </a:r>
            <a:endParaRPr lang="ar-SA" sz="2100" dirty="0"/>
          </a:p>
        </p:txBody>
      </p:sp>
      <p:sp>
        <p:nvSpPr>
          <p:cNvPr id="13" name="anim-g1-935"/>
          <p:cNvSpPr/>
          <p:nvPr/>
        </p:nvSpPr>
        <p:spPr>
          <a:xfrm>
            <a:off x="4880987" y="2514600"/>
            <a:ext cx="3948299" cy="797814"/>
          </a:xfrm>
          <a:prstGeom prst="roundRect">
            <a:avLst>
              <a:gd name="adj" fmla="val 13754"/>
            </a:avLst>
          </a:prstGeom>
          <a:solidFill>
            <a:srgbClr val="FFFFFF"/>
          </a:solidFill>
          <a:ln w="12700">
            <a:solidFill>
              <a:srgbClr val="E4DCC8"/>
            </a:solidFill>
            <a:prstDash val="solid"/>
          </a:ln>
        </p:spPr>
      </p:sp>
      <p:sp>
        <p:nvSpPr>
          <p:cNvPr id="14" name="anim-g1-936"/>
          <p:cNvSpPr/>
          <p:nvPr/>
        </p:nvSpPr>
        <p:spPr>
          <a:xfrm>
            <a:off x="5018147" y="2514600"/>
            <a:ext cx="367397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ركن تفاعلي داعم للهوية الوطنية</a:t>
            </a:r>
            <a:endParaRPr lang="ar-SA" sz="2100" dirty="0"/>
          </a:p>
        </p:txBody>
      </p:sp>
      <p:sp>
        <p:nvSpPr>
          <p:cNvPr id="15" name="anim-g1-937"/>
          <p:cNvSpPr/>
          <p:nvPr/>
        </p:nvSpPr>
        <p:spPr>
          <a:xfrm>
            <a:off x="822960" y="2514600"/>
            <a:ext cx="3948299" cy="797814"/>
          </a:xfrm>
          <a:prstGeom prst="roundRect">
            <a:avLst>
              <a:gd name="adj" fmla="val 13754"/>
            </a:avLst>
          </a:prstGeom>
          <a:solidFill>
            <a:srgbClr val="E6F4EC"/>
          </a:solidFill>
          <a:ln w="12700">
            <a:solidFill>
              <a:srgbClr val="CDE9D9"/>
            </a:solidFill>
            <a:prstDash val="solid"/>
          </a:ln>
        </p:spPr>
      </p:sp>
      <p:sp>
        <p:nvSpPr>
          <p:cNvPr id="16" name="anim-g1-938"/>
          <p:cNvSpPr/>
          <p:nvPr/>
        </p:nvSpPr>
        <p:spPr>
          <a:xfrm>
            <a:off x="960120" y="2514600"/>
            <a:ext cx="367397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تجربة مع معلم وتحديث الأسئلة</a:t>
            </a:r>
            <a:endParaRPr lang="ar-SA" sz="2100" dirty="0"/>
          </a:p>
        </p:txBody>
      </p:sp>
      <p:sp>
        <p:nvSpPr>
          <p:cNvPr id="17" name="anim-g2-939"/>
          <p:cNvSpPr/>
          <p:nvPr/>
        </p:nvSpPr>
        <p:spPr>
          <a:xfrm>
            <a:off x="8939013" y="3422142"/>
            <a:ext cx="2429722" cy="797814"/>
          </a:xfrm>
          <a:prstGeom prst="roundRect">
            <a:avLst>
              <a:gd name="adj" fmla="val 13754"/>
            </a:avLst>
          </a:prstGeom>
          <a:solidFill>
            <a:srgbClr val="FBF3DF"/>
          </a:solidFill>
          <a:ln w="12700">
            <a:solidFill>
              <a:srgbClr val="EFDDAF"/>
            </a:solidFill>
            <a:prstDash val="solid"/>
          </a:ln>
        </p:spPr>
      </p:sp>
      <p:sp>
        <p:nvSpPr>
          <p:cNvPr id="18" name="anim-g2-940"/>
          <p:cNvSpPr/>
          <p:nvPr/>
        </p:nvSpPr>
        <p:spPr>
          <a:xfrm>
            <a:off x="9076173" y="3422142"/>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المتاحف والفعاليات</a:t>
            </a:r>
            <a:endParaRPr lang="ar-SA" sz="2100" dirty="0"/>
          </a:p>
        </p:txBody>
      </p:sp>
      <p:sp>
        <p:nvSpPr>
          <p:cNvPr id="19" name="anim-g2-941"/>
          <p:cNvSpPr/>
          <p:nvPr/>
        </p:nvSpPr>
        <p:spPr>
          <a:xfrm>
            <a:off x="4880987" y="3422142"/>
            <a:ext cx="3948299" cy="797814"/>
          </a:xfrm>
          <a:prstGeom prst="roundRect">
            <a:avLst>
              <a:gd name="adj" fmla="val 13754"/>
            </a:avLst>
          </a:prstGeom>
          <a:solidFill>
            <a:srgbClr val="FFFFFF"/>
          </a:solidFill>
          <a:ln w="12700">
            <a:solidFill>
              <a:srgbClr val="E4DCC8"/>
            </a:solidFill>
            <a:prstDash val="solid"/>
          </a:ln>
        </p:spPr>
      </p:sp>
      <p:sp>
        <p:nvSpPr>
          <p:cNvPr id="20" name="anim-g2-942"/>
          <p:cNvSpPr/>
          <p:nvPr/>
        </p:nvSpPr>
        <p:spPr>
          <a:xfrm>
            <a:off x="5018147" y="3422142"/>
            <a:ext cx="367397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محطة قصيرة للزوار الصغار</a:t>
            </a:r>
            <a:endParaRPr lang="ar-SA" sz="2100" dirty="0"/>
          </a:p>
        </p:txBody>
      </p:sp>
      <p:sp>
        <p:nvSpPr>
          <p:cNvPr id="21" name="anim-g2-943"/>
          <p:cNvSpPr/>
          <p:nvPr/>
        </p:nvSpPr>
        <p:spPr>
          <a:xfrm>
            <a:off x="822960" y="3422142"/>
            <a:ext cx="3948299" cy="797814"/>
          </a:xfrm>
          <a:prstGeom prst="roundRect">
            <a:avLst>
              <a:gd name="adj" fmla="val 13754"/>
            </a:avLst>
          </a:prstGeom>
          <a:solidFill>
            <a:srgbClr val="E6F4EC"/>
          </a:solidFill>
          <a:ln w="12700">
            <a:solidFill>
              <a:srgbClr val="CDE9D9"/>
            </a:solidFill>
            <a:prstDash val="solid"/>
          </a:ln>
        </p:spPr>
      </p:sp>
      <p:sp>
        <p:nvSpPr>
          <p:cNvPr id="22" name="anim-g2-944"/>
          <p:cNvSpPr/>
          <p:nvPr/>
        </p:nvSpPr>
        <p:spPr>
          <a:xfrm>
            <a:off x="960120" y="3422142"/>
            <a:ext cx="367397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متانة أعلى وإشراف أثناء التشغيل</a:t>
            </a:r>
            <a:endParaRPr lang="ar-SA" sz="2100" dirty="0"/>
          </a:p>
        </p:txBody>
      </p:sp>
      <p:sp>
        <p:nvSpPr>
          <p:cNvPr id="23" name="anim-g3-945"/>
          <p:cNvSpPr/>
          <p:nvPr/>
        </p:nvSpPr>
        <p:spPr>
          <a:xfrm>
            <a:off x="8939013" y="4329684"/>
            <a:ext cx="2429722" cy="797814"/>
          </a:xfrm>
          <a:prstGeom prst="roundRect">
            <a:avLst>
              <a:gd name="adj" fmla="val 13754"/>
            </a:avLst>
          </a:prstGeom>
          <a:solidFill>
            <a:srgbClr val="FBF3DF"/>
          </a:solidFill>
          <a:ln w="12700">
            <a:solidFill>
              <a:srgbClr val="EFDDAF"/>
            </a:solidFill>
            <a:prstDash val="solid"/>
          </a:ln>
        </p:spPr>
      </p:sp>
      <p:sp>
        <p:nvSpPr>
          <p:cNvPr id="24" name="anim-g3-946"/>
          <p:cNvSpPr/>
          <p:nvPr/>
        </p:nvSpPr>
        <p:spPr>
          <a:xfrm>
            <a:off x="9076173" y="4329684"/>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مناطق المملكة</a:t>
            </a:r>
            <a:endParaRPr lang="ar-SA" sz="2100" dirty="0"/>
          </a:p>
        </p:txBody>
      </p:sp>
      <p:sp>
        <p:nvSpPr>
          <p:cNvPr id="25" name="anim-g3-947"/>
          <p:cNvSpPr/>
          <p:nvPr/>
        </p:nvSpPr>
        <p:spPr>
          <a:xfrm>
            <a:off x="4880987" y="4329684"/>
            <a:ext cx="3948299" cy="797814"/>
          </a:xfrm>
          <a:prstGeom prst="roundRect">
            <a:avLst>
              <a:gd name="adj" fmla="val 13754"/>
            </a:avLst>
          </a:prstGeom>
          <a:solidFill>
            <a:srgbClr val="FFFFFF"/>
          </a:solidFill>
          <a:ln w="12700">
            <a:solidFill>
              <a:srgbClr val="E4DCC8"/>
            </a:solidFill>
            <a:prstDash val="solid"/>
          </a:ln>
        </p:spPr>
      </p:sp>
      <p:sp>
        <p:nvSpPr>
          <p:cNvPr id="26" name="anim-g3-948"/>
          <p:cNvSpPr/>
          <p:nvPr/>
        </p:nvSpPr>
        <p:spPr>
          <a:xfrm>
            <a:off x="5018147" y="4329684"/>
            <a:ext cx="367397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محطات تحكي عناصر من كل منطقة</a:t>
            </a:r>
            <a:endParaRPr lang="ar-SA" sz="2100" dirty="0"/>
          </a:p>
        </p:txBody>
      </p:sp>
      <p:sp>
        <p:nvSpPr>
          <p:cNvPr id="27" name="anim-g3-949"/>
          <p:cNvSpPr/>
          <p:nvPr/>
        </p:nvSpPr>
        <p:spPr>
          <a:xfrm>
            <a:off x="822960" y="4329684"/>
            <a:ext cx="3948299" cy="797814"/>
          </a:xfrm>
          <a:prstGeom prst="roundRect">
            <a:avLst>
              <a:gd name="adj" fmla="val 13754"/>
            </a:avLst>
          </a:prstGeom>
          <a:solidFill>
            <a:srgbClr val="E6F4EC"/>
          </a:solidFill>
          <a:ln w="12700">
            <a:solidFill>
              <a:srgbClr val="CDE9D9"/>
            </a:solidFill>
            <a:prstDash val="solid"/>
          </a:ln>
        </p:spPr>
      </p:sp>
      <p:sp>
        <p:nvSpPr>
          <p:cNvPr id="28" name="anim-g3-950"/>
          <p:cNvSpPr/>
          <p:nvPr/>
        </p:nvSpPr>
        <p:spPr>
          <a:xfrm>
            <a:off x="960120" y="4329684"/>
            <a:ext cx="367397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بحث ومراجعة مع مصادر موثوقة</a:t>
            </a:r>
            <a:endParaRPr lang="ar-SA" sz="2100" dirty="0"/>
          </a:p>
        </p:txBody>
      </p:sp>
      <p:sp>
        <p:nvSpPr>
          <p:cNvPr id="29" name="anim-g4-951"/>
          <p:cNvSpPr/>
          <p:nvPr/>
        </p:nvSpPr>
        <p:spPr>
          <a:xfrm>
            <a:off x="8939013" y="5237226"/>
            <a:ext cx="2429722" cy="797814"/>
          </a:xfrm>
          <a:prstGeom prst="roundRect">
            <a:avLst>
              <a:gd name="adj" fmla="val 13754"/>
            </a:avLst>
          </a:prstGeom>
          <a:solidFill>
            <a:srgbClr val="FBF3DF"/>
          </a:solidFill>
          <a:ln w="12700">
            <a:solidFill>
              <a:srgbClr val="EFDDAF"/>
            </a:solidFill>
            <a:prstDash val="solid"/>
          </a:ln>
        </p:spPr>
      </p:sp>
      <p:sp>
        <p:nvSpPr>
          <p:cNvPr id="30" name="anim-g4-952"/>
          <p:cNvSpPr/>
          <p:nvPr/>
        </p:nvSpPr>
        <p:spPr>
          <a:xfrm>
            <a:off x="9076173" y="5237226"/>
            <a:ext cx="2155402"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01B45"/>
                </a:solidFill>
                <a:latin typeface="Cairo Black" pitchFamily="34" charset="0"/>
                <a:ea typeface="Cairo Black" pitchFamily="34" charset="-122"/>
                <a:cs typeface="Cairo Black" pitchFamily="34" charset="-120"/>
              </a:rPr>
              <a:t>🔊 المحتوى</a:t>
            </a:r>
            <a:endParaRPr lang="ar-SA" sz="2100" dirty="0"/>
          </a:p>
        </p:txBody>
      </p:sp>
      <p:sp>
        <p:nvSpPr>
          <p:cNvPr id="31" name="anim-g4-953"/>
          <p:cNvSpPr/>
          <p:nvPr/>
        </p:nvSpPr>
        <p:spPr>
          <a:xfrm>
            <a:off x="4880987" y="5237226"/>
            <a:ext cx="3948299" cy="797814"/>
          </a:xfrm>
          <a:prstGeom prst="roundRect">
            <a:avLst>
              <a:gd name="adj" fmla="val 13754"/>
            </a:avLst>
          </a:prstGeom>
          <a:solidFill>
            <a:srgbClr val="FFFFFF"/>
          </a:solidFill>
          <a:ln w="12700">
            <a:solidFill>
              <a:srgbClr val="E4DCC8"/>
            </a:solidFill>
            <a:prstDash val="solid"/>
          </a:ln>
        </p:spPr>
      </p:sp>
      <p:sp>
        <p:nvSpPr>
          <p:cNvPr id="32" name="anim-g4-954"/>
          <p:cNvSpPr/>
          <p:nvPr/>
        </p:nvSpPr>
        <p:spPr>
          <a:xfrm>
            <a:off x="5018147" y="5237226"/>
            <a:ext cx="367397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31B34"/>
                </a:solidFill>
                <a:latin typeface="Cairo" pitchFamily="34" charset="0"/>
                <a:ea typeface="Cairo" pitchFamily="34" charset="-122"/>
                <a:cs typeface="Cairo" pitchFamily="34" charset="-120"/>
              </a:rPr>
              <a:t>تغيير الملفات والأسئلة</a:t>
            </a:r>
            <a:endParaRPr lang="ar-SA" sz="2100" dirty="0"/>
          </a:p>
        </p:txBody>
      </p:sp>
      <p:sp>
        <p:nvSpPr>
          <p:cNvPr id="33" name="anim-g4-955"/>
          <p:cNvSpPr/>
          <p:nvPr/>
        </p:nvSpPr>
        <p:spPr>
          <a:xfrm>
            <a:off x="822960" y="5237226"/>
            <a:ext cx="3948299" cy="797814"/>
          </a:xfrm>
          <a:prstGeom prst="roundRect">
            <a:avLst>
              <a:gd name="adj" fmla="val 13754"/>
            </a:avLst>
          </a:prstGeom>
          <a:solidFill>
            <a:srgbClr val="E6F4EC"/>
          </a:solidFill>
          <a:ln w="12700">
            <a:solidFill>
              <a:srgbClr val="CDE9D9"/>
            </a:solidFill>
            <a:prstDash val="solid"/>
          </a:ln>
        </p:spPr>
      </p:sp>
      <p:sp>
        <p:nvSpPr>
          <p:cNvPr id="34" name="anim-g4-956"/>
          <p:cNvSpPr/>
          <p:nvPr/>
        </p:nvSpPr>
        <p:spPr>
          <a:xfrm>
            <a:off x="960120" y="5237226"/>
            <a:ext cx="3673979" cy="797814"/>
          </a:xfrm>
          <a:prstGeom prst="rect">
            <a:avLst/>
          </a:prstGeom>
          <a:noFill/>
          <a:ln/>
        </p:spPr>
        <p:txBody>
          <a:bodyPr wrap="square" lIns="0" tIns="0" rIns="0" bIns="0" rtlCol="0" anchor="ctr">
            <a:normAutofit/>
          </a:bodyPr>
          <a:lstStyle/>
          <a:p>
            <a:pPr rtl="1" algn="r" indent="0" marL="0">
              <a:buNone/>
            </a:pPr>
            <a:r>
              <a:rPr lang="ar-SA" altLang="en-US" sz="2100" b="1" dirty="0">
                <a:solidFill>
                  <a:srgbClr val="1D5E40"/>
                </a:solidFill>
                <a:latin typeface="Cairo" pitchFamily="34" charset="0"/>
                <a:ea typeface="Cairo" pitchFamily="34" charset="-122"/>
                <a:cs typeface="Cairo" pitchFamily="34" charset="-120"/>
              </a:rPr>
              <a:t>تنظيم ملفات الذاكرة وتوثيق النسخة</a:t>
            </a:r>
            <a:endParaRPr lang="ar-SA" sz="2100" dirty="0"/>
          </a:p>
        </p:txBody>
      </p:sp>
      <p:sp>
        <p:nvSpPr>
          <p:cNvPr id="35" name="Text 3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6" name="Text 3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البوث والختام  ·  ١٢٧</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pic>
        <p:nvPicPr>
          <p:cNvPr id="2" name="Image 0" descr="C:\Users\user\projects\younes-training\heritage\.pptx-cache\s12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8881567" y="457200"/>
            <a:ext cx="2487168" cy="457200"/>
          </a:xfrm>
          <a:prstGeom prst="roundRect">
            <a:avLst>
              <a:gd name="adj" fmla="val 50000"/>
            </a:avLst>
          </a:prstGeom>
          <a:solidFill>
            <a:srgbClr val="F6EBCF"/>
          </a:solidFill>
          <a:ln/>
        </p:spPr>
      </p:sp>
      <p:sp>
        <p:nvSpPr>
          <p:cNvPr id="3" name="Text 1"/>
          <p:cNvSpPr/>
          <p:nvPr/>
        </p:nvSpPr>
        <p:spPr>
          <a:xfrm>
            <a:off x="8881567" y="45720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B08A2E"/>
                </a:solidFill>
                <a:latin typeface="Cairo" pitchFamily="34" charset="0"/>
                <a:ea typeface="Cairo" pitchFamily="34" charset="-122"/>
                <a:cs typeface="Cairo" pitchFamily="34" charset="-120"/>
              </a:rPr>
              <a:t>خارطة الطريق</a:t>
            </a:r>
            <a:endParaRPr lang="ar-SA" sz="1800" dirty="0"/>
          </a:p>
        </p:txBody>
      </p:sp>
      <p:sp>
        <p:nvSpPr>
          <p:cNvPr id="4" name="Text 2"/>
          <p:cNvSpPr/>
          <p:nvPr/>
        </p:nvSpPr>
        <p:spPr>
          <a:xfrm>
            <a:off x="822960" y="96012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101B45"/>
                </a:solidFill>
                <a:latin typeface="Cairo Black" pitchFamily="34" charset="0"/>
                <a:ea typeface="Cairo Black" pitchFamily="34" charset="-122"/>
                <a:cs typeface="Cairo Black" pitchFamily="34" charset="-120"/>
              </a:rPr>
              <a:t>درّس المشروع في عشرة أسابيع</a:t>
            </a:r>
            <a:endParaRPr lang="ar-SA" sz="3800" dirty="0"/>
          </a:p>
        </p:txBody>
      </p:sp>
      <p:sp>
        <p:nvSpPr>
          <p:cNvPr id="5" name="anim-g1-957"/>
          <p:cNvSpPr/>
          <p:nvPr/>
        </p:nvSpPr>
        <p:spPr>
          <a:xfrm>
            <a:off x="822960" y="1920240"/>
            <a:ext cx="10545775" cy="594360"/>
          </a:xfrm>
          <a:prstGeom prst="roundRect">
            <a:avLst>
              <a:gd name="adj" fmla="val 24615"/>
            </a:avLst>
          </a:prstGeom>
          <a:solidFill>
            <a:srgbClr val="FFFFFF"/>
          </a:solidFill>
          <a:ln w="12700">
            <a:solidFill>
              <a:srgbClr val="E4DCC8"/>
            </a:solidFill>
            <a:prstDash val="solid"/>
          </a:ln>
        </p:spPr>
      </p:sp>
      <p:sp>
        <p:nvSpPr>
          <p:cNvPr id="6" name="anim-g1-958"/>
          <p:cNvSpPr/>
          <p:nvPr/>
        </p:nvSpPr>
        <p:spPr>
          <a:xfrm>
            <a:off x="10728655" y="2011680"/>
            <a:ext cx="411480" cy="411480"/>
          </a:xfrm>
          <a:prstGeom prst="ellipse">
            <a:avLst/>
          </a:prstGeom>
          <a:solidFill>
            <a:srgbClr val="D9AE4B"/>
          </a:solidFill>
          <a:ln/>
        </p:spPr>
      </p:sp>
      <p:sp>
        <p:nvSpPr>
          <p:cNvPr id="7" name="anim-g1-959"/>
          <p:cNvSpPr/>
          <p:nvPr/>
        </p:nvSpPr>
        <p:spPr>
          <a:xfrm>
            <a:off x="10728655" y="201168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١</a:t>
            </a:r>
            <a:endParaRPr lang="ar-SA" sz="2000" dirty="0"/>
          </a:p>
        </p:txBody>
      </p:sp>
      <p:sp>
        <p:nvSpPr>
          <p:cNvPr id="8" name="anim-g1-960"/>
          <p:cNvSpPr/>
          <p:nvPr/>
        </p:nvSpPr>
        <p:spPr>
          <a:xfrm>
            <a:off x="1097280" y="192024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١: المشكلة والفكرة والمحتوى التراثي</a:t>
            </a:r>
            <a:pPr algn="r" indent="0" marL="0">
              <a:buNone/>
            </a:pPr>
            <a:r>
              <a:rPr lang="ar-SA" altLang="en-US" sz="1800" b="1" dirty="0">
                <a:solidFill>
                  <a:srgbClr val="3B4460"/>
                </a:solidFill>
                <a:latin typeface="Cairo" pitchFamily="34" charset="0"/>
                <a:ea typeface="Cairo" pitchFamily="34" charset="-122"/>
                <a:cs typeface="Cairo" pitchFamily="34" charset="-120"/>
              </a:rPr>
              <a:t>   — بحث مبسط ومقارنة الأفكار</a:t>
            </a:r>
            <a:endParaRPr lang="ar-SA" sz="2200" dirty="0"/>
          </a:p>
        </p:txBody>
      </p:sp>
      <p:sp>
        <p:nvSpPr>
          <p:cNvPr id="9" name="anim-g2-961"/>
          <p:cNvSpPr/>
          <p:nvPr/>
        </p:nvSpPr>
        <p:spPr>
          <a:xfrm>
            <a:off x="822960" y="2624328"/>
            <a:ext cx="10545775" cy="594360"/>
          </a:xfrm>
          <a:prstGeom prst="roundRect">
            <a:avLst>
              <a:gd name="adj" fmla="val 24615"/>
            </a:avLst>
          </a:prstGeom>
          <a:solidFill>
            <a:srgbClr val="FFFFFF"/>
          </a:solidFill>
          <a:ln w="12700">
            <a:solidFill>
              <a:srgbClr val="E4DCC8"/>
            </a:solidFill>
            <a:prstDash val="solid"/>
          </a:ln>
        </p:spPr>
      </p:sp>
      <p:sp>
        <p:nvSpPr>
          <p:cNvPr id="10" name="anim-g2-962"/>
          <p:cNvSpPr/>
          <p:nvPr/>
        </p:nvSpPr>
        <p:spPr>
          <a:xfrm>
            <a:off x="10728655" y="2715768"/>
            <a:ext cx="411480" cy="411480"/>
          </a:xfrm>
          <a:prstGeom prst="ellipse">
            <a:avLst/>
          </a:prstGeom>
          <a:solidFill>
            <a:srgbClr val="D9AE4B"/>
          </a:solidFill>
          <a:ln/>
        </p:spPr>
      </p:sp>
      <p:sp>
        <p:nvSpPr>
          <p:cNvPr id="11" name="anim-g2-963"/>
          <p:cNvSpPr/>
          <p:nvPr/>
        </p:nvSpPr>
        <p:spPr>
          <a:xfrm>
            <a:off x="10728655" y="2715768"/>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٢</a:t>
            </a:r>
            <a:endParaRPr lang="ar-SA" sz="2000" dirty="0"/>
          </a:p>
        </p:txBody>
      </p:sp>
      <p:sp>
        <p:nvSpPr>
          <p:cNvPr id="12" name="anim-g2-964"/>
          <p:cNvSpPr/>
          <p:nvPr/>
        </p:nvSpPr>
        <p:spPr>
          <a:xfrm>
            <a:off x="1097280" y="2624328"/>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٢–٣: الحساس والشاشة والأزرار</a:t>
            </a:r>
            <a:pPr algn="r" indent="0" marL="0">
              <a:buNone/>
            </a:pPr>
            <a:r>
              <a:rPr lang="ar-SA" altLang="en-US" sz="1800" b="1" dirty="0">
                <a:solidFill>
                  <a:srgbClr val="3B4460"/>
                </a:solidFill>
                <a:latin typeface="Cairo" pitchFamily="34" charset="0"/>
                <a:ea typeface="Cairo" pitchFamily="34" charset="-122"/>
                <a:cs typeface="Cairo" pitchFamily="34" charset="-120"/>
              </a:rPr>
              <a:t>   — ثلاثة مكونات ودمجان</a:t>
            </a:r>
            <a:endParaRPr lang="ar-SA" sz="2200" dirty="0"/>
          </a:p>
        </p:txBody>
      </p:sp>
      <p:sp>
        <p:nvSpPr>
          <p:cNvPr id="13" name="anim-g3-965"/>
          <p:cNvSpPr/>
          <p:nvPr/>
        </p:nvSpPr>
        <p:spPr>
          <a:xfrm>
            <a:off x="822960" y="3328416"/>
            <a:ext cx="10545775" cy="594360"/>
          </a:xfrm>
          <a:prstGeom prst="roundRect">
            <a:avLst>
              <a:gd name="adj" fmla="val 24615"/>
            </a:avLst>
          </a:prstGeom>
          <a:solidFill>
            <a:srgbClr val="FFFFFF"/>
          </a:solidFill>
          <a:ln w="12700">
            <a:solidFill>
              <a:srgbClr val="E4DCC8"/>
            </a:solidFill>
            <a:prstDash val="solid"/>
          </a:ln>
        </p:spPr>
      </p:sp>
      <p:sp>
        <p:nvSpPr>
          <p:cNvPr id="14" name="anim-g3-966"/>
          <p:cNvSpPr/>
          <p:nvPr/>
        </p:nvSpPr>
        <p:spPr>
          <a:xfrm>
            <a:off x="10728655" y="3419856"/>
            <a:ext cx="411480" cy="411480"/>
          </a:xfrm>
          <a:prstGeom prst="ellipse">
            <a:avLst/>
          </a:prstGeom>
          <a:solidFill>
            <a:srgbClr val="D9AE4B"/>
          </a:solidFill>
          <a:ln/>
        </p:spPr>
      </p:sp>
      <p:sp>
        <p:nvSpPr>
          <p:cNvPr id="15" name="anim-g3-967"/>
          <p:cNvSpPr/>
          <p:nvPr/>
        </p:nvSpPr>
        <p:spPr>
          <a:xfrm>
            <a:off x="10728655" y="3419856"/>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٣</a:t>
            </a:r>
            <a:endParaRPr lang="ar-SA" sz="2000" dirty="0"/>
          </a:p>
        </p:txBody>
      </p:sp>
      <p:sp>
        <p:nvSpPr>
          <p:cNvPr id="16" name="anim-g3-968"/>
          <p:cNvSpPr/>
          <p:nvPr/>
        </p:nvSpPr>
        <p:spPr>
          <a:xfrm>
            <a:off x="1097280" y="3328416"/>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٤–٥: المنصة والمعايرة</a:t>
            </a:r>
            <a:pPr algn="r" indent="0" marL="0">
              <a:buNone/>
            </a:pPr>
            <a:r>
              <a:rPr lang="ar-SA" altLang="en-US" sz="1800" b="1" dirty="0">
                <a:solidFill>
                  <a:srgbClr val="3B4460"/>
                </a:solidFill>
                <a:latin typeface="Cairo" pitchFamily="34" charset="0"/>
                <a:ea typeface="Cairo" pitchFamily="34" charset="-122"/>
                <a:cs typeface="Cairo" pitchFamily="34" charset="-120"/>
              </a:rPr>
              <a:t>   — بناء المنصة والمجسمات وجدول العشر محاولات</a:t>
            </a:r>
            <a:endParaRPr lang="ar-SA" sz="2200" dirty="0"/>
          </a:p>
        </p:txBody>
      </p:sp>
      <p:sp>
        <p:nvSpPr>
          <p:cNvPr id="17" name="anim-g4-969"/>
          <p:cNvSpPr/>
          <p:nvPr/>
        </p:nvSpPr>
        <p:spPr>
          <a:xfrm>
            <a:off x="822960" y="4032504"/>
            <a:ext cx="10545775" cy="594360"/>
          </a:xfrm>
          <a:prstGeom prst="roundRect">
            <a:avLst>
              <a:gd name="adj" fmla="val 24615"/>
            </a:avLst>
          </a:prstGeom>
          <a:solidFill>
            <a:srgbClr val="FFFFFF"/>
          </a:solidFill>
          <a:ln w="12700">
            <a:solidFill>
              <a:srgbClr val="E4DCC8"/>
            </a:solidFill>
            <a:prstDash val="solid"/>
          </a:ln>
        </p:spPr>
      </p:sp>
      <p:sp>
        <p:nvSpPr>
          <p:cNvPr id="18" name="anim-g4-970"/>
          <p:cNvSpPr/>
          <p:nvPr/>
        </p:nvSpPr>
        <p:spPr>
          <a:xfrm>
            <a:off x="10728655" y="4123944"/>
            <a:ext cx="411480" cy="411480"/>
          </a:xfrm>
          <a:prstGeom prst="ellipse">
            <a:avLst/>
          </a:prstGeom>
          <a:solidFill>
            <a:srgbClr val="D9AE4B"/>
          </a:solidFill>
          <a:ln/>
        </p:spPr>
      </p:sp>
      <p:sp>
        <p:nvSpPr>
          <p:cNvPr id="19" name="anim-g4-971"/>
          <p:cNvSpPr/>
          <p:nvPr/>
        </p:nvSpPr>
        <p:spPr>
          <a:xfrm>
            <a:off x="10728655" y="4123944"/>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٤</a:t>
            </a:r>
            <a:endParaRPr lang="ar-SA" sz="2000" dirty="0"/>
          </a:p>
        </p:txBody>
      </p:sp>
      <p:sp>
        <p:nvSpPr>
          <p:cNvPr id="20" name="anim-g4-972"/>
          <p:cNvSpPr/>
          <p:nvPr/>
        </p:nvSpPr>
        <p:spPr>
          <a:xfrm>
            <a:off x="1097280" y="4032504"/>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٦–٧: الصوت والسؤال والعملة</a:t>
            </a:r>
            <a:pPr algn="r" indent="0" marL="0">
              <a:buNone/>
            </a:pPr>
            <a:r>
              <a:rPr lang="ar-SA" altLang="en-US" sz="1800" b="1" dirty="0">
                <a:solidFill>
                  <a:srgbClr val="3B4460"/>
                </a:solidFill>
                <a:latin typeface="Cairo" pitchFamily="34" charset="0"/>
                <a:ea typeface="Cairo" pitchFamily="34" charset="-122"/>
                <a:cs typeface="Cairo" pitchFamily="34" charset="-120"/>
              </a:rPr>
              <a:t>   — تسجيل الأصوات وآلية الترس والقضيب</a:t>
            </a:r>
            <a:endParaRPr lang="ar-SA" sz="2200" dirty="0"/>
          </a:p>
        </p:txBody>
      </p:sp>
      <p:sp>
        <p:nvSpPr>
          <p:cNvPr id="21" name="anim-g5-973"/>
          <p:cNvSpPr/>
          <p:nvPr/>
        </p:nvSpPr>
        <p:spPr>
          <a:xfrm>
            <a:off x="822960" y="4736592"/>
            <a:ext cx="10545775" cy="594360"/>
          </a:xfrm>
          <a:prstGeom prst="roundRect">
            <a:avLst>
              <a:gd name="adj" fmla="val 24615"/>
            </a:avLst>
          </a:prstGeom>
          <a:solidFill>
            <a:srgbClr val="FFFFFF"/>
          </a:solidFill>
          <a:ln w="12700">
            <a:solidFill>
              <a:srgbClr val="E4DCC8"/>
            </a:solidFill>
            <a:prstDash val="solid"/>
          </a:ln>
        </p:spPr>
      </p:sp>
      <p:sp>
        <p:nvSpPr>
          <p:cNvPr id="22" name="anim-g5-974"/>
          <p:cNvSpPr/>
          <p:nvPr/>
        </p:nvSpPr>
        <p:spPr>
          <a:xfrm>
            <a:off x="10728655" y="4828032"/>
            <a:ext cx="411480" cy="411480"/>
          </a:xfrm>
          <a:prstGeom prst="ellipse">
            <a:avLst/>
          </a:prstGeom>
          <a:solidFill>
            <a:srgbClr val="D9AE4B"/>
          </a:solidFill>
          <a:ln/>
        </p:spPr>
      </p:sp>
      <p:sp>
        <p:nvSpPr>
          <p:cNvPr id="23" name="anim-g5-975"/>
          <p:cNvSpPr/>
          <p:nvPr/>
        </p:nvSpPr>
        <p:spPr>
          <a:xfrm>
            <a:off x="10728655" y="4828032"/>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٥</a:t>
            </a:r>
            <a:endParaRPr lang="ar-SA" sz="2000" dirty="0"/>
          </a:p>
        </p:txBody>
      </p:sp>
      <p:sp>
        <p:nvSpPr>
          <p:cNvPr id="24" name="anim-g5-976"/>
          <p:cNvSpPr/>
          <p:nvPr/>
        </p:nvSpPr>
        <p:spPr>
          <a:xfrm>
            <a:off x="1097280" y="4736592"/>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الأسبوعان ٨–٩: آلة الحالات والقرار والاختبار</a:t>
            </a:r>
            <a:pPr algn="r" indent="0" marL="0">
              <a:buNone/>
            </a:pPr>
            <a:r>
              <a:rPr lang="ar-SA" altLang="en-US" sz="1800" b="1" dirty="0">
                <a:solidFill>
                  <a:srgbClr val="3B4460"/>
                </a:solidFill>
                <a:latin typeface="Cairo" pitchFamily="34" charset="0"/>
                <a:ea typeface="Cairo" pitchFamily="34" charset="-122"/>
                <a:cs typeface="Cairo" pitchFamily="34" charset="-120"/>
              </a:rPr>
              <a:t>   — الكود الاحترافي والنتائج الفعلية</a:t>
            </a:r>
            <a:endParaRPr lang="ar-SA" sz="2200" dirty="0"/>
          </a:p>
        </p:txBody>
      </p:sp>
      <p:sp>
        <p:nvSpPr>
          <p:cNvPr id="25" name="anim-g6-977"/>
          <p:cNvSpPr/>
          <p:nvPr/>
        </p:nvSpPr>
        <p:spPr>
          <a:xfrm>
            <a:off x="822960" y="5440680"/>
            <a:ext cx="10545775" cy="594360"/>
          </a:xfrm>
          <a:prstGeom prst="roundRect">
            <a:avLst>
              <a:gd name="adj" fmla="val 24615"/>
            </a:avLst>
          </a:prstGeom>
          <a:solidFill>
            <a:srgbClr val="FFFFFF"/>
          </a:solidFill>
          <a:ln w="12700">
            <a:solidFill>
              <a:srgbClr val="E4DCC8"/>
            </a:solidFill>
            <a:prstDash val="solid"/>
          </a:ln>
        </p:spPr>
      </p:sp>
      <p:sp>
        <p:nvSpPr>
          <p:cNvPr id="26" name="anim-g6-978"/>
          <p:cNvSpPr/>
          <p:nvPr/>
        </p:nvSpPr>
        <p:spPr>
          <a:xfrm>
            <a:off x="10728655" y="5532120"/>
            <a:ext cx="411480" cy="411480"/>
          </a:xfrm>
          <a:prstGeom prst="ellipse">
            <a:avLst/>
          </a:prstGeom>
          <a:solidFill>
            <a:srgbClr val="D9AE4B"/>
          </a:solidFill>
          <a:ln/>
        </p:spPr>
      </p:sp>
      <p:sp>
        <p:nvSpPr>
          <p:cNvPr id="27" name="anim-g6-979"/>
          <p:cNvSpPr/>
          <p:nvPr/>
        </p:nvSpPr>
        <p:spPr>
          <a:xfrm>
            <a:off x="10728655" y="5532120"/>
            <a:ext cx="411480" cy="411480"/>
          </a:xfrm>
          <a:prstGeom prst="rect">
            <a:avLst/>
          </a:prstGeom>
          <a:noFill/>
          <a:ln/>
        </p:spPr>
        <p:txBody>
          <a:bodyPr wrap="square" lIns="0" tIns="0" rIns="0" bIns="0" rtlCol="0" anchor="ctr">
            <a:normAutofit/>
          </a:bodyPr>
          <a:lstStyle/>
          <a:p>
            <a:pPr rtl="1" algn="ctr" indent="0" marL="0">
              <a:buNone/>
            </a:pPr>
            <a:r>
              <a:rPr lang="ar-SA" altLang="en-US" sz="2000" dirty="0">
                <a:solidFill>
                  <a:srgbClr val="0A1230"/>
                </a:solidFill>
                <a:latin typeface="Cairo Black" pitchFamily="34" charset="0"/>
                <a:ea typeface="Cairo Black" pitchFamily="34" charset="-122"/>
                <a:cs typeface="Cairo Black" pitchFamily="34" charset="-120"/>
              </a:rPr>
              <a:t>٦</a:t>
            </a:r>
            <a:endParaRPr lang="ar-SA" sz="2000" dirty="0"/>
          </a:p>
        </p:txBody>
      </p:sp>
      <p:sp>
        <p:nvSpPr>
          <p:cNvPr id="28" name="anim-g6-980"/>
          <p:cNvSpPr/>
          <p:nvPr/>
        </p:nvSpPr>
        <p:spPr>
          <a:xfrm>
            <a:off x="1097280" y="5440680"/>
            <a:ext cx="9402775" cy="594360"/>
          </a:xfrm>
          <a:prstGeom prst="rect">
            <a:avLst/>
          </a:prstGeom>
          <a:noFill/>
          <a:ln/>
        </p:spPr>
        <p:txBody>
          <a:bodyPr wrap="square" lIns="0" tIns="0" rIns="0" bIns="0" rtlCol="0" anchor="ctr">
            <a:normAutofit/>
          </a:bodyPr>
          <a:lstStyle/>
          <a:p>
            <a:pPr algn="r" indent="0" marL="0">
              <a:buNone/>
            </a:pPr>
            <a:r>
              <a:rPr lang="ar-SA" altLang="en-US" sz="2200" b="1" dirty="0">
                <a:solidFill>
                  <a:srgbClr val="101B45"/>
                </a:solidFill>
                <a:latin typeface="Cairo Black" pitchFamily="34" charset="0"/>
                <a:ea typeface="Cairo Black" pitchFamily="34" charset="-122"/>
                <a:cs typeface="Cairo Black" pitchFamily="34" charset="-120"/>
              </a:rPr>
              <a:t>الأسبوع ١٠: البوث والفيديو</a:t>
            </a:r>
            <a:pPr algn="r" indent="0" marL="0">
              <a:buNone/>
            </a:pPr>
            <a:r>
              <a:rPr lang="ar-SA" altLang="en-US" sz="1800" b="1" dirty="0">
                <a:solidFill>
                  <a:srgbClr val="3B4460"/>
                </a:solidFill>
                <a:latin typeface="Cairo" pitchFamily="34" charset="0"/>
                <a:ea typeface="Cairo" pitchFamily="34" charset="-122"/>
                <a:cs typeface="Cairo" pitchFamily="34" charset="-120"/>
              </a:rPr>
              <a:t>   — بروفات العرض بلغتين</a:t>
            </a:r>
            <a:endParaRPr lang="ar-SA" sz="2200" dirty="0"/>
          </a:p>
        </p:txBody>
      </p:sp>
      <p:sp>
        <p:nvSpPr>
          <p:cNvPr id="29" name="Text 27"/>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5E6782"/>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5E6782"/>
                </a:solidFill>
                <a:latin typeface="Cairo" pitchFamily="34" charset="0"/>
                <a:ea typeface="Cairo" pitchFamily="34" charset="-122"/>
                <a:cs typeface="Cairo" pitchFamily="34" charset="-120"/>
              </a:rPr>
              <a:t> · صانع الذكريات التراثية</a:t>
            </a:r>
            <a:endParaRPr lang="ar-SA" sz="1200" dirty="0"/>
          </a:p>
        </p:txBody>
      </p:sp>
      <p:sp>
        <p:nvSpPr>
          <p:cNvPr id="30" name="Text 28"/>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5E6782"/>
                </a:solidFill>
                <a:latin typeface="Cairo" pitchFamily="34" charset="0"/>
                <a:ea typeface="Cairo" pitchFamily="34" charset="-122"/>
                <a:cs typeface="Cairo" pitchFamily="34" charset="-120"/>
              </a:rPr>
              <a:t>🎪 البوث والختام  ·  ١٢٩</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400"/>
                                        <p:tgtEl>
                                          <p:spTgt spid="14"/>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4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400"/>
                                        <p:tgtEl>
                                          <p:spTgt spid="17"/>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00"/>
                                        <p:tgtEl>
                                          <p:spTgt spid="1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4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4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400"/>
                                        <p:tgtEl>
                                          <p:spTgt spid="22"/>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400"/>
                                        <p:tgtEl>
                                          <p:spTgt spid="23"/>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animEffect transition="in" filter="fade">
                                      <p:cBhvr>
                                        <p:cTn id="72" dur="40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fade">
                                      <p:cBhvr>
                                        <p:cTn id="77" dur="400"/>
                                        <p:tgtEl>
                                          <p:spTgt spid="25"/>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fade">
                                      <p:cBhvr>
                                        <p:cTn id="80" dur="400"/>
                                        <p:tgtEl>
                                          <p:spTgt spid="2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fade">
                                      <p:cBhvr>
                                        <p:cTn id="83" dur="400"/>
                                        <p:tgtEl>
                                          <p:spTgt spid="27"/>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fade">
                                      <p:cBhvr>
                                        <p:cTn id="86"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name="Slide 1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272223" y="457200"/>
            <a:ext cx="4096512"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7272223" y="457200"/>
            <a:ext cx="4096512"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نشاط ختامي — ثلاث دقائق</a:t>
            </a:r>
            <a:endParaRPr lang="ar-SA" sz="1800" dirty="0"/>
          </a:p>
        </p:txBody>
      </p:sp>
      <p:sp>
        <p:nvSpPr>
          <p:cNvPr id="4" name="Text 2"/>
          <p:cNvSpPr/>
          <p:nvPr/>
        </p:nvSpPr>
        <p:spPr>
          <a:xfrm>
            <a:off x="822960" y="1005840"/>
            <a:ext cx="10545775" cy="868680"/>
          </a:xfrm>
          <a:prstGeom prst="rect">
            <a:avLst/>
          </a:prstGeom>
          <a:noFill/>
          <a:ln/>
        </p:spPr>
        <p:txBody>
          <a:bodyPr wrap="square" lIns="0" tIns="0" rIns="0" bIns="0" rtlCol="0" anchor="ctr">
            <a:normAutofit/>
          </a:bodyPr>
          <a:lstStyle/>
          <a:p>
            <a:pPr rtl="1" algn="r" indent="0" marL="0">
              <a:buNone/>
            </a:pPr>
            <a:r>
              <a:rPr lang="ar-SA" altLang="en-US" sz="3800" dirty="0">
                <a:solidFill>
                  <a:srgbClr val="F0CC7A"/>
                </a:solidFill>
                <a:latin typeface="Cairo Black" pitchFamily="34" charset="0"/>
                <a:ea typeface="Cairo Black" pitchFamily="34" charset="-122"/>
                <a:cs typeface="Cairo Black" pitchFamily="34" charset="-120"/>
              </a:rPr>
              <a:t>محطتي الخامسة</a:t>
            </a:r>
            <a:endParaRPr lang="ar-SA" sz="3800" dirty="0"/>
          </a:p>
        </p:txBody>
      </p:sp>
      <p:sp>
        <p:nvSpPr>
          <p:cNvPr id="5" name="anim-g1-981"/>
          <p:cNvSpPr/>
          <p:nvPr/>
        </p:nvSpPr>
        <p:spPr>
          <a:xfrm>
            <a:off x="10637215" y="2286000"/>
            <a:ext cx="731520" cy="731520"/>
          </a:xfrm>
          <a:prstGeom prst="ellipse">
            <a:avLst/>
          </a:prstGeom>
          <a:solidFill>
            <a:srgbClr val="D9AE4B"/>
          </a:solidFill>
          <a:ln/>
        </p:spPr>
      </p:sp>
      <p:sp>
        <p:nvSpPr>
          <p:cNvPr id="6" name="anim-g1-982"/>
          <p:cNvSpPr/>
          <p:nvPr/>
        </p:nvSpPr>
        <p:spPr>
          <a:xfrm>
            <a:off x="10637215" y="228600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١</a:t>
            </a:r>
            <a:endParaRPr lang="ar-SA" sz="2400" dirty="0"/>
          </a:p>
        </p:txBody>
      </p:sp>
      <p:sp>
        <p:nvSpPr>
          <p:cNvPr id="7" name="anim-g1-983"/>
          <p:cNvSpPr/>
          <p:nvPr/>
        </p:nvSpPr>
        <p:spPr>
          <a:xfrm>
            <a:off x="4023360" y="219456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أي عنصر تراثي من منطقتك تضيفه محطةً خامسة؟</a:t>
            </a:r>
            <a:endParaRPr lang="ar-SA" sz="2200" dirty="0"/>
          </a:p>
        </p:txBody>
      </p:sp>
      <p:sp>
        <p:nvSpPr>
          <p:cNvPr id="8" name="anim-g2-984"/>
          <p:cNvSpPr/>
          <p:nvPr/>
        </p:nvSpPr>
        <p:spPr>
          <a:xfrm>
            <a:off x="10637215" y="3383280"/>
            <a:ext cx="731520" cy="731520"/>
          </a:xfrm>
          <a:prstGeom prst="ellipse">
            <a:avLst/>
          </a:prstGeom>
          <a:solidFill>
            <a:srgbClr val="D9AE4B"/>
          </a:solidFill>
          <a:ln/>
        </p:spPr>
      </p:sp>
      <p:sp>
        <p:nvSpPr>
          <p:cNvPr id="9" name="anim-g2-985"/>
          <p:cNvSpPr/>
          <p:nvPr/>
        </p:nvSpPr>
        <p:spPr>
          <a:xfrm>
            <a:off x="10637215" y="338328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٢</a:t>
            </a:r>
            <a:endParaRPr lang="ar-SA" sz="2400" dirty="0"/>
          </a:p>
        </p:txBody>
      </p:sp>
      <p:sp>
        <p:nvSpPr>
          <p:cNvPr id="10" name="anim-g2-986"/>
          <p:cNvSpPr/>
          <p:nvPr/>
        </p:nvSpPr>
        <p:spPr>
          <a:xfrm>
            <a:off x="4023360" y="329184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ما المعلومة الواحدة التي يتعلمها الطفل منه؟</a:t>
            </a:r>
            <a:endParaRPr lang="ar-SA" sz="2200" dirty="0"/>
          </a:p>
        </p:txBody>
      </p:sp>
      <p:sp>
        <p:nvSpPr>
          <p:cNvPr id="11" name="anim-g3-987"/>
          <p:cNvSpPr/>
          <p:nvPr/>
        </p:nvSpPr>
        <p:spPr>
          <a:xfrm>
            <a:off x="10637215" y="4480560"/>
            <a:ext cx="731520" cy="731520"/>
          </a:xfrm>
          <a:prstGeom prst="ellipse">
            <a:avLst/>
          </a:prstGeom>
          <a:solidFill>
            <a:srgbClr val="D9AE4B"/>
          </a:solidFill>
          <a:ln/>
        </p:spPr>
      </p:sp>
      <p:sp>
        <p:nvSpPr>
          <p:cNvPr id="12" name="anim-g3-988"/>
          <p:cNvSpPr/>
          <p:nvPr/>
        </p:nvSpPr>
        <p:spPr>
          <a:xfrm>
            <a:off x="10637215" y="4480560"/>
            <a:ext cx="731520" cy="731520"/>
          </a:xfrm>
          <a:prstGeom prst="rect">
            <a:avLst/>
          </a:prstGeom>
          <a:noFill/>
          <a:ln/>
        </p:spPr>
        <p:txBody>
          <a:bodyPr wrap="square" lIns="0" tIns="0" rIns="0" bIns="0" rtlCol="0" anchor="ctr">
            <a:normAutofit/>
          </a:bodyPr>
          <a:lstStyle/>
          <a:p>
            <a:pPr rtl="1" algn="ctr" indent="0" marL="0">
              <a:buNone/>
            </a:pPr>
            <a:r>
              <a:rPr lang="ar-SA" altLang="en-US" sz="2400" dirty="0">
                <a:solidFill>
                  <a:srgbClr val="0A1230"/>
                </a:solidFill>
                <a:latin typeface="Cairo Black" pitchFamily="34" charset="0"/>
                <a:ea typeface="Cairo Black" pitchFamily="34" charset="-122"/>
                <a:cs typeface="Cairo Black" pitchFamily="34" charset="-120"/>
              </a:rPr>
              <a:t>٣</a:t>
            </a:r>
            <a:endParaRPr lang="ar-SA" sz="2400" dirty="0"/>
          </a:p>
        </p:txBody>
      </p:sp>
      <p:sp>
        <p:nvSpPr>
          <p:cNvPr id="13" name="anim-g3-989"/>
          <p:cNvSpPr/>
          <p:nvPr/>
        </p:nvSpPr>
        <p:spPr>
          <a:xfrm>
            <a:off x="4023360" y="4389120"/>
            <a:ext cx="6339535" cy="914400"/>
          </a:xfrm>
          <a:prstGeom prst="rect">
            <a:avLst/>
          </a:prstGeom>
          <a:noFill/>
          <a:ln/>
        </p:spPr>
        <p:txBody>
          <a:bodyPr wrap="square" lIns="0" tIns="0" rIns="0" bIns="0" rtlCol="0" anchor="ctr">
            <a:normAutofit/>
          </a:bodyPr>
          <a:lstStyle/>
          <a:p>
            <a:pPr rtl="1" algn="r" indent="0" marL="0">
              <a:buNone/>
            </a:pPr>
            <a:r>
              <a:rPr lang="ar-SA" altLang="en-US" sz="2200" b="1" dirty="0">
                <a:solidFill>
                  <a:srgbClr val="FFFFFF"/>
                </a:solidFill>
                <a:latin typeface="Cairo" pitchFamily="34" charset="0"/>
                <a:ea typeface="Cairo" pitchFamily="34" charset="-122"/>
                <a:cs typeface="Cairo" pitchFamily="34" charset="-120"/>
              </a:rPr>
              <a:t>اكتب سؤالًا بخيارين… وسؤالًا مساعدًا</a:t>
            </a:r>
            <a:endParaRPr lang="ar-SA" sz="2200" dirty="0"/>
          </a:p>
        </p:txBody>
      </p:sp>
      <p:sp>
        <p:nvSpPr>
          <p:cNvPr id="14" name="Shape 12"/>
          <p:cNvSpPr/>
          <p:nvPr/>
        </p:nvSpPr>
        <p:spPr>
          <a:xfrm>
            <a:off x="822960" y="2194560"/>
            <a:ext cx="2834640" cy="2834640"/>
          </a:xfrm>
          <a:prstGeom prst="ellipse">
            <a:avLst/>
          </a:prstGeom>
          <a:solidFill>
            <a:srgbClr val="FFFFFF">
              <a:alpha val="5000"/>
            </a:srgbClr>
          </a:solidFill>
          <a:ln w="88900">
            <a:solidFill>
              <a:srgbClr val="D9AE4B">
                <a:alpha val="50000"/>
              </a:srgbClr>
            </a:solidFill>
            <a:prstDash val="solid"/>
          </a:ln>
        </p:spPr>
      </p:sp>
      <p:sp>
        <p:nvSpPr>
          <p:cNvPr id="15" name="Text 13"/>
          <p:cNvSpPr/>
          <p:nvPr/>
        </p:nvSpPr>
        <p:spPr>
          <a:xfrm>
            <a:off x="822960" y="2834640"/>
            <a:ext cx="2834640" cy="1097280"/>
          </a:xfrm>
          <a:prstGeom prst="rect">
            <a:avLst/>
          </a:prstGeom>
          <a:noFill/>
          <a:ln/>
        </p:spPr>
        <p:txBody>
          <a:bodyPr wrap="square" lIns="0" tIns="0" rIns="0" bIns="0" rtlCol="0" anchor="ctr">
            <a:normAutofit/>
          </a:bodyPr>
          <a:lstStyle/>
          <a:p>
            <a:pPr algn="ctr" indent="0" marL="0">
              <a:buNone/>
            </a:pPr>
            <a:r>
              <a:rPr lang="ar-SA" altLang="en-US" sz="6000" dirty="0">
                <a:solidFill>
                  <a:srgbClr val="F0CC7A"/>
                </a:solidFill>
                <a:latin typeface="Cairo Black" pitchFamily="34" charset="0"/>
                <a:ea typeface="Cairo Black" pitchFamily="34" charset="-122"/>
                <a:cs typeface="Cairo Black" pitchFamily="34" charset="-120"/>
              </a:rPr>
              <a:t>3:00</a:t>
            </a:r>
            <a:endParaRPr lang="ar-SA" sz="6000" dirty="0"/>
          </a:p>
        </p:txBody>
      </p:sp>
      <p:sp>
        <p:nvSpPr>
          <p:cNvPr id="16" name="Text 14"/>
          <p:cNvSpPr/>
          <p:nvPr/>
        </p:nvSpPr>
        <p:spPr>
          <a:xfrm>
            <a:off x="822960" y="3840480"/>
            <a:ext cx="2834640" cy="457200"/>
          </a:xfrm>
          <a:prstGeom prst="rect">
            <a:avLst/>
          </a:prstGeom>
          <a:noFill/>
          <a:ln/>
        </p:spPr>
        <p:txBody>
          <a:bodyPr wrap="square" lIns="0" tIns="0" rIns="0" bIns="0" rtlCol="0" anchor="ctr">
            <a:normAutofit/>
          </a:bodyPr>
          <a:lstStyle/>
          <a:p>
            <a:pPr rtl="1" algn="ctr" indent="0" marL="0">
              <a:buNone/>
            </a:pPr>
            <a:r>
              <a:rPr lang="ar-SA" altLang="en-US" sz="1600" b="1" dirty="0">
                <a:solidFill>
                  <a:srgbClr val="C9CFE6"/>
                </a:solidFill>
                <a:latin typeface="Cairo" pitchFamily="34" charset="0"/>
                <a:ea typeface="Cairo" pitchFamily="34" charset="-122"/>
                <a:cs typeface="Cairo" pitchFamily="34" charset="-120"/>
              </a:rPr>
              <a:t>٣ دقائق</a:t>
            </a:r>
            <a:endParaRPr lang="ar-SA" sz="1600" dirty="0"/>
          </a:p>
        </p:txBody>
      </p:sp>
      <p:sp>
        <p:nvSpPr>
          <p:cNvPr id="17" name="Text 15"/>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18" name="Text 16"/>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البوث والختام  ·  ١٣٠</a:t>
            </a:r>
            <a:endParaRPr lang="ar-SA"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4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name="Slide 1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4852264" y="1188720"/>
            <a:ext cx="2487168" cy="457200"/>
          </a:xfrm>
          <a:prstGeom prst="roundRect">
            <a:avLst>
              <a:gd name="adj" fmla="val 50000"/>
            </a:avLst>
          </a:prstGeom>
          <a:solidFill>
            <a:srgbClr val="3A3A45">
              <a:alpha val="60000"/>
            </a:srgbClr>
          </a:solidFill>
          <a:ln w="12700">
            <a:solidFill>
              <a:srgbClr val="D9AE4B">
                <a:alpha val="60000"/>
              </a:srgbClr>
            </a:solidFill>
            <a:prstDash val="solid"/>
          </a:ln>
        </p:spPr>
      </p:sp>
      <p:sp>
        <p:nvSpPr>
          <p:cNvPr id="3" name="Text 1"/>
          <p:cNvSpPr/>
          <p:nvPr/>
        </p:nvSpPr>
        <p:spPr>
          <a:xfrm>
            <a:off x="4852264" y="1188720"/>
            <a:ext cx="2487168"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F0CC7A"/>
                </a:solidFill>
                <a:latin typeface="Cairo" pitchFamily="34" charset="0"/>
                <a:ea typeface="Cairo" pitchFamily="34" charset="-122"/>
                <a:cs typeface="Cairo" pitchFamily="34" charset="-120"/>
              </a:rPr>
              <a:t>رسالة الدورة</a:t>
            </a:r>
            <a:endParaRPr lang="ar-SA" sz="1800" dirty="0"/>
          </a:p>
        </p:txBody>
      </p:sp>
      <p:sp>
        <p:nvSpPr>
          <p:cNvPr id="4" name="Text 2"/>
          <p:cNvSpPr/>
          <p:nvPr/>
        </p:nvSpPr>
        <p:spPr>
          <a:xfrm>
            <a:off x="914400" y="1920240"/>
            <a:ext cx="10362895" cy="2743200"/>
          </a:xfrm>
          <a:prstGeom prst="rect">
            <a:avLst/>
          </a:prstGeom>
          <a:noFill/>
          <a:ln/>
        </p:spPr>
        <p:txBody>
          <a:bodyPr wrap="square" lIns="0" tIns="0" rIns="0" bIns="0" rtlCol="0" anchor="ctr">
            <a:normAutofit/>
          </a:bodyPr>
          <a:lstStyle/>
          <a:p>
            <a:pPr algn="ctr" indent="0" marL="0">
              <a:lnSpc>
                <a:spcPct val="115000"/>
              </a:lnSpc>
              <a:buNone/>
            </a:pPr>
            <a:r>
              <a:rPr lang="ar-SA" altLang="en-US" sz="4400" dirty="0">
                <a:solidFill>
                  <a:srgbClr val="FFFFFF"/>
                </a:solidFill>
                <a:latin typeface="Cairo Black" pitchFamily="34" charset="0"/>
                <a:ea typeface="Cairo Black" pitchFamily="34" charset="-122"/>
                <a:cs typeface="Cairo Black" pitchFamily="34" charset="-120"/>
              </a:rPr>
              <a:t>لم نصنع لعبة تتحدث عن التراث فحسب…</a:t>
            </a:r>
            <a:endParaRPr lang="ar-SA" sz="4400" dirty="0"/>
          </a:p>
          <a:p>
            <a:pPr algn="ctr" indent="0" marL="0">
              <a:lnSpc>
                <a:spcPct val="115000"/>
              </a:lnSpc>
              <a:buNone/>
            </a:pPr>
            <a:r>
              <a:rPr lang="ar-SA" altLang="en-US" sz="4400" dirty="0">
                <a:solidFill>
                  <a:srgbClr val="F0CC7A"/>
                </a:solidFill>
                <a:latin typeface="Cairo Black" pitchFamily="34" charset="0"/>
                <a:ea typeface="Cairo Black" pitchFamily="34" charset="-122"/>
                <a:cs typeface="Cairo Black" pitchFamily="34" charset="-120"/>
              </a:rPr>
              <a:t> صنعنا تجربة تجعل الطفل يعيش التراث، ويتعلمه، ثم يحمل ذكراه معه</a:t>
            </a:r>
            <a:endParaRPr lang="ar-SA" sz="4400" dirty="0"/>
          </a:p>
        </p:txBody>
      </p:sp>
      <p:sp>
        <p:nvSpPr>
          <p:cNvPr id="5" name="Text 3"/>
          <p:cNvSpPr/>
          <p:nvPr/>
        </p:nvSpPr>
        <p:spPr>
          <a:xfrm>
            <a:off x="7711135" y="6355080"/>
            <a:ext cx="3657600" cy="320040"/>
          </a:xfrm>
          <a:prstGeom prst="rect">
            <a:avLst/>
          </a:prstGeom>
          <a:noFill/>
          <a:ln/>
        </p:spPr>
        <p:txBody>
          <a:bodyPr wrap="square" lIns="0" tIns="0" rIns="0" bIns="0" rtlCol="0" anchor="ctr">
            <a:normAutofit/>
          </a:bodyPr>
          <a:lstStyle/>
          <a:p>
            <a:pPr algn="r" indent="0" marL="0">
              <a:buNone/>
            </a:pPr>
            <a:r>
              <a:rPr lang="ar-SA" altLang="en-US" sz="1200" b="1" dirty="0">
                <a:solidFill>
                  <a:srgbClr val="C9CFE6"/>
                </a:solidFill>
                <a:latin typeface="Cairo" pitchFamily="34" charset="0"/>
                <a:ea typeface="Cairo" pitchFamily="34" charset="-122"/>
                <a:cs typeface="Cairo" pitchFamily="34" charset="-120"/>
              </a:rPr>
              <a:t>🌳 </a:t>
            </a:r>
            <a:pPr algn="r" indent="0" marL="0">
              <a:buNone/>
            </a:pPr>
            <a:r>
              <a:rPr lang="ar-SA" altLang="en-US" sz="1200" b="1" dirty="0">
                <a:solidFill>
                  <a:srgbClr val="D9AE4B"/>
                </a:solidFill>
                <a:latin typeface="Cairo" pitchFamily="34" charset="0"/>
                <a:ea typeface="Cairo" pitchFamily="34" charset="-122"/>
                <a:cs typeface="Cairo" pitchFamily="34" charset="-120"/>
              </a:rPr>
              <a:t>جذور</a:t>
            </a:r>
            <a:pPr algn="r" indent="0" marL="0">
              <a:buNone/>
            </a:pPr>
            <a:r>
              <a:rPr lang="ar-SA" altLang="en-US" sz="1200" b="1" dirty="0">
                <a:solidFill>
                  <a:srgbClr val="C9CFE6"/>
                </a:solidFill>
                <a:latin typeface="Cairo" pitchFamily="34" charset="0"/>
                <a:ea typeface="Cairo" pitchFamily="34" charset="-122"/>
                <a:cs typeface="Cairo" pitchFamily="34" charset="-120"/>
              </a:rPr>
              <a:t> · صانع الذكريات التراثية</a:t>
            </a:r>
            <a:endParaRPr lang="ar-SA" sz="1200" dirty="0"/>
          </a:p>
        </p:txBody>
      </p:sp>
      <p:sp>
        <p:nvSpPr>
          <p:cNvPr id="6" name="Text 4"/>
          <p:cNvSpPr/>
          <p:nvPr/>
        </p:nvSpPr>
        <p:spPr>
          <a:xfrm>
            <a:off x="822960" y="6355080"/>
            <a:ext cx="4572000" cy="320040"/>
          </a:xfrm>
          <a:prstGeom prst="rect">
            <a:avLst/>
          </a:prstGeom>
          <a:noFill/>
          <a:ln/>
        </p:spPr>
        <p:txBody>
          <a:bodyPr wrap="square" lIns="0" tIns="0" rIns="0" bIns="0" rtlCol="0" anchor="ctr">
            <a:normAutofit/>
          </a:bodyPr>
          <a:lstStyle/>
          <a:p>
            <a:pPr rtl="1" algn="l" indent="0" marL="0">
              <a:buNone/>
            </a:pPr>
            <a:r>
              <a:rPr lang="ar-SA" altLang="en-US" sz="1200" b="1" dirty="0">
                <a:solidFill>
                  <a:srgbClr val="C9CFE6"/>
                </a:solidFill>
                <a:latin typeface="Cairo" pitchFamily="34" charset="0"/>
                <a:ea typeface="Cairo" pitchFamily="34" charset="-122"/>
                <a:cs typeface="Cairo" pitchFamily="34" charset="-120"/>
              </a:rPr>
              <a:t>🎪 البوث والختام  ·  ١٣١</a:t>
            </a:r>
            <a:endParaRPr lang="ar-SA" sz="12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615788" y="914400"/>
            <a:ext cx="960120" cy="960120"/>
          </a:xfrm>
          <a:prstGeom prst="roundRect">
            <a:avLst>
              <a:gd name="adj" fmla="val 26667"/>
            </a:avLst>
          </a:prstGeom>
          <a:solidFill>
            <a:srgbClr val="D9AE4B"/>
          </a:solidFill>
          <a:ln/>
        </p:spPr>
      </p:sp>
      <p:sp>
        <p:nvSpPr>
          <p:cNvPr id="3" name="Text 1"/>
          <p:cNvSpPr/>
          <p:nvPr/>
        </p:nvSpPr>
        <p:spPr>
          <a:xfrm>
            <a:off x="5615788" y="914400"/>
            <a:ext cx="960120" cy="960120"/>
          </a:xfrm>
          <a:prstGeom prst="rect">
            <a:avLst/>
          </a:prstGeom>
          <a:noFill/>
          <a:ln/>
        </p:spPr>
        <p:txBody>
          <a:bodyPr wrap="square" lIns="0" tIns="0" rIns="0" bIns="0" rtlCol="0" anchor="ctr">
            <a:normAutofit/>
          </a:bodyPr>
          <a:lstStyle/>
          <a:p>
            <a:pPr rtl="1" algn="ctr" indent="0" marL="0">
              <a:buNone/>
            </a:pPr>
            <a:r>
              <a:rPr lang="ar-SA" altLang="en-US" sz="4400" dirty="0">
                <a:solidFill>
                  <a:srgbClr val="131B34"/>
                </a:solidFill>
                <a:latin typeface="Cairo" pitchFamily="34" charset="0"/>
                <a:ea typeface="Cairo" pitchFamily="34" charset="-122"/>
                <a:cs typeface="Cairo" pitchFamily="34" charset="-120"/>
              </a:rPr>
              <a:t>🌳</a:t>
            </a:r>
            <a:endParaRPr lang="ar-SA" sz="4400" dirty="0"/>
          </a:p>
        </p:txBody>
      </p:sp>
      <p:sp>
        <p:nvSpPr>
          <p:cNvPr id="4" name="Text 2"/>
          <p:cNvSpPr/>
          <p:nvPr/>
        </p:nvSpPr>
        <p:spPr>
          <a:xfrm>
            <a:off x="0" y="2194560"/>
            <a:ext cx="12191695" cy="1280160"/>
          </a:xfrm>
          <a:prstGeom prst="rect">
            <a:avLst/>
          </a:prstGeom>
          <a:noFill/>
          <a:ln/>
        </p:spPr>
        <p:txBody>
          <a:bodyPr wrap="square" lIns="0" tIns="0" rIns="0" bIns="0" rtlCol="0" anchor="ctr">
            <a:normAutofit/>
          </a:bodyPr>
          <a:lstStyle/>
          <a:p>
            <a:pPr rtl="1" algn="ctr" indent="0" marL="0">
              <a:buNone/>
            </a:pPr>
            <a:r>
              <a:rPr lang="ar-SA" altLang="en-US" sz="8000" dirty="0">
                <a:solidFill>
                  <a:srgbClr val="FFF3D6"/>
                </a:solidFill>
                <a:latin typeface="Cairo Black" pitchFamily="34" charset="0"/>
                <a:ea typeface="Cairo Black" pitchFamily="34" charset="-122"/>
                <a:cs typeface="Cairo Black" pitchFamily="34" charset="-120"/>
              </a:rPr>
              <a:t>شكرًا لكم</a:t>
            </a:r>
            <a:endParaRPr lang="ar-SA" sz="8000" dirty="0"/>
          </a:p>
        </p:txBody>
      </p:sp>
      <p:sp>
        <p:nvSpPr>
          <p:cNvPr id="5" name="Text 3"/>
          <p:cNvSpPr/>
          <p:nvPr/>
        </p:nvSpPr>
        <p:spPr>
          <a:xfrm>
            <a:off x="0" y="3566160"/>
            <a:ext cx="12191695" cy="640080"/>
          </a:xfrm>
          <a:prstGeom prst="rect">
            <a:avLst/>
          </a:prstGeom>
          <a:noFill/>
          <a:ln/>
        </p:spPr>
        <p:txBody>
          <a:bodyPr wrap="square" lIns="0" tIns="0" rIns="0" bIns="0" rtlCol="0" anchor="ctr">
            <a:normAutofit/>
          </a:bodyPr>
          <a:lstStyle/>
          <a:p>
            <a:pPr rtl="1" algn="ctr" indent="0" marL="0">
              <a:buNone/>
            </a:pPr>
            <a:r>
              <a:rPr lang="ar-SA" altLang="en-US" sz="2800" b="1" dirty="0">
                <a:solidFill>
                  <a:srgbClr val="FFFFFF"/>
                </a:solidFill>
                <a:latin typeface="Cairo" pitchFamily="34" charset="0"/>
                <a:ea typeface="Cairo" pitchFamily="34" charset="-122"/>
                <a:cs typeface="Cairo" pitchFamily="34" charset="-120"/>
              </a:rPr>
              <a:t>تراث نعيشه… وذكرى نحملها</a:t>
            </a:r>
            <a:endParaRPr lang="ar-SA" sz="2800" dirty="0"/>
          </a:p>
        </p:txBody>
      </p:sp>
      <p:sp>
        <p:nvSpPr>
          <p:cNvPr id="6" name="Shape 4"/>
          <p:cNvSpPr/>
          <p:nvPr/>
        </p:nvSpPr>
        <p:spPr>
          <a:xfrm>
            <a:off x="5364328" y="4434840"/>
            <a:ext cx="1463040" cy="36576"/>
          </a:xfrm>
          <a:prstGeom prst="rect">
            <a:avLst/>
          </a:prstGeom>
          <a:solidFill>
            <a:srgbClr val="D9AE4B"/>
          </a:solidFill>
          <a:ln/>
        </p:spPr>
      </p:sp>
      <p:sp>
        <p:nvSpPr>
          <p:cNvPr id="7" name="Text 5"/>
          <p:cNvSpPr/>
          <p:nvPr/>
        </p:nvSpPr>
        <p:spPr>
          <a:xfrm>
            <a:off x="0" y="4846320"/>
            <a:ext cx="12191695" cy="457200"/>
          </a:xfrm>
          <a:prstGeom prst="rect">
            <a:avLst/>
          </a:prstGeom>
          <a:noFill/>
          <a:ln/>
        </p:spPr>
        <p:txBody>
          <a:bodyPr wrap="square" lIns="0" tIns="0" rIns="0" bIns="0" rtlCol="0" anchor="ctr">
            <a:normAutofit/>
          </a:bodyPr>
          <a:lstStyle/>
          <a:p>
            <a:pPr rtl="1" algn="ctr" indent="0" marL="0">
              <a:buNone/>
            </a:pPr>
            <a:r>
              <a:rPr lang="ar-SA" altLang="en-US" sz="1800" b="1" dirty="0">
                <a:solidFill>
                  <a:srgbClr val="C9CFE6"/>
                </a:solidFill>
                <a:latin typeface="Cairo" pitchFamily="34" charset="0"/>
                <a:ea typeface="Cairo" pitchFamily="34" charset="-122"/>
                <a:cs typeface="Cairo" pitchFamily="34" charset="-120"/>
              </a:rPr>
              <a:t>صانع الذكريات التراثية · إعداد وتقديم: أ. محمد زيتون</a:t>
            </a:r>
            <a:endParaRPr lang="ar-SA"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132</Slides>
  <Notes>132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132</vt:i4>
      </vt:variant>
    </vt:vector>
  </HeadingPairs>
  <TitlesOfParts>
    <vt:vector size="1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صانع الذكريات التراثية</dc:title>
  <dc:subject>PptxGenJS Presentation</dc:subject>
  <dc:creator>أ. محمد زيتون</dc:creator>
  <cp:lastModifiedBy>أ. محمد زيتون</cp:lastModifiedBy>
  <cp:revision>1</cp:revision>
  <dcterms:created xsi:type="dcterms:W3CDTF">2026-10-02T16:38:29Z</dcterms:created>
  <dcterms:modified xsi:type="dcterms:W3CDTF">2026-10-02T16:38:29Z</dcterms:modified>
</cp:coreProperties>
</file>