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Lst>
  <p:notesMasterIdLst>
    <p:notesMasterId r:id="rId1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notesMaster" Target="notesMasters/notesMaster1.xml"/><Relationship Id="rId161" Type="http://schemas.openxmlformats.org/officeDocument/2006/relationships/presProps" Target="presProps.xml"/><Relationship Id="rId162" Type="http://schemas.openxmlformats.org/officeDocument/2006/relationships/viewProps" Target="viewProps.xml"/><Relationship Id="rId163" Type="http://schemas.openxmlformats.org/officeDocument/2006/relationships/theme" Target="theme/theme1.xml"/><Relationship Id="rId1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بالمعلمين. قل: «في الدورتين السابقتين علّمنا الأردوينو أن يحسّ ويتحرك. اليوم نبني له جسدًا كاملًا: سيارة تفكر وحدها».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بنفسك في أقل من دقيقة، ثم انتقل مباشرة إلى الشريحة التالية: هي التي ستصنع الدهشة.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الشريحة تعمل ثوانيَ في صمت: السيارة تدور على الحلبة، والمهارات الست تضيء واحدة بعد الأخرى. ثم قل: «كل مهارة من هذه محور في دورتنا، وفي نهاية الدورة ستعلّم طلابك المهارات الست كلها على السيارة نفسها».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«أي هذه الروبوتات يشبه سيارتنا أكثر؟» الجواب: كلها! فكل واحد منها يحسّ ثم يقرر ثم يتحرك على عجلات.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 التدرج: لا ذكاء بلا جسد سليم. أكثر الفرق تخسر المسابقات لأن سيارتها تنحرف أو بطاريتها ضعيفة، لا لأن كودها سيئ.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الجملة هي الفرق بين الاستهلاك والإنتاج. اطلب من المعلمين أن يتذكروها في أول حصة.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أحضر سيارة حقيقية إن أمكن، وضعها أمام المتدربين. سنفككها معًا على الشاشة قطعة قطعة.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بالسؤال: «ما أهم قطعة في السيارة؟» أغلب الإجابات: الأردوينو. ثم انقر البطارية وقل: «بدون هذه لا شيء يعمل». ثم انقر العجلة الحرة: «بدون هذه تنقلب السيارة». الفكرة: كل قطعة ضرورية. ثم اضغط «فكّك السيارة» ودع المتدربين يتأملون القطع متفرقة، واسألهم عن ترتيب التركيب. لاحظ أن كل قطعة تخبرك بالمحور الذي سنتعمق فيه.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الأنواع الثلاثة الأولى كلها تستدير بالفكرة نفسها: فرق السرعة بين الجانبين. وهذا موضوع المحور الثاني. الميكانوم مثير جدًا للطلاب لكنه أعقد وأغلى؛ اذكره كتحدٍّ للمتقدمين.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الكبرى: الجسد واحد، والكود يصنع الشخصية. السيارة نفسها بالقطع نفسها تصبح ستة روبوتات مختلفة. نبني كل روبوت وحده أولًا، ثم ندمج الخط والعوائق في روبوت رابع، لأن الدمج لا ينجح إلا إذا أتقنّا كل مهارة منفردة. اسأل: «أي روبوت تتوقعون أنه سيُعجب طلابكم أكثر؟» غالبًا السومو!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التروس تبادل السرعة بالقوة: دراجة بترس كبير تصعد الجبل بسهولة لكن ببطء. هذا ما تفعله تروس المحرك الأصفر. ملاحظة: الأرقام تختلف قليلًا بين الشركات؛ قيسوها بأنفسكم في المحور الثاني.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حرّك سرعة المحرك وقطر العجلة، وراقب المعادلتين تتغيران. عند ٢٠٠ دورة وعجلة ٦٥ مم: نحو ٦٨ سم في الثانية، أي تعبر فصلًا طوله ٨ أمتار في ١٢ ثانية تقريبًا. اضغط «انطلق في سباق». سؤال للفصل: «لو كبّرنا العجلة إلى ١٠٠ مم، هل تصبح السيارة أسرع؟» نعم، لكنها تحتاج قوة أكبر من المحرك. هذا ربط حقيقي بين الرياضيات (المحيط π×ق) والهندسة.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التجربة الأخيرة ممتعة جدًا: ضعوا علامة على العجلة، ودحرجوها عشر دورات على الأرض، وقيسوا. الفرق بين الحساب والقياس يفتح نقاشًا عن الانزلاق ودقة القياس.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هو سر الأسرار: كيف تستدير سيارة ليس لها مقود؟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«سيارتنا ليس لها مقود، فكيف ستدخل المنعطف؟» اسمع التخمينات، ثم قل: «الجواب في الدبابة».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جرّبها بجسدك: اطلب من متطوعَين أن يمسكا يدي بعضهما ويمشيا كعجلتين. إن أسرع الأيمن انعطفا يسارًا. إن مشى واحد للأمام والآخر للخلف دارا في مكانهما. التعلم بالجسد لا يُنسى.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بالأزرار الجاهزة: «للأمام» ثم «في مكانها» ثم «منعطف واسع» ثم «محور على عجلة». راقب في كل مرة الأرقام الثلاثة: v سرعة السيارة، وω سرعة الاستدارة (موجبة = يسارًا)، وR نصف قطر المنعطف. لاحظ: «في مكانها» يجعل R صفرًا، و«للأمام» يجعل R لانهائيًا. جرّب سرعة ٤٠ على العجلتين: لا تتحرك! تحت ٥٠ لا يتغلب المحرك على الاحتكاك، وهذا يحدث في السيارة الحقيقية. ثم اضغط «التحدي»: من يوصل السيارة إلى العلم أسرع؟ دع المتدربين يتسابقون؛ هذه الشريحة تصنع حماسًا كبيرًا.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لطلاب المرحلة الثانوية: هذه معادلات حقيقية يستخدمها مهندسو الروبوتات في كل العالم. لطلاب المتوسطة: يكفي أن يفهموا «الفرق يصنع الاستدارة».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معايرة سريع: شريط لاصق مستقيم طوله مترين على الأرض. كل مجموعة تعدّل الرقم حتى تبقى السيارة على الشريط. سيكتشفون أن الرقم يتغير مع ضعف البطارية؛ وهذا تمهيد ممتاز لفكرة PID في المحور السابع.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النشاط يربط الهندسة (زوايا المضلعات الخارجية) بالبرمجة. سؤال ذكي: «كم ثانية دوران للمثلث مقارنة بالمربع؟» زاوية المثلث الخارجية ١٢٠ درجة مقابل ٩٠ للمربع.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نهاية العيّنة الأولى. المحور التالي: الطاقة والبطاريات، ثم التركيب الكامل.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«في المسابقات، أكثر فريق يبكي هو الذي نسي شحن بطاريته. الكود ممتاز، والسيارة تزحف ببطء». هذا المحور يحمي طلابك من هذه الدموع.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التشبيه: الجهد هو ضغط الماء في الأنبوب، والسعة هي حجم الخزان. خزان كبير بضغط ضعيف لا يدير الطاحونة، وضغط قوي من خزان صغير ينفد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بالبطارية المربعة ٩ فولت: الجهد جيد، لكن زمن التشغيل دقائق معدودة! لأن سعتها صغيرة جدًا. ثم ٤ × AA: الجهد ٦ فولت، يأكل الدرايفر ٢ منها فيصل للمحرك ٤ فقط، والأردوينو لا يأخذ حاجته عبر VIN. ثم ٢ × 18650: الاختيار الذي تستخدمه أغلب فرق المسابقات. شغّل الرادار والبلوتوث وراقب الزمن ينقص. الأرقام هنا تقريبية لتوضيح الفكرة، والسعة المحسوبة هي «الفعلية» تحت حمل المحركات، وهي أقل مما يُكتب على البطارية.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بطاريات 18650 آمنة تمامًا مع هذه القواعد، وهي في كل حاسوب محمول. القاعدة السادسة مهمة في المدارس: اجعل الشحن مسؤوليتك وحدك.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الحالتين: الأرضي مشترك. وتنبيه مهم: لا توصل USB الحاسوب ومصدرًا خارجيًا على منفذ 5V في الوقت نفسه؛ ارفع الكود أولًا ثم افصل USB وشغّل البطارية.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علمي حقيقي: متغير مستقل (نوع البطارية) ومتغير تابع (الزمن). استخدموا مقياس البطارية من الشريحة السابقة لتسجيل الجهد آليًا.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نركّب السيارة كاملة بأيدينا، قطعة قطعة وسلكًا سلكًا.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 الحقائب الآن إن كانت متوفرة. اطلب من كل مجموعة فرز القطع على الطاولة قبل أي تركيب، ومطابقتها بقائمة الحقيبة.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العادات تُعلَّم مرة وتبقى للأبد. اجعل مجموعة «مراقب الجودة» تمر على الطاولات وتتحقق 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مع المتدربين خطوة بخطوة، وهم يركّبون على طاولاتهم بالتوازي. أكثر خطأ: محركان في الاتجاه نفسه بدل أن يتقابلا كالمرآة. ثاني خطأ: العجلة الحرة أقصر فتميل السيارة للخلف. في الخطوة الأخيرة اطلب من كل مجموعة هز سيارتها: أي قطعة تهتز تُشد الآن، لا بعد أن تبدأ السيارة بالتحرك.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المفتاح على OFF طوال التوصيل! السلك الرابع (الأرضي المشترك) هو أكثر سلك يُنسى في العالم كله؛ اجعل المتدربين يقولونه بصوت عالٍ. انتبه للغطاءين على ENA وENB: يُنزعان ليتحكم الأردوينو في السرعة. والغطاء الثالث «5V-EN» يبقى في مكانه ما دامت البطارية ١٢ فولت أو أقل.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اطبع هذه البطاقات وعلّقها في المعمل. الطالب الذي يشخّص العطل بنفسه تعلّم أكثر من الذي نجح من أول مرة.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كل بند مع المتدربين، وهم يفحصون سياراتهم فعلًا. حين تكتمل القائمة تظهر «جاهزة للانطلاق». حوّلها إلى طقس ثابت قبل كل تشغيل، كما يفعل الطيارون قبل الإقلاع.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الأدوار تنقل المجموعة من «طالب يعمل وثلاثة يتفرجون» إلى فريق حقيقي. وهي نفس أدوار فرق المسابقات العالمية.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الروبوت الأول، نقوده بالجوال عبر البلوتوث.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روبوت في الأكاديمية، وأكثرها إبهارًا للطلاب في البداية: يقودون سيارتهم من هواتفهم. لكنه ليس «ذكيًا» بعد: الإنسان هو من يقرر. في المحاور التالية تقرر السيارة وحدها.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الذكية: لا نرسل أوامر معقدة، بل حرفًا واحدًا لكل حركة. F للأمام (Forward)، B للخلف (Back)، L يسار، R يمين، S قف (Stop). هذا «بروتوكول» صغير اتفقنا عليه بين الجوال والسيارة.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 مطولًا ثم اتركه: لاحظ أن التطبيق يرسل F عند الضغط وS عند الترك، لهذا تقف السيارة حين ترفع إصبعك. راقب سجل الحروف تحت الجوال، والسطر المضاء في الكود. ثم غيّر السرعة: يُرسل رقم من 0 إلى 9، والكود يحوّله إلى speed. تحدٍّ للمتدربين: «مرّوا بين الأقماع الخمسة دون لمسها».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قاعدة ذهبية: TX يذهب إلى RX، وRX إلى TX، كمن يتكلم ومن يسمع. لماذا المنفذان 2 و3 لا 0 و1؟ لأن 0 و1 يستخدمهما الحاسوب لرفع الكود؛ لو وصلنا البلوتوث عليهما لفشل الرفع. لهذا نستخدم مكتبة SoftwareSerial.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تصميم التطبيق بـ App Inventor مشروع رائع لدمج البرمجة بالتصميم. أما فرق الآيفون فاجعلها تستخدم أجهزة أندرويد من المدرسة، أو وحدة HM-10.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التحدي الأخير (للخلف فقط) يكشف فهم الدفع التفاضلي: اليمين واليسار ينعكسان في أذهان الطلاب.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الروبوت الثاني يقرر وحده لأول مرة، بعيون ترى الخط على الأرض.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أشهر روبوت تعليمي في العالم، وأكثر المسابقات انتشارًا. ستبنيه وحده أولًا، ثم ترقّيه بـ PID في المحور السابع، ثم تدمجه مع تجنب العوائق في المحور التاسع.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ذكّرهم بحساس IR من الجزء الثاني: الأبيض يعكس الضوء فيقرأ LOW، والأسود يمتصه فيقرأ HIGH في أغلب الوحدات. في كل محاكيات هذا المحور: ١ = أسود.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ارتفاع الحساسات عن الأرض بين ١ و٢ سم هو سر النجاح. أعلى من ذلك تضعف القراءة، وأقرب منه تحتك بالأرض. واضبطوا مقبض كل حساس فوق الحلبة الحقيقية لا فوق الطاولة.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بحساسين على «حلبة التدريب»: يكمل اللفات بكل السرعات، وراقب تمايله بين اليمين واليسار. ثم انتقل إلى «حلبة البطولة» بحساسين: سيضيع في المنعطف المزدوج مهما كانت سرعته! هنا تسأل: «ماذا ينقصه؟» ثم بدّل إلى ثلاثة حساسات: «الذاكرة» last تعيده إلى الخط فيكمل الحلبة. ثم خمسة: يكمل أيضًا وأسرع قليلًا وبنعومة أكبر لأنه يعرف مقدار ابتعاده. سجّلوا أفضل زمن لفة لكل إعداد في جدول على السبورة: هذا بحث علمي حقيقي بمتغير واحد. (اللفة الواحدة تأخذ من ١٠ إلى ٢٠ ثانية حسب السرعة.)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الإضاءة القوية من النافذة قد تُربك الحساسات. وسطح لامع يعكس الضوء حتى فوق الأسود أحيانًا. اختبروا الحلبة بالحساس قبل يوم المسابقة.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الجدول يمهّد طبيعيًا للمحور السابع: «كيف نجعل الروبوت سريعًا وناعمًا معًا؟» الجواب: PID.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نرقّي هذا الروبوت بأذكى خوارزمية في عالم التحكم: PID.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«في المحور السابق كان الروبوت إما ينعطف بكامل قوته أو لا ينعطف. اليوم نعلّمه أن ينعطف بمقدار الخطأ: قليلًا إن ابتعد قليلًا، وكثيرًا إن ابتعد كثيرًا». هذه الخوارزمية في مثبّت السرعة بالسيارة، والطائرة المسيّرة، ومكيف البيت.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تشبيه D المفضل عندي: حين تركن سيارتك قرب جدار، تخفف الفرامل كلما اقتربت بسرعة، قبل أن تصل. لهذا يمنع D التجاوز والتذبذب. ولهذا نبني عادة PD لمتتبع الخط، ونترك I صفرًا.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المحاكي نحسب الخطأ بالسنتيمتر كما تفعل الحساسات التماثلية الدقيقة، والفكرة واحدة: رقم يخبرنا أين الخط وكم ابتعدنا عنه.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الأزرار الجاهزة بالترتيب. «P ضعيف» (Kp = 8): التصحيح أضعف من المنعطف فيضيع الروبوت. «P قوي فقط» (Kp = 60): يلحق بالخط لكنه يتمايل يمينًا ويسارًا، وانظر الموجة الكبيرة على الراسم، وزمن اللفة نحو ١٦ ثانية. «P + D» (Kd = 2): الموجة تهدأ، ومتوسط الخطأ ينخفض إلى الربع تقريبًا، وزمن اللفة نحو ١٢ ثانية! نفس السرعة الأساسية، ونفس الحساسات، فقط كود أذكى. في المحاكي قصور حقيقي للمحرك (لا يغيّر سرعته فورًا) وحلقة تحكم كل ٤٠ مللي ثانية، ولهذا يظهر التذبذب كما في الواقع.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ما يفعله المهندسون في المصانع، ونسميه الضبط اليدوي. الجدول الذي يسجله الطلاب هو أفضل تقييم لفهمهم.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الرسم البياني في النهاية يحوّل التجربة إلى علم: الطلاب يرون «القيمة المثلى» بأعينهم.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الروبوت الثالث، يرى العوائق برادار ويختار طريقه.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الجزء الثاني بنينا روبوتًا يرى أمامه فقط ويستدير دائمًا يمينًا. اليوم نعطيه رقبة: سيرفو يدير الحساس يمينًا ويسارًا، فيقارن ويختار.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«ماذا تفعل حين تقف أمام جدار في ممر؟» تنظر يمينًا ويسارًا. الروبوت سيفعل الشيء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ثبّتوا الحساس بإحكام، فاهتزازه يعطي قراءات خاطئة. واضبطوا السيرفو على ٩٠ قبل تثبيت الذراع، حتى ينظر الحساس للأمام تمامًا عند write(90).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«انطلق»: يمشي حتى يقترب من عائق ٢٥ سم، ثم يقف ويلتفت يمينًا (٣٠ درجة) ثم يسارًا (١٥٠)، وتظهر القراءتان نقطتين على شاشة الرادار، ثم يختار الأوسع. اسحب صندوقًا لتسد الجهة الأوسع وراقب قراره يتغير. لاحظ السطر المضاء في الكود مع كل مرحلة.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 في الروبوتات الحقيقية: دمج أكثر من حساس. وهذا ما نفعله في المحور التالي: الخط والمسافة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سجّلوا الاصطدامات قبل التحسين وبعده: دليل رقمي على أثر البرمجة.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نجمع الروبوت الثاني والثالث في روبوت واحد.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تحدٍّ حقيقي من مسابقات الإنقاذ العالمية (RoboCup Junior Rescue Line): الروبوت يتبع خطًا، ويجد عائقًا فوقه، فيلتف حوله ويكمل. نحن جاهزون لأننا أتقنّا كل مهارة وحدها.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فكرة «الطبقات» المستخدمة في الروبوتات الحقيقية: طبقة الأمان فوق طبقة المهمة. الطالب الذي يفهمها يستطيع دمج أي مهارتين لاحقًا.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ارسم المناورة على السبورة بالطباشير قبل المحاكي. اسأل: «لماذا القوس نحو اليسار بعد الاستدارة يمينًا؟» لأن العائق صار على يسارنا، والخط خلفه.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«انطلق»: يتبع الخط بالحساسات الثلاثة، والشعاع الأخضر يقيس أمامه. حين يقترب العائق أقل من ١٥ سم يحمر الشعاع، وتبدأ المناورة، وتتغير «الحالة» والسطر المضاء في الكود. بعد أن يعود إلى الخط يزيد عدّاد «عوائق تجاوزها». اسحب صندوقًا إلى مكان جديد على الخط وراقب: المناورة نفسها تعمل في أي مكان. سؤال للنقاش: «ماذا لو كان العائق كبيرًا جدًا؟» يحتاج القوس أن يكون أوسع: رقم واحد في الكود.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التحدي الأخير يقود الطلاب إلى فكرة «القرار التكيّفي»، أعلى مستويات التفكير في هذه الدورة.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الروبوت الخامس، المصارع: السومو!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أكثر روبوت يصنع الحماس في المدارس! مصارعة السومو اليابانية، لكن بروبوتات. شاهدوا مقطعًا قصيرًا لمسابقة سومو روبوتات قبل البدء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قوانين فئة «الميني سومو» الشائعة في المدارس، وقد تختلف تفاصيلها قليلًا بين المسابقات؛ اقرؤوا دائمًا كتيّب المسابقة التي ستشاركون فيها. سيارتنا في الأكاديمية أكبر من ١٠ سم، فللسومو نبني هيكلًا مصغرًا بالقطع نفسها، أو نقيم بطولة مدرسية بحلبة أكبر.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لاحظوا: نفس فكرة «الأولوية» من المحور التاسع. الأمان (الحافة) أولًا دائمًا، حتى قبل الهجوم!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بخصم «يتجول»، واضغط «ابدأ النزال»: عد تنازلي ٥ ثوانٍ (قانون السومو)، ثم يبحث روبوتنا بالدوران، فإذا رأى الخصم احمر الشعاع واندفع. راقب السطر المضاء في الكود. ثم التجربة الأهم: افصل «حساسات الحافة» وأعد النزال: كثيرًا ما يخرج روبوتنا بنفسه وهو يطارد! هذا يثبت لماذا الحافة أولًا. جرّب «المهاجم الذكي» وخفّض سرعة الهجوم: الأقوى دفعًا يفوز عند التصادم.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الدرس الكبير: في السومو، الميكانيكا نصف الفوز. روبوت بكود عادي وشفرة ممتازة يهزم روبوتًا بكود رائع وتصميم ضعيف.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البطولة المدرسية تجذب طلابًا لم يهتموا بالبرمجة من قبل. جوائز التصميم والروح الرياضية تعطي فرصة للجميع.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الروبوت السادس والأخير، يحل المتاهات.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«لو دخلتَ متاهة مظلمة، كيف تضمن الخروج؟» الجواب قاعدة قديمة جدًا: المس الجدار بيدك اليمنى وامشِ ولا ترفعها. هذه القاعدة تخرجك من أي متاهة جدرانها متصلة.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الترتيب هو السر: اليمين أولًا دائمًا. جرّبوها على متاهة مرسومة على الورق بإصبع قبل المحاكي.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«انطلق» وراقب الروبوت يلتزم بالجدار الأيمن ويدخل الطرق المسدودة ثم يرجع، حتى يصل إلى 🏁. اضغط «⏭ خطوة» لتشرح قرارًا قرارًا مع السطر المضاء. ثم «متاهة جديدة»: القاعدة تنجح في كل متاهة! ثم جرّب «اليد اليسرى» على المتاهة نفسها وقارن عدد الخطوات: أحيانًا أقل وأحيانًا أكثر. سؤال للتفكير: «هل هي أقصر طريق؟» لا، لكنها طريق مضمون.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مسابقة Micromouse العالمية: روبوت صغير يستكشف المتاهة أولًا ويرسم خريطتها، ثم يركض في أقصر طريق. مثال رائع لطلاب المرحلة الثانوية الطموحين.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حل المتاهة بالقلم أولًا يجعل البرمجة ترجمة لشيء فهموه، لا تجربة عمياء.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بهذا اكتملت الروبوتات الستة! المحور التالي: كيف تأخذ طلابك إلى المسابقات العالمية.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ما تعلمناه هو بالضبط ما تطلبه المسابقات العالمية. الفرق ليس في المعرفة، بل في الإعداد والتنظيم. هذا المحور خطة عمل للمعلم.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تتغير القوانين والفئات كل موسم، فاقرأ دائمًا الكتيب الرسمي للموسم الحالي على موقع كل مسابقة. ابدأ بالبطولة المدرسية ثم السومو المحلي، ثم انتقل إلى WRO أو RoboCup Junior.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تقنع الإدارة: الدورة ليست ترفًا، بل إعداد مباشر لمسابقات عالمية.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كثير من المسابقات يسأل الحكام أي عضو عن أي جزء. لذلك: لكل دور مسؤول، لكن الجميع يفهم الجميع. بدّلوا الأدوار بين المشاريع.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أهم شهر هو شهر الضبط. الفرق الفائزة ليست الأذكى، بل التي جرّبت أكثر على حلبة تشبه حلبة المسابقة.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اطبعوا هذه القائمة وعلّقوها على حقيبة الفريق. حين تكتمل تظهر رسالة الانطلاق.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قصة متكررة: فريق ضبط حساساته في الفصل ثم فشل تحت أضواء القاعة القوية. اجعل «المعايرة في المكان» عادة.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البطولة التجريبية تكشف ٩٠٪ من المشكلات قبل اليوم الحقيقي، وتنزع رهبة الطلاب.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الأخير: الختام، وفعالية «سباق الأبطال».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لحظة الحصاد. اعرض على المتدربين صور أو مقاطع ما بنوه خلال الدورة إن كانت لديك.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عند كل محطة: «ما أصعب لحظة واجهتكم هنا؟ وكيف حللتموها؟» الإجابات هي التعلم الحقيقي.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فريق يمر بالمحطات الأربع بالسيارة نفسها، ويغيّر الكود فقط بين المحطات: هذا يثبت الفكرة الكبرى «الجسد واحد، والكود يصنع الشخصية». ادعُ أولياء الأمور والإدارة: أجمل يوم في العام الدراسي.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المعيار الثالث (الضبط بالتجربة) هو قلب هذه الأكاديمية: التفكير العلمي، لا الحظ.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حصتان أسبوعيًا تكفيان. إن كان الوقت أقل: اجعل المتاهة مشروعًا اختياريًا، ولا تختصر الدمج؛ هو قمة التفكير في الدورة.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ثلاثة معلمين مشاركة إجاباتهم. والتزام «أول خطوة هذا الأسبوع» هو أهم ما يخرج به المعلم.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اشكر المعلمين، وذكّرهم بأن كل المحاكيات متاحة على منصة جذور ليستخدموها مع طلابهم في الفصل.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image" Target="../media/image-24-4.jpg"/><Relationship Id="rId5" Type="http://schemas.openxmlformats.org/officeDocument/2006/relationships/image" Target="../media/image-24-5.jpg"/><Relationship Id="rId6" Type="http://schemas.openxmlformats.org/officeDocument/2006/relationships/image" Target="../media/image-24-6.jpg"/><Relationship Id="rId7" Type="http://schemas.openxmlformats.org/officeDocument/2006/relationships/image" Target="../media/image-24-7.jpg"/><Relationship Id="rId8" Type="http://schemas.openxmlformats.org/officeDocument/2006/relationships/image" Target="../media/image-24-8.jpg"/><Relationship Id="rId9" Type="http://schemas.openxmlformats.org/officeDocument/2006/relationships/image" Target="../media/image-24-9.jp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jpg"/><Relationship Id="rId3" Type="http://schemas.openxmlformats.org/officeDocument/2006/relationships/image" Target="../media/image-26-3.jpg"/><Relationship Id="rId4" Type="http://schemas.openxmlformats.org/officeDocument/2006/relationships/image" Target="../media/image-26-4.jpg"/><Relationship Id="rId5" Type="http://schemas.openxmlformats.org/officeDocument/2006/relationships/image" Target="../media/image-26-5.jp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jpg"/><Relationship Id="rId3" Type="http://schemas.openxmlformats.org/officeDocument/2006/relationships/image" Target="../media/image-37-3.jpg"/><Relationship Id="rId4" Type="http://schemas.openxmlformats.org/officeDocument/2006/relationships/image" Target="../media/image-37-4.jpg"/><Relationship Id="rId5" Type="http://schemas.openxmlformats.org/officeDocument/2006/relationships/image" Target="../media/image-37-5.jpg"/><Relationship Id="rId6" Type="http://schemas.openxmlformats.org/officeDocument/2006/relationships/image" Target="../media/image-37-6.jp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jpg"/><Relationship Id="rId3" Type="http://schemas.openxmlformats.org/officeDocument/2006/relationships/image" Target="../media/image-38-3.jpg"/><Relationship Id="rId4" Type="http://schemas.openxmlformats.org/officeDocument/2006/relationships/image" Target="../media/image-38-4.jpg"/><Relationship Id="rId5" Type="http://schemas.openxmlformats.org/officeDocument/2006/relationships/image" Target="../media/image-38-5.jp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image" Target="../media/image-46-2.jpg"/><Relationship Id="rId3" Type="http://schemas.openxmlformats.org/officeDocument/2006/relationships/image" Target="../media/image-46-3.jpg"/><Relationship Id="rId4" Type="http://schemas.openxmlformats.org/officeDocument/2006/relationships/image" Target="../media/image-46-4.jpg"/><Relationship Id="rId5" Type="http://schemas.openxmlformats.org/officeDocument/2006/relationships/image" Target="../media/image-46-5.jpg"/><Relationship Id="rId6" Type="http://schemas.openxmlformats.org/officeDocument/2006/relationships/image" Target="../media/image-46-6.jpg"/><Relationship Id="rId7" Type="http://schemas.openxmlformats.org/officeDocument/2006/relationships/image" Target="../media/image-46-7.jpg"/><Relationship Id="rId8" Type="http://schemas.openxmlformats.org/officeDocument/2006/relationships/image" Target="../media/image-46-8.jpg"/><Relationship Id="rId9" Type="http://schemas.openxmlformats.org/officeDocument/2006/relationships/image" Target="../media/image-46-9.jpg"/><Relationship Id="rId10" Type="http://schemas.openxmlformats.org/officeDocument/2006/relationships/image" Target="../media/image-46-10.jpg"/><Relationship Id="rId11" Type="http://schemas.openxmlformats.org/officeDocument/2006/relationships/image" Target="../media/image-46-11.jpg"/><Relationship Id="rId12" Type="http://schemas.openxmlformats.org/officeDocument/2006/relationships/slideLayout" Target="../slideLayouts/slideLayout1.xml"/><Relationship Id="rId1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image" Target="../media/image-47-2.jpg"/><Relationship Id="rId3" Type="http://schemas.openxmlformats.org/officeDocument/2006/relationships/image" Target="../media/image-47-3.jpg"/><Relationship Id="rId4" Type="http://schemas.openxmlformats.org/officeDocument/2006/relationships/image" Target="../media/image-47-4.jpg"/><Relationship Id="rId5" Type="http://schemas.openxmlformats.org/officeDocument/2006/relationships/image" Target="../media/image-47-5.jpg"/><Relationship Id="rId6" Type="http://schemas.openxmlformats.org/officeDocument/2006/relationships/image" Target="../media/image-47-6.jpg"/><Relationship Id="rId7" Type="http://schemas.openxmlformats.org/officeDocument/2006/relationships/image" Target="../media/image-47-7.jpg"/><Relationship Id="rId8" Type="http://schemas.openxmlformats.org/officeDocument/2006/relationships/image" Target="../media/image-47-8.jpg"/><Relationship Id="rId9" Type="http://schemas.openxmlformats.org/officeDocument/2006/relationships/image" Target="../media/image-47-9.jpg"/><Relationship Id="rId10" Type="http://schemas.openxmlformats.org/officeDocument/2006/relationships/image" Target="../media/image-47-10.jpg"/><Relationship Id="rId11" Type="http://schemas.openxmlformats.org/officeDocument/2006/relationships/slideLayout" Target="../slideLayouts/slideLayout1.xml"/><Relationship Id="rId1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48-2.jpg"/><Relationship Id="rId3" Type="http://schemas.openxmlformats.org/officeDocument/2006/relationships/image" Target="../media/image-48-3.jpg"/><Relationship Id="rId4" Type="http://schemas.openxmlformats.org/officeDocument/2006/relationships/image" Target="../media/image-48-4.jpg"/><Relationship Id="rId5" Type="http://schemas.openxmlformats.org/officeDocument/2006/relationships/image" Target="../media/image-48-5.jpg"/><Relationship Id="rId6" Type="http://schemas.openxmlformats.org/officeDocument/2006/relationships/image" Target="../media/image-48-6.jpg"/><Relationship Id="rId7" Type="http://schemas.openxmlformats.org/officeDocument/2006/relationships/image" Target="../media/image-48-7.jpg"/><Relationship Id="rId8" Type="http://schemas.openxmlformats.org/officeDocument/2006/relationships/image" Target="../media/image-48-8.jpg"/><Relationship Id="rId9" Type="http://schemas.openxmlformats.org/officeDocument/2006/relationships/slideLayout" Target="../slideLayouts/slideLayout1.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image" Target="../media/image-59-2.jpg"/><Relationship Id="rId3" Type="http://schemas.openxmlformats.org/officeDocument/2006/relationships/image" Target="../media/image-59-3.jpg"/><Relationship Id="rId4" Type="http://schemas.openxmlformats.org/officeDocument/2006/relationships/image" Target="../media/image-59-4.jpg"/><Relationship Id="rId5" Type="http://schemas.openxmlformats.org/officeDocument/2006/relationships/image" Target="../media/image-59-5.jpg"/><Relationship Id="rId6" Type="http://schemas.openxmlformats.org/officeDocument/2006/relationships/image" Target="../media/image-59-6.jpg"/><Relationship Id="rId7" Type="http://schemas.openxmlformats.org/officeDocument/2006/relationships/image" Target="../media/image-59-7.jpg"/><Relationship Id="rId8" Type="http://schemas.openxmlformats.org/officeDocument/2006/relationships/image" Target="../media/image-59-8.jpg"/><Relationship Id="rId9" Type="http://schemas.openxmlformats.org/officeDocument/2006/relationships/slideLayout" Target="../slideLayouts/slideLayout1.xml"/><Relationship Id="rId10"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60-2.jpg"/><Relationship Id="rId3" Type="http://schemas.openxmlformats.org/officeDocument/2006/relationships/image" Target="../media/image-60-3.jpg"/><Relationship Id="rId4" Type="http://schemas.openxmlformats.org/officeDocument/2006/relationships/image" Target="../media/image-60-4.jpg"/><Relationship Id="rId5" Type="http://schemas.openxmlformats.org/officeDocument/2006/relationships/image" Target="../media/image-60-5.jpg"/><Relationship Id="rId6" Type="http://schemas.openxmlformats.org/officeDocument/2006/relationships/image" Target="../media/image-60-6.jpg"/><Relationship Id="rId7" Type="http://schemas.openxmlformats.org/officeDocument/2006/relationships/image" Target="../media/image-60-7.jpg"/><Relationship Id="rId8" Type="http://schemas.openxmlformats.org/officeDocument/2006/relationships/image" Target="../media/image-60-8.jpg"/><Relationship Id="rId9" Type="http://schemas.openxmlformats.org/officeDocument/2006/relationships/slideLayout" Target="../slideLayouts/slideLayout1.xml"/><Relationship Id="rId10"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image" Target="../media/image-62-2.jpg"/><Relationship Id="rId3" Type="http://schemas.openxmlformats.org/officeDocument/2006/relationships/image" Target="../media/image-62-3.jpg"/><Relationship Id="rId4" Type="http://schemas.openxmlformats.org/officeDocument/2006/relationships/image" Target="../media/image-62-4.jpg"/><Relationship Id="rId5" Type="http://schemas.openxmlformats.org/officeDocument/2006/relationships/image" Target="../media/image-62-5.jpg"/><Relationship Id="rId6" Type="http://schemas.openxmlformats.org/officeDocument/2006/relationships/slideLayout" Target="../slideLayouts/slideLayout1.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jpe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jpe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image" Target="../media/image-70-2.jpg"/><Relationship Id="rId3" Type="http://schemas.openxmlformats.org/officeDocument/2006/relationships/image" Target="../media/image-70-3.jpg"/><Relationship Id="rId4" Type="http://schemas.openxmlformats.org/officeDocument/2006/relationships/image" Target="../media/image-70-4.jpg"/><Relationship Id="rId5" Type="http://schemas.openxmlformats.org/officeDocument/2006/relationships/image" Target="../media/image-70-5.jpg"/><Relationship Id="rId6" Type="http://schemas.openxmlformats.org/officeDocument/2006/relationships/image" Target="../media/image-70-6.jpg"/><Relationship Id="rId7" Type="http://schemas.openxmlformats.org/officeDocument/2006/relationships/slideLayout" Target="../slideLayouts/slideLayout1.xml"/><Relationship Id="rId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image" Target="../media/image-72-2.jpg"/><Relationship Id="rId3" Type="http://schemas.openxmlformats.org/officeDocument/2006/relationships/image" Target="../media/image-72-3.jpg"/><Relationship Id="rId4" Type="http://schemas.openxmlformats.org/officeDocument/2006/relationships/image" Target="../media/image-72-4.jpg"/><Relationship Id="rId5" Type="http://schemas.openxmlformats.org/officeDocument/2006/relationships/image" Target="../media/image-72-5.jpg"/><Relationship Id="rId6" Type="http://schemas.openxmlformats.org/officeDocument/2006/relationships/image" Target="../media/image-72-6.jpg"/><Relationship Id="rId7" Type="http://schemas.openxmlformats.org/officeDocument/2006/relationships/image" Target="../media/image-72-7.jpg"/><Relationship Id="rId8" Type="http://schemas.openxmlformats.org/officeDocument/2006/relationships/image" Target="../media/image-72-8.jpg"/><Relationship Id="rId9" Type="http://schemas.openxmlformats.org/officeDocument/2006/relationships/slideLayout" Target="../slideLayouts/slideLayout1.xml"/><Relationship Id="rId10"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jpg"/><Relationship Id="rId3" Type="http://schemas.openxmlformats.org/officeDocument/2006/relationships/image" Target="../media/image-73-3.jpg"/><Relationship Id="rId4" Type="http://schemas.openxmlformats.org/officeDocument/2006/relationships/image" Target="../media/image-73-4.jpg"/><Relationship Id="rId5" Type="http://schemas.openxmlformats.org/officeDocument/2006/relationships/image" Target="../media/image-73-5.jpg"/><Relationship Id="rId6" Type="http://schemas.openxmlformats.org/officeDocument/2006/relationships/image" Target="../media/image-73-6.jpg"/><Relationship Id="rId7" Type="http://schemas.openxmlformats.org/officeDocument/2006/relationships/image" Target="../media/image-73-7.jpg"/><Relationship Id="rId8" Type="http://schemas.openxmlformats.org/officeDocument/2006/relationships/slideLayout" Target="../slideLayouts/slideLayout1.xml"/><Relationship Id="rId9"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jpe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image" Target="../media/image-75-2.jpg"/><Relationship Id="rId3" Type="http://schemas.openxmlformats.org/officeDocument/2006/relationships/image" Target="../media/image-75-3.jpg"/><Relationship Id="rId4" Type="http://schemas.openxmlformats.org/officeDocument/2006/relationships/image" Target="../media/image-75-4.jpg"/><Relationship Id="rId5" Type="http://schemas.openxmlformats.org/officeDocument/2006/relationships/image" Target="../media/image-75-5.jp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jpe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jpe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jpe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jpe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jpe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image" Target="../media/image-85-2.jpg"/><Relationship Id="rId3" Type="http://schemas.openxmlformats.org/officeDocument/2006/relationships/image" Target="../media/image-85-3.jpg"/><Relationship Id="rId4" Type="http://schemas.openxmlformats.org/officeDocument/2006/relationships/image" Target="../media/image-85-4.jpg"/><Relationship Id="rId5" Type="http://schemas.openxmlformats.org/officeDocument/2006/relationships/image" Target="../media/image-85-5.jpg"/><Relationship Id="rId6" Type="http://schemas.openxmlformats.org/officeDocument/2006/relationships/image" Target="../media/image-85-6.jpg"/><Relationship Id="rId7" Type="http://schemas.openxmlformats.org/officeDocument/2006/relationships/image" Target="../media/image-85-7.jpg"/><Relationship Id="rId8" Type="http://schemas.openxmlformats.org/officeDocument/2006/relationships/image" Target="../media/image-85-8.jpg"/><Relationship Id="rId9" Type="http://schemas.openxmlformats.org/officeDocument/2006/relationships/slideLayout" Target="../slideLayouts/slideLayout1.xml"/><Relationship Id="rId10"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jpe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image" Target="../media/image-87-2.jpg"/><Relationship Id="rId3" Type="http://schemas.openxmlformats.org/officeDocument/2006/relationships/image" Target="../media/image-87-3.jpg"/><Relationship Id="rId4" Type="http://schemas.openxmlformats.org/officeDocument/2006/relationships/image" Target="../media/image-87-4.jpg"/><Relationship Id="rId5" Type="http://schemas.openxmlformats.org/officeDocument/2006/relationships/image" Target="../media/image-87-5.jpg"/><Relationship Id="rId6" Type="http://schemas.openxmlformats.org/officeDocument/2006/relationships/slideLayout" Target="../slideLayouts/slideLayout1.xml"/><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jpe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jpe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jpe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jpe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jpe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image" Target="../media/image-95-2.jpg"/><Relationship Id="rId3" Type="http://schemas.openxmlformats.org/officeDocument/2006/relationships/image" Target="../media/image-95-3.jpg"/><Relationship Id="rId4" Type="http://schemas.openxmlformats.org/officeDocument/2006/relationships/image" Target="../media/image-95-4.jpg"/><Relationship Id="rId5" Type="http://schemas.openxmlformats.org/officeDocument/2006/relationships/image" Target="../media/image-95-5.jpg"/><Relationship Id="rId6" Type="http://schemas.openxmlformats.org/officeDocument/2006/relationships/image" Target="../media/image-95-6.jpg"/><Relationship Id="rId7" Type="http://schemas.openxmlformats.org/officeDocument/2006/relationships/image" Target="../media/image-95-7.jpg"/><Relationship Id="rId8" Type="http://schemas.openxmlformats.org/officeDocument/2006/relationships/slideLayout" Target="../slideLayouts/slideLayout1.xml"/><Relationship Id="rId9"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image" Target="../media/image-97-2.jpg"/><Relationship Id="rId3" Type="http://schemas.openxmlformats.org/officeDocument/2006/relationships/image" Target="../media/image-97-3.jpg"/><Relationship Id="rId4" Type="http://schemas.openxmlformats.org/officeDocument/2006/relationships/image" Target="../media/image-97-4.jpg"/><Relationship Id="rId5" Type="http://schemas.openxmlformats.org/officeDocument/2006/relationships/image" Target="../media/image-97-5.jpg"/><Relationship Id="rId6" Type="http://schemas.openxmlformats.org/officeDocument/2006/relationships/image" Target="../media/image-97-6.jpg"/><Relationship Id="rId7" Type="http://schemas.openxmlformats.org/officeDocument/2006/relationships/image" Target="../media/image-97-7.jpg"/><Relationship Id="rId8" Type="http://schemas.openxmlformats.org/officeDocument/2006/relationships/image" Target="../media/image-97-8.jpg"/><Relationship Id="rId9" Type="http://schemas.openxmlformats.org/officeDocument/2006/relationships/slideLayout" Target="../slideLayouts/slideLayout1.xml"/><Relationship Id="rId10"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jpe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image" Target="../media/image-99-2.jpg"/><Relationship Id="rId3" Type="http://schemas.openxmlformats.org/officeDocument/2006/relationships/image" Target="../media/image-99-3.jpg"/><Relationship Id="rId4" Type="http://schemas.openxmlformats.org/officeDocument/2006/relationships/image" Target="../media/image-99-4.jpg"/><Relationship Id="rId5" Type="http://schemas.openxmlformats.org/officeDocument/2006/relationships/image" Target="../media/image-99-5.jpg"/><Relationship Id="rId6" Type="http://schemas.openxmlformats.org/officeDocument/2006/relationships/slideLayout" Target="../slideLayouts/slideLayout1.xml"/><Relationship Id="rId7"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jpe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jpe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jpe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jpe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jpe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jpe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image" Target="../media/image-109-2.jpg"/><Relationship Id="rId3" Type="http://schemas.openxmlformats.org/officeDocument/2006/relationships/image" Target="../media/image-109-3.jpg"/><Relationship Id="rId4" Type="http://schemas.openxmlformats.org/officeDocument/2006/relationships/image" Target="../media/image-109-4.jpg"/><Relationship Id="rId5" Type="http://schemas.openxmlformats.org/officeDocument/2006/relationships/image" Target="../media/image-109-5.jpg"/><Relationship Id="rId6" Type="http://schemas.openxmlformats.org/officeDocument/2006/relationships/image" Target="../media/image-109-6.jpg"/><Relationship Id="rId7" Type="http://schemas.openxmlformats.org/officeDocument/2006/relationships/image" Target="../media/image-109-7.jpg"/><Relationship Id="rId8" Type="http://schemas.openxmlformats.org/officeDocument/2006/relationships/image" Target="../media/image-109-8.jpg"/><Relationship Id="rId9" Type="http://schemas.openxmlformats.org/officeDocument/2006/relationships/image" Target="../media/image-109-9.jpg"/><Relationship Id="rId10" Type="http://schemas.openxmlformats.org/officeDocument/2006/relationships/slideLayout" Target="../slideLayouts/slideLayout1.xml"/><Relationship Id="rId11"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image" Target="../media/image-110-2.jpg"/><Relationship Id="rId3" Type="http://schemas.openxmlformats.org/officeDocument/2006/relationships/image" Target="../media/image-110-3.jpg"/><Relationship Id="rId4" Type="http://schemas.openxmlformats.org/officeDocument/2006/relationships/image" Target="../media/image-110-4.jpg"/><Relationship Id="rId5" Type="http://schemas.openxmlformats.org/officeDocument/2006/relationships/image" Target="../media/image-110-5.jpg"/><Relationship Id="rId6" Type="http://schemas.openxmlformats.org/officeDocument/2006/relationships/slideLayout" Target="../slideLayouts/slideLayout1.xml"/><Relationship Id="rId7"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jpe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jp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jpe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jpe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jpe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jpe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jpe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g"/><Relationship Id="rId2" Type="http://schemas.openxmlformats.org/officeDocument/2006/relationships/image" Target="../media/image-120-2.jpg"/><Relationship Id="rId3" Type="http://schemas.openxmlformats.org/officeDocument/2006/relationships/image" Target="../media/image-120-3.jpg"/><Relationship Id="rId4" Type="http://schemas.openxmlformats.org/officeDocument/2006/relationships/image" Target="../media/image-120-4.jpg"/><Relationship Id="rId5" Type="http://schemas.openxmlformats.org/officeDocument/2006/relationships/image" Target="../media/image-120-5.jpg"/><Relationship Id="rId6" Type="http://schemas.openxmlformats.org/officeDocument/2006/relationships/image" Target="../media/image-120-6.jpg"/><Relationship Id="rId7" Type="http://schemas.openxmlformats.org/officeDocument/2006/relationships/image" Target="../media/image-120-7.jpg"/><Relationship Id="rId8" Type="http://schemas.openxmlformats.org/officeDocument/2006/relationships/slideLayout" Target="../slideLayouts/slideLayout1.xml"/><Relationship Id="rId9"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Slide-121-image-1.jpe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image" Target="../media/image-122-2.jpg"/><Relationship Id="rId3" Type="http://schemas.openxmlformats.org/officeDocument/2006/relationships/image" Target="../media/image-122-3.jpg"/><Relationship Id="rId4" Type="http://schemas.openxmlformats.org/officeDocument/2006/relationships/image" Target="../media/image-122-4.jpg"/><Relationship Id="rId5" Type="http://schemas.openxmlformats.org/officeDocument/2006/relationships/image" Target="../media/image-122-5.jpg"/><Relationship Id="rId6" Type="http://schemas.openxmlformats.org/officeDocument/2006/relationships/slideLayout" Target="../slideLayouts/slideLayout1.xml"/><Relationship Id="rId7"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jpe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jp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Slide-126-image-1.jpe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jpe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jpe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jpe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jp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jpg"/><Relationship Id="rId2" Type="http://schemas.openxmlformats.org/officeDocument/2006/relationships/image" Target="../media/image-131-2.jpg"/><Relationship Id="rId3" Type="http://schemas.openxmlformats.org/officeDocument/2006/relationships/image" Target="../media/image-131-3.jpg"/><Relationship Id="rId4" Type="http://schemas.openxmlformats.org/officeDocument/2006/relationships/image" Target="../media/image-131-4.jpg"/><Relationship Id="rId5" Type="http://schemas.openxmlformats.org/officeDocument/2006/relationships/image" Target="../media/image-131-5.jpg"/><Relationship Id="rId6" Type="http://schemas.openxmlformats.org/officeDocument/2006/relationships/image" Target="../media/image-131-6.jpg"/><Relationship Id="rId7" Type="http://schemas.openxmlformats.org/officeDocument/2006/relationships/slideLayout" Target="../slideLayouts/slideLayout1.xml"/><Relationship Id="rId8"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jpe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jpg"/><Relationship Id="rId2" Type="http://schemas.openxmlformats.org/officeDocument/2006/relationships/image" Target="../media/image-133-2.jpg"/><Relationship Id="rId3" Type="http://schemas.openxmlformats.org/officeDocument/2006/relationships/image" Target="../media/image-133-3.jpg"/><Relationship Id="rId4" Type="http://schemas.openxmlformats.org/officeDocument/2006/relationships/image" Target="../media/image-133-4.jpg"/><Relationship Id="rId5" Type="http://schemas.openxmlformats.org/officeDocument/2006/relationships/image" Target="../media/image-133-5.jpg"/><Relationship Id="rId6" Type="http://schemas.openxmlformats.org/officeDocument/2006/relationships/slideLayout" Target="../slideLayouts/slideLayout1.xml"/><Relationship Id="rId7"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jpe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jp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jp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jpe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Slide-138-image-1.jpe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jpe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jpe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Slide-141-image-1.jpe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Slide-142-image-1.jpe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jp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jp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Slide-145-image-1.jpe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Slide-146-image-1.jpe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jp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jp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jpe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jpe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jp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Slide-152-image-1.jpe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jpe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Slide-154-image-1.jpe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jpe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jpe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jpe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jpe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الأردوينو للمعلمين · الدورة الثالثة</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أكاديمية سيارة الروبوت</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من الهيكل إلى البطولة: نبني سيارة تفكر… ونعلّم طلابنا كيف يبنونها</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أ. محمد زيتون</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مقدّم الدورة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 محمد زيتون</a:t>
            </a:r>
            <a:endParaRPr lang="ar-SA" sz="3800" dirty="0"/>
          </a:p>
        </p:txBody>
      </p:sp>
      <p:sp>
        <p:nvSpPr>
          <p:cNvPr id="5" name="Text 3"/>
          <p:cNvSpPr/>
          <p:nvPr/>
        </p:nvSpPr>
        <p:spPr>
          <a:xfrm>
            <a:off x="822960" y="1783080"/>
            <a:ext cx="1054577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22346F"/>
                </a:solidFill>
                <a:latin typeface="Cairo" pitchFamily="34" charset="0"/>
                <a:ea typeface="Cairo" pitchFamily="34" charset="-122"/>
                <a:cs typeface="Cairo" pitchFamily="34" charset="-120"/>
              </a:rPr>
              <a:t>مشرف تربوي — الابتكار والذكاء الاصطناعي وSTEAM · مدارس الأرقم</a:t>
            </a:r>
            <a:endParaRPr lang="ar-SA" sz="2000" dirty="0"/>
          </a:p>
        </p:txBody>
      </p:sp>
      <p:sp>
        <p:nvSpPr>
          <p:cNvPr id="6" name="anim-g1-1"/>
          <p:cNvSpPr/>
          <p:nvPr/>
        </p:nvSpPr>
        <p:spPr>
          <a:xfrm>
            <a:off x="8066837"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7" name="anim-g1-2"/>
          <p:cNvSpPr/>
          <p:nvPr/>
        </p:nvSpPr>
        <p:spPr>
          <a:xfrm>
            <a:off x="8066837"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٣٣</a:t>
            </a:r>
            <a:endParaRPr lang="ar-SA" sz="5600" dirty="0"/>
          </a:p>
        </p:txBody>
      </p:sp>
      <p:sp>
        <p:nvSpPr>
          <p:cNvPr id="8" name="anim-g1-3"/>
          <p:cNvSpPr/>
          <p:nvPr/>
        </p:nvSpPr>
        <p:spPr>
          <a:xfrm>
            <a:off x="8249717"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عامًا في الميدان التعليمي</a:t>
            </a:r>
            <a:endParaRPr lang="ar-SA" sz="2000" dirty="0"/>
          </a:p>
        </p:txBody>
      </p:sp>
      <p:sp>
        <p:nvSpPr>
          <p:cNvPr id="9" name="anim-g2-4"/>
          <p:cNvSpPr/>
          <p:nvPr/>
        </p:nvSpPr>
        <p:spPr>
          <a:xfrm>
            <a:off x="4444898"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0" name="anim-g2-5"/>
          <p:cNvSpPr/>
          <p:nvPr/>
        </p:nvSpPr>
        <p:spPr>
          <a:xfrm>
            <a:off x="4444898"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a:t>
            </a:r>
            <a:endParaRPr lang="ar-SA" sz="5600" dirty="0"/>
          </a:p>
        </p:txBody>
      </p:sp>
      <p:sp>
        <p:nvSpPr>
          <p:cNvPr id="11" name="anim-g2-6"/>
          <p:cNvSpPr/>
          <p:nvPr/>
        </p:nvSpPr>
        <p:spPr>
          <a:xfrm>
            <a:off x="4627778"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كتب في تعليم الأردوينو</a:t>
            </a:r>
            <a:endParaRPr lang="ar-SA" sz="2000" dirty="0"/>
          </a:p>
        </p:txBody>
      </p:sp>
      <p:sp>
        <p:nvSpPr>
          <p:cNvPr id="12" name="anim-g3-7"/>
          <p:cNvSpPr/>
          <p:nvPr/>
        </p:nvSpPr>
        <p:spPr>
          <a:xfrm>
            <a:off x="822960"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3" name="anim-g3-8"/>
          <p:cNvSpPr/>
          <p:nvPr/>
        </p:nvSpPr>
        <p:spPr>
          <a:xfrm>
            <a:off x="822960" y="2743200"/>
            <a:ext cx="3301898" cy="1097280"/>
          </a:xfrm>
          <a:prstGeom prst="rect">
            <a:avLst/>
          </a:prstGeom>
          <a:noFill/>
          <a:ln/>
        </p:spPr>
        <p:txBody>
          <a:bodyPr wrap="square" lIns="0" tIns="0" rIns="0" bIns="0" rtlCol="0" anchor="ctr">
            <a:normAutofit/>
          </a:bodyPr>
          <a:lstStyle/>
          <a:p>
            <a:pPr rtl="1" algn="ctr" indent="0" marL="0">
              <a:buNone/>
            </a:pPr>
            <a:r>
              <a:rPr lang="ar-SA" altLang="en-US" sz="3600" dirty="0">
                <a:solidFill>
                  <a:srgbClr val="B08A2E"/>
                </a:solidFill>
                <a:latin typeface="Cairo Black" pitchFamily="34" charset="0"/>
                <a:ea typeface="Cairo Black" pitchFamily="34" charset="-122"/>
                <a:cs typeface="Cairo Black" pitchFamily="34" charset="-120"/>
              </a:rPr>
              <a:t>Microsoft</a:t>
            </a:r>
            <a:endParaRPr lang="ar-SA" sz="3600" dirty="0"/>
          </a:p>
        </p:txBody>
      </p:sp>
      <p:sp>
        <p:nvSpPr>
          <p:cNvPr id="14" name="anim-g3-9"/>
          <p:cNvSpPr/>
          <p:nvPr/>
        </p:nvSpPr>
        <p:spPr>
          <a:xfrm>
            <a:off x="1005840"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مدرب معتمد</a:t>
            </a:r>
            <a:endParaRPr lang="ar-SA" sz="2000" dirty="0"/>
          </a:p>
        </p:txBody>
      </p:sp>
      <p:sp>
        <p:nvSpPr>
          <p:cNvPr id="15" name="anim-g4-10"/>
          <p:cNvSpPr/>
          <p:nvPr/>
        </p:nvSpPr>
        <p:spPr>
          <a:xfrm>
            <a:off x="822960" y="5257800"/>
            <a:ext cx="1054577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مؤلف «رحلة عبر الأردوينو» و«أردوينو بلا قيود» و«دليل المعلم في تعلم الأردوينو»</a:t>
            </a:r>
            <a:endParaRPr lang="ar-SA" sz="1800" dirty="0"/>
          </a:p>
        </p:txBody>
      </p:sp>
      <p:sp>
        <p:nvSpPr>
          <p:cNvPr id="16" name="Text 1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17" name="Text 1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user\projects\younes-training\arduino3\.pptx-cache\s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الروبوتات حولنا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هذه ليست ألعابًا… هذا مستقبل طلابنا</a:t>
            </a:r>
            <a:endParaRPr lang="ar-SA" sz="3200" dirty="0"/>
          </a:p>
        </p:txBody>
      </p:sp>
      <p:sp>
        <p:nvSpPr>
          <p:cNvPr id="5" name="anim-g1-11"/>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2"/>
          <p:cNvSpPr/>
          <p:nvPr/>
        </p:nvSpPr>
        <p:spPr>
          <a:xfrm>
            <a:off x="10362895" y="2404872"/>
            <a:ext cx="731520" cy="731520"/>
          </a:xfrm>
          <a:prstGeom prst="roundRect">
            <a:avLst>
              <a:gd name="adj" fmla="val 25000"/>
            </a:avLst>
          </a:prstGeom>
          <a:solidFill>
            <a:srgbClr val="F7E6BC"/>
          </a:solidFill>
          <a:ln/>
        </p:spPr>
      </p:sp>
      <p:sp>
        <p:nvSpPr>
          <p:cNvPr id="7" name="anim-g1-13"/>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4"/>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السيارة ذاتية القيادة</a:t>
            </a:r>
            <a:endParaRPr lang="ar-SA" sz="2300" dirty="0"/>
          </a:p>
        </p:txBody>
      </p:sp>
      <p:sp>
        <p:nvSpPr>
          <p:cNvPr id="9" name="anim-g1-15"/>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تتبع الخطوط وتتجنب العوائق</a:t>
            </a:r>
            <a:endParaRPr lang="ar-SA" sz="2100" dirty="0"/>
          </a:p>
        </p:txBody>
      </p:sp>
      <p:sp>
        <p:nvSpPr>
          <p:cNvPr id="10" name="anim-g2-16"/>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7"/>
          <p:cNvSpPr/>
          <p:nvPr/>
        </p:nvSpPr>
        <p:spPr>
          <a:xfrm>
            <a:off x="7657871" y="2404872"/>
            <a:ext cx="731520" cy="731520"/>
          </a:xfrm>
          <a:prstGeom prst="roundRect">
            <a:avLst>
              <a:gd name="adj" fmla="val 25000"/>
            </a:avLst>
          </a:prstGeom>
          <a:solidFill>
            <a:srgbClr val="F7E6BC"/>
          </a:solidFill>
          <a:ln/>
        </p:spPr>
      </p:sp>
      <p:sp>
        <p:nvSpPr>
          <p:cNvPr id="12" name="anim-g2-18"/>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9"/>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روبوتات المستودعات</a:t>
            </a:r>
            <a:endParaRPr lang="ar-SA" sz="2300" dirty="0"/>
          </a:p>
        </p:txBody>
      </p:sp>
      <p:sp>
        <p:nvSpPr>
          <p:cNvPr id="14" name="anim-g2-20"/>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تحمل الرفوف وتتبع علامات الأرض</a:t>
            </a:r>
            <a:endParaRPr lang="ar-SA" sz="2100" dirty="0"/>
          </a:p>
        </p:txBody>
      </p:sp>
      <p:sp>
        <p:nvSpPr>
          <p:cNvPr id="15" name="anim-g3-21"/>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2"/>
          <p:cNvSpPr/>
          <p:nvPr/>
        </p:nvSpPr>
        <p:spPr>
          <a:xfrm>
            <a:off x="4952848" y="2404872"/>
            <a:ext cx="731520" cy="731520"/>
          </a:xfrm>
          <a:prstGeom prst="roundRect">
            <a:avLst>
              <a:gd name="adj" fmla="val 25000"/>
            </a:avLst>
          </a:prstGeom>
          <a:solidFill>
            <a:srgbClr val="F7E6BC"/>
          </a:solidFill>
          <a:ln/>
        </p:spPr>
      </p:sp>
      <p:sp>
        <p:nvSpPr>
          <p:cNvPr id="17" name="anim-g3-23"/>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4"/>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مركبة المريخ</a:t>
            </a:r>
            <a:endParaRPr lang="ar-SA" sz="2300" dirty="0"/>
          </a:p>
        </p:txBody>
      </p:sp>
      <p:sp>
        <p:nvSpPr>
          <p:cNvPr id="19" name="anim-g3-25"/>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تقود نفسها: الإشارة تتأخر حتى ٢٤ دقيقة</a:t>
            </a:r>
            <a:endParaRPr lang="ar-SA" sz="2100" dirty="0"/>
          </a:p>
        </p:txBody>
      </p:sp>
      <p:sp>
        <p:nvSpPr>
          <p:cNvPr id="20" name="anim-g4-26"/>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27"/>
          <p:cNvSpPr/>
          <p:nvPr/>
        </p:nvSpPr>
        <p:spPr>
          <a:xfrm>
            <a:off x="2247824" y="2404872"/>
            <a:ext cx="731520" cy="731520"/>
          </a:xfrm>
          <a:prstGeom prst="roundRect">
            <a:avLst>
              <a:gd name="adj" fmla="val 25000"/>
            </a:avLst>
          </a:prstGeom>
          <a:solidFill>
            <a:srgbClr val="F7E6BC"/>
          </a:solidFill>
          <a:ln/>
        </p:spPr>
      </p:sp>
      <p:sp>
        <p:nvSpPr>
          <p:cNvPr id="22" name="anim-g4-28"/>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29"/>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روبوت التوصيل</a:t>
            </a:r>
            <a:endParaRPr lang="ar-SA" sz="2300" dirty="0"/>
          </a:p>
        </p:txBody>
      </p:sp>
      <p:sp>
        <p:nvSpPr>
          <p:cNvPr id="24" name="anim-g4-30"/>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يمشي على الرصيف حتى بابك</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user\projects\younes-training\arduino3\.pptx-cache\s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الأكاديمية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الدورة</a:t>
            </a:r>
            <a:endParaRPr lang="ar-SA" sz="3800" dirty="0"/>
          </a:p>
        </p:txBody>
      </p:sp>
      <p:sp>
        <p:nvSpPr>
          <p:cNvPr id="5" name="anim-g1-31"/>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32"/>
          <p:cNvSpPr/>
          <p:nvPr/>
        </p:nvSpPr>
        <p:spPr>
          <a:xfrm>
            <a:off x="10587838" y="2011680"/>
            <a:ext cx="552298" cy="552298"/>
          </a:xfrm>
          <a:prstGeom prst="ellipse">
            <a:avLst/>
          </a:prstGeom>
          <a:solidFill>
            <a:srgbClr val="D9AE4B"/>
          </a:solidFill>
          <a:ln/>
        </p:spPr>
      </p:sp>
      <p:sp>
        <p:nvSpPr>
          <p:cNvPr id="7" name="anim-g1-33"/>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4"/>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تركّب سيارة روبوت كاملة وتعرف وظيفة كل قطعة</a:t>
            </a:r>
            <a:endParaRPr lang="ar-SA" sz="2200" dirty="0"/>
          </a:p>
        </p:txBody>
      </p:sp>
      <p:sp>
        <p:nvSpPr>
          <p:cNvPr id="9" name="anim-g2-35"/>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36"/>
          <p:cNvSpPr/>
          <p:nvPr/>
        </p:nvSpPr>
        <p:spPr>
          <a:xfrm>
            <a:off x="10587838" y="2856586"/>
            <a:ext cx="552298" cy="552298"/>
          </a:xfrm>
          <a:prstGeom prst="ellipse">
            <a:avLst/>
          </a:prstGeom>
          <a:solidFill>
            <a:srgbClr val="D9AE4B"/>
          </a:solidFill>
          <a:ln/>
        </p:spPr>
      </p:sp>
      <p:sp>
        <p:nvSpPr>
          <p:cNvPr id="11" name="anim-g2-37"/>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8"/>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تبرمج حركتها بدقة: مستقيمًا، ومنعطفًا، وفي مكانها</a:t>
            </a:r>
            <a:endParaRPr lang="ar-SA" sz="2200" dirty="0"/>
          </a:p>
        </p:txBody>
      </p:sp>
      <p:sp>
        <p:nvSpPr>
          <p:cNvPr id="13" name="anim-g3-39"/>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40"/>
          <p:cNvSpPr/>
          <p:nvPr/>
        </p:nvSpPr>
        <p:spPr>
          <a:xfrm>
            <a:off x="10587838" y="3701491"/>
            <a:ext cx="552298" cy="552298"/>
          </a:xfrm>
          <a:prstGeom prst="ellipse">
            <a:avLst/>
          </a:prstGeom>
          <a:solidFill>
            <a:srgbClr val="D9AE4B"/>
          </a:solidFill>
          <a:ln/>
        </p:spPr>
      </p:sp>
      <p:sp>
        <p:nvSpPr>
          <p:cNvPr id="15" name="anim-g3-41"/>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2"/>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تبني ستة روبوتات: الجوال، والخط، والعوائق، والمدمج، والسومو، والمتاهة</a:t>
            </a:r>
            <a:endParaRPr lang="ar-SA" sz="2200" dirty="0"/>
          </a:p>
        </p:txBody>
      </p:sp>
      <p:sp>
        <p:nvSpPr>
          <p:cNvPr id="17" name="anim-g4-43"/>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44"/>
          <p:cNvSpPr/>
          <p:nvPr/>
        </p:nvSpPr>
        <p:spPr>
          <a:xfrm>
            <a:off x="10587838" y="4546397"/>
            <a:ext cx="552298" cy="552298"/>
          </a:xfrm>
          <a:prstGeom prst="ellipse">
            <a:avLst/>
          </a:prstGeom>
          <a:solidFill>
            <a:srgbClr val="D9AE4B"/>
          </a:solidFill>
          <a:ln/>
        </p:spPr>
      </p:sp>
      <p:sp>
        <p:nvSpPr>
          <p:cNvPr id="19" name="anim-g4-45"/>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6"/>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تدمج مهارتين في روبوت واحد يتبع الخط ويلتف حول العائق</a:t>
            </a:r>
            <a:endParaRPr lang="ar-SA" sz="2200" dirty="0"/>
          </a:p>
        </p:txBody>
      </p:sp>
      <p:sp>
        <p:nvSpPr>
          <p:cNvPr id="21" name="anim-g5-47"/>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48"/>
          <p:cNvSpPr/>
          <p:nvPr/>
        </p:nvSpPr>
        <p:spPr>
          <a:xfrm>
            <a:off x="10587838" y="5391302"/>
            <a:ext cx="552298" cy="552298"/>
          </a:xfrm>
          <a:prstGeom prst="ellipse">
            <a:avLst/>
          </a:prstGeom>
          <a:solidFill>
            <a:srgbClr val="D9AE4B"/>
          </a:solidFill>
          <a:ln/>
        </p:spPr>
      </p:sp>
      <p:sp>
        <p:nvSpPr>
          <p:cNvPr id="23" name="anim-g5-49"/>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50"/>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تُعدّ فريقًا من طلابك لمسابقة عالمية</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18872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18872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وعد الأكاديمية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بعد هذه الدورة…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لن يقول طالبك «أنا ألعب بسيارة»، بل سيقول «أنا أبرمج روبوتًا»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الافتتاح  ·  ٧</a:t>
            </a:r>
            <a:endParaRPr lang="ar-SA"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تشريح سيارة الروبوت</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قبل أن نبرمجها… لنعرف من أي شيء صُنعت</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تشريح السيارة  ·  ٨</a:t>
            </a:r>
            <a:endParaRPr lang="ar-SA"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1"/>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52"/>
          <p:cNvSpPr/>
          <p:nvPr/>
        </p:nvSpPr>
        <p:spPr>
          <a:xfrm>
            <a:off x="10573207" y="2286000"/>
            <a:ext cx="566928" cy="566928"/>
          </a:xfrm>
          <a:prstGeom prst="ellipse">
            <a:avLst/>
          </a:prstGeom>
          <a:solidFill>
            <a:srgbClr val="D9AE4B"/>
          </a:solidFill>
          <a:ln/>
        </p:spPr>
      </p:sp>
      <p:sp>
        <p:nvSpPr>
          <p:cNvPr id="7" name="anim-g1-53"/>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4"/>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تسمّي كل قطعة في السيارة وتعرف وظيفتها</a:t>
            </a:r>
            <a:endParaRPr lang="ar-SA" sz="2400" dirty="0"/>
          </a:p>
        </p:txBody>
      </p:sp>
      <p:sp>
        <p:nvSpPr>
          <p:cNvPr id="9" name="anim-g2-55"/>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56"/>
          <p:cNvSpPr/>
          <p:nvPr/>
        </p:nvSpPr>
        <p:spPr>
          <a:xfrm>
            <a:off x="10573207" y="3694176"/>
            <a:ext cx="566928" cy="566928"/>
          </a:xfrm>
          <a:prstGeom prst="ellipse">
            <a:avLst/>
          </a:prstGeom>
          <a:solidFill>
            <a:srgbClr val="D9AE4B"/>
          </a:solidFill>
          <a:ln/>
        </p:spPr>
      </p:sp>
      <p:sp>
        <p:nvSpPr>
          <p:cNvPr id="11" name="anim-g2-57"/>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8"/>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تقارن بين أنواع الدفع: عجلتان، وأربع، وجنزير، وميكانوم</a:t>
            </a:r>
            <a:endParaRPr lang="ar-SA" sz="2400" dirty="0"/>
          </a:p>
        </p:txBody>
      </p:sp>
      <p:sp>
        <p:nvSpPr>
          <p:cNvPr id="13" name="anim-g3-59"/>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60"/>
          <p:cNvSpPr/>
          <p:nvPr/>
        </p:nvSpPr>
        <p:spPr>
          <a:xfrm>
            <a:off x="10573207" y="5102352"/>
            <a:ext cx="566928" cy="566928"/>
          </a:xfrm>
          <a:prstGeom prst="ellipse">
            <a:avLst/>
          </a:prstGeom>
          <a:solidFill>
            <a:srgbClr val="D9AE4B"/>
          </a:solidFill>
          <a:ln/>
        </p:spPr>
      </p:sp>
      <p:sp>
        <p:nvSpPr>
          <p:cNvPr id="15" name="anim-g3-61"/>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2"/>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تحسب سرعة السيارة من سرعة المحرك وقطر العجلة</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السيارة  ·  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user\projects\younes-training\arduino3\.pptx-cache\s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أنواع الدفع</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تمشي الروبوتات؟</a:t>
            </a:r>
            <a:endParaRPr lang="ar-SA" sz="3800" dirty="0"/>
          </a:p>
        </p:txBody>
      </p:sp>
      <p:sp>
        <p:nvSpPr>
          <p:cNvPr id="5" name="anim-g1-63"/>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4"/>
          <p:cNvSpPr/>
          <p:nvPr/>
        </p:nvSpPr>
        <p:spPr>
          <a:xfrm>
            <a:off x="10362895" y="2404872"/>
            <a:ext cx="731520" cy="731520"/>
          </a:xfrm>
          <a:prstGeom prst="roundRect">
            <a:avLst>
              <a:gd name="adj" fmla="val 25000"/>
            </a:avLst>
          </a:prstGeom>
          <a:solidFill>
            <a:srgbClr val="F7E6BC"/>
          </a:solidFill>
          <a:ln/>
        </p:spPr>
      </p:sp>
      <p:sp>
        <p:nvSpPr>
          <p:cNvPr id="7" name="anim-g1-65"/>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66"/>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عجلتان + عجلة حرة (2WD)</a:t>
            </a:r>
            <a:endParaRPr lang="ar-SA" sz="2300" dirty="0"/>
          </a:p>
        </p:txBody>
      </p:sp>
      <p:sp>
        <p:nvSpPr>
          <p:cNvPr id="9" name="anim-g1-67"/>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الأبسط والأدق استدارة: سيارتنا</a:t>
            </a:r>
            <a:endParaRPr lang="ar-SA" sz="2100" dirty="0"/>
          </a:p>
        </p:txBody>
      </p:sp>
      <p:sp>
        <p:nvSpPr>
          <p:cNvPr id="10" name="anim-g2-68"/>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9"/>
          <p:cNvSpPr/>
          <p:nvPr/>
        </p:nvSpPr>
        <p:spPr>
          <a:xfrm>
            <a:off x="7657871" y="2404872"/>
            <a:ext cx="731520" cy="731520"/>
          </a:xfrm>
          <a:prstGeom prst="roundRect">
            <a:avLst>
              <a:gd name="adj" fmla="val 25000"/>
            </a:avLst>
          </a:prstGeom>
          <a:solidFill>
            <a:srgbClr val="F7E6BC"/>
          </a:solidFill>
          <a:ln/>
        </p:spPr>
      </p:sp>
      <p:sp>
        <p:nvSpPr>
          <p:cNvPr id="12" name="anim-g2-70"/>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71"/>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أربع عجلات (4WD)</a:t>
            </a:r>
            <a:endParaRPr lang="ar-SA" sz="2300" dirty="0"/>
          </a:p>
        </p:txBody>
      </p:sp>
      <p:sp>
        <p:nvSpPr>
          <p:cNvPr id="14" name="anim-g2-72"/>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قوة وثبات، واستدارة باحتكاك</a:t>
            </a:r>
            <a:endParaRPr lang="ar-SA" sz="2100" dirty="0"/>
          </a:p>
        </p:txBody>
      </p:sp>
      <p:sp>
        <p:nvSpPr>
          <p:cNvPr id="15" name="anim-g3-73"/>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4"/>
          <p:cNvSpPr/>
          <p:nvPr/>
        </p:nvSpPr>
        <p:spPr>
          <a:xfrm>
            <a:off x="4952848" y="2404872"/>
            <a:ext cx="731520" cy="731520"/>
          </a:xfrm>
          <a:prstGeom prst="roundRect">
            <a:avLst>
              <a:gd name="adj" fmla="val 25000"/>
            </a:avLst>
          </a:prstGeom>
          <a:solidFill>
            <a:srgbClr val="F7E6BC"/>
          </a:solidFill>
          <a:ln/>
        </p:spPr>
      </p:sp>
      <p:sp>
        <p:nvSpPr>
          <p:cNvPr id="17" name="anim-g3-75"/>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76"/>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الجنزير</a:t>
            </a:r>
            <a:endParaRPr lang="ar-SA" sz="2300" dirty="0"/>
          </a:p>
        </p:txBody>
      </p:sp>
      <p:sp>
        <p:nvSpPr>
          <p:cNvPr id="19" name="anim-g3-77"/>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كالدبابة: يتسلق العوائق الصغيرة</a:t>
            </a:r>
            <a:endParaRPr lang="ar-SA" sz="2100" dirty="0"/>
          </a:p>
        </p:txBody>
      </p:sp>
      <p:sp>
        <p:nvSpPr>
          <p:cNvPr id="20" name="anim-g4-78"/>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79"/>
          <p:cNvSpPr/>
          <p:nvPr/>
        </p:nvSpPr>
        <p:spPr>
          <a:xfrm>
            <a:off x="2247824" y="2404872"/>
            <a:ext cx="731520" cy="731520"/>
          </a:xfrm>
          <a:prstGeom prst="roundRect">
            <a:avLst>
              <a:gd name="adj" fmla="val 25000"/>
            </a:avLst>
          </a:prstGeom>
          <a:solidFill>
            <a:srgbClr val="F7E6BC"/>
          </a:solidFill>
          <a:ln/>
        </p:spPr>
      </p:sp>
      <p:sp>
        <p:nvSpPr>
          <p:cNvPr id="22" name="anim-g4-80"/>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81"/>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عجلات ميكانوم</a:t>
            </a:r>
            <a:endParaRPr lang="ar-SA" sz="2300" dirty="0"/>
          </a:p>
        </p:txBody>
      </p:sp>
      <p:sp>
        <p:nvSpPr>
          <p:cNvPr id="24" name="anim-g4-82"/>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يمشي جانبيًا دون أن يستدير!</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السيارة  ·  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687007" y="457200"/>
            <a:ext cx="4681728" cy="457200"/>
          </a:xfrm>
          <a:prstGeom prst="roundRect">
            <a:avLst>
              <a:gd name="adj" fmla="val 50000"/>
            </a:avLst>
          </a:prstGeom>
          <a:solidFill>
            <a:srgbClr val="F6EBCF"/>
          </a:solidFill>
          <a:ln/>
        </p:spPr>
      </p:sp>
      <p:sp>
        <p:nvSpPr>
          <p:cNvPr id="3" name="Text 1"/>
          <p:cNvSpPr/>
          <p:nvPr/>
        </p:nvSpPr>
        <p:spPr>
          <a:xfrm>
            <a:off x="6687007" y="45720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سيارة واحدة… ستة روبوتات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سنبني في هذه الأكاديمية؟</a:t>
            </a:r>
            <a:endParaRPr lang="ar-SA" sz="3800" dirty="0"/>
          </a:p>
        </p:txBody>
      </p:sp>
      <p:sp>
        <p:nvSpPr>
          <p:cNvPr id="5" name="anim-g1-83"/>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4"/>
          <p:cNvSpPr/>
          <p:nvPr/>
        </p:nvSpPr>
        <p:spPr>
          <a:xfrm>
            <a:off x="10527487" y="2267712"/>
            <a:ext cx="566928" cy="566928"/>
          </a:xfrm>
          <a:prstGeom prst="roundRect">
            <a:avLst>
              <a:gd name="adj" fmla="val 32258"/>
            </a:avLst>
          </a:prstGeom>
          <a:solidFill>
            <a:srgbClr val="F7E6BC"/>
          </a:solidFill>
          <a:ln/>
        </p:spPr>
      </p:sp>
      <p:sp>
        <p:nvSpPr>
          <p:cNvPr id="7" name="anim-g1-8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١. روبوت الجوال</a:t>
            </a:r>
            <a:endParaRPr lang="ar-SA" sz="2200" dirty="0"/>
          </a:p>
        </p:txBody>
      </p:sp>
      <p:sp>
        <p:nvSpPr>
          <p:cNvPr id="9" name="anim-g1-87"/>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تقوده بهاتفك · المحور ٥</a:t>
            </a:r>
            <a:endParaRPr lang="ar-SA" sz="1900" dirty="0"/>
          </a:p>
        </p:txBody>
      </p:sp>
      <p:sp>
        <p:nvSpPr>
          <p:cNvPr id="10" name="anim-g2-88"/>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9"/>
          <p:cNvSpPr/>
          <p:nvPr/>
        </p:nvSpPr>
        <p:spPr>
          <a:xfrm>
            <a:off x="6920789" y="2267712"/>
            <a:ext cx="566928" cy="566928"/>
          </a:xfrm>
          <a:prstGeom prst="roundRect">
            <a:avLst>
              <a:gd name="adj" fmla="val 32258"/>
            </a:avLst>
          </a:prstGeom>
          <a:solidFill>
            <a:srgbClr val="F7E6BC"/>
          </a:solidFill>
          <a:ln/>
        </p:spPr>
      </p:sp>
      <p:sp>
        <p:nvSpPr>
          <p:cNvPr id="12" name="anim-g2-9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٢. روبوت تتبع الخط</a:t>
            </a:r>
            <a:endParaRPr lang="ar-SA" sz="2200" dirty="0"/>
          </a:p>
        </p:txBody>
      </p:sp>
      <p:sp>
        <p:nvSpPr>
          <p:cNvPr id="14" name="anim-g2-92"/>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يمشي على الخط · المحوران ٦–٧</a:t>
            </a:r>
            <a:endParaRPr lang="ar-SA" sz="1900" dirty="0"/>
          </a:p>
        </p:txBody>
      </p:sp>
      <p:sp>
        <p:nvSpPr>
          <p:cNvPr id="15" name="anim-g3-93"/>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4"/>
          <p:cNvSpPr/>
          <p:nvPr/>
        </p:nvSpPr>
        <p:spPr>
          <a:xfrm>
            <a:off x="3314090" y="2267712"/>
            <a:ext cx="566928" cy="566928"/>
          </a:xfrm>
          <a:prstGeom prst="roundRect">
            <a:avLst>
              <a:gd name="adj" fmla="val 32258"/>
            </a:avLst>
          </a:prstGeom>
          <a:solidFill>
            <a:srgbClr val="F7E6BC"/>
          </a:solidFill>
          <a:ln/>
        </p:spPr>
      </p:sp>
      <p:sp>
        <p:nvSpPr>
          <p:cNvPr id="17" name="anim-g3-9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 روبوت تجنب العوائق</a:t>
            </a:r>
            <a:endParaRPr lang="ar-SA" sz="2200" dirty="0"/>
          </a:p>
        </p:txBody>
      </p:sp>
      <p:sp>
        <p:nvSpPr>
          <p:cNvPr id="19" name="anim-g3-97"/>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يمسح برادار · المحور ٨</a:t>
            </a:r>
            <a:endParaRPr lang="ar-SA" sz="1900" dirty="0"/>
          </a:p>
        </p:txBody>
      </p:sp>
      <p:sp>
        <p:nvSpPr>
          <p:cNvPr id="20" name="anim-g4-98"/>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99"/>
          <p:cNvSpPr/>
          <p:nvPr/>
        </p:nvSpPr>
        <p:spPr>
          <a:xfrm>
            <a:off x="10527487" y="4393692"/>
            <a:ext cx="566928" cy="566928"/>
          </a:xfrm>
          <a:prstGeom prst="roundRect">
            <a:avLst>
              <a:gd name="adj" fmla="val 32258"/>
            </a:avLst>
          </a:prstGeom>
          <a:solidFill>
            <a:srgbClr val="F7E6BC"/>
          </a:solidFill>
          <a:ln/>
        </p:spPr>
      </p:sp>
      <p:sp>
        <p:nvSpPr>
          <p:cNvPr id="22" name="anim-g4-100"/>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01"/>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٤. الروبوت المدمج</a:t>
            </a:r>
            <a:endParaRPr lang="ar-SA" sz="2200" dirty="0"/>
          </a:p>
        </p:txBody>
      </p:sp>
      <p:sp>
        <p:nvSpPr>
          <p:cNvPr id="24" name="anim-g4-102"/>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خط + عوائق معًا · المحور ٩</a:t>
            </a:r>
            <a:endParaRPr lang="ar-SA" sz="1900" dirty="0"/>
          </a:p>
        </p:txBody>
      </p:sp>
      <p:sp>
        <p:nvSpPr>
          <p:cNvPr id="25" name="anim-g5-103"/>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104"/>
          <p:cNvSpPr/>
          <p:nvPr/>
        </p:nvSpPr>
        <p:spPr>
          <a:xfrm>
            <a:off x="6920789" y="4393692"/>
            <a:ext cx="566928" cy="566928"/>
          </a:xfrm>
          <a:prstGeom prst="roundRect">
            <a:avLst>
              <a:gd name="adj" fmla="val 32258"/>
            </a:avLst>
          </a:prstGeom>
          <a:solidFill>
            <a:srgbClr val="F7E6BC"/>
          </a:solidFill>
          <a:ln/>
        </p:spPr>
      </p:sp>
      <p:sp>
        <p:nvSpPr>
          <p:cNvPr id="27" name="anim-g5-105"/>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106"/>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٥. روبوت السومو</a:t>
            </a:r>
            <a:endParaRPr lang="ar-SA" sz="2200" dirty="0"/>
          </a:p>
        </p:txBody>
      </p:sp>
      <p:sp>
        <p:nvSpPr>
          <p:cNvPr id="29" name="anim-g5-107"/>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يدفع خصمه خارجًا · المحور ١٠</a:t>
            </a:r>
            <a:endParaRPr lang="ar-SA" sz="1900" dirty="0"/>
          </a:p>
        </p:txBody>
      </p:sp>
      <p:sp>
        <p:nvSpPr>
          <p:cNvPr id="30" name="anim-g6-108"/>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109"/>
          <p:cNvSpPr/>
          <p:nvPr/>
        </p:nvSpPr>
        <p:spPr>
          <a:xfrm>
            <a:off x="3314090" y="4393692"/>
            <a:ext cx="566928" cy="566928"/>
          </a:xfrm>
          <a:prstGeom prst="roundRect">
            <a:avLst>
              <a:gd name="adj" fmla="val 32258"/>
            </a:avLst>
          </a:prstGeom>
          <a:solidFill>
            <a:srgbClr val="F7E6BC"/>
          </a:solidFill>
          <a:ln/>
        </p:spPr>
      </p:sp>
      <p:sp>
        <p:nvSpPr>
          <p:cNvPr id="32" name="anim-g6-110"/>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111"/>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٦. روبوت المتاهة</a:t>
            </a:r>
            <a:endParaRPr lang="ar-SA" sz="2200" dirty="0"/>
          </a:p>
        </p:txBody>
      </p:sp>
      <p:sp>
        <p:nvSpPr>
          <p:cNvPr id="34" name="anim-g6-112"/>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يجد المخرج · المحور ١١</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السيارة  ·  ١٢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تعرّف على المحرك الأصفر</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محرك TT: صغير… لكنه ذكي التصميم</a:t>
            </a:r>
            <a:endParaRPr lang="ar-SA" sz="3800" dirty="0"/>
          </a:p>
        </p:txBody>
      </p:sp>
      <p:sp>
        <p:nvSpPr>
          <p:cNvPr id="5" name="anim-g1-113"/>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4"/>
          <p:cNvSpPr/>
          <p:nvPr/>
        </p:nvSpPr>
        <p:spPr>
          <a:xfrm>
            <a:off x="10527487" y="2267712"/>
            <a:ext cx="566928" cy="566928"/>
          </a:xfrm>
          <a:prstGeom prst="roundRect">
            <a:avLst>
              <a:gd name="adj" fmla="val 32258"/>
            </a:avLst>
          </a:prstGeom>
          <a:solidFill>
            <a:srgbClr val="F7E6BC"/>
          </a:solidFill>
          <a:ln/>
        </p:spPr>
      </p:sp>
      <p:sp>
        <p:nvSpPr>
          <p:cNvPr id="7" name="anim-g1-11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تروس بنسبة ١ : ٤٨</a:t>
            </a:r>
            <a:endParaRPr lang="ar-SA" sz="2200" dirty="0"/>
          </a:p>
        </p:txBody>
      </p:sp>
      <p:sp>
        <p:nvSpPr>
          <p:cNvPr id="9" name="anim-g1-117"/>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المحرك الداخلي يدور ٤٨ مرة لتدور العجلة مرة واحدة، فتزيد القوة</a:t>
            </a:r>
            <a:endParaRPr lang="ar-SA" sz="1900" dirty="0"/>
          </a:p>
        </p:txBody>
      </p:sp>
      <p:sp>
        <p:nvSpPr>
          <p:cNvPr id="10" name="anim-g2-118"/>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9"/>
          <p:cNvSpPr/>
          <p:nvPr/>
        </p:nvSpPr>
        <p:spPr>
          <a:xfrm>
            <a:off x="6920789" y="2267712"/>
            <a:ext cx="566928" cy="566928"/>
          </a:xfrm>
          <a:prstGeom prst="roundRect">
            <a:avLst>
              <a:gd name="adj" fmla="val 32258"/>
            </a:avLst>
          </a:prstGeom>
          <a:solidFill>
            <a:srgbClr val="F7E6BC"/>
          </a:solidFill>
          <a:ln/>
        </p:spPr>
      </p:sp>
      <p:sp>
        <p:nvSpPr>
          <p:cNvPr id="12" name="anim-g2-12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2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من ٣ إلى ٦ فولت</a:t>
            </a:r>
            <a:endParaRPr lang="ar-SA" sz="2200" dirty="0"/>
          </a:p>
        </p:txBody>
      </p:sp>
      <p:sp>
        <p:nvSpPr>
          <p:cNvPr id="14" name="anim-g2-122"/>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أعلى جهد = أسرع. لا تتجاوز ٦ فولت كثيرًا فيسخن</a:t>
            </a:r>
            <a:endParaRPr lang="ar-SA" sz="1900" dirty="0"/>
          </a:p>
        </p:txBody>
      </p:sp>
      <p:sp>
        <p:nvSpPr>
          <p:cNvPr id="15" name="anim-g3-123"/>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24"/>
          <p:cNvSpPr/>
          <p:nvPr/>
        </p:nvSpPr>
        <p:spPr>
          <a:xfrm>
            <a:off x="3314090" y="2267712"/>
            <a:ext cx="566928" cy="566928"/>
          </a:xfrm>
          <a:prstGeom prst="roundRect">
            <a:avLst>
              <a:gd name="adj" fmla="val 32258"/>
            </a:avLst>
          </a:prstGeom>
          <a:solidFill>
            <a:srgbClr val="F7E6BC"/>
          </a:solidFill>
          <a:ln/>
        </p:spPr>
      </p:sp>
      <p:sp>
        <p:nvSpPr>
          <p:cNvPr id="17" name="anim-g3-12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2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نحو ٢٠٠ دورة/دقيقة</a:t>
            </a:r>
            <a:endParaRPr lang="ar-SA" sz="2200" dirty="0"/>
          </a:p>
        </p:txBody>
      </p:sp>
      <p:sp>
        <p:nvSpPr>
          <p:cNvPr id="19" name="anim-g3-127"/>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على ٦ فولت بلا حمل. مع وزن السيارة تقل قليلًا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السيارة  ·  ١٣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user\projects\younes-training\arduino3\.pptx-cache\s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عجلة قطرها ٦٥ مم دارت ٣ دورات كاملة… كم تقدّمت السيارة؟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١٩٥ مم فقط</a:t>
            </a:r>
            <a:endParaRPr lang="ar-SA" sz="2500" dirty="0"/>
          </a:p>
        </p:txBody>
      </p:sp>
      <p:sp>
        <p:nvSpPr>
          <p:cNvPr id="9" name="anim-g1-128"/>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29"/>
          <p:cNvSpPr/>
          <p:nvPr/>
        </p:nvSpPr>
        <p:spPr>
          <a:xfrm>
            <a:off x="10231831" y="2194560"/>
            <a:ext cx="954024" cy="954024"/>
          </a:xfrm>
          <a:prstGeom prst="roundRect">
            <a:avLst>
              <a:gd name="adj" fmla="val 11502"/>
            </a:avLst>
          </a:prstGeom>
          <a:solidFill>
            <a:srgbClr val="A3A9BA"/>
          </a:solidFill>
          <a:ln/>
        </p:spPr>
      </p:sp>
      <p:sp>
        <p:nvSpPr>
          <p:cNvPr id="11" name="anim-g1-13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3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١٩٥ مم فقط</a:t>
            </a:r>
            <a:endParaRPr lang="ar-SA" sz="2400" dirty="0"/>
          </a:p>
        </p:txBody>
      </p:sp>
      <p:sp>
        <p:nvSpPr>
          <p:cNvPr id="13" name="anim-g1-13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٣ × القطر، والمسافة تُحسب بالمحيط لا بالقطر</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نحو ٦١ سم</a:t>
            </a:r>
            <a:endParaRPr lang="ar-SA" sz="2500" dirty="0"/>
          </a:p>
        </p:txBody>
      </p:sp>
      <p:sp>
        <p:nvSpPr>
          <p:cNvPr id="18" name="anim-g1-133"/>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34"/>
          <p:cNvSpPr/>
          <p:nvPr/>
        </p:nvSpPr>
        <p:spPr>
          <a:xfrm>
            <a:off x="10231831" y="3569208"/>
            <a:ext cx="954024" cy="954024"/>
          </a:xfrm>
          <a:prstGeom prst="roundRect">
            <a:avLst>
              <a:gd name="adj" fmla="val 11502"/>
            </a:avLst>
          </a:prstGeom>
          <a:solidFill>
            <a:srgbClr val="2E9E6B"/>
          </a:solidFill>
          <a:ln/>
        </p:spPr>
      </p:sp>
      <p:sp>
        <p:nvSpPr>
          <p:cNvPr id="20" name="anim-g1-13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3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نحو ٦١ سم</a:t>
            </a:r>
            <a:endParaRPr lang="ar-SA" sz="2400" dirty="0"/>
          </a:p>
        </p:txBody>
      </p:sp>
      <p:sp>
        <p:nvSpPr>
          <p:cNvPr id="22" name="anim-g1-13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٣ × المحيط = ٣ × (٣٫١٤ × ٦٫٥ سم) ≈ ٣ × ٢٠٫٤ ≈ ٦١ سم</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نحو ٢ متر</a:t>
            </a:r>
            <a:endParaRPr lang="ar-SA" sz="2500" dirty="0"/>
          </a:p>
        </p:txBody>
      </p:sp>
      <p:sp>
        <p:nvSpPr>
          <p:cNvPr id="27" name="anim-g1-13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39"/>
          <p:cNvSpPr/>
          <p:nvPr/>
        </p:nvSpPr>
        <p:spPr>
          <a:xfrm>
            <a:off x="10231831" y="4943856"/>
            <a:ext cx="954024" cy="954024"/>
          </a:xfrm>
          <a:prstGeom prst="roundRect">
            <a:avLst>
              <a:gd name="adj" fmla="val 11502"/>
            </a:avLst>
          </a:prstGeom>
          <a:solidFill>
            <a:srgbClr val="A3A9BA"/>
          </a:solidFill>
          <a:ln/>
        </p:spPr>
      </p:sp>
      <p:sp>
        <p:nvSpPr>
          <p:cNvPr id="29" name="anim-g1-14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4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نحو ٢ متر</a:t>
            </a:r>
            <a:endParaRPr lang="ar-SA" sz="2400" dirty="0"/>
          </a:p>
        </p:txBody>
      </p:sp>
      <p:sp>
        <p:nvSpPr>
          <p:cNvPr id="31" name="anim-g1-14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هذه نحو ١٠ دورات</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السيارة  ·  ١٥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user\projects\younes-training\arduino3\.pptx-cache\s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user\projects\younes-training\arduino3\.pptx-cache\s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دماغ يقرر، وعضلات تنفّذ، وعجلات تحوّل الدوران إلى مسافة…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وكل قطعة صغيرة لها دور كبير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تشريح السيارة  ·  ١٨</a:t>
            </a:r>
            <a:endParaRPr lang="ar-SA"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كيف تستدير بلا مقود؟</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سر الدفع التفاضلي: عجلتان… وفرق في السرعة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الدفع التفاضلي  ·  ١٩</a:t>
            </a:r>
            <a:endParaRPr lang="ar-SA"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14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44"/>
          <p:cNvSpPr/>
          <p:nvPr/>
        </p:nvSpPr>
        <p:spPr>
          <a:xfrm>
            <a:off x="10573207" y="2109978"/>
            <a:ext cx="566928" cy="566928"/>
          </a:xfrm>
          <a:prstGeom prst="ellipse">
            <a:avLst/>
          </a:prstGeom>
          <a:solidFill>
            <a:srgbClr val="D9AE4B"/>
          </a:solidFill>
          <a:ln/>
        </p:spPr>
      </p:sp>
      <p:sp>
        <p:nvSpPr>
          <p:cNvPr id="7" name="anim-g1-14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4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كيف يصنع فرق السرعة بين العجلتين منعطفًا</a:t>
            </a:r>
            <a:endParaRPr lang="ar-SA" sz="2400" dirty="0"/>
          </a:p>
        </p:txBody>
      </p:sp>
      <p:sp>
        <p:nvSpPr>
          <p:cNvPr id="9" name="anim-g2-14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48"/>
          <p:cNvSpPr/>
          <p:nvPr/>
        </p:nvSpPr>
        <p:spPr>
          <a:xfrm>
            <a:off x="10573207" y="3166110"/>
            <a:ext cx="566928" cy="566928"/>
          </a:xfrm>
          <a:prstGeom prst="ellipse">
            <a:avLst/>
          </a:prstGeom>
          <a:solidFill>
            <a:srgbClr val="D9AE4B"/>
          </a:solidFill>
          <a:ln/>
        </p:spPr>
      </p:sp>
      <p:sp>
        <p:nvSpPr>
          <p:cNvPr id="11" name="anim-g2-14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5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تجعل السيارة تدور في مكانها أو حول عجلة واحدة</a:t>
            </a:r>
            <a:endParaRPr lang="ar-SA" sz="2400" dirty="0"/>
          </a:p>
        </p:txBody>
      </p:sp>
      <p:sp>
        <p:nvSpPr>
          <p:cNvPr id="13" name="anim-g3-15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52"/>
          <p:cNvSpPr/>
          <p:nvPr/>
        </p:nvSpPr>
        <p:spPr>
          <a:xfrm>
            <a:off x="10573207" y="4222242"/>
            <a:ext cx="566928" cy="566928"/>
          </a:xfrm>
          <a:prstGeom prst="ellipse">
            <a:avLst/>
          </a:prstGeom>
          <a:solidFill>
            <a:srgbClr val="D9AE4B"/>
          </a:solidFill>
          <a:ln/>
        </p:spPr>
      </p:sp>
      <p:sp>
        <p:nvSpPr>
          <p:cNvPr id="15" name="anim-g3-15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5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دالة drive(left, right) تقبل السرعات السالبة</a:t>
            </a:r>
            <a:endParaRPr lang="ar-SA" sz="2400" dirty="0"/>
          </a:p>
        </p:txBody>
      </p:sp>
      <p:sp>
        <p:nvSpPr>
          <p:cNvPr id="17" name="anim-g4-15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56"/>
          <p:cNvSpPr/>
          <p:nvPr/>
        </p:nvSpPr>
        <p:spPr>
          <a:xfrm>
            <a:off x="10573207" y="5278374"/>
            <a:ext cx="566928" cy="566928"/>
          </a:xfrm>
          <a:prstGeom prst="ellipse">
            <a:avLst/>
          </a:prstGeom>
          <a:solidFill>
            <a:srgbClr val="D9AE4B"/>
          </a:solidFill>
          <a:ln/>
        </p:spPr>
      </p:sp>
      <p:sp>
        <p:nvSpPr>
          <p:cNvPr id="19" name="anim-g4-15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5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تعالج انحراف السيارة حين يختلف المحركان</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الدفع التفاضلي  ·  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25919" y="457200"/>
            <a:ext cx="4242816" cy="457200"/>
          </a:xfrm>
          <a:prstGeom prst="roundRect">
            <a:avLst>
              <a:gd name="adj" fmla="val 50000"/>
            </a:avLst>
          </a:prstGeom>
          <a:solidFill>
            <a:srgbClr val="F6EBCF"/>
          </a:solidFill>
          <a:ln/>
        </p:spPr>
      </p:sp>
      <p:sp>
        <p:nvSpPr>
          <p:cNvPr id="3" name="Text 1"/>
          <p:cNvSpPr/>
          <p:nvPr/>
        </p:nvSpPr>
        <p:spPr>
          <a:xfrm>
            <a:off x="7125919" y="457200"/>
            <a:ext cx="424281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القاعدة كلها في ثلاث صور</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لا مقود… بل فرق في السرعة</a:t>
            </a:r>
            <a:endParaRPr lang="ar-SA" sz="3800" dirty="0"/>
          </a:p>
        </p:txBody>
      </p:sp>
      <p:sp>
        <p:nvSpPr>
          <p:cNvPr id="5" name="anim-g1-15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60"/>
          <p:cNvSpPr/>
          <p:nvPr/>
        </p:nvSpPr>
        <p:spPr>
          <a:xfrm>
            <a:off x="10527487" y="2267712"/>
            <a:ext cx="566928" cy="566928"/>
          </a:xfrm>
          <a:prstGeom prst="roundRect">
            <a:avLst>
              <a:gd name="adj" fmla="val 32258"/>
            </a:avLst>
          </a:prstGeom>
          <a:solidFill>
            <a:srgbClr val="F7E6BC"/>
          </a:solidFill>
          <a:ln/>
        </p:spPr>
      </p:sp>
      <p:sp>
        <p:nvSpPr>
          <p:cNvPr id="7" name="anim-g1-16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6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سرعتان متساويتان</a:t>
            </a:r>
            <a:endParaRPr lang="ar-SA" sz="2200" dirty="0"/>
          </a:p>
        </p:txBody>
      </p:sp>
      <p:sp>
        <p:nvSpPr>
          <p:cNvPr id="9" name="anim-g1-16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خط مستقيم: للأمام أو للخلف</a:t>
            </a:r>
            <a:endParaRPr lang="ar-SA" sz="1900" dirty="0"/>
          </a:p>
        </p:txBody>
      </p:sp>
      <p:sp>
        <p:nvSpPr>
          <p:cNvPr id="10" name="anim-g2-16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65"/>
          <p:cNvSpPr/>
          <p:nvPr/>
        </p:nvSpPr>
        <p:spPr>
          <a:xfrm>
            <a:off x="6920789" y="2267712"/>
            <a:ext cx="566928" cy="566928"/>
          </a:xfrm>
          <a:prstGeom prst="roundRect">
            <a:avLst>
              <a:gd name="adj" fmla="val 32258"/>
            </a:avLst>
          </a:prstGeom>
          <a:solidFill>
            <a:srgbClr val="F7E6BC"/>
          </a:solidFill>
          <a:ln/>
        </p:spPr>
      </p:sp>
      <p:sp>
        <p:nvSpPr>
          <p:cNvPr id="12" name="anim-g2-16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6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سرعتان مختلفتان</a:t>
            </a:r>
            <a:endParaRPr lang="ar-SA" sz="2200" dirty="0"/>
          </a:p>
        </p:txBody>
      </p:sp>
      <p:sp>
        <p:nvSpPr>
          <p:cNvPr id="14" name="anim-g2-16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منعطف: تميل السيارة نحو العجلة الأبطأ</a:t>
            </a:r>
            <a:endParaRPr lang="ar-SA" sz="1900" dirty="0"/>
          </a:p>
        </p:txBody>
      </p:sp>
      <p:sp>
        <p:nvSpPr>
          <p:cNvPr id="15" name="anim-g3-16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70"/>
          <p:cNvSpPr/>
          <p:nvPr/>
        </p:nvSpPr>
        <p:spPr>
          <a:xfrm>
            <a:off x="3314090" y="2267712"/>
            <a:ext cx="566928" cy="566928"/>
          </a:xfrm>
          <a:prstGeom prst="roundRect">
            <a:avLst>
              <a:gd name="adj" fmla="val 32258"/>
            </a:avLst>
          </a:prstGeom>
          <a:solidFill>
            <a:srgbClr val="F7E6BC"/>
          </a:solidFill>
          <a:ln/>
        </p:spPr>
      </p:sp>
      <p:sp>
        <p:nvSpPr>
          <p:cNvPr id="17" name="anim-g3-17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7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سرعتان متعاكستان</a:t>
            </a:r>
            <a:endParaRPr lang="ar-SA" sz="2200" dirty="0"/>
          </a:p>
        </p:txBody>
      </p:sp>
      <p:sp>
        <p:nvSpPr>
          <p:cNvPr id="19" name="anim-g3-17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دوران في المكان حول منتصف السيارة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الدفع التفاضلي  ·  ٢١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Users\user\projects\younes-training\arduino3\.pptx-cache\s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25919" y="457200"/>
            <a:ext cx="4242816" cy="457200"/>
          </a:xfrm>
          <a:prstGeom prst="roundRect">
            <a:avLst>
              <a:gd name="adj" fmla="val 50000"/>
            </a:avLst>
          </a:prstGeom>
          <a:solidFill>
            <a:srgbClr val="F6EBCF"/>
          </a:solidFill>
          <a:ln/>
        </p:spPr>
      </p:sp>
      <p:sp>
        <p:nvSpPr>
          <p:cNvPr id="3" name="Text 1"/>
          <p:cNvSpPr/>
          <p:nvPr/>
        </p:nvSpPr>
        <p:spPr>
          <a:xfrm>
            <a:off x="7125919" y="457200"/>
            <a:ext cx="424281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الرياضيات خلف المحاكي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ثلاث معادلات تحكم كل روبوت بعجلتين</a:t>
            </a:r>
            <a:endParaRPr lang="ar-SA" sz="3200" dirty="0"/>
          </a:p>
        </p:txBody>
      </p:sp>
      <p:sp>
        <p:nvSpPr>
          <p:cNvPr id="5" name="anim-g1-174"/>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75"/>
          <p:cNvSpPr/>
          <p:nvPr/>
        </p:nvSpPr>
        <p:spPr>
          <a:xfrm>
            <a:off x="10527487" y="2267712"/>
            <a:ext cx="566928" cy="566928"/>
          </a:xfrm>
          <a:prstGeom prst="roundRect">
            <a:avLst>
              <a:gd name="adj" fmla="val 32258"/>
            </a:avLst>
          </a:prstGeom>
          <a:solidFill>
            <a:srgbClr val="F7E6BC"/>
          </a:solidFill>
          <a:ln/>
        </p:spPr>
      </p:sp>
      <p:sp>
        <p:nvSpPr>
          <p:cNvPr id="7" name="anim-g1-17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77"/>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سرعة السيارة</a:t>
            </a:r>
            <a:endParaRPr lang="ar-SA" sz="2200" dirty="0"/>
          </a:p>
        </p:txBody>
      </p:sp>
      <p:sp>
        <p:nvSpPr>
          <p:cNvPr id="9" name="anim-g1-178"/>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v = (يسار + يمين) ÷ ٢</a:t>
            </a:r>
            <a:endParaRPr lang="ar-SA" sz="1900" dirty="0"/>
          </a:p>
        </p:txBody>
      </p:sp>
      <p:sp>
        <p:nvSpPr>
          <p:cNvPr id="10" name="anim-g2-179"/>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80"/>
          <p:cNvSpPr/>
          <p:nvPr/>
        </p:nvSpPr>
        <p:spPr>
          <a:xfrm>
            <a:off x="6920789" y="2267712"/>
            <a:ext cx="566928" cy="566928"/>
          </a:xfrm>
          <a:prstGeom prst="roundRect">
            <a:avLst>
              <a:gd name="adj" fmla="val 32258"/>
            </a:avLst>
          </a:prstGeom>
          <a:solidFill>
            <a:srgbClr val="F7E6BC"/>
          </a:solidFill>
          <a:ln/>
        </p:spPr>
      </p:sp>
      <p:sp>
        <p:nvSpPr>
          <p:cNvPr id="12" name="anim-g2-181"/>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82"/>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سرعة الاستدارة</a:t>
            </a:r>
            <a:endParaRPr lang="ar-SA" sz="2200" dirty="0"/>
          </a:p>
        </p:txBody>
      </p:sp>
      <p:sp>
        <p:nvSpPr>
          <p:cNvPr id="14" name="anim-g2-183"/>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ω = (يمين − يسار) ÷ المسافة بين العجلتين</a:t>
            </a:r>
            <a:endParaRPr lang="ar-SA" sz="1900" dirty="0"/>
          </a:p>
        </p:txBody>
      </p:sp>
      <p:sp>
        <p:nvSpPr>
          <p:cNvPr id="15" name="anim-g3-184"/>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85"/>
          <p:cNvSpPr/>
          <p:nvPr/>
        </p:nvSpPr>
        <p:spPr>
          <a:xfrm>
            <a:off x="3314090" y="2267712"/>
            <a:ext cx="566928" cy="566928"/>
          </a:xfrm>
          <a:prstGeom prst="roundRect">
            <a:avLst>
              <a:gd name="adj" fmla="val 32258"/>
            </a:avLst>
          </a:prstGeom>
          <a:solidFill>
            <a:srgbClr val="F7E6BC"/>
          </a:solidFill>
          <a:ln/>
        </p:spPr>
      </p:sp>
      <p:sp>
        <p:nvSpPr>
          <p:cNvPr id="17" name="anim-g3-186"/>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87"/>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نصف قطر المنعطف</a:t>
            </a:r>
            <a:endParaRPr lang="ar-SA" sz="2200" dirty="0"/>
          </a:p>
        </p:txBody>
      </p:sp>
      <p:sp>
        <p:nvSpPr>
          <p:cNvPr id="19" name="anim-g3-188"/>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R = v ÷ ω</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الدفع التفاضلي  ·  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user\projects\younes-training\arduino3\.pptx-cache\s24-0.jpg">    </p:cNvPr>
          <p:cNvPicPr>
            <a:picLocks noChangeAspect="1"/>
          </p:cNvPicPr>
          <p:nvPr/>
        </p:nvPicPr>
        <p:blipFill>
          <a:blip r:embed="rId1"/>
          <a:stretch>
            <a:fillRect/>
          </a:stretch>
        </p:blipFill>
        <p:spPr>
          <a:xfrm>
            <a:off x="0" y="0"/>
            <a:ext cx="12191695" cy="6858000"/>
          </a:xfrm>
          <a:prstGeom prst="rect">
            <a:avLst/>
          </a:prstGeom>
        </p:spPr>
      </p:pic>
      <p:pic>
        <p:nvPicPr>
          <p:cNvPr id="3" name="anim-g1-189" descr="C:\Users\user\projects\younes-training\arduino3\.pptx-cache\s24-1.jpg">    </p:cNvPr>
          <p:cNvPicPr>
            <a:picLocks noChangeAspect="1"/>
          </p:cNvPicPr>
          <p:nvPr/>
        </p:nvPicPr>
        <p:blipFill>
          <a:blip r:embed="rId2"/>
          <a:stretch>
            <a:fillRect/>
          </a:stretch>
        </p:blipFill>
        <p:spPr>
          <a:xfrm>
            <a:off x="0" y="0"/>
            <a:ext cx="12191695" cy="6858000"/>
          </a:xfrm>
          <a:prstGeom prst="rect">
            <a:avLst/>
          </a:prstGeom>
        </p:spPr>
      </p:pic>
      <p:pic>
        <p:nvPicPr>
          <p:cNvPr id="4" name="anim-g2-190" descr="C:\Users\user\projects\younes-training\arduino3\.pptx-cache\s24-2.jpg">    </p:cNvPr>
          <p:cNvPicPr>
            <a:picLocks noChangeAspect="1"/>
          </p:cNvPicPr>
          <p:nvPr/>
        </p:nvPicPr>
        <p:blipFill>
          <a:blip r:embed="rId3"/>
          <a:stretch>
            <a:fillRect/>
          </a:stretch>
        </p:blipFill>
        <p:spPr>
          <a:xfrm>
            <a:off x="0" y="0"/>
            <a:ext cx="12191695" cy="6858000"/>
          </a:xfrm>
          <a:prstGeom prst="rect">
            <a:avLst/>
          </a:prstGeom>
        </p:spPr>
      </p:pic>
      <p:pic>
        <p:nvPicPr>
          <p:cNvPr id="5" name="anim-g3-191" descr="C:\Users\user\projects\younes-training\arduino3\.pptx-cache\s24-3.jpg">    </p:cNvPr>
          <p:cNvPicPr>
            <a:picLocks noChangeAspect="1"/>
          </p:cNvPicPr>
          <p:nvPr/>
        </p:nvPicPr>
        <p:blipFill>
          <a:blip r:embed="rId4"/>
          <a:stretch>
            <a:fillRect/>
          </a:stretch>
        </p:blipFill>
        <p:spPr>
          <a:xfrm>
            <a:off x="0" y="0"/>
            <a:ext cx="12191695" cy="6858000"/>
          </a:xfrm>
          <a:prstGeom prst="rect">
            <a:avLst/>
          </a:prstGeom>
        </p:spPr>
      </p:pic>
      <p:pic>
        <p:nvPicPr>
          <p:cNvPr id="6" name="anim-g4-192" descr="C:\Users\user\projects\younes-training\arduino3\.pptx-cache\s24-4.jpg">    </p:cNvPr>
          <p:cNvPicPr>
            <a:picLocks noChangeAspect="1"/>
          </p:cNvPicPr>
          <p:nvPr/>
        </p:nvPicPr>
        <p:blipFill>
          <a:blip r:embed="rId5"/>
          <a:stretch>
            <a:fillRect/>
          </a:stretch>
        </p:blipFill>
        <p:spPr>
          <a:xfrm>
            <a:off x="0" y="0"/>
            <a:ext cx="12191695" cy="6858000"/>
          </a:xfrm>
          <a:prstGeom prst="rect">
            <a:avLst/>
          </a:prstGeom>
        </p:spPr>
      </p:pic>
      <p:pic>
        <p:nvPicPr>
          <p:cNvPr id="7" name="anim-g5-193" descr="C:\Users\user\projects\younes-training\arduino3\.pptx-cache\s24-5.jpg">    </p:cNvPr>
          <p:cNvPicPr>
            <a:picLocks noChangeAspect="1"/>
          </p:cNvPicPr>
          <p:nvPr/>
        </p:nvPicPr>
        <p:blipFill>
          <a:blip r:embed="rId6"/>
          <a:stretch>
            <a:fillRect/>
          </a:stretch>
        </p:blipFill>
        <p:spPr>
          <a:xfrm>
            <a:off x="0" y="0"/>
            <a:ext cx="12191695" cy="6858000"/>
          </a:xfrm>
          <a:prstGeom prst="rect">
            <a:avLst/>
          </a:prstGeom>
        </p:spPr>
      </p:pic>
      <p:pic>
        <p:nvPicPr>
          <p:cNvPr id="8" name="anim-g6-194" descr="C:\Users\user\projects\younes-training\arduino3\.pptx-cache\s24-6.jpg">    </p:cNvPr>
          <p:cNvPicPr>
            <a:picLocks noChangeAspect="1"/>
          </p:cNvPicPr>
          <p:nvPr/>
        </p:nvPicPr>
        <p:blipFill>
          <a:blip r:embed="rId7"/>
          <a:stretch>
            <a:fillRect/>
          </a:stretch>
        </p:blipFill>
        <p:spPr>
          <a:xfrm>
            <a:off x="0" y="0"/>
            <a:ext cx="12191695" cy="6858000"/>
          </a:xfrm>
          <a:prstGeom prst="rect">
            <a:avLst/>
          </a:prstGeom>
        </p:spPr>
      </p:pic>
      <p:pic>
        <p:nvPicPr>
          <p:cNvPr id="9" name="anim-g7-195" descr="C:\Users\user\projects\younes-training\arduino3\.pptx-cache\s24-7.jpg">    </p:cNvPr>
          <p:cNvPicPr>
            <a:picLocks noChangeAspect="1"/>
          </p:cNvPicPr>
          <p:nvPr/>
        </p:nvPicPr>
        <p:blipFill>
          <a:blip r:embed="rId8"/>
          <a:stretch>
            <a:fillRect/>
          </a:stretch>
        </p:blipFill>
        <p:spPr>
          <a:xfrm>
            <a:off x="0" y="0"/>
            <a:ext cx="12191695" cy="6858000"/>
          </a:xfrm>
          <a:prstGeom prst="rect">
            <a:avLst/>
          </a:prstGeom>
        </p:spPr>
      </p:pic>
      <p:pic>
        <p:nvPicPr>
          <p:cNvPr id="10" name="anim-g8-196" descr="C:\Users\user\projects\younes-training\arduino3\.pptx-cache\s24-8.jpg">    </p:cNvPr>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مشكلة حقيقية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تنحرف سيارتي وأنا أكتب drive(200, 200)؟</a:t>
            </a:r>
            <a:endParaRPr lang="ar-SA" sz="3200" dirty="0"/>
          </a:p>
        </p:txBody>
      </p:sp>
      <p:sp>
        <p:nvSpPr>
          <p:cNvPr id="5" name="anim-g1-197"/>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98"/>
          <p:cNvSpPr/>
          <p:nvPr/>
        </p:nvSpPr>
        <p:spPr>
          <a:xfrm>
            <a:off x="10527487" y="2267712"/>
            <a:ext cx="566928" cy="566928"/>
          </a:xfrm>
          <a:prstGeom prst="roundRect">
            <a:avLst>
              <a:gd name="adj" fmla="val 32258"/>
            </a:avLst>
          </a:prstGeom>
          <a:solidFill>
            <a:srgbClr val="F7E6BC"/>
          </a:solidFill>
          <a:ln/>
        </p:spPr>
      </p:sp>
      <p:sp>
        <p:nvSpPr>
          <p:cNvPr id="7" name="anim-g1-19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0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المحركان ليسا توأمين</a:t>
            </a:r>
            <a:endParaRPr lang="ar-SA" sz="2200" dirty="0"/>
          </a:p>
        </p:txBody>
      </p:sp>
      <p:sp>
        <p:nvSpPr>
          <p:cNvPr id="9" name="anim-g1-201"/>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محركان من المصنع نفسه يختلفان قليلًا في السرعة</a:t>
            </a:r>
            <a:endParaRPr lang="ar-SA" sz="1900" dirty="0"/>
          </a:p>
        </p:txBody>
      </p:sp>
      <p:sp>
        <p:nvSpPr>
          <p:cNvPr id="10" name="anim-g2-202"/>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03"/>
          <p:cNvSpPr/>
          <p:nvPr/>
        </p:nvSpPr>
        <p:spPr>
          <a:xfrm>
            <a:off x="6920789" y="2267712"/>
            <a:ext cx="566928" cy="566928"/>
          </a:xfrm>
          <a:prstGeom prst="roundRect">
            <a:avLst>
              <a:gd name="adj" fmla="val 32258"/>
            </a:avLst>
          </a:prstGeom>
          <a:solidFill>
            <a:srgbClr val="F7E6BC"/>
          </a:solidFill>
          <a:ln/>
        </p:spPr>
      </p:sp>
      <p:sp>
        <p:nvSpPr>
          <p:cNvPr id="12" name="anim-g2-20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0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الحل: المعايرة</a:t>
            </a:r>
            <a:endParaRPr lang="ar-SA" sz="2200" dirty="0"/>
          </a:p>
        </p:txBody>
      </p:sp>
      <p:sp>
        <p:nvSpPr>
          <p:cNvPr id="14" name="anim-g2-206"/>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جرّب drive(200, 188) مثلًا، حتى تمشي ٢ متر بخط مستقيم</a:t>
            </a:r>
            <a:endParaRPr lang="ar-SA" sz="1900" dirty="0"/>
          </a:p>
        </p:txBody>
      </p:sp>
      <p:sp>
        <p:nvSpPr>
          <p:cNvPr id="15" name="anim-g3-207"/>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08"/>
          <p:cNvSpPr/>
          <p:nvPr/>
        </p:nvSpPr>
        <p:spPr>
          <a:xfrm>
            <a:off x="3314090" y="2267712"/>
            <a:ext cx="566928" cy="566928"/>
          </a:xfrm>
          <a:prstGeom prst="roundRect">
            <a:avLst>
              <a:gd name="adj" fmla="val 32258"/>
            </a:avLst>
          </a:prstGeom>
          <a:solidFill>
            <a:srgbClr val="F7E6BC"/>
          </a:solidFill>
          <a:ln/>
        </p:spPr>
      </p:sp>
      <p:sp>
        <p:nvSpPr>
          <p:cNvPr id="17" name="anim-g3-20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1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سجّل الرقم</a:t>
            </a:r>
            <a:endParaRPr lang="ar-SA" sz="2200" dirty="0"/>
          </a:p>
        </p:txBody>
      </p:sp>
      <p:sp>
        <p:nvSpPr>
          <p:cNvPr id="19" name="anim-g3-211"/>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لكل سيارة رقمها: اكتبه بقلم على الهيكل</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الدفع التفاضلي  ·  ٢٥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Users\user\projects\younes-training\arduino3\.pptx-cache\s26-0.jpg">    </p:cNvPr>
          <p:cNvPicPr>
            <a:picLocks noChangeAspect="1"/>
          </p:cNvPicPr>
          <p:nvPr/>
        </p:nvPicPr>
        <p:blipFill>
          <a:blip r:embed="rId1"/>
          <a:stretch>
            <a:fillRect/>
          </a:stretch>
        </p:blipFill>
        <p:spPr>
          <a:xfrm>
            <a:off x="0" y="0"/>
            <a:ext cx="12191695" cy="6858000"/>
          </a:xfrm>
          <a:prstGeom prst="rect">
            <a:avLst/>
          </a:prstGeom>
        </p:spPr>
      </p:pic>
      <p:pic>
        <p:nvPicPr>
          <p:cNvPr id="3" name="anim-g1-212" descr="C:\Users\user\projects\younes-training\arduino3\.pptx-cache\s26-1.jpg">    </p:cNvPr>
          <p:cNvPicPr>
            <a:picLocks noChangeAspect="1"/>
          </p:cNvPicPr>
          <p:nvPr/>
        </p:nvPicPr>
        <p:blipFill>
          <a:blip r:embed="rId2"/>
          <a:stretch>
            <a:fillRect/>
          </a:stretch>
        </p:blipFill>
        <p:spPr>
          <a:xfrm>
            <a:off x="0" y="0"/>
            <a:ext cx="12191695" cy="6858000"/>
          </a:xfrm>
          <a:prstGeom prst="rect">
            <a:avLst/>
          </a:prstGeom>
        </p:spPr>
      </p:pic>
      <p:pic>
        <p:nvPicPr>
          <p:cNvPr id="4" name="anim-g2-213" descr="C:\Users\user\projects\younes-training\arduino3\.pptx-cache\s26-2.jpg">    </p:cNvPr>
          <p:cNvPicPr>
            <a:picLocks noChangeAspect="1"/>
          </p:cNvPicPr>
          <p:nvPr/>
        </p:nvPicPr>
        <p:blipFill>
          <a:blip r:embed="rId3"/>
          <a:stretch>
            <a:fillRect/>
          </a:stretch>
        </p:blipFill>
        <p:spPr>
          <a:xfrm>
            <a:off x="0" y="0"/>
            <a:ext cx="12191695" cy="6858000"/>
          </a:xfrm>
          <a:prstGeom prst="rect">
            <a:avLst/>
          </a:prstGeom>
        </p:spPr>
      </p:pic>
      <p:pic>
        <p:nvPicPr>
          <p:cNvPr id="5" name="anim-g3-214" descr="C:\Users\user\projects\younes-training\arduino3\.pptx-cache\s26-3.jpg">    </p:cNvPr>
          <p:cNvPicPr>
            <a:picLocks noChangeAspect="1"/>
          </p:cNvPicPr>
          <p:nvPr/>
        </p:nvPicPr>
        <p:blipFill>
          <a:blip r:embed="rId4"/>
          <a:stretch>
            <a:fillRect/>
          </a:stretch>
        </p:blipFill>
        <p:spPr>
          <a:xfrm>
            <a:off x="0" y="0"/>
            <a:ext cx="12191695" cy="6858000"/>
          </a:xfrm>
          <a:prstGeom prst="rect">
            <a:avLst/>
          </a:prstGeom>
        </p:spPr>
      </p:pic>
      <p:pic>
        <p:nvPicPr>
          <p:cNvPr id="6" name="anim-g4-215" descr="C:\Users\user\projects\younes-training\arduino3\.pptx-cache\s26-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كتبنا drive(0, 200)… ماذا تفعل السيارة؟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تمشي مستقيمًا بنصف السرعة</a:t>
            </a:r>
            <a:endParaRPr lang="ar-SA" sz="2500" dirty="0"/>
          </a:p>
        </p:txBody>
      </p:sp>
      <p:sp>
        <p:nvSpPr>
          <p:cNvPr id="9" name="anim-g1-216"/>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217"/>
          <p:cNvSpPr/>
          <p:nvPr/>
        </p:nvSpPr>
        <p:spPr>
          <a:xfrm>
            <a:off x="10231831" y="2194560"/>
            <a:ext cx="954024" cy="954024"/>
          </a:xfrm>
          <a:prstGeom prst="roundRect">
            <a:avLst>
              <a:gd name="adj" fmla="val 11502"/>
            </a:avLst>
          </a:prstGeom>
          <a:solidFill>
            <a:srgbClr val="A3A9BA"/>
          </a:solidFill>
          <a:ln/>
        </p:spPr>
      </p:sp>
      <p:sp>
        <p:nvSpPr>
          <p:cNvPr id="11" name="anim-g1-218"/>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219"/>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تمشي مستقيمًا بنصف السرعة</a:t>
            </a:r>
            <a:endParaRPr lang="ar-SA" sz="2400" dirty="0"/>
          </a:p>
        </p:txBody>
      </p:sp>
      <p:sp>
        <p:nvSpPr>
          <p:cNvPr id="13" name="anim-g1-220"/>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الخط المستقيم يحتاج سرعتين متساويتين</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تدور في مكانها حول منتصفها</a:t>
            </a:r>
            <a:endParaRPr lang="ar-SA" sz="2500" dirty="0"/>
          </a:p>
        </p:txBody>
      </p:sp>
      <p:sp>
        <p:nvSpPr>
          <p:cNvPr id="18" name="anim-g1-221"/>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222"/>
          <p:cNvSpPr/>
          <p:nvPr/>
        </p:nvSpPr>
        <p:spPr>
          <a:xfrm>
            <a:off x="10231831" y="3569208"/>
            <a:ext cx="954024" cy="954024"/>
          </a:xfrm>
          <a:prstGeom prst="roundRect">
            <a:avLst>
              <a:gd name="adj" fmla="val 11502"/>
            </a:avLst>
          </a:prstGeom>
          <a:solidFill>
            <a:srgbClr val="A3A9BA"/>
          </a:solidFill>
          <a:ln/>
        </p:spPr>
      </p:sp>
      <p:sp>
        <p:nvSpPr>
          <p:cNvPr id="20" name="anim-g1-223"/>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224"/>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تدور في مكانها حول منتصفها</a:t>
            </a:r>
            <a:endParaRPr lang="ar-SA" sz="2400" dirty="0"/>
          </a:p>
        </p:txBody>
      </p:sp>
      <p:sp>
        <p:nvSpPr>
          <p:cNvPr id="22" name="anim-g1-225"/>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الدوران حول المنتصف يحتاج سرعتين متعاكستين</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تدور حول العجلة اليسرى الواقفة</a:t>
            </a:r>
            <a:endParaRPr lang="ar-SA" sz="2500" dirty="0"/>
          </a:p>
        </p:txBody>
      </p:sp>
      <p:sp>
        <p:nvSpPr>
          <p:cNvPr id="27" name="anim-g1-226"/>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227"/>
          <p:cNvSpPr/>
          <p:nvPr/>
        </p:nvSpPr>
        <p:spPr>
          <a:xfrm>
            <a:off x="10231831" y="4943856"/>
            <a:ext cx="954024" cy="954024"/>
          </a:xfrm>
          <a:prstGeom prst="roundRect">
            <a:avLst>
              <a:gd name="adj" fmla="val 11502"/>
            </a:avLst>
          </a:prstGeom>
          <a:solidFill>
            <a:srgbClr val="2E9E6B"/>
          </a:solidFill>
          <a:ln/>
        </p:spPr>
      </p:sp>
      <p:sp>
        <p:nvSpPr>
          <p:cNvPr id="29" name="anim-g1-228"/>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229"/>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تدور حول العجلة اليسرى الواقفة</a:t>
            </a:r>
            <a:endParaRPr lang="ar-SA" sz="2400" dirty="0"/>
          </a:p>
        </p:txBody>
      </p:sp>
      <p:sp>
        <p:nvSpPr>
          <p:cNvPr id="31" name="anim-g1-230"/>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العجلة اليسرى ثابتة كالبرجل، واليمنى ترسم دائرة حولها نحو اليسار</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الدفع التفاضلي  ·  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Users\user\projects\younes-training\arduino3\.pptx-cache\s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Users\user\projects\younes-training\arduino3\.pptx-cache\s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لا مقود ولا عجلة قيادة…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فقط عجلتان تختلف سرعتاهما: هكذا تستدير الدبابات والروبوتات وكراسي ذوي الهمم الكهربائية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الدفع التفاضلي  ·  ٣٠</a:t>
            </a:r>
            <a:endParaRPr lang="ar-SA"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الطاقة والبطاريات</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نصف أعطال الروبوتات في العالم… سببها بطارية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الطاقة والبطاريات  ·  ٣١</a:t>
            </a:r>
            <a:endParaRPr lang="ar-SA"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231"/>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32"/>
          <p:cNvSpPr/>
          <p:nvPr/>
        </p:nvSpPr>
        <p:spPr>
          <a:xfrm>
            <a:off x="10573207" y="2109978"/>
            <a:ext cx="566928" cy="566928"/>
          </a:xfrm>
          <a:prstGeom prst="ellipse">
            <a:avLst/>
          </a:prstGeom>
          <a:solidFill>
            <a:srgbClr val="D9AE4B"/>
          </a:solidFill>
          <a:ln/>
        </p:spPr>
      </p:sp>
      <p:sp>
        <p:nvSpPr>
          <p:cNvPr id="7" name="anim-g1-233"/>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34"/>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أرقام البطارية: الجهد والسعة</a:t>
            </a:r>
            <a:endParaRPr lang="ar-SA" sz="2400" dirty="0"/>
          </a:p>
        </p:txBody>
      </p:sp>
      <p:sp>
        <p:nvSpPr>
          <p:cNvPr id="9" name="anim-g2-235"/>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36"/>
          <p:cNvSpPr/>
          <p:nvPr/>
        </p:nvSpPr>
        <p:spPr>
          <a:xfrm>
            <a:off x="10573207" y="3166110"/>
            <a:ext cx="566928" cy="566928"/>
          </a:xfrm>
          <a:prstGeom prst="ellipse">
            <a:avLst/>
          </a:prstGeom>
          <a:solidFill>
            <a:srgbClr val="D9AE4B"/>
          </a:solidFill>
          <a:ln/>
        </p:spPr>
      </p:sp>
      <p:sp>
        <p:nvSpPr>
          <p:cNvPr id="11" name="anim-g2-237"/>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38"/>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تحسب جهد البطاريات الموصولة على التوالي وزمن التشغيل</a:t>
            </a:r>
            <a:endParaRPr lang="ar-SA" sz="2400" dirty="0"/>
          </a:p>
        </p:txBody>
      </p:sp>
      <p:sp>
        <p:nvSpPr>
          <p:cNvPr id="13" name="anim-g3-239"/>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40"/>
          <p:cNvSpPr/>
          <p:nvPr/>
        </p:nvSpPr>
        <p:spPr>
          <a:xfrm>
            <a:off x="10573207" y="4222242"/>
            <a:ext cx="566928" cy="566928"/>
          </a:xfrm>
          <a:prstGeom prst="ellipse">
            <a:avLst/>
          </a:prstGeom>
          <a:solidFill>
            <a:srgbClr val="D9AE4B"/>
          </a:solidFill>
          <a:ln/>
        </p:spPr>
      </p:sp>
      <p:sp>
        <p:nvSpPr>
          <p:cNvPr id="15" name="anim-g3-241"/>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42"/>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تختار البطارية المناسبة لسيارتك وتتعامل معها بأمان</a:t>
            </a:r>
            <a:endParaRPr lang="ar-SA" sz="2400" dirty="0"/>
          </a:p>
        </p:txBody>
      </p:sp>
      <p:sp>
        <p:nvSpPr>
          <p:cNvPr id="17" name="anim-g4-243"/>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44"/>
          <p:cNvSpPr/>
          <p:nvPr/>
        </p:nvSpPr>
        <p:spPr>
          <a:xfrm>
            <a:off x="10573207" y="5278374"/>
            <a:ext cx="566928" cy="566928"/>
          </a:xfrm>
          <a:prstGeom prst="ellipse">
            <a:avLst/>
          </a:prstGeom>
          <a:solidFill>
            <a:srgbClr val="D9AE4B"/>
          </a:solidFill>
          <a:ln/>
        </p:spPr>
      </p:sp>
      <p:sp>
        <p:nvSpPr>
          <p:cNvPr id="19" name="anim-g4-245"/>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46"/>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تقيس جهد البطارية بالأردوينو وتنبّه قبل أن تنفد</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والبطاريات  ·  ٣٢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رقمان على كل بطارية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الجهد يدفع… والسعة تكفي</a:t>
            </a:r>
            <a:endParaRPr lang="ar-SA" sz="3800" dirty="0"/>
          </a:p>
        </p:txBody>
      </p:sp>
      <p:sp>
        <p:nvSpPr>
          <p:cNvPr id="5" name="anim-g1-247"/>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48"/>
          <p:cNvSpPr/>
          <p:nvPr/>
        </p:nvSpPr>
        <p:spPr>
          <a:xfrm>
            <a:off x="10527487" y="2267712"/>
            <a:ext cx="566928" cy="566928"/>
          </a:xfrm>
          <a:prstGeom prst="roundRect">
            <a:avLst>
              <a:gd name="adj" fmla="val 32258"/>
            </a:avLst>
          </a:prstGeom>
          <a:solidFill>
            <a:srgbClr val="F7E6BC"/>
          </a:solidFill>
          <a:ln/>
        </p:spPr>
      </p:sp>
      <p:sp>
        <p:nvSpPr>
          <p:cNvPr id="7" name="anim-g1-24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5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الجهد (فولت V)</a:t>
            </a:r>
            <a:endParaRPr lang="ar-SA" sz="2200" dirty="0"/>
          </a:p>
        </p:txBody>
      </p:sp>
      <p:sp>
        <p:nvSpPr>
          <p:cNvPr id="9" name="anim-g1-251"/>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قوة الدفع: جهد أعلى = محرك أسرع. الخلايا على التوالي تُجمع جهودها</a:t>
            </a:r>
            <a:endParaRPr lang="ar-SA" sz="1900" dirty="0"/>
          </a:p>
        </p:txBody>
      </p:sp>
      <p:sp>
        <p:nvSpPr>
          <p:cNvPr id="10" name="anim-g2-252"/>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53"/>
          <p:cNvSpPr/>
          <p:nvPr/>
        </p:nvSpPr>
        <p:spPr>
          <a:xfrm>
            <a:off x="6920789" y="2267712"/>
            <a:ext cx="566928" cy="566928"/>
          </a:xfrm>
          <a:prstGeom prst="roundRect">
            <a:avLst>
              <a:gd name="adj" fmla="val 32258"/>
            </a:avLst>
          </a:prstGeom>
          <a:solidFill>
            <a:srgbClr val="F7E6BC"/>
          </a:solidFill>
          <a:ln/>
        </p:spPr>
      </p:sp>
      <p:sp>
        <p:nvSpPr>
          <p:cNvPr id="12" name="anim-g2-25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5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السعة (mAh)</a:t>
            </a:r>
            <a:endParaRPr lang="ar-SA" sz="2200" dirty="0"/>
          </a:p>
        </p:txBody>
      </p:sp>
      <p:sp>
        <p:nvSpPr>
          <p:cNvPr id="14" name="anim-g2-256"/>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حجم الخزان: ٢٥٠٠ مللي أمبير·ساعة تكفي ٢٥٠٠ مللي أمبير لساعة، أو ٥٠٠ لخمس ساعات</a:t>
            </a:r>
            <a:endParaRPr lang="ar-SA" sz="1900" dirty="0"/>
          </a:p>
        </p:txBody>
      </p:sp>
      <p:sp>
        <p:nvSpPr>
          <p:cNvPr id="15" name="anim-g3-257"/>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58"/>
          <p:cNvSpPr/>
          <p:nvPr/>
        </p:nvSpPr>
        <p:spPr>
          <a:xfrm>
            <a:off x="3314090" y="2267712"/>
            <a:ext cx="566928" cy="566928"/>
          </a:xfrm>
          <a:prstGeom prst="roundRect">
            <a:avLst>
              <a:gd name="adj" fmla="val 32258"/>
            </a:avLst>
          </a:prstGeom>
          <a:solidFill>
            <a:srgbClr val="F7E6BC"/>
          </a:solidFill>
          <a:ln/>
        </p:spPr>
      </p:sp>
      <p:sp>
        <p:nvSpPr>
          <p:cNvPr id="17" name="anim-g3-25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6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التيار الأقصى</a:t>
            </a:r>
            <a:endParaRPr lang="ar-SA" sz="2200" dirty="0"/>
          </a:p>
        </p:txBody>
      </p:sp>
      <p:sp>
        <p:nvSpPr>
          <p:cNvPr id="19" name="anim-g3-261"/>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كم تستطيع أن تعطي دفعة واحدة. المحركات تحتاج تيارًا كبيرًا لحظة الانطلاق</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والبطاريات  ·  ٣٣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C:\Users\user\projects\younes-training\arduino3\.pptx-cache\s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2879" y="457200"/>
            <a:ext cx="5705856" cy="457200"/>
          </a:xfrm>
          <a:prstGeom prst="roundRect">
            <a:avLst>
              <a:gd name="adj" fmla="val 50000"/>
            </a:avLst>
          </a:prstGeom>
          <a:solidFill>
            <a:srgbClr val="F6EBCF"/>
          </a:solidFill>
          <a:ln/>
        </p:spPr>
      </p:sp>
      <p:sp>
        <p:nvSpPr>
          <p:cNvPr id="3" name="Text 1"/>
          <p:cNvSpPr/>
          <p:nvPr/>
        </p:nvSpPr>
        <p:spPr>
          <a:xfrm>
            <a:off x="5662879" y="457200"/>
            <a:ext cx="57058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بطاريات الليثيوم قوية… فاحترمها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ست قواعد أمان لا تُكسر</a:t>
            </a:r>
            <a:endParaRPr lang="ar-SA" sz="3800" dirty="0"/>
          </a:p>
        </p:txBody>
      </p:sp>
      <p:sp>
        <p:nvSpPr>
          <p:cNvPr id="5" name="anim-g1-262"/>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63"/>
          <p:cNvSpPr/>
          <p:nvPr/>
        </p:nvSpPr>
        <p:spPr>
          <a:xfrm>
            <a:off x="10527487" y="2267712"/>
            <a:ext cx="566928" cy="566928"/>
          </a:xfrm>
          <a:prstGeom prst="roundRect">
            <a:avLst>
              <a:gd name="adj" fmla="val 32258"/>
            </a:avLst>
          </a:prstGeom>
          <a:solidFill>
            <a:srgbClr val="F7E6BC"/>
          </a:solidFill>
          <a:ln/>
        </p:spPr>
      </p:sp>
      <p:sp>
        <p:nvSpPr>
          <p:cNvPr id="7" name="anim-g1-26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6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شاحن مخصص فقط</a:t>
            </a:r>
            <a:endParaRPr lang="ar-SA" sz="2200" dirty="0"/>
          </a:p>
        </p:txBody>
      </p:sp>
      <p:sp>
        <p:nvSpPr>
          <p:cNvPr id="9" name="anim-g1-266"/>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تشحنها بأي شاحن آخر، ولا تتركها تُشحن بلا رقابة</a:t>
            </a:r>
            <a:endParaRPr lang="ar-SA" sz="1900" dirty="0"/>
          </a:p>
        </p:txBody>
      </p:sp>
      <p:sp>
        <p:nvSpPr>
          <p:cNvPr id="10" name="anim-g2-267"/>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68"/>
          <p:cNvSpPr/>
          <p:nvPr/>
        </p:nvSpPr>
        <p:spPr>
          <a:xfrm>
            <a:off x="6920789" y="2267712"/>
            <a:ext cx="566928" cy="566928"/>
          </a:xfrm>
          <a:prstGeom prst="roundRect">
            <a:avLst>
              <a:gd name="adj" fmla="val 32258"/>
            </a:avLst>
          </a:prstGeom>
          <a:solidFill>
            <a:srgbClr val="F7E6BC"/>
          </a:solidFill>
          <a:ln/>
        </p:spPr>
      </p:sp>
      <p:sp>
        <p:nvSpPr>
          <p:cNvPr id="12" name="anim-g2-26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7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لا تقصر الطرفين</a:t>
            </a:r>
            <a:endParaRPr lang="ar-SA" sz="2200" dirty="0"/>
          </a:p>
        </p:txBody>
      </p:sp>
      <p:sp>
        <p:nvSpPr>
          <p:cNvPr id="14" name="anim-g2-271"/>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سلك بين الموجب والسالب يسخنها حتى الاشتعال</a:t>
            </a:r>
            <a:endParaRPr lang="ar-SA" sz="1900" dirty="0"/>
          </a:p>
        </p:txBody>
      </p:sp>
      <p:sp>
        <p:nvSpPr>
          <p:cNvPr id="15" name="anim-g3-272"/>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73"/>
          <p:cNvSpPr/>
          <p:nvPr/>
        </p:nvSpPr>
        <p:spPr>
          <a:xfrm>
            <a:off x="3314090" y="2267712"/>
            <a:ext cx="566928" cy="566928"/>
          </a:xfrm>
          <a:prstGeom prst="roundRect">
            <a:avLst>
              <a:gd name="adj" fmla="val 32258"/>
            </a:avLst>
          </a:prstGeom>
          <a:solidFill>
            <a:srgbClr val="F7E6BC"/>
          </a:solidFill>
          <a:ln/>
        </p:spPr>
      </p:sp>
      <p:sp>
        <p:nvSpPr>
          <p:cNvPr id="17" name="anim-g3-27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7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المنتفخة إلى الإعادة</a:t>
            </a:r>
            <a:endParaRPr lang="ar-SA" sz="2200" dirty="0"/>
          </a:p>
        </p:txBody>
      </p:sp>
      <p:sp>
        <p:nvSpPr>
          <p:cNvPr id="19" name="anim-g3-276"/>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بطارية منتفخة أو مخدوشة لا تُستخدم أبدًا</a:t>
            </a:r>
            <a:endParaRPr lang="ar-SA" sz="1900" dirty="0"/>
          </a:p>
        </p:txBody>
      </p:sp>
      <p:sp>
        <p:nvSpPr>
          <p:cNvPr id="20" name="anim-g4-277"/>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278"/>
          <p:cNvSpPr/>
          <p:nvPr/>
        </p:nvSpPr>
        <p:spPr>
          <a:xfrm>
            <a:off x="10527487" y="4393692"/>
            <a:ext cx="566928" cy="566928"/>
          </a:xfrm>
          <a:prstGeom prst="roundRect">
            <a:avLst>
              <a:gd name="adj" fmla="val 32258"/>
            </a:avLst>
          </a:prstGeom>
          <a:solidFill>
            <a:srgbClr val="F7E6BC"/>
          </a:solidFill>
          <a:ln/>
        </p:spPr>
      </p:sp>
      <p:sp>
        <p:nvSpPr>
          <p:cNvPr id="22" name="anim-g4-279"/>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280"/>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المفتاح أولًا</a:t>
            </a:r>
            <a:endParaRPr lang="ar-SA" sz="2200" dirty="0"/>
          </a:p>
        </p:txBody>
      </p:sp>
      <p:sp>
        <p:nvSpPr>
          <p:cNvPr id="24" name="anim-g4-281"/>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أطفئ السيارة قبل أي تعديل في الأسلاك</a:t>
            </a:r>
            <a:endParaRPr lang="ar-SA" sz="1900" dirty="0"/>
          </a:p>
        </p:txBody>
      </p:sp>
      <p:sp>
        <p:nvSpPr>
          <p:cNvPr id="25" name="anim-g5-282"/>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283"/>
          <p:cNvSpPr/>
          <p:nvPr/>
        </p:nvSpPr>
        <p:spPr>
          <a:xfrm>
            <a:off x="6920789" y="4393692"/>
            <a:ext cx="566928" cy="566928"/>
          </a:xfrm>
          <a:prstGeom prst="roundRect">
            <a:avLst>
              <a:gd name="adj" fmla="val 32258"/>
            </a:avLst>
          </a:prstGeom>
          <a:solidFill>
            <a:srgbClr val="F7E6BC"/>
          </a:solidFill>
          <a:ln/>
        </p:spPr>
      </p:sp>
      <p:sp>
        <p:nvSpPr>
          <p:cNvPr id="27" name="anim-g5-284"/>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285"/>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خزّنها مفصولة</a:t>
            </a:r>
            <a:endParaRPr lang="ar-SA" sz="2200" dirty="0"/>
          </a:p>
        </p:txBody>
      </p:sp>
      <p:sp>
        <p:nvSpPr>
          <p:cNvPr id="29" name="anim-g5-286"/>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أخرجها من السيارة بعد الحصة، في علبة بعيدًا عن الحرارة</a:t>
            </a:r>
            <a:endParaRPr lang="ar-SA" sz="1900" dirty="0"/>
          </a:p>
        </p:txBody>
      </p:sp>
      <p:sp>
        <p:nvSpPr>
          <p:cNvPr id="30" name="anim-g6-287"/>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288"/>
          <p:cNvSpPr/>
          <p:nvPr/>
        </p:nvSpPr>
        <p:spPr>
          <a:xfrm>
            <a:off x="3314090" y="4393692"/>
            <a:ext cx="566928" cy="566928"/>
          </a:xfrm>
          <a:prstGeom prst="roundRect">
            <a:avLst>
              <a:gd name="adj" fmla="val 32258"/>
            </a:avLst>
          </a:prstGeom>
          <a:solidFill>
            <a:srgbClr val="F7E6BC"/>
          </a:solidFill>
          <a:ln/>
        </p:spPr>
      </p:sp>
      <p:sp>
        <p:nvSpPr>
          <p:cNvPr id="32" name="anim-g6-289"/>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290"/>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المعلم يتولى الشحن</a:t>
            </a:r>
            <a:endParaRPr lang="ar-SA" sz="2200" dirty="0"/>
          </a:p>
        </p:txBody>
      </p:sp>
      <p:sp>
        <p:nvSpPr>
          <p:cNvPr id="34" name="anim-g6-291"/>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الطلاب يركّبون ويبرمجون، والمعلم يشحن</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والبطاريات  ·  ٣٥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F6EBCF"/>
          </a:solidFill>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كيف يأخذ الأردوينو طاقته؟</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طريقان… واختر واحدًا فقط</a:t>
            </a:r>
            <a:endParaRPr lang="ar-SA" sz="3800" dirty="0"/>
          </a:p>
        </p:txBody>
      </p:sp>
      <p:sp>
        <p:nvSpPr>
          <p:cNvPr id="5" name="anim-g1-292"/>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93"/>
          <p:cNvSpPr/>
          <p:nvPr/>
        </p:nvSpPr>
        <p:spPr>
          <a:xfrm>
            <a:off x="10527487" y="2267712"/>
            <a:ext cx="566928" cy="566928"/>
          </a:xfrm>
          <a:prstGeom prst="roundRect">
            <a:avLst>
              <a:gd name="adj" fmla="val 32258"/>
            </a:avLst>
          </a:prstGeom>
          <a:solidFill>
            <a:srgbClr val="F7E6BC"/>
          </a:solidFill>
          <a:ln/>
        </p:spPr>
      </p:sp>
      <p:sp>
        <p:nvSpPr>
          <p:cNvPr id="7" name="anim-g1-29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95"/>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من منظّم الدرايفر</a:t>
            </a:r>
            <a:endParaRPr lang="ar-SA" sz="2200" dirty="0"/>
          </a:p>
        </p:txBody>
      </p:sp>
      <p:sp>
        <p:nvSpPr>
          <p:cNvPr id="9" name="anim-g1-296"/>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غطاء 5V-EN في الدرايفر في مكانه، ومنفذ 5V في الدرايفر إلى 5V الأردوينو. الأسهل والأكثر استخدامًا</a:t>
            </a:r>
            <a:endParaRPr lang="ar-SA" sz="1900" dirty="0"/>
          </a:p>
        </p:txBody>
      </p:sp>
      <p:sp>
        <p:nvSpPr>
          <p:cNvPr id="10" name="anim-g2-297"/>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98"/>
          <p:cNvSpPr/>
          <p:nvPr/>
        </p:nvSpPr>
        <p:spPr>
          <a:xfrm>
            <a:off x="5117440" y="2267712"/>
            <a:ext cx="566928" cy="566928"/>
          </a:xfrm>
          <a:prstGeom prst="roundRect">
            <a:avLst>
              <a:gd name="adj" fmla="val 32258"/>
            </a:avLst>
          </a:prstGeom>
          <a:solidFill>
            <a:srgbClr val="F7E6BC"/>
          </a:solidFill>
          <a:ln/>
        </p:spPr>
      </p:sp>
      <p:sp>
        <p:nvSpPr>
          <p:cNvPr id="12" name="anim-g2-299"/>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00"/>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مباشرة إلى VIN</a:t>
            </a:r>
            <a:endParaRPr lang="ar-SA" sz="2200" dirty="0"/>
          </a:p>
        </p:txBody>
      </p:sp>
      <p:sp>
        <p:nvSpPr>
          <p:cNvPr id="14" name="anim-g2-301"/>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موجب البطارية (٧ فولت فأكثر) إلى VIN، ومنظّم الأردوينو يخفضه إلى ٥</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والبطاريات  ·  ٣٦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C:\Users\user\projects\younes-training\arduino3\.pptx-cache\s37-0.jpg">    </p:cNvPr>
          <p:cNvPicPr>
            <a:picLocks noChangeAspect="1"/>
          </p:cNvPicPr>
          <p:nvPr/>
        </p:nvPicPr>
        <p:blipFill>
          <a:blip r:embed="rId1"/>
          <a:stretch>
            <a:fillRect/>
          </a:stretch>
        </p:blipFill>
        <p:spPr>
          <a:xfrm>
            <a:off x="0" y="0"/>
            <a:ext cx="12191695" cy="6858000"/>
          </a:xfrm>
          <a:prstGeom prst="rect">
            <a:avLst/>
          </a:prstGeom>
        </p:spPr>
      </p:pic>
      <p:pic>
        <p:nvPicPr>
          <p:cNvPr id="3" name="anim-g1-302" descr="C:\Users\user\projects\younes-training\arduino3\.pptx-cache\s37-1.jpg">    </p:cNvPr>
          <p:cNvPicPr>
            <a:picLocks noChangeAspect="1"/>
          </p:cNvPicPr>
          <p:nvPr/>
        </p:nvPicPr>
        <p:blipFill>
          <a:blip r:embed="rId2"/>
          <a:stretch>
            <a:fillRect/>
          </a:stretch>
        </p:blipFill>
        <p:spPr>
          <a:xfrm>
            <a:off x="0" y="0"/>
            <a:ext cx="12191695" cy="6858000"/>
          </a:xfrm>
          <a:prstGeom prst="rect">
            <a:avLst/>
          </a:prstGeom>
        </p:spPr>
      </p:pic>
      <p:pic>
        <p:nvPicPr>
          <p:cNvPr id="4" name="anim-g2-303" descr="C:\Users\user\projects\younes-training\arduino3\.pptx-cache\s37-2.jpg">    </p:cNvPr>
          <p:cNvPicPr>
            <a:picLocks noChangeAspect="1"/>
          </p:cNvPicPr>
          <p:nvPr/>
        </p:nvPicPr>
        <p:blipFill>
          <a:blip r:embed="rId3"/>
          <a:stretch>
            <a:fillRect/>
          </a:stretch>
        </p:blipFill>
        <p:spPr>
          <a:xfrm>
            <a:off x="0" y="0"/>
            <a:ext cx="12191695" cy="6858000"/>
          </a:xfrm>
          <a:prstGeom prst="rect">
            <a:avLst/>
          </a:prstGeom>
        </p:spPr>
      </p:pic>
      <p:pic>
        <p:nvPicPr>
          <p:cNvPr id="5" name="anim-g3-304" descr="C:\Users\user\projects\younes-training\arduino3\.pptx-cache\s37-3.jpg">    </p:cNvPr>
          <p:cNvPicPr>
            <a:picLocks noChangeAspect="1"/>
          </p:cNvPicPr>
          <p:nvPr/>
        </p:nvPicPr>
        <p:blipFill>
          <a:blip r:embed="rId4"/>
          <a:stretch>
            <a:fillRect/>
          </a:stretch>
        </p:blipFill>
        <p:spPr>
          <a:xfrm>
            <a:off x="0" y="0"/>
            <a:ext cx="12191695" cy="6858000"/>
          </a:xfrm>
          <a:prstGeom prst="rect">
            <a:avLst/>
          </a:prstGeom>
        </p:spPr>
      </p:pic>
      <p:pic>
        <p:nvPicPr>
          <p:cNvPr id="6" name="anim-g4-305" descr="C:\Users\user\projects\younes-training\arduino3\.pptx-cache\s37-4.jpg">    </p:cNvPr>
          <p:cNvPicPr>
            <a:picLocks noChangeAspect="1"/>
          </p:cNvPicPr>
          <p:nvPr/>
        </p:nvPicPr>
        <p:blipFill>
          <a:blip r:embed="rId5"/>
          <a:stretch>
            <a:fillRect/>
          </a:stretch>
        </p:blipFill>
        <p:spPr>
          <a:xfrm>
            <a:off x="0" y="0"/>
            <a:ext cx="12191695" cy="6858000"/>
          </a:xfrm>
          <a:prstGeom prst="rect">
            <a:avLst/>
          </a:prstGeom>
        </p:spPr>
      </p:pic>
      <p:pic>
        <p:nvPicPr>
          <p:cNvPr id="7" name="anim-g5-306" descr="C:\Users\user\projects\younes-training\arduino3\.pptx-cache\s37-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C:\Users\user\projects\younes-training\arduino3\.pptx-cache\s38-0.jpg">    </p:cNvPr>
          <p:cNvPicPr>
            <a:picLocks noChangeAspect="1"/>
          </p:cNvPicPr>
          <p:nvPr/>
        </p:nvPicPr>
        <p:blipFill>
          <a:blip r:embed="rId1"/>
          <a:stretch>
            <a:fillRect/>
          </a:stretch>
        </p:blipFill>
        <p:spPr>
          <a:xfrm>
            <a:off x="0" y="0"/>
            <a:ext cx="12191695" cy="6858000"/>
          </a:xfrm>
          <a:prstGeom prst="rect">
            <a:avLst/>
          </a:prstGeom>
        </p:spPr>
      </p:pic>
      <p:pic>
        <p:nvPicPr>
          <p:cNvPr id="3" name="anim-g1-307" descr="C:\Users\user\projects\younes-training\arduino3\.pptx-cache\s38-1.jpg">    </p:cNvPr>
          <p:cNvPicPr>
            <a:picLocks noChangeAspect="1"/>
          </p:cNvPicPr>
          <p:nvPr/>
        </p:nvPicPr>
        <p:blipFill>
          <a:blip r:embed="rId2"/>
          <a:stretch>
            <a:fillRect/>
          </a:stretch>
        </p:blipFill>
        <p:spPr>
          <a:xfrm>
            <a:off x="0" y="0"/>
            <a:ext cx="12191695" cy="6858000"/>
          </a:xfrm>
          <a:prstGeom prst="rect">
            <a:avLst/>
          </a:prstGeom>
        </p:spPr>
      </p:pic>
      <p:pic>
        <p:nvPicPr>
          <p:cNvPr id="4" name="anim-g2-308" descr="C:\Users\user\projects\younes-training\arduino3\.pptx-cache\s38-2.jpg">    </p:cNvPr>
          <p:cNvPicPr>
            <a:picLocks noChangeAspect="1"/>
          </p:cNvPicPr>
          <p:nvPr/>
        </p:nvPicPr>
        <p:blipFill>
          <a:blip r:embed="rId3"/>
          <a:stretch>
            <a:fillRect/>
          </a:stretch>
        </p:blipFill>
        <p:spPr>
          <a:xfrm>
            <a:off x="0" y="0"/>
            <a:ext cx="12191695" cy="6858000"/>
          </a:xfrm>
          <a:prstGeom prst="rect">
            <a:avLst/>
          </a:prstGeom>
        </p:spPr>
      </p:pic>
      <p:pic>
        <p:nvPicPr>
          <p:cNvPr id="5" name="anim-g3-309" descr="C:\Users\user\projects\younes-training\arduino3\.pptx-cache\s38-3.jpg">    </p:cNvPr>
          <p:cNvPicPr>
            <a:picLocks noChangeAspect="1"/>
          </p:cNvPicPr>
          <p:nvPr/>
        </p:nvPicPr>
        <p:blipFill>
          <a:blip r:embed="rId4"/>
          <a:stretch>
            <a:fillRect/>
          </a:stretch>
        </p:blipFill>
        <p:spPr>
          <a:xfrm>
            <a:off x="0" y="0"/>
            <a:ext cx="12191695" cy="6858000"/>
          </a:xfrm>
          <a:prstGeom prst="rect">
            <a:avLst/>
          </a:prstGeom>
        </p:spPr>
      </p:pic>
      <p:pic>
        <p:nvPicPr>
          <p:cNvPr id="6" name="anim-g4-310" descr="C:\Users\user\projects\younes-training\arduino3\.pptx-cache\s38-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سيارة ببطارية ٩ فولت مربعة… ماذا تتوقع؟</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تعمل ساعات لأن جهدها عالٍ</a:t>
            </a:r>
            <a:endParaRPr lang="ar-SA" sz="2500" dirty="0"/>
          </a:p>
        </p:txBody>
      </p:sp>
      <p:sp>
        <p:nvSpPr>
          <p:cNvPr id="9" name="anim-g1-311"/>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312"/>
          <p:cNvSpPr/>
          <p:nvPr/>
        </p:nvSpPr>
        <p:spPr>
          <a:xfrm>
            <a:off x="10231831" y="2194560"/>
            <a:ext cx="954024" cy="954024"/>
          </a:xfrm>
          <a:prstGeom prst="roundRect">
            <a:avLst>
              <a:gd name="adj" fmla="val 11502"/>
            </a:avLst>
          </a:prstGeom>
          <a:solidFill>
            <a:srgbClr val="A3A9BA"/>
          </a:solidFill>
          <a:ln/>
        </p:spPr>
      </p:sp>
      <p:sp>
        <p:nvSpPr>
          <p:cNvPr id="11" name="anim-g1-313"/>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314"/>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تعمل ساعات لأن جهدها عالٍ</a:t>
            </a:r>
            <a:endParaRPr lang="ar-SA" sz="2400" dirty="0"/>
          </a:p>
        </p:txBody>
      </p:sp>
      <p:sp>
        <p:nvSpPr>
          <p:cNvPr id="13" name="anim-g1-315"/>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الجهد العالي لا يعني طاقة كثيرة: سعتها صغيرة جدًا</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تتحرك جيدًا دقائق ثم تضعف بسرعة</a:t>
            </a:r>
            <a:endParaRPr lang="ar-SA" sz="2500" dirty="0"/>
          </a:p>
        </p:txBody>
      </p:sp>
      <p:sp>
        <p:nvSpPr>
          <p:cNvPr id="18" name="anim-g1-316"/>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317"/>
          <p:cNvSpPr/>
          <p:nvPr/>
        </p:nvSpPr>
        <p:spPr>
          <a:xfrm>
            <a:off x="10231831" y="3569208"/>
            <a:ext cx="954024" cy="954024"/>
          </a:xfrm>
          <a:prstGeom prst="roundRect">
            <a:avLst>
              <a:gd name="adj" fmla="val 11502"/>
            </a:avLst>
          </a:prstGeom>
          <a:solidFill>
            <a:srgbClr val="2E9E6B"/>
          </a:solidFill>
          <a:ln/>
        </p:spPr>
      </p:sp>
      <p:sp>
        <p:nvSpPr>
          <p:cNvPr id="20" name="anim-g1-318"/>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319"/>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تتحرك جيدًا دقائق ثم تضعف بسرعة</a:t>
            </a:r>
            <a:endParaRPr lang="ar-SA" sz="2400" dirty="0"/>
          </a:p>
        </p:txBody>
      </p:sp>
      <p:sp>
        <p:nvSpPr>
          <p:cNvPr id="22" name="anim-g1-320"/>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سعتها نحو ٥٠٠ مللي أمبير·ساعة، وتنهار مع تيار المحركات الكبير</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لا تتحرك أبدًا</a:t>
            </a:r>
            <a:endParaRPr lang="ar-SA" sz="2500" dirty="0"/>
          </a:p>
        </p:txBody>
      </p:sp>
      <p:sp>
        <p:nvSpPr>
          <p:cNvPr id="27" name="anim-g1-321"/>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322"/>
          <p:cNvSpPr/>
          <p:nvPr/>
        </p:nvSpPr>
        <p:spPr>
          <a:xfrm>
            <a:off x="10231831" y="4943856"/>
            <a:ext cx="954024" cy="954024"/>
          </a:xfrm>
          <a:prstGeom prst="roundRect">
            <a:avLst>
              <a:gd name="adj" fmla="val 11502"/>
            </a:avLst>
          </a:prstGeom>
          <a:solidFill>
            <a:srgbClr val="A3A9BA"/>
          </a:solidFill>
          <a:ln/>
        </p:spPr>
      </p:sp>
      <p:sp>
        <p:nvSpPr>
          <p:cNvPr id="29" name="anim-g1-3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324"/>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لا تتحرك أبدًا</a:t>
            </a:r>
            <a:endParaRPr lang="ar-SA" sz="2400" dirty="0"/>
          </a:p>
        </p:txBody>
      </p:sp>
      <p:sp>
        <p:nvSpPr>
          <p:cNvPr id="31" name="anim-g1-325"/>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تتحرك في البداية، فجهدها كافٍ</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والبطاريات  ·  ٣٩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C:\Users\user\projects\younes-training\arduino3\.pptx-cache\s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C:\Users\user\projects\younes-training\arduino3\.pptx-cache\s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الجهد يدفع، والسعة تكفي، والأمان أولًا…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وسيارة ببطارية سليمة نصف الطريق إلى الفوز</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الطاقة والبطاريات  ·  ٤٢</a:t>
            </a:r>
            <a:endParaRPr lang="ar-SA"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نركّب السيارة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من صندوق قطع… إلى روبوت يقف على عجلاته</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التركيب  ·  ٤٣</a:t>
            </a:r>
            <a:endParaRPr lang="ar-SA"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326"/>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327"/>
          <p:cNvSpPr/>
          <p:nvPr/>
        </p:nvSpPr>
        <p:spPr>
          <a:xfrm>
            <a:off x="10573207" y="2109978"/>
            <a:ext cx="566928" cy="566928"/>
          </a:xfrm>
          <a:prstGeom prst="ellipse">
            <a:avLst/>
          </a:prstGeom>
          <a:solidFill>
            <a:srgbClr val="D9AE4B"/>
          </a:solidFill>
          <a:ln/>
        </p:spPr>
      </p:sp>
      <p:sp>
        <p:nvSpPr>
          <p:cNvPr id="7" name="anim-g1-328"/>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29"/>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تركّب الهيكل والمحركات والعجلات بالترتيب الصحيح</a:t>
            </a:r>
            <a:endParaRPr lang="ar-SA" sz="2400" dirty="0"/>
          </a:p>
        </p:txBody>
      </p:sp>
      <p:sp>
        <p:nvSpPr>
          <p:cNvPr id="9" name="anim-g2-330"/>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331"/>
          <p:cNvSpPr/>
          <p:nvPr/>
        </p:nvSpPr>
        <p:spPr>
          <a:xfrm>
            <a:off x="10573207" y="3166110"/>
            <a:ext cx="566928" cy="566928"/>
          </a:xfrm>
          <a:prstGeom prst="ellipse">
            <a:avLst/>
          </a:prstGeom>
          <a:solidFill>
            <a:srgbClr val="D9AE4B"/>
          </a:solidFill>
          <a:ln/>
        </p:spPr>
      </p:sp>
      <p:sp>
        <p:nvSpPr>
          <p:cNvPr id="11" name="anim-g2-332"/>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33"/>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الطاقة والمحركين والأردوينو بالتوصيل الموحّد</a:t>
            </a:r>
            <a:endParaRPr lang="ar-SA" sz="2400" dirty="0"/>
          </a:p>
        </p:txBody>
      </p:sp>
      <p:sp>
        <p:nvSpPr>
          <p:cNvPr id="13" name="anim-g3-334"/>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335"/>
          <p:cNvSpPr/>
          <p:nvPr/>
        </p:nvSpPr>
        <p:spPr>
          <a:xfrm>
            <a:off x="10573207" y="4222242"/>
            <a:ext cx="566928" cy="566928"/>
          </a:xfrm>
          <a:prstGeom prst="ellipse">
            <a:avLst/>
          </a:prstGeom>
          <a:solidFill>
            <a:srgbClr val="D9AE4B"/>
          </a:solidFill>
          <a:ln/>
        </p:spPr>
      </p:sp>
      <p:sp>
        <p:nvSpPr>
          <p:cNvPr id="15" name="anim-g3-336"/>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37"/>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تختبر كل محرك وحده قبل أن تبرمج الحركة</a:t>
            </a:r>
            <a:endParaRPr lang="ar-SA" sz="2400" dirty="0"/>
          </a:p>
        </p:txBody>
      </p:sp>
      <p:sp>
        <p:nvSpPr>
          <p:cNvPr id="17" name="anim-g4-338"/>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339"/>
          <p:cNvSpPr/>
          <p:nvPr/>
        </p:nvSpPr>
        <p:spPr>
          <a:xfrm>
            <a:off x="10573207" y="5278374"/>
            <a:ext cx="566928" cy="566928"/>
          </a:xfrm>
          <a:prstGeom prst="ellipse">
            <a:avLst/>
          </a:prstGeom>
          <a:solidFill>
            <a:srgbClr val="D9AE4B"/>
          </a:solidFill>
          <a:ln/>
        </p:spPr>
      </p:sp>
      <p:sp>
        <p:nvSpPr>
          <p:cNvPr id="19" name="anim-g4-340"/>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341"/>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تشخّص أشهر أعطال التركيب وتصلحها</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التركيب  ·  ٤٤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قبل أن تمسك المفك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عادات المهندس المحترف</a:t>
            </a:r>
            <a:endParaRPr lang="ar-SA" sz="3800" dirty="0"/>
          </a:p>
        </p:txBody>
      </p:sp>
      <p:sp>
        <p:nvSpPr>
          <p:cNvPr id="5" name="anim-g1-34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43"/>
          <p:cNvSpPr/>
          <p:nvPr/>
        </p:nvSpPr>
        <p:spPr>
          <a:xfrm>
            <a:off x="10527487" y="2267712"/>
            <a:ext cx="566928" cy="566928"/>
          </a:xfrm>
          <a:prstGeom prst="roundRect">
            <a:avLst>
              <a:gd name="adj" fmla="val 32258"/>
            </a:avLst>
          </a:prstGeom>
          <a:solidFill>
            <a:srgbClr val="F7E6BC"/>
          </a:solidFill>
          <a:ln/>
        </p:spPr>
      </p:sp>
      <p:sp>
        <p:nvSpPr>
          <p:cNvPr id="7" name="anim-g1-34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4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افرز أولًا</a:t>
            </a:r>
            <a:endParaRPr lang="ar-SA" sz="2200" dirty="0"/>
          </a:p>
        </p:txBody>
      </p:sp>
      <p:sp>
        <p:nvSpPr>
          <p:cNvPr id="9" name="anim-g1-34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البراغي في غطاء، والقطع الصغيرة في علبة، وقائمة الحقيبة أمامك</a:t>
            </a:r>
            <a:endParaRPr lang="ar-SA" sz="1900" dirty="0"/>
          </a:p>
        </p:txBody>
      </p:sp>
      <p:sp>
        <p:nvSpPr>
          <p:cNvPr id="10" name="anim-g2-34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48"/>
          <p:cNvSpPr/>
          <p:nvPr/>
        </p:nvSpPr>
        <p:spPr>
          <a:xfrm>
            <a:off x="6920789" y="2267712"/>
            <a:ext cx="566928" cy="566928"/>
          </a:xfrm>
          <a:prstGeom prst="roundRect">
            <a:avLst>
              <a:gd name="adj" fmla="val 32258"/>
            </a:avLst>
          </a:prstGeom>
          <a:solidFill>
            <a:srgbClr val="F7E6BC"/>
          </a:solidFill>
          <a:ln/>
        </p:spPr>
      </p:sp>
      <p:sp>
        <p:nvSpPr>
          <p:cNvPr id="12" name="anim-g2-34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5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لا تشدّ بقوة</a:t>
            </a:r>
            <a:endParaRPr lang="ar-SA" sz="2200" dirty="0"/>
          </a:p>
        </p:txBody>
      </p:sp>
      <p:sp>
        <p:nvSpPr>
          <p:cNvPr id="14" name="anim-g2-35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الأكريليك ينكسر، والمحرك البلاستيكي يتشقق</a:t>
            </a:r>
            <a:endParaRPr lang="ar-SA" sz="1900" dirty="0"/>
          </a:p>
        </p:txBody>
      </p:sp>
      <p:sp>
        <p:nvSpPr>
          <p:cNvPr id="15" name="anim-g3-35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53"/>
          <p:cNvSpPr/>
          <p:nvPr/>
        </p:nvSpPr>
        <p:spPr>
          <a:xfrm>
            <a:off x="3314090" y="2267712"/>
            <a:ext cx="566928" cy="566928"/>
          </a:xfrm>
          <a:prstGeom prst="roundRect">
            <a:avLst>
              <a:gd name="adj" fmla="val 32258"/>
            </a:avLst>
          </a:prstGeom>
          <a:solidFill>
            <a:srgbClr val="F7E6BC"/>
          </a:solidFill>
          <a:ln/>
        </p:spPr>
      </p:sp>
      <p:sp>
        <p:nvSpPr>
          <p:cNvPr id="17" name="anim-g3-35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5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صوّر كل خطوة</a:t>
            </a:r>
            <a:endParaRPr lang="ar-SA" sz="2200" dirty="0"/>
          </a:p>
        </p:txBody>
      </p:sp>
      <p:sp>
        <p:nvSpPr>
          <p:cNvPr id="19" name="anim-g3-35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الصور تنقذك حين تفك شيئًا وتنسى مكانه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التركيب  ·  ٤٥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C:\Users\user\projects\younes-training\arduino3\.pptx-cache\s46-0.jpg">    </p:cNvPr>
          <p:cNvPicPr>
            <a:picLocks noChangeAspect="1"/>
          </p:cNvPicPr>
          <p:nvPr/>
        </p:nvPicPr>
        <p:blipFill>
          <a:blip r:embed="rId1"/>
          <a:stretch>
            <a:fillRect/>
          </a:stretch>
        </p:blipFill>
        <p:spPr>
          <a:xfrm>
            <a:off x="0" y="0"/>
            <a:ext cx="12191695" cy="6858000"/>
          </a:xfrm>
          <a:prstGeom prst="rect">
            <a:avLst/>
          </a:prstGeom>
        </p:spPr>
      </p:pic>
      <p:pic>
        <p:nvPicPr>
          <p:cNvPr id="3" name="anim-g1-357" descr="C:\Users\user\projects\younes-training\arduino3\.pptx-cache\s46-1.jpg">    </p:cNvPr>
          <p:cNvPicPr>
            <a:picLocks noChangeAspect="1"/>
          </p:cNvPicPr>
          <p:nvPr/>
        </p:nvPicPr>
        <p:blipFill>
          <a:blip r:embed="rId2"/>
          <a:stretch>
            <a:fillRect/>
          </a:stretch>
        </p:blipFill>
        <p:spPr>
          <a:xfrm>
            <a:off x="0" y="0"/>
            <a:ext cx="12191695" cy="6858000"/>
          </a:xfrm>
          <a:prstGeom prst="rect">
            <a:avLst/>
          </a:prstGeom>
        </p:spPr>
      </p:pic>
      <p:pic>
        <p:nvPicPr>
          <p:cNvPr id="4" name="anim-g2-358" descr="C:\Users\user\projects\younes-training\arduino3\.pptx-cache\s46-2.jpg">    </p:cNvPr>
          <p:cNvPicPr>
            <a:picLocks noChangeAspect="1"/>
          </p:cNvPicPr>
          <p:nvPr/>
        </p:nvPicPr>
        <p:blipFill>
          <a:blip r:embed="rId3"/>
          <a:stretch>
            <a:fillRect/>
          </a:stretch>
        </p:blipFill>
        <p:spPr>
          <a:xfrm>
            <a:off x="0" y="0"/>
            <a:ext cx="12191695" cy="6858000"/>
          </a:xfrm>
          <a:prstGeom prst="rect">
            <a:avLst/>
          </a:prstGeom>
        </p:spPr>
      </p:pic>
      <p:pic>
        <p:nvPicPr>
          <p:cNvPr id="5" name="anim-g3-359" descr="C:\Users\user\projects\younes-training\arduino3\.pptx-cache\s46-3.jpg">    </p:cNvPr>
          <p:cNvPicPr>
            <a:picLocks noChangeAspect="1"/>
          </p:cNvPicPr>
          <p:nvPr/>
        </p:nvPicPr>
        <p:blipFill>
          <a:blip r:embed="rId4"/>
          <a:stretch>
            <a:fillRect/>
          </a:stretch>
        </p:blipFill>
        <p:spPr>
          <a:xfrm>
            <a:off x="0" y="0"/>
            <a:ext cx="12191695" cy="6858000"/>
          </a:xfrm>
          <a:prstGeom prst="rect">
            <a:avLst/>
          </a:prstGeom>
        </p:spPr>
      </p:pic>
      <p:pic>
        <p:nvPicPr>
          <p:cNvPr id="6" name="anim-g4-360" descr="C:\Users\user\projects\younes-training\arduino3\.pptx-cache\s46-4.jpg">    </p:cNvPr>
          <p:cNvPicPr>
            <a:picLocks noChangeAspect="1"/>
          </p:cNvPicPr>
          <p:nvPr/>
        </p:nvPicPr>
        <p:blipFill>
          <a:blip r:embed="rId5"/>
          <a:stretch>
            <a:fillRect/>
          </a:stretch>
        </p:blipFill>
        <p:spPr>
          <a:xfrm>
            <a:off x="0" y="0"/>
            <a:ext cx="12191695" cy="6858000"/>
          </a:xfrm>
          <a:prstGeom prst="rect">
            <a:avLst/>
          </a:prstGeom>
        </p:spPr>
      </p:pic>
      <p:pic>
        <p:nvPicPr>
          <p:cNvPr id="7" name="anim-g5-361" descr="C:\Users\user\projects\younes-training\arduino3\.pptx-cache\s46-5.jpg">    </p:cNvPr>
          <p:cNvPicPr>
            <a:picLocks noChangeAspect="1"/>
          </p:cNvPicPr>
          <p:nvPr/>
        </p:nvPicPr>
        <p:blipFill>
          <a:blip r:embed="rId6"/>
          <a:stretch>
            <a:fillRect/>
          </a:stretch>
        </p:blipFill>
        <p:spPr>
          <a:xfrm>
            <a:off x="0" y="0"/>
            <a:ext cx="12191695" cy="6858000"/>
          </a:xfrm>
          <a:prstGeom prst="rect">
            <a:avLst/>
          </a:prstGeom>
        </p:spPr>
      </p:pic>
      <p:pic>
        <p:nvPicPr>
          <p:cNvPr id="8" name="anim-g6-362" descr="C:\Users\user\projects\younes-training\arduino3\.pptx-cache\s46-6.jpg">    </p:cNvPr>
          <p:cNvPicPr>
            <a:picLocks noChangeAspect="1"/>
          </p:cNvPicPr>
          <p:nvPr/>
        </p:nvPicPr>
        <p:blipFill>
          <a:blip r:embed="rId7"/>
          <a:stretch>
            <a:fillRect/>
          </a:stretch>
        </p:blipFill>
        <p:spPr>
          <a:xfrm>
            <a:off x="0" y="0"/>
            <a:ext cx="12191695" cy="6858000"/>
          </a:xfrm>
          <a:prstGeom prst="rect">
            <a:avLst/>
          </a:prstGeom>
        </p:spPr>
      </p:pic>
      <p:pic>
        <p:nvPicPr>
          <p:cNvPr id="9" name="anim-g7-363" descr="C:\Users\user\projects\younes-training\arduino3\.pptx-cache\s46-7.jpg">    </p:cNvPr>
          <p:cNvPicPr>
            <a:picLocks noChangeAspect="1"/>
          </p:cNvPicPr>
          <p:nvPr/>
        </p:nvPicPr>
        <p:blipFill>
          <a:blip r:embed="rId8"/>
          <a:stretch>
            <a:fillRect/>
          </a:stretch>
        </p:blipFill>
        <p:spPr>
          <a:xfrm>
            <a:off x="0" y="0"/>
            <a:ext cx="12191695" cy="6858000"/>
          </a:xfrm>
          <a:prstGeom prst="rect">
            <a:avLst/>
          </a:prstGeom>
        </p:spPr>
      </p:pic>
      <p:pic>
        <p:nvPicPr>
          <p:cNvPr id="10" name="anim-g8-364" descr="C:\Users\user\projects\younes-training\arduino3\.pptx-cache\s46-8.jpg">    </p:cNvPr>
          <p:cNvPicPr>
            <a:picLocks noChangeAspect="1"/>
          </p:cNvPicPr>
          <p:nvPr/>
        </p:nvPicPr>
        <p:blipFill>
          <a:blip r:embed="rId9"/>
          <a:stretch>
            <a:fillRect/>
          </a:stretch>
        </p:blipFill>
        <p:spPr>
          <a:xfrm>
            <a:off x="0" y="0"/>
            <a:ext cx="12191695" cy="6858000"/>
          </a:xfrm>
          <a:prstGeom prst="rect">
            <a:avLst/>
          </a:prstGeom>
        </p:spPr>
      </p:pic>
      <p:pic>
        <p:nvPicPr>
          <p:cNvPr id="11" name="anim-g9-365" descr="C:\Users\user\projects\younes-training\arduino3\.pptx-cache\s46-9.jpg">    </p:cNvPr>
          <p:cNvPicPr>
            <a:picLocks noChangeAspect="1"/>
          </p:cNvPicPr>
          <p:nvPr/>
        </p:nvPicPr>
        <p:blipFill>
          <a:blip r:embed="rId10"/>
          <a:stretch>
            <a:fillRect/>
          </a:stretch>
        </p:blipFill>
        <p:spPr>
          <a:xfrm>
            <a:off x="0" y="0"/>
            <a:ext cx="12191695" cy="6858000"/>
          </a:xfrm>
          <a:prstGeom prst="rect">
            <a:avLst/>
          </a:prstGeom>
        </p:spPr>
      </p:pic>
      <p:pic>
        <p:nvPicPr>
          <p:cNvPr id="12" name="anim-g10-366" descr="C:\Users\user\projects\younes-training\arduino3\.pptx-cache\s46-10.jpg">    </p:cNvPr>
          <p:cNvPicPr>
            <a:picLocks noChangeAspect="1"/>
          </p:cNvPicPr>
          <p:nvPr/>
        </p:nvPicPr>
        <p:blipFill>
          <a:blip r:embed="rId11"/>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C:\Users\user\projects\younes-training\arduino3\.pptx-cache\s47-0.jpg">    </p:cNvPr>
          <p:cNvPicPr>
            <a:picLocks noChangeAspect="1"/>
          </p:cNvPicPr>
          <p:nvPr/>
        </p:nvPicPr>
        <p:blipFill>
          <a:blip r:embed="rId1"/>
          <a:stretch>
            <a:fillRect/>
          </a:stretch>
        </p:blipFill>
        <p:spPr>
          <a:xfrm>
            <a:off x="0" y="0"/>
            <a:ext cx="12191695" cy="6858000"/>
          </a:xfrm>
          <a:prstGeom prst="rect">
            <a:avLst/>
          </a:prstGeom>
        </p:spPr>
      </p:pic>
      <p:pic>
        <p:nvPicPr>
          <p:cNvPr id="3" name="anim-g1-367" descr="C:\Users\user\projects\younes-training\arduino3\.pptx-cache\s47-1.jpg">    </p:cNvPr>
          <p:cNvPicPr>
            <a:picLocks noChangeAspect="1"/>
          </p:cNvPicPr>
          <p:nvPr/>
        </p:nvPicPr>
        <p:blipFill>
          <a:blip r:embed="rId2"/>
          <a:stretch>
            <a:fillRect/>
          </a:stretch>
        </p:blipFill>
        <p:spPr>
          <a:xfrm>
            <a:off x="0" y="0"/>
            <a:ext cx="12191695" cy="6858000"/>
          </a:xfrm>
          <a:prstGeom prst="rect">
            <a:avLst/>
          </a:prstGeom>
        </p:spPr>
      </p:pic>
      <p:pic>
        <p:nvPicPr>
          <p:cNvPr id="4" name="anim-g2-368" descr="C:\Users\user\projects\younes-training\arduino3\.pptx-cache\s47-2.jpg">    </p:cNvPr>
          <p:cNvPicPr>
            <a:picLocks noChangeAspect="1"/>
          </p:cNvPicPr>
          <p:nvPr/>
        </p:nvPicPr>
        <p:blipFill>
          <a:blip r:embed="rId3"/>
          <a:stretch>
            <a:fillRect/>
          </a:stretch>
        </p:blipFill>
        <p:spPr>
          <a:xfrm>
            <a:off x="0" y="0"/>
            <a:ext cx="12191695" cy="6858000"/>
          </a:xfrm>
          <a:prstGeom prst="rect">
            <a:avLst/>
          </a:prstGeom>
        </p:spPr>
      </p:pic>
      <p:pic>
        <p:nvPicPr>
          <p:cNvPr id="5" name="anim-g3-369" descr="C:\Users\user\projects\younes-training\arduino3\.pptx-cache\s47-3.jpg">    </p:cNvPr>
          <p:cNvPicPr>
            <a:picLocks noChangeAspect="1"/>
          </p:cNvPicPr>
          <p:nvPr/>
        </p:nvPicPr>
        <p:blipFill>
          <a:blip r:embed="rId4"/>
          <a:stretch>
            <a:fillRect/>
          </a:stretch>
        </p:blipFill>
        <p:spPr>
          <a:xfrm>
            <a:off x="0" y="0"/>
            <a:ext cx="12191695" cy="6858000"/>
          </a:xfrm>
          <a:prstGeom prst="rect">
            <a:avLst/>
          </a:prstGeom>
        </p:spPr>
      </p:pic>
      <p:pic>
        <p:nvPicPr>
          <p:cNvPr id="6" name="anim-g4-370" descr="C:\Users\user\projects\younes-training\arduino3\.pptx-cache\s47-4.jpg">    </p:cNvPr>
          <p:cNvPicPr>
            <a:picLocks noChangeAspect="1"/>
          </p:cNvPicPr>
          <p:nvPr/>
        </p:nvPicPr>
        <p:blipFill>
          <a:blip r:embed="rId5"/>
          <a:stretch>
            <a:fillRect/>
          </a:stretch>
        </p:blipFill>
        <p:spPr>
          <a:xfrm>
            <a:off x="0" y="0"/>
            <a:ext cx="12191695" cy="6858000"/>
          </a:xfrm>
          <a:prstGeom prst="rect">
            <a:avLst/>
          </a:prstGeom>
        </p:spPr>
      </p:pic>
      <p:pic>
        <p:nvPicPr>
          <p:cNvPr id="7" name="anim-g5-371" descr="C:\Users\user\projects\younes-training\arduino3\.pptx-cache\s47-5.jpg">    </p:cNvPr>
          <p:cNvPicPr>
            <a:picLocks noChangeAspect="1"/>
          </p:cNvPicPr>
          <p:nvPr/>
        </p:nvPicPr>
        <p:blipFill>
          <a:blip r:embed="rId6"/>
          <a:stretch>
            <a:fillRect/>
          </a:stretch>
        </p:blipFill>
        <p:spPr>
          <a:xfrm>
            <a:off x="0" y="0"/>
            <a:ext cx="12191695" cy="6858000"/>
          </a:xfrm>
          <a:prstGeom prst="rect">
            <a:avLst/>
          </a:prstGeom>
        </p:spPr>
      </p:pic>
      <p:pic>
        <p:nvPicPr>
          <p:cNvPr id="8" name="anim-g6-372" descr="C:\Users\user\projects\younes-training\arduino3\.pptx-cache\s47-6.jpg">    </p:cNvPr>
          <p:cNvPicPr>
            <a:picLocks noChangeAspect="1"/>
          </p:cNvPicPr>
          <p:nvPr/>
        </p:nvPicPr>
        <p:blipFill>
          <a:blip r:embed="rId7"/>
          <a:stretch>
            <a:fillRect/>
          </a:stretch>
        </p:blipFill>
        <p:spPr>
          <a:xfrm>
            <a:off x="0" y="0"/>
            <a:ext cx="12191695" cy="6858000"/>
          </a:xfrm>
          <a:prstGeom prst="rect">
            <a:avLst/>
          </a:prstGeom>
        </p:spPr>
      </p:pic>
      <p:pic>
        <p:nvPicPr>
          <p:cNvPr id="9" name="anim-g7-373" descr="C:\Users\user\projects\younes-training\arduino3\.pptx-cache\s47-7.jpg">    </p:cNvPr>
          <p:cNvPicPr>
            <a:picLocks noChangeAspect="1"/>
          </p:cNvPicPr>
          <p:nvPr/>
        </p:nvPicPr>
        <p:blipFill>
          <a:blip r:embed="rId8"/>
          <a:stretch>
            <a:fillRect/>
          </a:stretch>
        </p:blipFill>
        <p:spPr>
          <a:xfrm>
            <a:off x="0" y="0"/>
            <a:ext cx="12191695" cy="6858000"/>
          </a:xfrm>
          <a:prstGeom prst="rect">
            <a:avLst/>
          </a:prstGeom>
        </p:spPr>
      </p:pic>
      <p:pic>
        <p:nvPicPr>
          <p:cNvPr id="10" name="anim-g8-374" descr="C:\Users\user\projects\younes-training\arduino3\.pptx-cache\s47-8.jpg">    </p:cNvPr>
          <p:cNvPicPr>
            <a:picLocks noChangeAspect="1"/>
          </p:cNvPicPr>
          <p:nvPr/>
        </p:nvPicPr>
        <p:blipFill>
          <a:blip r:embed="rId9"/>
          <a:stretch>
            <a:fillRect/>
          </a:stretch>
        </p:blipFill>
        <p:spPr>
          <a:xfrm>
            <a:off x="0" y="0"/>
            <a:ext cx="12191695" cy="6858000"/>
          </a:xfrm>
          <a:prstGeom prst="rect">
            <a:avLst/>
          </a:prstGeom>
        </p:spPr>
      </p:pic>
      <p:pic>
        <p:nvPicPr>
          <p:cNvPr id="11" name="anim-g9-375" descr="C:\Users\user\projects\younes-training\arduino3\.pptx-cache\s47-9.jpg">    </p:cNvPr>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C:\Users\user\projects\younes-training\arduino3\.pptx-cache\s48-0.jpg">    </p:cNvPr>
          <p:cNvPicPr>
            <a:picLocks noChangeAspect="1"/>
          </p:cNvPicPr>
          <p:nvPr/>
        </p:nvPicPr>
        <p:blipFill>
          <a:blip r:embed="rId1"/>
          <a:stretch>
            <a:fillRect/>
          </a:stretch>
        </p:blipFill>
        <p:spPr>
          <a:xfrm>
            <a:off x="0" y="0"/>
            <a:ext cx="12191695" cy="6858000"/>
          </a:xfrm>
          <a:prstGeom prst="rect">
            <a:avLst/>
          </a:prstGeom>
        </p:spPr>
      </p:pic>
      <p:pic>
        <p:nvPicPr>
          <p:cNvPr id="3" name="anim-g1-376" descr="C:\Users\user\projects\younes-training\arduino3\.pptx-cache\s48-1.jpg">    </p:cNvPr>
          <p:cNvPicPr>
            <a:picLocks noChangeAspect="1"/>
          </p:cNvPicPr>
          <p:nvPr/>
        </p:nvPicPr>
        <p:blipFill>
          <a:blip r:embed="rId2"/>
          <a:stretch>
            <a:fillRect/>
          </a:stretch>
        </p:blipFill>
        <p:spPr>
          <a:xfrm>
            <a:off x="0" y="0"/>
            <a:ext cx="12191695" cy="6858000"/>
          </a:xfrm>
          <a:prstGeom prst="rect">
            <a:avLst/>
          </a:prstGeom>
        </p:spPr>
      </p:pic>
      <p:pic>
        <p:nvPicPr>
          <p:cNvPr id="4" name="anim-g2-377" descr="C:\Users\user\projects\younes-training\arduino3\.pptx-cache\s48-2.jpg">    </p:cNvPr>
          <p:cNvPicPr>
            <a:picLocks noChangeAspect="1"/>
          </p:cNvPicPr>
          <p:nvPr/>
        </p:nvPicPr>
        <p:blipFill>
          <a:blip r:embed="rId3"/>
          <a:stretch>
            <a:fillRect/>
          </a:stretch>
        </p:blipFill>
        <p:spPr>
          <a:xfrm>
            <a:off x="0" y="0"/>
            <a:ext cx="12191695" cy="6858000"/>
          </a:xfrm>
          <a:prstGeom prst="rect">
            <a:avLst/>
          </a:prstGeom>
        </p:spPr>
      </p:pic>
      <p:pic>
        <p:nvPicPr>
          <p:cNvPr id="5" name="anim-g3-378" descr="C:\Users\user\projects\younes-training\arduino3\.pptx-cache\s48-3.jpg">    </p:cNvPr>
          <p:cNvPicPr>
            <a:picLocks noChangeAspect="1"/>
          </p:cNvPicPr>
          <p:nvPr/>
        </p:nvPicPr>
        <p:blipFill>
          <a:blip r:embed="rId4"/>
          <a:stretch>
            <a:fillRect/>
          </a:stretch>
        </p:blipFill>
        <p:spPr>
          <a:xfrm>
            <a:off x="0" y="0"/>
            <a:ext cx="12191695" cy="6858000"/>
          </a:xfrm>
          <a:prstGeom prst="rect">
            <a:avLst/>
          </a:prstGeom>
        </p:spPr>
      </p:pic>
      <p:pic>
        <p:nvPicPr>
          <p:cNvPr id="6" name="anim-g4-379" descr="C:\Users\user\projects\younes-training\arduino3\.pptx-cache\s48-4.jpg">    </p:cNvPr>
          <p:cNvPicPr>
            <a:picLocks noChangeAspect="1"/>
          </p:cNvPicPr>
          <p:nvPr/>
        </p:nvPicPr>
        <p:blipFill>
          <a:blip r:embed="rId5"/>
          <a:stretch>
            <a:fillRect/>
          </a:stretch>
        </p:blipFill>
        <p:spPr>
          <a:xfrm>
            <a:off x="0" y="0"/>
            <a:ext cx="12191695" cy="6858000"/>
          </a:xfrm>
          <a:prstGeom prst="rect">
            <a:avLst/>
          </a:prstGeom>
        </p:spPr>
      </p:pic>
      <p:pic>
        <p:nvPicPr>
          <p:cNvPr id="7" name="anim-g5-380" descr="C:\Users\user\projects\younes-training\arduino3\.pptx-cache\s48-5.jpg">    </p:cNvPr>
          <p:cNvPicPr>
            <a:picLocks noChangeAspect="1"/>
          </p:cNvPicPr>
          <p:nvPr/>
        </p:nvPicPr>
        <p:blipFill>
          <a:blip r:embed="rId6"/>
          <a:stretch>
            <a:fillRect/>
          </a:stretch>
        </p:blipFill>
        <p:spPr>
          <a:xfrm>
            <a:off x="0" y="0"/>
            <a:ext cx="12191695" cy="6858000"/>
          </a:xfrm>
          <a:prstGeom prst="rect">
            <a:avLst/>
          </a:prstGeom>
        </p:spPr>
      </p:pic>
      <p:pic>
        <p:nvPicPr>
          <p:cNvPr id="8" name="anim-g6-381" descr="C:\Users\user\projects\younes-training\arduino3\.pptx-cache\s48-6.jpg">    </p:cNvPr>
          <p:cNvPicPr>
            <a:picLocks noChangeAspect="1"/>
          </p:cNvPicPr>
          <p:nvPr/>
        </p:nvPicPr>
        <p:blipFill>
          <a:blip r:embed="rId7"/>
          <a:stretch>
            <a:fillRect/>
          </a:stretch>
        </p:blipFill>
        <p:spPr>
          <a:xfrm>
            <a:off x="0" y="0"/>
            <a:ext cx="12191695" cy="6858000"/>
          </a:xfrm>
          <a:prstGeom prst="rect">
            <a:avLst/>
          </a:prstGeom>
        </p:spPr>
      </p:pic>
      <p:pic>
        <p:nvPicPr>
          <p:cNvPr id="9" name="anim-g7-382" descr="C:\Users\user\projects\younes-training\arduino3\.pptx-cache\s48-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عيادة التركيب</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رأيت هذا؟ إليك السبب والعلاج</a:t>
            </a:r>
            <a:endParaRPr lang="ar-SA" sz="3800" dirty="0"/>
          </a:p>
        </p:txBody>
      </p:sp>
      <p:sp>
        <p:nvSpPr>
          <p:cNvPr id="5" name="anim-g1-383"/>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84"/>
          <p:cNvSpPr/>
          <p:nvPr/>
        </p:nvSpPr>
        <p:spPr>
          <a:xfrm>
            <a:off x="10527487" y="2267712"/>
            <a:ext cx="566928" cy="566928"/>
          </a:xfrm>
          <a:prstGeom prst="roundRect">
            <a:avLst>
              <a:gd name="adj" fmla="val 32258"/>
            </a:avLst>
          </a:prstGeom>
          <a:solidFill>
            <a:srgbClr val="F7E6BC"/>
          </a:solidFill>
          <a:ln/>
        </p:spPr>
      </p:sp>
      <p:sp>
        <p:nvSpPr>
          <p:cNvPr id="7" name="anim-g1-38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8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عجلة تدور للخلف</a:t>
            </a:r>
            <a:endParaRPr lang="ar-SA" sz="2200" dirty="0"/>
          </a:p>
        </p:txBody>
      </p:sp>
      <p:sp>
        <p:nvSpPr>
          <p:cNvPr id="9" name="anim-g1-387"/>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بدّل سلكي ذلك المحرك في مشبك OUT</a:t>
            </a:r>
            <a:endParaRPr lang="ar-SA" sz="1900" dirty="0"/>
          </a:p>
        </p:txBody>
      </p:sp>
      <p:sp>
        <p:nvSpPr>
          <p:cNvPr id="10" name="anim-g2-388"/>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89"/>
          <p:cNvSpPr/>
          <p:nvPr/>
        </p:nvSpPr>
        <p:spPr>
          <a:xfrm>
            <a:off x="6920789" y="2267712"/>
            <a:ext cx="566928" cy="566928"/>
          </a:xfrm>
          <a:prstGeom prst="roundRect">
            <a:avLst>
              <a:gd name="adj" fmla="val 32258"/>
            </a:avLst>
          </a:prstGeom>
          <a:solidFill>
            <a:srgbClr val="F7E6BC"/>
          </a:solidFill>
          <a:ln/>
        </p:spPr>
      </p:sp>
      <p:sp>
        <p:nvSpPr>
          <p:cNvPr id="12" name="anim-g2-39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9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محرك لا يدور</a:t>
            </a:r>
            <a:endParaRPr lang="ar-SA" sz="2200" dirty="0"/>
          </a:p>
        </p:txBody>
      </p:sp>
      <p:sp>
        <p:nvSpPr>
          <p:cNvPr id="14" name="anim-g2-392"/>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غطاء EN منزوع والسلك غير موصول، أو سلك IN مكانه خطأ</a:t>
            </a:r>
            <a:endParaRPr lang="ar-SA" sz="1900" dirty="0"/>
          </a:p>
        </p:txBody>
      </p:sp>
      <p:sp>
        <p:nvSpPr>
          <p:cNvPr id="15" name="anim-g3-393"/>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94"/>
          <p:cNvSpPr/>
          <p:nvPr/>
        </p:nvSpPr>
        <p:spPr>
          <a:xfrm>
            <a:off x="3314090" y="2267712"/>
            <a:ext cx="566928" cy="566928"/>
          </a:xfrm>
          <a:prstGeom prst="roundRect">
            <a:avLst>
              <a:gd name="adj" fmla="val 32258"/>
            </a:avLst>
          </a:prstGeom>
          <a:solidFill>
            <a:srgbClr val="F7E6BC"/>
          </a:solidFill>
          <a:ln/>
        </p:spPr>
      </p:sp>
      <p:sp>
        <p:nvSpPr>
          <p:cNvPr id="17" name="anim-g3-39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9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الأردوينو يعيد التشغيل</a:t>
            </a:r>
            <a:endParaRPr lang="ar-SA" sz="2200" dirty="0"/>
          </a:p>
        </p:txBody>
      </p:sp>
      <p:sp>
        <p:nvSpPr>
          <p:cNvPr id="19" name="anim-g3-397"/>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بطارية ضعيفة، أو أرضي غير مشترك</a:t>
            </a:r>
            <a:endParaRPr lang="ar-SA" sz="1900" dirty="0"/>
          </a:p>
        </p:txBody>
      </p:sp>
      <p:sp>
        <p:nvSpPr>
          <p:cNvPr id="20" name="anim-g4-398"/>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399"/>
          <p:cNvSpPr/>
          <p:nvPr/>
        </p:nvSpPr>
        <p:spPr>
          <a:xfrm>
            <a:off x="10527487" y="4393692"/>
            <a:ext cx="566928" cy="566928"/>
          </a:xfrm>
          <a:prstGeom prst="roundRect">
            <a:avLst>
              <a:gd name="adj" fmla="val 32258"/>
            </a:avLst>
          </a:prstGeom>
          <a:solidFill>
            <a:srgbClr val="F7E6BC"/>
          </a:solidFill>
          <a:ln/>
        </p:spPr>
      </p:sp>
      <p:sp>
        <p:nvSpPr>
          <p:cNvPr id="22" name="anim-g4-400"/>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401"/>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السيارة بطيئة جدًا</a:t>
            </a:r>
            <a:endParaRPr lang="ar-SA" sz="2200" dirty="0"/>
          </a:p>
        </p:txBody>
      </p:sp>
      <p:sp>
        <p:nvSpPr>
          <p:cNvPr id="24" name="anim-g4-402"/>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بطارية فارغة، أو سرعة أقل من ٥٠</a:t>
            </a:r>
            <a:endParaRPr lang="ar-SA" sz="1900" dirty="0"/>
          </a:p>
        </p:txBody>
      </p:sp>
      <p:sp>
        <p:nvSpPr>
          <p:cNvPr id="25" name="anim-g5-403"/>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404"/>
          <p:cNvSpPr/>
          <p:nvPr/>
        </p:nvSpPr>
        <p:spPr>
          <a:xfrm>
            <a:off x="6920789" y="4393692"/>
            <a:ext cx="566928" cy="566928"/>
          </a:xfrm>
          <a:prstGeom prst="roundRect">
            <a:avLst>
              <a:gd name="adj" fmla="val 32258"/>
            </a:avLst>
          </a:prstGeom>
          <a:solidFill>
            <a:srgbClr val="F7E6BC"/>
          </a:solidFill>
          <a:ln/>
        </p:spPr>
      </p:sp>
      <p:sp>
        <p:nvSpPr>
          <p:cNvPr id="27" name="anim-g5-405"/>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406"/>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الدرايفر ساخن جدًا</a:t>
            </a:r>
            <a:endParaRPr lang="ar-SA" sz="2200" dirty="0"/>
          </a:p>
        </p:txBody>
      </p:sp>
      <p:sp>
        <p:nvSpPr>
          <p:cNvPr id="29" name="anim-g5-407"/>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طبيعي أن يدفأ. إن احترق اللمس: محرك عالق أو قِصَر</a:t>
            </a:r>
            <a:endParaRPr lang="ar-SA" sz="1900" dirty="0"/>
          </a:p>
        </p:txBody>
      </p:sp>
      <p:sp>
        <p:nvSpPr>
          <p:cNvPr id="30" name="anim-g6-408"/>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409"/>
          <p:cNvSpPr/>
          <p:nvPr/>
        </p:nvSpPr>
        <p:spPr>
          <a:xfrm>
            <a:off x="3314090" y="4393692"/>
            <a:ext cx="566928" cy="566928"/>
          </a:xfrm>
          <a:prstGeom prst="roundRect">
            <a:avLst>
              <a:gd name="adj" fmla="val 32258"/>
            </a:avLst>
          </a:prstGeom>
          <a:solidFill>
            <a:srgbClr val="F7E6BC"/>
          </a:solidFill>
          <a:ln/>
        </p:spPr>
      </p:sp>
      <p:sp>
        <p:nvSpPr>
          <p:cNvPr id="32" name="anim-g6-410"/>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411"/>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تنحرف في الخط المستقيم</a:t>
            </a:r>
            <a:endParaRPr lang="ar-SA" sz="2200" dirty="0"/>
          </a:p>
        </p:txBody>
      </p:sp>
      <p:sp>
        <p:nvSpPr>
          <p:cNvPr id="34" name="anim-g6-412"/>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معايرة السرعتين كما في المحور الثاني</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التركيب  ·  ٤٩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C:\Users\user\projects\younes-training\arduino3\.pptx-cache\s5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شغّلنا الاختبار فدار المحرك الأيسر للخلف بدل الأمام… ما أسهل حل؟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بدّل سلكي المحرك الأيسر في OUT1 وOUT2</a:t>
            </a:r>
            <a:endParaRPr lang="ar-SA" sz="2500" dirty="0"/>
          </a:p>
        </p:txBody>
      </p:sp>
      <p:sp>
        <p:nvSpPr>
          <p:cNvPr id="9" name="anim-g1-413"/>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414"/>
          <p:cNvSpPr/>
          <p:nvPr/>
        </p:nvSpPr>
        <p:spPr>
          <a:xfrm>
            <a:off x="10231831" y="2194560"/>
            <a:ext cx="954024" cy="954024"/>
          </a:xfrm>
          <a:prstGeom prst="roundRect">
            <a:avLst>
              <a:gd name="adj" fmla="val 11502"/>
            </a:avLst>
          </a:prstGeom>
          <a:solidFill>
            <a:srgbClr val="2E9E6B"/>
          </a:solidFill>
          <a:ln/>
        </p:spPr>
      </p:sp>
      <p:sp>
        <p:nvSpPr>
          <p:cNvPr id="11" name="anim-g1-41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416"/>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بدّل سلكي المحرك الأيسر في OUT1 وOUT2</a:t>
            </a:r>
            <a:endParaRPr lang="ar-SA" sz="2400" dirty="0"/>
          </a:p>
        </p:txBody>
      </p:sp>
      <p:sp>
        <p:nvSpPr>
          <p:cNvPr id="13" name="anim-g1-417"/>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عكس القطبين يعكس الاتجاه: حل في عشر ثوانٍ. (أو بدّل HIGH وLOW في الكود)</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اشترِ محركًا جديدًا</a:t>
            </a:r>
            <a:endParaRPr lang="ar-SA" sz="2500" dirty="0"/>
          </a:p>
        </p:txBody>
      </p:sp>
      <p:sp>
        <p:nvSpPr>
          <p:cNvPr id="18" name="anim-g1-418"/>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419"/>
          <p:cNvSpPr/>
          <p:nvPr/>
        </p:nvSpPr>
        <p:spPr>
          <a:xfrm>
            <a:off x="10231831" y="3569208"/>
            <a:ext cx="954024" cy="954024"/>
          </a:xfrm>
          <a:prstGeom prst="roundRect">
            <a:avLst>
              <a:gd name="adj" fmla="val 11502"/>
            </a:avLst>
          </a:prstGeom>
          <a:solidFill>
            <a:srgbClr val="A3A9BA"/>
          </a:solidFill>
          <a:ln/>
        </p:spPr>
      </p:sp>
      <p:sp>
        <p:nvSpPr>
          <p:cNvPr id="20" name="anim-g1-420"/>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421"/>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اشترِ محركًا جديدًا</a:t>
            </a:r>
            <a:endParaRPr lang="ar-SA" sz="2400" dirty="0"/>
          </a:p>
        </p:txBody>
      </p:sp>
      <p:sp>
        <p:nvSpPr>
          <p:cNvPr id="22" name="anim-g1-422"/>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المحرك سليم تمامًا، فقط موصول بالعكس</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غيّر البطارية</a:t>
            </a:r>
            <a:endParaRPr lang="ar-SA" sz="2500" dirty="0"/>
          </a:p>
        </p:txBody>
      </p:sp>
      <p:sp>
        <p:nvSpPr>
          <p:cNvPr id="27" name="anim-g1-423"/>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424"/>
          <p:cNvSpPr/>
          <p:nvPr/>
        </p:nvSpPr>
        <p:spPr>
          <a:xfrm>
            <a:off x="10231831" y="4943856"/>
            <a:ext cx="954024" cy="954024"/>
          </a:xfrm>
          <a:prstGeom prst="roundRect">
            <a:avLst>
              <a:gd name="adj" fmla="val 11502"/>
            </a:avLst>
          </a:prstGeom>
          <a:solidFill>
            <a:srgbClr val="A3A9BA"/>
          </a:solidFill>
          <a:ln/>
        </p:spPr>
      </p:sp>
      <p:sp>
        <p:nvSpPr>
          <p:cNvPr id="29" name="anim-g1-425"/>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426"/>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غيّر البطارية</a:t>
            </a:r>
            <a:endParaRPr lang="ar-SA" sz="2400" dirty="0"/>
          </a:p>
        </p:txBody>
      </p:sp>
      <p:sp>
        <p:nvSpPr>
          <p:cNvPr id="31" name="anim-g1-427"/>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البطارية لا تؤثر في الاتجاه</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التركيب  ·  ٥١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C:\Users\user\projects\younes-training\arduino3\.pptx-cache\s5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C:\Users\user\projects\younes-training\arduino3\.pptx-cache\s5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جسد متين، وأسلاك مرتبة، وأرضي مشترك، وقائمة فحص…</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الآن سيارتك جاهزة لتتعلم المهارات</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التركيب  ·  ٥٤</a:t>
            </a:r>
            <a:endParaRPr lang="ar-SA"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🤖١ روبوت الجوال</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هاتفك يصبح جهاز تحكم… والسيارة تطيع</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🤖١ روبوت الجوال  ·  ٥٥</a:t>
            </a:r>
            <a:endParaRPr lang="ar-SA"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428"/>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429"/>
          <p:cNvSpPr/>
          <p:nvPr/>
        </p:nvSpPr>
        <p:spPr>
          <a:xfrm>
            <a:off x="10573207" y="2109978"/>
            <a:ext cx="566928" cy="566928"/>
          </a:xfrm>
          <a:prstGeom prst="ellipse">
            <a:avLst/>
          </a:prstGeom>
          <a:solidFill>
            <a:srgbClr val="D9AE4B"/>
          </a:solidFill>
          <a:ln/>
        </p:spPr>
      </p:sp>
      <p:sp>
        <p:nvSpPr>
          <p:cNvPr id="7" name="anim-g1-430"/>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31"/>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كيف تنتقل أوامر الجوال إلى المحركين</a:t>
            </a:r>
            <a:endParaRPr lang="ar-SA" sz="2400" dirty="0"/>
          </a:p>
        </p:txBody>
      </p:sp>
      <p:sp>
        <p:nvSpPr>
          <p:cNvPr id="9" name="anim-g2-432"/>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433"/>
          <p:cNvSpPr/>
          <p:nvPr/>
        </p:nvSpPr>
        <p:spPr>
          <a:xfrm>
            <a:off x="10573207" y="3166110"/>
            <a:ext cx="566928" cy="566928"/>
          </a:xfrm>
          <a:prstGeom prst="ellipse">
            <a:avLst/>
          </a:prstGeom>
          <a:solidFill>
            <a:srgbClr val="D9AE4B"/>
          </a:solidFill>
          <a:ln/>
        </p:spPr>
      </p:sp>
      <p:sp>
        <p:nvSpPr>
          <p:cNvPr id="11" name="anim-g2-434"/>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35"/>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وحدة HC-05 بأمان بمقسم جهد</a:t>
            </a:r>
            <a:endParaRPr lang="ar-SA" sz="2400" dirty="0"/>
          </a:p>
        </p:txBody>
      </p:sp>
      <p:sp>
        <p:nvSpPr>
          <p:cNvPr id="13" name="anim-g3-436"/>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37"/>
          <p:cNvSpPr/>
          <p:nvPr/>
        </p:nvSpPr>
        <p:spPr>
          <a:xfrm>
            <a:off x="10573207" y="4222242"/>
            <a:ext cx="566928" cy="566928"/>
          </a:xfrm>
          <a:prstGeom prst="ellipse">
            <a:avLst/>
          </a:prstGeom>
          <a:solidFill>
            <a:srgbClr val="D9AE4B"/>
          </a:solidFill>
          <a:ln/>
        </p:spPr>
      </p:sp>
      <p:sp>
        <p:nvSpPr>
          <p:cNvPr id="15" name="anim-g3-438"/>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39"/>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الحروف بـ SoftwareSerial وتحوّلها إلى حركة</a:t>
            </a:r>
            <a:endParaRPr lang="ar-SA" sz="2400" dirty="0"/>
          </a:p>
        </p:txBody>
      </p:sp>
      <p:sp>
        <p:nvSpPr>
          <p:cNvPr id="17" name="anim-g4-440"/>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441"/>
          <p:cNvSpPr/>
          <p:nvPr/>
        </p:nvSpPr>
        <p:spPr>
          <a:xfrm>
            <a:off x="10573207" y="5278374"/>
            <a:ext cx="566928" cy="566928"/>
          </a:xfrm>
          <a:prstGeom prst="ellipse">
            <a:avLst/>
          </a:prstGeom>
          <a:solidFill>
            <a:srgbClr val="D9AE4B"/>
          </a:solidFill>
          <a:ln/>
        </p:spPr>
      </p:sp>
      <p:sp>
        <p:nvSpPr>
          <p:cNvPr id="19" name="anim-g4-442"/>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43"/>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تختار تطبيق تحكم مناسبًا أو تصمم تطبيقك</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🤖١ روبوت الجوال  ·  ٥٦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الرحلة في أربع خطوات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إصبعك… إلى العجلتين</a:t>
            </a:r>
            <a:endParaRPr lang="ar-SA" sz="3800" dirty="0"/>
          </a:p>
        </p:txBody>
      </p:sp>
      <p:sp>
        <p:nvSpPr>
          <p:cNvPr id="5" name="anim-g1-444"/>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45"/>
          <p:cNvSpPr/>
          <p:nvPr/>
        </p:nvSpPr>
        <p:spPr>
          <a:xfrm>
            <a:off x="10527487" y="2267712"/>
            <a:ext cx="566928" cy="566928"/>
          </a:xfrm>
          <a:prstGeom prst="roundRect">
            <a:avLst>
              <a:gd name="adj" fmla="val 32258"/>
            </a:avLst>
          </a:prstGeom>
          <a:solidFill>
            <a:srgbClr val="F7E6BC"/>
          </a:solidFill>
          <a:ln/>
        </p:spPr>
      </p:sp>
      <p:sp>
        <p:nvSpPr>
          <p:cNvPr id="7" name="anim-g1-44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47"/>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تضغط ▲</a:t>
            </a:r>
            <a:endParaRPr lang="ar-SA" sz="2200" dirty="0"/>
          </a:p>
        </p:txBody>
      </p:sp>
      <p:sp>
        <p:nvSpPr>
          <p:cNvPr id="9" name="anim-g1-448"/>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التطبيق يرسل الحرف F</a:t>
            </a:r>
            <a:endParaRPr lang="ar-SA" sz="1900" dirty="0"/>
          </a:p>
        </p:txBody>
      </p:sp>
      <p:sp>
        <p:nvSpPr>
          <p:cNvPr id="10" name="anim-g2-449"/>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50"/>
          <p:cNvSpPr/>
          <p:nvPr/>
        </p:nvSpPr>
        <p:spPr>
          <a:xfrm>
            <a:off x="7822463" y="2267712"/>
            <a:ext cx="566928" cy="566928"/>
          </a:xfrm>
          <a:prstGeom prst="roundRect">
            <a:avLst>
              <a:gd name="adj" fmla="val 32258"/>
            </a:avLst>
          </a:prstGeom>
          <a:solidFill>
            <a:srgbClr val="F7E6BC"/>
          </a:solidFill>
          <a:ln/>
        </p:spPr>
      </p:sp>
      <p:sp>
        <p:nvSpPr>
          <p:cNvPr id="12" name="anim-g2-451"/>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52"/>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البلوتوث</a:t>
            </a:r>
            <a:endParaRPr lang="ar-SA" sz="2200" dirty="0"/>
          </a:p>
        </p:txBody>
      </p:sp>
      <p:sp>
        <p:nvSpPr>
          <p:cNvPr id="14" name="anim-g2-453"/>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ينقله لاسلكيًا إلى HC-05</a:t>
            </a:r>
            <a:endParaRPr lang="ar-SA" sz="1900" dirty="0"/>
          </a:p>
        </p:txBody>
      </p:sp>
      <p:sp>
        <p:nvSpPr>
          <p:cNvPr id="15" name="anim-g3-454"/>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55"/>
          <p:cNvSpPr/>
          <p:nvPr/>
        </p:nvSpPr>
        <p:spPr>
          <a:xfrm>
            <a:off x="5117440" y="2267712"/>
            <a:ext cx="566928" cy="566928"/>
          </a:xfrm>
          <a:prstGeom prst="roundRect">
            <a:avLst>
              <a:gd name="adj" fmla="val 32258"/>
            </a:avLst>
          </a:prstGeom>
          <a:solidFill>
            <a:srgbClr val="F7E6BC"/>
          </a:solidFill>
          <a:ln/>
        </p:spPr>
      </p:sp>
      <p:sp>
        <p:nvSpPr>
          <p:cNvPr id="17" name="anim-g3-456"/>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57"/>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الأردوينو</a:t>
            </a:r>
            <a:endParaRPr lang="ar-SA" sz="2200" dirty="0"/>
          </a:p>
        </p:txBody>
      </p:sp>
      <p:sp>
        <p:nvSpPr>
          <p:cNvPr id="19" name="anim-g3-458"/>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يقرؤه بـ bt.read()</a:t>
            </a:r>
            <a:endParaRPr lang="ar-SA" sz="1900" dirty="0"/>
          </a:p>
        </p:txBody>
      </p:sp>
      <p:sp>
        <p:nvSpPr>
          <p:cNvPr id="20" name="anim-g4-459"/>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460"/>
          <p:cNvSpPr/>
          <p:nvPr/>
        </p:nvSpPr>
        <p:spPr>
          <a:xfrm>
            <a:off x="2412416" y="2267712"/>
            <a:ext cx="566928" cy="566928"/>
          </a:xfrm>
          <a:prstGeom prst="roundRect">
            <a:avLst>
              <a:gd name="adj" fmla="val 32258"/>
            </a:avLst>
          </a:prstGeom>
          <a:solidFill>
            <a:srgbClr val="F7E6BC"/>
          </a:solidFill>
          <a:ln/>
        </p:spPr>
      </p:sp>
      <p:sp>
        <p:nvSpPr>
          <p:cNvPr id="22" name="anim-g4-461"/>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462"/>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drive</a:t>
            </a:r>
            <a:endParaRPr lang="ar-SA" sz="2200" dirty="0"/>
          </a:p>
        </p:txBody>
      </p:sp>
      <p:sp>
        <p:nvSpPr>
          <p:cNvPr id="24" name="anim-g4-463"/>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العجلتان للأمام</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🤖١ روبوت الجوال  ·  ٥٧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C:\Users\user\projects\younes-training\arduino3\.pptx-cache\s5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C:\Users\user\projects\younes-training\arduino3\.pptx-cache\s59-0.jpg">    </p:cNvPr>
          <p:cNvPicPr>
            <a:picLocks noChangeAspect="1"/>
          </p:cNvPicPr>
          <p:nvPr/>
        </p:nvPicPr>
        <p:blipFill>
          <a:blip r:embed="rId1"/>
          <a:stretch>
            <a:fillRect/>
          </a:stretch>
        </p:blipFill>
        <p:spPr>
          <a:xfrm>
            <a:off x="0" y="0"/>
            <a:ext cx="12191695" cy="6858000"/>
          </a:xfrm>
          <a:prstGeom prst="rect">
            <a:avLst/>
          </a:prstGeom>
        </p:spPr>
      </p:pic>
      <p:pic>
        <p:nvPicPr>
          <p:cNvPr id="3" name="anim-g1-464" descr="C:\Users\user\projects\younes-training\arduino3\.pptx-cache\s59-1.jpg">    </p:cNvPr>
          <p:cNvPicPr>
            <a:picLocks noChangeAspect="1"/>
          </p:cNvPicPr>
          <p:nvPr/>
        </p:nvPicPr>
        <p:blipFill>
          <a:blip r:embed="rId2"/>
          <a:stretch>
            <a:fillRect/>
          </a:stretch>
        </p:blipFill>
        <p:spPr>
          <a:xfrm>
            <a:off x="0" y="0"/>
            <a:ext cx="12191695" cy="6858000"/>
          </a:xfrm>
          <a:prstGeom prst="rect">
            <a:avLst/>
          </a:prstGeom>
        </p:spPr>
      </p:pic>
      <p:pic>
        <p:nvPicPr>
          <p:cNvPr id="4" name="anim-g2-465" descr="C:\Users\user\projects\younes-training\arduino3\.pptx-cache\s59-2.jpg">    </p:cNvPr>
          <p:cNvPicPr>
            <a:picLocks noChangeAspect="1"/>
          </p:cNvPicPr>
          <p:nvPr/>
        </p:nvPicPr>
        <p:blipFill>
          <a:blip r:embed="rId3"/>
          <a:stretch>
            <a:fillRect/>
          </a:stretch>
        </p:blipFill>
        <p:spPr>
          <a:xfrm>
            <a:off x="0" y="0"/>
            <a:ext cx="12191695" cy="6858000"/>
          </a:xfrm>
          <a:prstGeom prst="rect">
            <a:avLst/>
          </a:prstGeom>
        </p:spPr>
      </p:pic>
      <p:pic>
        <p:nvPicPr>
          <p:cNvPr id="5" name="anim-g3-466" descr="C:\Users\user\projects\younes-training\arduino3\.pptx-cache\s59-3.jpg">    </p:cNvPr>
          <p:cNvPicPr>
            <a:picLocks noChangeAspect="1"/>
          </p:cNvPicPr>
          <p:nvPr/>
        </p:nvPicPr>
        <p:blipFill>
          <a:blip r:embed="rId4"/>
          <a:stretch>
            <a:fillRect/>
          </a:stretch>
        </p:blipFill>
        <p:spPr>
          <a:xfrm>
            <a:off x="0" y="0"/>
            <a:ext cx="12191695" cy="6858000"/>
          </a:xfrm>
          <a:prstGeom prst="rect">
            <a:avLst/>
          </a:prstGeom>
        </p:spPr>
      </p:pic>
      <p:pic>
        <p:nvPicPr>
          <p:cNvPr id="6" name="anim-g4-467" descr="C:\Users\user\projects\younes-training\arduino3\.pptx-cache\s59-4.jpg">    </p:cNvPr>
          <p:cNvPicPr>
            <a:picLocks noChangeAspect="1"/>
          </p:cNvPicPr>
          <p:nvPr/>
        </p:nvPicPr>
        <p:blipFill>
          <a:blip r:embed="rId5"/>
          <a:stretch>
            <a:fillRect/>
          </a:stretch>
        </p:blipFill>
        <p:spPr>
          <a:xfrm>
            <a:off x="0" y="0"/>
            <a:ext cx="12191695" cy="6858000"/>
          </a:xfrm>
          <a:prstGeom prst="rect">
            <a:avLst/>
          </a:prstGeom>
        </p:spPr>
      </p:pic>
      <p:pic>
        <p:nvPicPr>
          <p:cNvPr id="7" name="anim-g5-468" descr="C:\Users\user\projects\younes-training\arduino3\.pptx-cache\s59-5.jpg">    </p:cNvPr>
          <p:cNvPicPr>
            <a:picLocks noChangeAspect="1"/>
          </p:cNvPicPr>
          <p:nvPr/>
        </p:nvPicPr>
        <p:blipFill>
          <a:blip r:embed="rId6"/>
          <a:stretch>
            <a:fillRect/>
          </a:stretch>
        </p:blipFill>
        <p:spPr>
          <a:xfrm>
            <a:off x="0" y="0"/>
            <a:ext cx="12191695" cy="6858000"/>
          </a:xfrm>
          <a:prstGeom prst="rect">
            <a:avLst/>
          </a:prstGeom>
        </p:spPr>
      </p:pic>
      <p:pic>
        <p:nvPicPr>
          <p:cNvPr id="8" name="anim-g6-469" descr="C:\Users\user\projects\younes-training\arduino3\.pptx-cache\s59-6.jpg">    </p:cNvPr>
          <p:cNvPicPr>
            <a:picLocks noChangeAspect="1"/>
          </p:cNvPicPr>
          <p:nvPr/>
        </p:nvPicPr>
        <p:blipFill>
          <a:blip r:embed="rId7"/>
          <a:stretch>
            <a:fillRect/>
          </a:stretch>
        </p:blipFill>
        <p:spPr>
          <a:xfrm>
            <a:off x="0" y="0"/>
            <a:ext cx="12191695" cy="6858000"/>
          </a:xfrm>
          <a:prstGeom prst="rect">
            <a:avLst/>
          </a:prstGeom>
        </p:spPr>
      </p:pic>
      <p:pic>
        <p:nvPicPr>
          <p:cNvPr id="9" name="anim-g7-470" descr="C:\Users\user\projects\younes-training\arduino3\.pptx-cache\s59-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C:\Users\user\projects\younes-training\arduino3\.pptx-cache\s60-0.jpg">    </p:cNvPr>
          <p:cNvPicPr>
            <a:picLocks noChangeAspect="1"/>
          </p:cNvPicPr>
          <p:nvPr/>
        </p:nvPicPr>
        <p:blipFill>
          <a:blip r:embed="rId1"/>
          <a:stretch>
            <a:fillRect/>
          </a:stretch>
        </p:blipFill>
        <p:spPr>
          <a:xfrm>
            <a:off x="0" y="0"/>
            <a:ext cx="12191695" cy="6858000"/>
          </a:xfrm>
          <a:prstGeom prst="rect">
            <a:avLst/>
          </a:prstGeom>
        </p:spPr>
      </p:pic>
      <p:pic>
        <p:nvPicPr>
          <p:cNvPr id="3" name="anim-g1-471" descr="C:\Users\user\projects\younes-training\arduino3\.pptx-cache\s60-1.jpg">    </p:cNvPr>
          <p:cNvPicPr>
            <a:picLocks noChangeAspect="1"/>
          </p:cNvPicPr>
          <p:nvPr/>
        </p:nvPicPr>
        <p:blipFill>
          <a:blip r:embed="rId2"/>
          <a:stretch>
            <a:fillRect/>
          </a:stretch>
        </p:blipFill>
        <p:spPr>
          <a:xfrm>
            <a:off x="0" y="0"/>
            <a:ext cx="12191695" cy="6858000"/>
          </a:xfrm>
          <a:prstGeom prst="rect">
            <a:avLst/>
          </a:prstGeom>
        </p:spPr>
      </p:pic>
      <p:pic>
        <p:nvPicPr>
          <p:cNvPr id="4" name="anim-g2-472" descr="C:\Users\user\projects\younes-training\arduino3\.pptx-cache\s60-2.jpg">    </p:cNvPr>
          <p:cNvPicPr>
            <a:picLocks noChangeAspect="1"/>
          </p:cNvPicPr>
          <p:nvPr/>
        </p:nvPicPr>
        <p:blipFill>
          <a:blip r:embed="rId3"/>
          <a:stretch>
            <a:fillRect/>
          </a:stretch>
        </p:blipFill>
        <p:spPr>
          <a:xfrm>
            <a:off x="0" y="0"/>
            <a:ext cx="12191695" cy="6858000"/>
          </a:xfrm>
          <a:prstGeom prst="rect">
            <a:avLst/>
          </a:prstGeom>
        </p:spPr>
      </p:pic>
      <p:pic>
        <p:nvPicPr>
          <p:cNvPr id="5" name="anim-g3-473" descr="C:\Users\user\projects\younes-training\arduino3\.pptx-cache\s60-3.jpg">    </p:cNvPr>
          <p:cNvPicPr>
            <a:picLocks noChangeAspect="1"/>
          </p:cNvPicPr>
          <p:nvPr/>
        </p:nvPicPr>
        <p:blipFill>
          <a:blip r:embed="rId4"/>
          <a:stretch>
            <a:fillRect/>
          </a:stretch>
        </p:blipFill>
        <p:spPr>
          <a:xfrm>
            <a:off x="0" y="0"/>
            <a:ext cx="12191695" cy="6858000"/>
          </a:xfrm>
          <a:prstGeom prst="rect">
            <a:avLst/>
          </a:prstGeom>
        </p:spPr>
      </p:pic>
      <p:pic>
        <p:nvPicPr>
          <p:cNvPr id="6" name="anim-g4-474" descr="C:\Users\user\projects\younes-training\arduino3\.pptx-cache\s60-4.jpg">    </p:cNvPr>
          <p:cNvPicPr>
            <a:picLocks noChangeAspect="1"/>
          </p:cNvPicPr>
          <p:nvPr/>
        </p:nvPicPr>
        <p:blipFill>
          <a:blip r:embed="rId5"/>
          <a:stretch>
            <a:fillRect/>
          </a:stretch>
        </p:blipFill>
        <p:spPr>
          <a:xfrm>
            <a:off x="0" y="0"/>
            <a:ext cx="12191695" cy="6858000"/>
          </a:xfrm>
          <a:prstGeom prst="rect">
            <a:avLst/>
          </a:prstGeom>
        </p:spPr>
      </p:pic>
      <p:pic>
        <p:nvPicPr>
          <p:cNvPr id="7" name="anim-g5-475" descr="C:\Users\user\projects\younes-training\arduino3\.pptx-cache\s60-5.jpg">    </p:cNvPr>
          <p:cNvPicPr>
            <a:picLocks noChangeAspect="1"/>
          </p:cNvPicPr>
          <p:nvPr/>
        </p:nvPicPr>
        <p:blipFill>
          <a:blip r:embed="rId6"/>
          <a:stretch>
            <a:fillRect/>
          </a:stretch>
        </p:blipFill>
        <p:spPr>
          <a:xfrm>
            <a:off x="0" y="0"/>
            <a:ext cx="12191695" cy="6858000"/>
          </a:xfrm>
          <a:prstGeom prst="rect">
            <a:avLst/>
          </a:prstGeom>
        </p:spPr>
      </p:pic>
      <p:pic>
        <p:nvPicPr>
          <p:cNvPr id="8" name="anim-g6-476" descr="C:\Users\user\projects\younes-training\arduino3\.pptx-cache\s60-6.jpg">    </p:cNvPr>
          <p:cNvPicPr>
            <a:picLocks noChangeAspect="1"/>
          </p:cNvPicPr>
          <p:nvPr/>
        </p:nvPicPr>
        <p:blipFill>
          <a:blip r:embed="rId7"/>
          <a:stretch>
            <a:fillRect/>
          </a:stretch>
        </p:blipFill>
        <p:spPr>
          <a:xfrm>
            <a:off x="0" y="0"/>
            <a:ext cx="12191695" cy="6858000"/>
          </a:xfrm>
          <a:prstGeom prst="rect">
            <a:avLst/>
          </a:prstGeom>
        </p:spPr>
      </p:pic>
      <p:pic>
        <p:nvPicPr>
          <p:cNvPr id="9" name="anim-g7-477" descr="C:\Users\user\projects\younes-training\arduino3\.pptx-cache\s60-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التطبيق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أين يأتي جهاز التحكم؟</a:t>
            </a:r>
            <a:endParaRPr lang="ar-SA" sz="3800" dirty="0"/>
          </a:p>
        </p:txBody>
      </p:sp>
      <p:sp>
        <p:nvSpPr>
          <p:cNvPr id="5" name="anim-g1-47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79"/>
          <p:cNvSpPr/>
          <p:nvPr/>
        </p:nvSpPr>
        <p:spPr>
          <a:xfrm>
            <a:off x="10527487" y="2267712"/>
            <a:ext cx="566928" cy="566928"/>
          </a:xfrm>
          <a:prstGeom prst="roundRect">
            <a:avLst>
              <a:gd name="adj" fmla="val 32258"/>
            </a:avLst>
          </a:prstGeom>
          <a:solidFill>
            <a:srgbClr val="F7E6BC"/>
          </a:solidFill>
          <a:ln/>
        </p:spPr>
      </p:sp>
      <p:sp>
        <p:nvSpPr>
          <p:cNvPr id="7" name="anim-g1-48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8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تطبيقات جاهزة لأندرويد</a:t>
            </a:r>
            <a:endParaRPr lang="ar-SA" sz="2200" dirty="0"/>
          </a:p>
        </p:txBody>
      </p:sp>
      <p:sp>
        <p:nvSpPr>
          <p:cNvPr id="9" name="anim-g1-48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ابحث في المتجر عن «Arduino Bluetooth RC Car»: أغلبها يرسل F وB وL وR وS</a:t>
            </a:r>
            <a:endParaRPr lang="ar-SA" sz="1900" dirty="0"/>
          </a:p>
        </p:txBody>
      </p:sp>
      <p:sp>
        <p:nvSpPr>
          <p:cNvPr id="10" name="anim-g2-48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84"/>
          <p:cNvSpPr/>
          <p:nvPr/>
        </p:nvSpPr>
        <p:spPr>
          <a:xfrm>
            <a:off x="6920789" y="2267712"/>
            <a:ext cx="566928" cy="566928"/>
          </a:xfrm>
          <a:prstGeom prst="roundRect">
            <a:avLst>
              <a:gd name="adj" fmla="val 32258"/>
            </a:avLst>
          </a:prstGeom>
          <a:solidFill>
            <a:srgbClr val="F7E6BC"/>
          </a:solidFill>
          <a:ln/>
        </p:spPr>
      </p:sp>
      <p:sp>
        <p:nvSpPr>
          <p:cNvPr id="12" name="anim-g2-48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8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صمّم تطبيقك</a:t>
            </a:r>
            <a:endParaRPr lang="ar-SA" sz="2200" dirty="0"/>
          </a:p>
        </p:txBody>
      </p:sp>
      <p:sp>
        <p:nvSpPr>
          <p:cNvPr id="14" name="anim-g2-48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MIT App Inventor مجاني: يصمم الطلاب أزرارهم بالسحب والإفلات</a:t>
            </a:r>
            <a:endParaRPr lang="ar-SA" sz="1900" dirty="0"/>
          </a:p>
        </p:txBody>
      </p:sp>
      <p:sp>
        <p:nvSpPr>
          <p:cNvPr id="15" name="anim-g3-48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89"/>
          <p:cNvSpPr/>
          <p:nvPr/>
        </p:nvSpPr>
        <p:spPr>
          <a:xfrm>
            <a:off x="3314090" y="2267712"/>
            <a:ext cx="566928" cy="566928"/>
          </a:xfrm>
          <a:prstGeom prst="roundRect">
            <a:avLst>
              <a:gd name="adj" fmla="val 32258"/>
            </a:avLst>
          </a:prstGeom>
          <a:solidFill>
            <a:srgbClr val="F7E6BC"/>
          </a:solidFill>
          <a:ln/>
        </p:spPr>
      </p:sp>
      <p:sp>
        <p:nvSpPr>
          <p:cNvPr id="17" name="anim-g3-49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9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تنبيه للآيفون</a:t>
            </a:r>
            <a:endParaRPr lang="ar-SA" sz="2200" dirty="0"/>
          </a:p>
        </p:txBody>
      </p:sp>
      <p:sp>
        <p:nvSpPr>
          <p:cNvPr id="19" name="anim-g3-49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الآيفون لا يتصل بـ HC-05. استخدم وحدة BLE مثل HM-10 مع تطبيق يدعمها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🤖١ روبوت الجوال  ·  ٦١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C:\Users\user\projects\younes-training\arduino3\.pptx-cache\s62-0.jpg">    </p:cNvPr>
          <p:cNvPicPr>
            <a:picLocks noChangeAspect="1"/>
          </p:cNvPicPr>
          <p:nvPr/>
        </p:nvPicPr>
        <p:blipFill>
          <a:blip r:embed="rId1"/>
          <a:stretch>
            <a:fillRect/>
          </a:stretch>
        </p:blipFill>
        <p:spPr>
          <a:xfrm>
            <a:off x="0" y="0"/>
            <a:ext cx="12191695" cy="6858000"/>
          </a:xfrm>
          <a:prstGeom prst="rect">
            <a:avLst/>
          </a:prstGeom>
        </p:spPr>
      </p:pic>
      <p:pic>
        <p:nvPicPr>
          <p:cNvPr id="3" name="anim-g1-493" descr="C:\Users\user\projects\younes-training\arduino3\.pptx-cache\s62-1.jpg">    </p:cNvPr>
          <p:cNvPicPr>
            <a:picLocks noChangeAspect="1"/>
          </p:cNvPicPr>
          <p:nvPr/>
        </p:nvPicPr>
        <p:blipFill>
          <a:blip r:embed="rId2"/>
          <a:stretch>
            <a:fillRect/>
          </a:stretch>
        </p:blipFill>
        <p:spPr>
          <a:xfrm>
            <a:off x="0" y="0"/>
            <a:ext cx="12191695" cy="6858000"/>
          </a:xfrm>
          <a:prstGeom prst="rect">
            <a:avLst/>
          </a:prstGeom>
        </p:spPr>
      </p:pic>
      <p:pic>
        <p:nvPicPr>
          <p:cNvPr id="4" name="anim-g2-494" descr="C:\Users\user\projects\younes-training\arduino3\.pptx-cache\s62-2.jpg">    </p:cNvPr>
          <p:cNvPicPr>
            <a:picLocks noChangeAspect="1"/>
          </p:cNvPicPr>
          <p:nvPr/>
        </p:nvPicPr>
        <p:blipFill>
          <a:blip r:embed="rId3"/>
          <a:stretch>
            <a:fillRect/>
          </a:stretch>
        </p:blipFill>
        <p:spPr>
          <a:xfrm>
            <a:off x="0" y="0"/>
            <a:ext cx="12191695" cy="6858000"/>
          </a:xfrm>
          <a:prstGeom prst="rect">
            <a:avLst/>
          </a:prstGeom>
        </p:spPr>
      </p:pic>
      <p:pic>
        <p:nvPicPr>
          <p:cNvPr id="5" name="anim-g3-495" descr="C:\Users\user\projects\younes-training\arduino3\.pptx-cache\s62-3.jpg">    </p:cNvPr>
          <p:cNvPicPr>
            <a:picLocks noChangeAspect="1"/>
          </p:cNvPicPr>
          <p:nvPr/>
        </p:nvPicPr>
        <p:blipFill>
          <a:blip r:embed="rId4"/>
          <a:stretch>
            <a:fillRect/>
          </a:stretch>
        </p:blipFill>
        <p:spPr>
          <a:xfrm>
            <a:off x="0" y="0"/>
            <a:ext cx="12191695" cy="6858000"/>
          </a:xfrm>
          <a:prstGeom prst="rect">
            <a:avLst/>
          </a:prstGeom>
        </p:spPr>
      </p:pic>
      <p:pic>
        <p:nvPicPr>
          <p:cNvPr id="6" name="anim-g4-496" descr="C:\Users\user\projects\younes-training\arduino3\.pptx-cache\s6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نضع مقسم جهد على طرف RXD في HC-05؟</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لتقوية الإشارة</a:t>
            </a:r>
            <a:endParaRPr lang="ar-SA" sz="2500" dirty="0"/>
          </a:p>
        </p:txBody>
      </p:sp>
      <p:sp>
        <p:nvSpPr>
          <p:cNvPr id="9" name="anim-g1-497"/>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498"/>
          <p:cNvSpPr/>
          <p:nvPr/>
        </p:nvSpPr>
        <p:spPr>
          <a:xfrm>
            <a:off x="10231831" y="2194560"/>
            <a:ext cx="954024" cy="954024"/>
          </a:xfrm>
          <a:prstGeom prst="roundRect">
            <a:avLst>
              <a:gd name="adj" fmla="val 11502"/>
            </a:avLst>
          </a:prstGeom>
          <a:solidFill>
            <a:srgbClr val="A3A9BA"/>
          </a:solidFill>
          <a:ln/>
        </p:spPr>
      </p:sp>
      <p:sp>
        <p:nvSpPr>
          <p:cNvPr id="11" name="anim-g1-499"/>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500"/>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لتقوية الإشارة</a:t>
            </a:r>
            <a:endParaRPr lang="ar-SA" sz="2400" dirty="0"/>
          </a:p>
        </p:txBody>
      </p:sp>
      <p:sp>
        <p:nvSpPr>
          <p:cNvPr id="13" name="anim-g1-501"/>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المقسم يُضعف الجهد ولا يقويه</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الوحدة تستقبل على ٣٫٣ فولت والأردوينو يرسل ٥</a:t>
            </a:r>
            <a:endParaRPr lang="ar-SA" sz="2500" dirty="0"/>
          </a:p>
        </p:txBody>
      </p:sp>
      <p:sp>
        <p:nvSpPr>
          <p:cNvPr id="18" name="anim-g1-502"/>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503"/>
          <p:cNvSpPr/>
          <p:nvPr/>
        </p:nvSpPr>
        <p:spPr>
          <a:xfrm>
            <a:off x="10231831" y="3569208"/>
            <a:ext cx="954024" cy="954024"/>
          </a:xfrm>
          <a:prstGeom prst="roundRect">
            <a:avLst>
              <a:gd name="adj" fmla="val 11502"/>
            </a:avLst>
          </a:prstGeom>
          <a:solidFill>
            <a:srgbClr val="2E9E6B"/>
          </a:solidFill>
          <a:ln/>
        </p:spPr>
      </p:sp>
      <p:sp>
        <p:nvSpPr>
          <p:cNvPr id="20" name="anim-g1-50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505"/>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لأن الوحدة تستقبل على ٣٫٣ فولت والأردوينو يرسل ٥</a:t>
            </a:r>
            <a:endParaRPr lang="ar-SA" sz="2400" dirty="0"/>
          </a:p>
        </p:txBody>
      </p:sp>
      <p:sp>
        <p:nvSpPr>
          <p:cNvPr id="22" name="anim-g1-506"/>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٥ فولت على المدى الطويل قد تتلف مدخل الوحدة؛ المقسم يخفضها إلى نحو ٣٫٣</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لتوفير البطارية</a:t>
            </a:r>
            <a:endParaRPr lang="ar-SA" sz="2500" dirty="0"/>
          </a:p>
        </p:txBody>
      </p:sp>
      <p:sp>
        <p:nvSpPr>
          <p:cNvPr id="27" name="anim-g1-507"/>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508"/>
          <p:cNvSpPr/>
          <p:nvPr/>
        </p:nvSpPr>
        <p:spPr>
          <a:xfrm>
            <a:off x="10231831" y="4943856"/>
            <a:ext cx="954024" cy="954024"/>
          </a:xfrm>
          <a:prstGeom prst="roundRect">
            <a:avLst>
              <a:gd name="adj" fmla="val 11502"/>
            </a:avLst>
          </a:prstGeom>
          <a:solidFill>
            <a:srgbClr val="A3A9BA"/>
          </a:solidFill>
          <a:ln/>
        </p:spPr>
      </p:sp>
      <p:sp>
        <p:nvSpPr>
          <p:cNvPr id="29" name="anim-g1-509"/>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510"/>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لتوفير البطارية</a:t>
            </a:r>
            <a:endParaRPr lang="ar-SA" sz="2400" dirty="0"/>
          </a:p>
        </p:txBody>
      </p:sp>
      <p:sp>
        <p:nvSpPr>
          <p:cNvPr id="31" name="anim-g1-511"/>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استهلاكه من الطاقة لا يُذكر، وليس هذا هدفه</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🤖١ روبوت الجوال  ·  ٦٣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C:\Users\user\projects\younes-training\arduino3\.pptx-cache\s6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Image 0" descr="C:\Users\user\projects\younes-training\arduino3\.pptx-cache\s6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حرف واحد يطير من الهاتف…</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فتتحرك السيارة: هذا هو الروبوت الأول. لكن من يقرر هنا هو الإنسان</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🤖١ روبوت الجوال  ·  ٦٦</a:t>
            </a:r>
            <a:endParaRPr lang="ar-SA"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🤖٢ روبوت تتبع الخط</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أول روبوت يقرر وحده: عيون ترى الخط… وعجلات تلحقه</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🤖٢ روبوت تتبع الخط  ·  ٦٧</a:t>
            </a:r>
            <a:endParaRPr lang="ar-SA"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12"/>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513"/>
          <p:cNvSpPr/>
          <p:nvPr/>
        </p:nvSpPr>
        <p:spPr>
          <a:xfrm>
            <a:off x="10573207" y="2109978"/>
            <a:ext cx="566928" cy="566928"/>
          </a:xfrm>
          <a:prstGeom prst="ellipse">
            <a:avLst/>
          </a:prstGeom>
          <a:solidFill>
            <a:srgbClr val="D9AE4B"/>
          </a:solidFill>
          <a:ln/>
        </p:spPr>
      </p:sp>
      <p:sp>
        <p:nvSpPr>
          <p:cNvPr id="7" name="anim-g1-514"/>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15"/>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تصنع حلبة تتبع خط في فصلك</a:t>
            </a:r>
            <a:endParaRPr lang="ar-SA" sz="2400" dirty="0"/>
          </a:p>
        </p:txBody>
      </p:sp>
      <p:sp>
        <p:nvSpPr>
          <p:cNvPr id="9" name="anim-g2-516"/>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517"/>
          <p:cNvSpPr/>
          <p:nvPr/>
        </p:nvSpPr>
        <p:spPr>
          <a:xfrm>
            <a:off x="10573207" y="3166110"/>
            <a:ext cx="566928" cy="566928"/>
          </a:xfrm>
          <a:prstGeom prst="ellipse">
            <a:avLst/>
          </a:prstGeom>
          <a:solidFill>
            <a:srgbClr val="D9AE4B"/>
          </a:solidFill>
          <a:ln/>
        </p:spPr>
      </p:sp>
      <p:sp>
        <p:nvSpPr>
          <p:cNvPr id="11" name="anim-g2-518"/>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19"/>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تبرمج متتبع خط بحساسين، ثم بثلاثة، ثم بخمسة</a:t>
            </a:r>
            <a:endParaRPr lang="ar-SA" sz="2400" dirty="0"/>
          </a:p>
        </p:txBody>
      </p:sp>
      <p:sp>
        <p:nvSpPr>
          <p:cNvPr id="13" name="anim-g3-520"/>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521"/>
          <p:cNvSpPr/>
          <p:nvPr/>
        </p:nvSpPr>
        <p:spPr>
          <a:xfrm>
            <a:off x="10573207" y="4222242"/>
            <a:ext cx="566928" cy="566928"/>
          </a:xfrm>
          <a:prstGeom prst="ellipse">
            <a:avLst/>
          </a:prstGeom>
          <a:solidFill>
            <a:srgbClr val="D9AE4B"/>
          </a:solidFill>
          <a:ln/>
        </p:spPr>
      </p:sp>
      <p:sp>
        <p:nvSpPr>
          <p:cNvPr id="15" name="anim-g3-522"/>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23"/>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تستخدم «الذاكرة» حتى لا يضيع الروبوت عن الخط</a:t>
            </a:r>
            <a:endParaRPr lang="ar-SA" sz="2400" dirty="0"/>
          </a:p>
        </p:txBody>
      </p:sp>
      <p:sp>
        <p:nvSpPr>
          <p:cNvPr id="17" name="anim-g4-524"/>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525"/>
          <p:cNvSpPr/>
          <p:nvPr/>
        </p:nvSpPr>
        <p:spPr>
          <a:xfrm>
            <a:off x="10573207" y="5278374"/>
            <a:ext cx="566928" cy="566928"/>
          </a:xfrm>
          <a:prstGeom prst="ellipse">
            <a:avLst/>
          </a:prstGeom>
          <a:solidFill>
            <a:srgbClr val="D9AE4B"/>
          </a:solidFill>
          <a:ln/>
        </p:spPr>
      </p:sp>
      <p:sp>
        <p:nvSpPr>
          <p:cNvPr id="19" name="anim-g4-526"/>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527"/>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تفهم لماذا تزيد السرعة احتمال الخروج عن الخط</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🤖٢ روبوت تتبع الخط  ·  ٦٨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كم عينًا يحتاج الروبوت؟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حساسان… ثلاثة… خمسة</a:t>
            </a:r>
            <a:endParaRPr lang="ar-SA" sz="3800" dirty="0"/>
          </a:p>
        </p:txBody>
      </p:sp>
      <p:sp>
        <p:nvSpPr>
          <p:cNvPr id="5" name="anim-g1-52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29"/>
          <p:cNvSpPr/>
          <p:nvPr/>
        </p:nvSpPr>
        <p:spPr>
          <a:xfrm>
            <a:off x="10527487" y="2267712"/>
            <a:ext cx="566928" cy="566928"/>
          </a:xfrm>
          <a:prstGeom prst="roundRect">
            <a:avLst>
              <a:gd name="adj" fmla="val 32258"/>
            </a:avLst>
          </a:prstGeom>
          <a:solidFill>
            <a:srgbClr val="F7E6BC"/>
          </a:solidFill>
          <a:ln/>
        </p:spPr>
      </p:sp>
      <p:sp>
        <p:nvSpPr>
          <p:cNvPr id="7" name="anim-g1-53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3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حساسان</a:t>
            </a:r>
            <a:endParaRPr lang="ar-SA" sz="2200" dirty="0"/>
          </a:p>
        </p:txBody>
      </p:sp>
      <p:sp>
        <p:nvSpPr>
          <p:cNvPr id="9" name="anim-g1-53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على جانبي الخط. الأبسط: إن لمس أحدهما الخط انعطف نحوه</a:t>
            </a:r>
            <a:endParaRPr lang="ar-SA" sz="1900" dirty="0"/>
          </a:p>
        </p:txBody>
      </p:sp>
      <p:sp>
        <p:nvSpPr>
          <p:cNvPr id="10" name="anim-g2-53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34"/>
          <p:cNvSpPr/>
          <p:nvPr/>
        </p:nvSpPr>
        <p:spPr>
          <a:xfrm>
            <a:off x="6920789" y="2267712"/>
            <a:ext cx="566928" cy="566928"/>
          </a:xfrm>
          <a:prstGeom prst="roundRect">
            <a:avLst>
              <a:gd name="adj" fmla="val 32258"/>
            </a:avLst>
          </a:prstGeom>
          <a:solidFill>
            <a:srgbClr val="F7E6BC"/>
          </a:solidFill>
          <a:ln/>
        </p:spPr>
      </p:sp>
      <p:sp>
        <p:nvSpPr>
          <p:cNvPr id="12" name="anim-g2-53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3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ثلاثة</a:t>
            </a:r>
            <a:endParaRPr lang="ar-SA" sz="2200" dirty="0"/>
          </a:p>
        </p:txBody>
      </p:sp>
      <p:sp>
        <p:nvSpPr>
          <p:cNvPr id="14" name="anim-g2-53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الأوسط فوق الخط. يعرف أين كان الخط آخر مرة فلا يضيع</a:t>
            </a:r>
            <a:endParaRPr lang="ar-SA" sz="1900" dirty="0"/>
          </a:p>
        </p:txBody>
      </p:sp>
      <p:sp>
        <p:nvSpPr>
          <p:cNvPr id="15" name="anim-g3-53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39"/>
          <p:cNvSpPr/>
          <p:nvPr/>
        </p:nvSpPr>
        <p:spPr>
          <a:xfrm>
            <a:off x="3314090" y="2267712"/>
            <a:ext cx="566928" cy="566928"/>
          </a:xfrm>
          <a:prstGeom prst="roundRect">
            <a:avLst>
              <a:gd name="adj" fmla="val 32258"/>
            </a:avLst>
          </a:prstGeom>
          <a:solidFill>
            <a:srgbClr val="F7E6BC"/>
          </a:solidFill>
          <a:ln/>
        </p:spPr>
      </p:sp>
      <p:sp>
        <p:nvSpPr>
          <p:cNvPr id="17" name="anim-g3-54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4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خمسة</a:t>
            </a:r>
            <a:endParaRPr lang="ar-SA" sz="2200" dirty="0"/>
          </a:p>
        </p:txBody>
      </p:sp>
      <p:sp>
        <p:nvSpPr>
          <p:cNvPr id="19" name="anim-g3-54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يعرف «كم» ابتعد عن الخط، فينعطف بلطف أو بقوة. أساس PID</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🤖٢ روبوت تتبع الخط  ·  ٦٩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pic>
        <p:nvPicPr>
          <p:cNvPr id="2" name="Image 0" descr="C:\Users\user\projects\younes-training\arduino3\.pptx-cache\s70-0.jpg">    </p:cNvPr>
          <p:cNvPicPr>
            <a:picLocks noChangeAspect="1"/>
          </p:cNvPicPr>
          <p:nvPr/>
        </p:nvPicPr>
        <p:blipFill>
          <a:blip r:embed="rId1"/>
          <a:stretch>
            <a:fillRect/>
          </a:stretch>
        </p:blipFill>
        <p:spPr>
          <a:xfrm>
            <a:off x="0" y="0"/>
            <a:ext cx="12191695" cy="6858000"/>
          </a:xfrm>
          <a:prstGeom prst="rect">
            <a:avLst/>
          </a:prstGeom>
        </p:spPr>
      </p:pic>
      <p:pic>
        <p:nvPicPr>
          <p:cNvPr id="3" name="anim-g1-543" descr="C:\Users\user\projects\younes-training\arduino3\.pptx-cache\s70-1.jpg">    </p:cNvPr>
          <p:cNvPicPr>
            <a:picLocks noChangeAspect="1"/>
          </p:cNvPicPr>
          <p:nvPr/>
        </p:nvPicPr>
        <p:blipFill>
          <a:blip r:embed="rId2"/>
          <a:stretch>
            <a:fillRect/>
          </a:stretch>
        </p:blipFill>
        <p:spPr>
          <a:xfrm>
            <a:off x="0" y="0"/>
            <a:ext cx="12191695" cy="6858000"/>
          </a:xfrm>
          <a:prstGeom prst="rect">
            <a:avLst/>
          </a:prstGeom>
        </p:spPr>
      </p:pic>
      <p:pic>
        <p:nvPicPr>
          <p:cNvPr id="4" name="anim-g2-544" descr="C:\Users\user\projects\younes-training\arduino3\.pptx-cache\s70-2.jpg">    </p:cNvPr>
          <p:cNvPicPr>
            <a:picLocks noChangeAspect="1"/>
          </p:cNvPicPr>
          <p:nvPr/>
        </p:nvPicPr>
        <p:blipFill>
          <a:blip r:embed="rId3"/>
          <a:stretch>
            <a:fillRect/>
          </a:stretch>
        </p:blipFill>
        <p:spPr>
          <a:xfrm>
            <a:off x="0" y="0"/>
            <a:ext cx="12191695" cy="6858000"/>
          </a:xfrm>
          <a:prstGeom prst="rect">
            <a:avLst/>
          </a:prstGeom>
        </p:spPr>
      </p:pic>
      <p:pic>
        <p:nvPicPr>
          <p:cNvPr id="5" name="anim-g3-545" descr="C:\Users\user\projects\younes-training\arduino3\.pptx-cache\s70-3.jpg">    </p:cNvPr>
          <p:cNvPicPr>
            <a:picLocks noChangeAspect="1"/>
          </p:cNvPicPr>
          <p:nvPr/>
        </p:nvPicPr>
        <p:blipFill>
          <a:blip r:embed="rId4"/>
          <a:stretch>
            <a:fillRect/>
          </a:stretch>
        </p:blipFill>
        <p:spPr>
          <a:xfrm>
            <a:off x="0" y="0"/>
            <a:ext cx="12191695" cy="6858000"/>
          </a:xfrm>
          <a:prstGeom prst="rect">
            <a:avLst/>
          </a:prstGeom>
        </p:spPr>
      </p:pic>
      <p:pic>
        <p:nvPicPr>
          <p:cNvPr id="6" name="anim-g4-546" descr="C:\Users\user\projects\younes-training\arduino3\.pptx-cache\s70-4.jpg">    </p:cNvPr>
          <p:cNvPicPr>
            <a:picLocks noChangeAspect="1"/>
          </p:cNvPicPr>
          <p:nvPr/>
        </p:nvPicPr>
        <p:blipFill>
          <a:blip r:embed="rId5"/>
          <a:stretch>
            <a:fillRect/>
          </a:stretch>
        </p:blipFill>
        <p:spPr>
          <a:xfrm>
            <a:off x="0" y="0"/>
            <a:ext cx="12191695" cy="6858000"/>
          </a:xfrm>
          <a:prstGeom prst="rect">
            <a:avLst/>
          </a:prstGeom>
        </p:spPr>
      </p:pic>
      <p:pic>
        <p:nvPicPr>
          <p:cNvPr id="7" name="anim-g5-547" descr="C:\Users\user\projects\younes-training\arduino3\.pptx-cache\s70-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pic>
        <p:nvPicPr>
          <p:cNvPr id="2" name="Image 0" descr="C:\Users\user\projects\younes-training\arduino3\.pptx-cache\s7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pic>
        <p:nvPicPr>
          <p:cNvPr id="2" name="Image 0" descr="C:\Users\user\projects\younes-training\arduino3\.pptx-cache\s72-0.jpg">    </p:cNvPr>
          <p:cNvPicPr>
            <a:picLocks noChangeAspect="1"/>
          </p:cNvPicPr>
          <p:nvPr/>
        </p:nvPicPr>
        <p:blipFill>
          <a:blip r:embed="rId1"/>
          <a:stretch>
            <a:fillRect/>
          </a:stretch>
        </p:blipFill>
        <p:spPr>
          <a:xfrm>
            <a:off x="0" y="0"/>
            <a:ext cx="12191695" cy="6858000"/>
          </a:xfrm>
          <a:prstGeom prst="rect">
            <a:avLst/>
          </a:prstGeom>
        </p:spPr>
      </p:pic>
      <p:pic>
        <p:nvPicPr>
          <p:cNvPr id="3" name="anim-g1-548" descr="C:\Users\user\projects\younes-training\arduino3\.pptx-cache\s72-1.jpg">    </p:cNvPr>
          <p:cNvPicPr>
            <a:picLocks noChangeAspect="1"/>
          </p:cNvPicPr>
          <p:nvPr/>
        </p:nvPicPr>
        <p:blipFill>
          <a:blip r:embed="rId2"/>
          <a:stretch>
            <a:fillRect/>
          </a:stretch>
        </p:blipFill>
        <p:spPr>
          <a:xfrm>
            <a:off x="0" y="0"/>
            <a:ext cx="12191695" cy="6858000"/>
          </a:xfrm>
          <a:prstGeom prst="rect">
            <a:avLst/>
          </a:prstGeom>
        </p:spPr>
      </p:pic>
      <p:pic>
        <p:nvPicPr>
          <p:cNvPr id="4" name="anim-g2-549" descr="C:\Users\user\projects\younes-training\arduino3\.pptx-cache\s72-2.jpg">    </p:cNvPr>
          <p:cNvPicPr>
            <a:picLocks noChangeAspect="1"/>
          </p:cNvPicPr>
          <p:nvPr/>
        </p:nvPicPr>
        <p:blipFill>
          <a:blip r:embed="rId3"/>
          <a:stretch>
            <a:fillRect/>
          </a:stretch>
        </p:blipFill>
        <p:spPr>
          <a:xfrm>
            <a:off x="0" y="0"/>
            <a:ext cx="12191695" cy="6858000"/>
          </a:xfrm>
          <a:prstGeom prst="rect">
            <a:avLst/>
          </a:prstGeom>
        </p:spPr>
      </p:pic>
      <p:pic>
        <p:nvPicPr>
          <p:cNvPr id="5" name="anim-g3-550" descr="C:\Users\user\projects\younes-training\arduino3\.pptx-cache\s72-3.jpg">    </p:cNvPr>
          <p:cNvPicPr>
            <a:picLocks noChangeAspect="1"/>
          </p:cNvPicPr>
          <p:nvPr/>
        </p:nvPicPr>
        <p:blipFill>
          <a:blip r:embed="rId4"/>
          <a:stretch>
            <a:fillRect/>
          </a:stretch>
        </p:blipFill>
        <p:spPr>
          <a:xfrm>
            <a:off x="0" y="0"/>
            <a:ext cx="12191695" cy="6858000"/>
          </a:xfrm>
          <a:prstGeom prst="rect">
            <a:avLst/>
          </a:prstGeom>
        </p:spPr>
      </p:pic>
      <p:pic>
        <p:nvPicPr>
          <p:cNvPr id="6" name="anim-g4-551" descr="C:\Users\user\projects\younes-training\arduino3\.pptx-cache\s72-4.jpg">    </p:cNvPr>
          <p:cNvPicPr>
            <a:picLocks noChangeAspect="1"/>
          </p:cNvPicPr>
          <p:nvPr/>
        </p:nvPicPr>
        <p:blipFill>
          <a:blip r:embed="rId5"/>
          <a:stretch>
            <a:fillRect/>
          </a:stretch>
        </p:blipFill>
        <p:spPr>
          <a:xfrm>
            <a:off x="0" y="0"/>
            <a:ext cx="12191695" cy="6858000"/>
          </a:xfrm>
          <a:prstGeom prst="rect">
            <a:avLst/>
          </a:prstGeom>
        </p:spPr>
      </p:pic>
      <p:pic>
        <p:nvPicPr>
          <p:cNvPr id="7" name="anim-g5-552" descr="C:\Users\user\projects\younes-training\arduino3\.pptx-cache\s72-5.jpg">    </p:cNvPr>
          <p:cNvPicPr>
            <a:picLocks noChangeAspect="1"/>
          </p:cNvPicPr>
          <p:nvPr/>
        </p:nvPicPr>
        <p:blipFill>
          <a:blip r:embed="rId6"/>
          <a:stretch>
            <a:fillRect/>
          </a:stretch>
        </p:blipFill>
        <p:spPr>
          <a:xfrm>
            <a:off x="0" y="0"/>
            <a:ext cx="12191695" cy="6858000"/>
          </a:xfrm>
          <a:prstGeom prst="rect">
            <a:avLst/>
          </a:prstGeom>
        </p:spPr>
      </p:pic>
      <p:pic>
        <p:nvPicPr>
          <p:cNvPr id="8" name="anim-g6-553" descr="C:\Users\user\projects\younes-training\arduino3\.pptx-cache\s72-6.jpg">    </p:cNvPr>
          <p:cNvPicPr>
            <a:picLocks noChangeAspect="1"/>
          </p:cNvPicPr>
          <p:nvPr/>
        </p:nvPicPr>
        <p:blipFill>
          <a:blip r:embed="rId7"/>
          <a:stretch>
            <a:fillRect/>
          </a:stretch>
        </p:blipFill>
        <p:spPr>
          <a:xfrm>
            <a:off x="0" y="0"/>
            <a:ext cx="12191695" cy="6858000"/>
          </a:xfrm>
          <a:prstGeom prst="rect">
            <a:avLst/>
          </a:prstGeom>
        </p:spPr>
      </p:pic>
      <p:pic>
        <p:nvPicPr>
          <p:cNvPr id="9" name="anim-g7-554" descr="C:\Users\user\projects\younes-training\arduino3\.pptx-cache\s72-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pic>
        <p:nvPicPr>
          <p:cNvPr id="2" name="Image 0" descr="C:\Users\user\projects\younes-training\arduino3\.pptx-cache\s73-0.jpg">    </p:cNvPr>
          <p:cNvPicPr>
            <a:picLocks noChangeAspect="1"/>
          </p:cNvPicPr>
          <p:nvPr/>
        </p:nvPicPr>
        <p:blipFill>
          <a:blip r:embed="rId1"/>
          <a:stretch>
            <a:fillRect/>
          </a:stretch>
        </p:blipFill>
        <p:spPr>
          <a:xfrm>
            <a:off x="0" y="0"/>
            <a:ext cx="12191695" cy="6858000"/>
          </a:xfrm>
          <a:prstGeom prst="rect">
            <a:avLst/>
          </a:prstGeom>
        </p:spPr>
      </p:pic>
      <p:pic>
        <p:nvPicPr>
          <p:cNvPr id="3" name="anim-g1-555" descr="C:\Users\user\projects\younes-training\arduino3\.pptx-cache\s73-1.jpg">    </p:cNvPr>
          <p:cNvPicPr>
            <a:picLocks noChangeAspect="1"/>
          </p:cNvPicPr>
          <p:nvPr/>
        </p:nvPicPr>
        <p:blipFill>
          <a:blip r:embed="rId2"/>
          <a:stretch>
            <a:fillRect/>
          </a:stretch>
        </p:blipFill>
        <p:spPr>
          <a:xfrm>
            <a:off x="0" y="0"/>
            <a:ext cx="12191695" cy="6858000"/>
          </a:xfrm>
          <a:prstGeom prst="rect">
            <a:avLst/>
          </a:prstGeom>
        </p:spPr>
      </p:pic>
      <p:pic>
        <p:nvPicPr>
          <p:cNvPr id="4" name="anim-g2-556" descr="C:\Users\user\projects\younes-training\arduino3\.pptx-cache\s73-2.jpg">    </p:cNvPr>
          <p:cNvPicPr>
            <a:picLocks noChangeAspect="1"/>
          </p:cNvPicPr>
          <p:nvPr/>
        </p:nvPicPr>
        <p:blipFill>
          <a:blip r:embed="rId3"/>
          <a:stretch>
            <a:fillRect/>
          </a:stretch>
        </p:blipFill>
        <p:spPr>
          <a:xfrm>
            <a:off x="0" y="0"/>
            <a:ext cx="12191695" cy="6858000"/>
          </a:xfrm>
          <a:prstGeom prst="rect">
            <a:avLst/>
          </a:prstGeom>
        </p:spPr>
      </p:pic>
      <p:pic>
        <p:nvPicPr>
          <p:cNvPr id="5" name="anim-g3-557" descr="C:\Users\user\projects\younes-training\arduino3\.pptx-cache\s73-3.jpg">    </p:cNvPr>
          <p:cNvPicPr>
            <a:picLocks noChangeAspect="1"/>
          </p:cNvPicPr>
          <p:nvPr/>
        </p:nvPicPr>
        <p:blipFill>
          <a:blip r:embed="rId4"/>
          <a:stretch>
            <a:fillRect/>
          </a:stretch>
        </p:blipFill>
        <p:spPr>
          <a:xfrm>
            <a:off x="0" y="0"/>
            <a:ext cx="12191695" cy="6858000"/>
          </a:xfrm>
          <a:prstGeom prst="rect">
            <a:avLst/>
          </a:prstGeom>
        </p:spPr>
      </p:pic>
      <p:pic>
        <p:nvPicPr>
          <p:cNvPr id="6" name="anim-g4-558" descr="C:\Users\user\projects\younes-training\arduino3\.pptx-cache\s73-4.jpg">    </p:cNvPr>
          <p:cNvPicPr>
            <a:picLocks noChangeAspect="1"/>
          </p:cNvPicPr>
          <p:nvPr/>
        </p:nvPicPr>
        <p:blipFill>
          <a:blip r:embed="rId5"/>
          <a:stretch>
            <a:fillRect/>
          </a:stretch>
        </p:blipFill>
        <p:spPr>
          <a:xfrm>
            <a:off x="0" y="0"/>
            <a:ext cx="12191695" cy="6858000"/>
          </a:xfrm>
          <a:prstGeom prst="rect">
            <a:avLst/>
          </a:prstGeom>
        </p:spPr>
      </p:pic>
      <p:pic>
        <p:nvPicPr>
          <p:cNvPr id="7" name="anim-g5-559" descr="C:\Users\user\projects\younes-training\arduino3\.pptx-cache\s73-5.jpg">    </p:cNvPr>
          <p:cNvPicPr>
            <a:picLocks noChangeAspect="1"/>
          </p:cNvPicPr>
          <p:nvPr/>
        </p:nvPicPr>
        <p:blipFill>
          <a:blip r:embed="rId6"/>
          <a:stretch>
            <a:fillRect/>
          </a:stretch>
        </p:blipFill>
        <p:spPr>
          <a:xfrm>
            <a:off x="0" y="0"/>
            <a:ext cx="12191695" cy="6858000"/>
          </a:xfrm>
          <a:prstGeom prst="rect">
            <a:avLst/>
          </a:prstGeom>
        </p:spPr>
      </p:pic>
      <p:pic>
        <p:nvPicPr>
          <p:cNvPr id="8" name="anim-g6-560" descr="C:\Users\user\projects\younes-training\arduino3\.pptx-cache\s73-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اصنع حلبتك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حلبة احترافية بأقل تكلفة</a:t>
            </a:r>
            <a:endParaRPr lang="ar-SA" sz="3800" dirty="0"/>
          </a:p>
        </p:txBody>
      </p:sp>
      <p:sp>
        <p:nvSpPr>
          <p:cNvPr id="5" name="anim-g1-56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62"/>
          <p:cNvSpPr/>
          <p:nvPr/>
        </p:nvSpPr>
        <p:spPr>
          <a:xfrm>
            <a:off x="10527487" y="2267712"/>
            <a:ext cx="566928" cy="566928"/>
          </a:xfrm>
          <a:prstGeom prst="roundRect">
            <a:avLst>
              <a:gd name="adj" fmla="val 32258"/>
            </a:avLst>
          </a:prstGeom>
          <a:solidFill>
            <a:srgbClr val="F7E6BC"/>
          </a:solidFill>
          <a:ln/>
        </p:spPr>
      </p:sp>
      <p:sp>
        <p:nvSpPr>
          <p:cNvPr id="7" name="anim-g1-56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6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الأرضية</a:t>
            </a:r>
            <a:endParaRPr lang="ar-SA" sz="2200" dirty="0"/>
          </a:p>
        </p:txBody>
      </p:sp>
      <p:sp>
        <p:nvSpPr>
          <p:cNvPr id="9" name="anim-g1-56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لوح فوم أو كرتون أبيض مطفأ اللمعان، أو أرضية بلاط فاتح</a:t>
            </a:r>
            <a:endParaRPr lang="ar-SA" sz="1900" dirty="0"/>
          </a:p>
        </p:txBody>
      </p:sp>
      <p:sp>
        <p:nvSpPr>
          <p:cNvPr id="10" name="anim-g2-56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67"/>
          <p:cNvSpPr/>
          <p:nvPr/>
        </p:nvSpPr>
        <p:spPr>
          <a:xfrm>
            <a:off x="6920789" y="2267712"/>
            <a:ext cx="566928" cy="566928"/>
          </a:xfrm>
          <a:prstGeom prst="roundRect">
            <a:avLst>
              <a:gd name="adj" fmla="val 32258"/>
            </a:avLst>
          </a:prstGeom>
          <a:solidFill>
            <a:srgbClr val="F7E6BC"/>
          </a:solidFill>
          <a:ln/>
        </p:spPr>
      </p:sp>
      <p:sp>
        <p:nvSpPr>
          <p:cNvPr id="12" name="anim-g2-56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6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الخط</a:t>
            </a:r>
            <a:endParaRPr lang="ar-SA" sz="2200" dirty="0"/>
          </a:p>
        </p:txBody>
      </p:sp>
      <p:sp>
        <p:nvSpPr>
          <p:cNvPr id="14" name="anim-g2-57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شريط عازل أسود عرضه نحو ١٩ مم، يُلصق بلا تجاعيد</a:t>
            </a:r>
            <a:endParaRPr lang="ar-SA" sz="1900" dirty="0"/>
          </a:p>
        </p:txBody>
      </p:sp>
      <p:sp>
        <p:nvSpPr>
          <p:cNvPr id="15" name="anim-g3-57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72"/>
          <p:cNvSpPr/>
          <p:nvPr/>
        </p:nvSpPr>
        <p:spPr>
          <a:xfrm>
            <a:off x="3314090" y="2267712"/>
            <a:ext cx="566928" cy="566928"/>
          </a:xfrm>
          <a:prstGeom prst="roundRect">
            <a:avLst>
              <a:gd name="adj" fmla="val 32258"/>
            </a:avLst>
          </a:prstGeom>
          <a:solidFill>
            <a:srgbClr val="F7E6BC"/>
          </a:solidFill>
          <a:ln/>
        </p:spPr>
      </p:sp>
      <p:sp>
        <p:nvSpPr>
          <p:cNvPr id="17" name="anim-g3-57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7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المنعطفات</a:t>
            </a:r>
            <a:endParaRPr lang="ar-SA" sz="2200" dirty="0"/>
          </a:p>
        </p:txBody>
      </p:sp>
      <p:sp>
        <p:nvSpPr>
          <p:cNvPr id="19" name="anim-g3-57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ابدأ بمنعطفات واسعة، ثم ضيّقها مع تقدم الطلاب</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🤖٢ روبوت تتبع الخط  ·  ٧٤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pic>
        <p:nvPicPr>
          <p:cNvPr id="2" name="Image 0" descr="C:\Users\user\projects\younes-training\arduino3\.pptx-cache\s75-0.jpg">    </p:cNvPr>
          <p:cNvPicPr>
            <a:picLocks noChangeAspect="1"/>
          </p:cNvPicPr>
          <p:nvPr/>
        </p:nvPicPr>
        <p:blipFill>
          <a:blip r:embed="rId1"/>
          <a:stretch>
            <a:fillRect/>
          </a:stretch>
        </p:blipFill>
        <p:spPr>
          <a:xfrm>
            <a:off x="0" y="0"/>
            <a:ext cx="12191695" cy="6858000"/>
          </a:xfrm>
          <a:prstGeom prst="rect">
            <a:avLst/>
          </a:prstGeom>
        </p:spPr>
      </p:pic>
      <p:pic>
        <p:nvPicPr>
          <p:cNvPr id="3" name="anim-g1-576" descr="C:\Users\user\projects\younes-training\arduino3\.pptx-cache\s75-1.jpg">    </p:cNvPr>
          <p:cNvPicPr>
            <a:picLocks noChangeAspect="1"/>
          </p:cNvPicPr>
          <p:nvPr/>
        </p:nvPicPr>
        <p:blipFill>
          <a:blip r:embed="rId2"/>
          <a:stretch>
            <a:fillRect/>
          </a:stretch>
        </p:blipFill>
        <p:spPr>
          <a:xfrm>
            <a:off x="0" y="0"/>
            <a:ext cx="12191695" cy="6858000"/>
          </a:xfrm>
          <a:prstGeom prst="rect">
            <a:avLst/>
          </a:prstGeom>
        </p:spPr>
      </p:pic>
      <p:pic>
        <p:nvPicPr>
          <p:cNvPr id="4" name="anim-g2-577" descr="C:\Users\user\projects\younes-training\arduino3\.pptx-cache\s75-2.jpg">    </p:cNvPr>
          <p:cNvPicPr>
            <a:picLocks noChangeAspect="1"/>
          </p:cNvPicPr>
          <p:nvPr/>
        </p:nvPicPr>
        <p:blipFill>
          <a:blip r:embed="rId3"/>
          <a:stretch>
            <a:fillRect/>
          </a:stretch>
        </p:blipFill>
        <p:spPr>
          <a:xfrm>
            <a:off x="0" y="0"/>
            <a:ext cx="12191695" cy="6858000"/>
          </a:xfrm>
          <a:prstGeom prst="rect">
            <a:avLst/>
          </a:prstGeom>
        </p:spPr>
      </p:pic>
      <p:pic>
        <p:nvPicPr>
          <p:cNvPr id="5" name="anim-g3-578" descr="C:\Users\user\projects\younes-training\arduino3\.pptx-cache\s75-3.jpg">    </p:cNvPr>
          <p:cNvPicPr>
            <a:picLocks noChangeAspect="1"/>
          </p:cNvPicPr>
          <p:nvPr/>
        </p:nvPicPr>
        <p:blipFill>
          <a:blip r:embed="rId4"/>
          <a:stretch>
            <a:fillRect/>
          </a:stretch>
        </p:blipFill>
        <p:spPr>
          <a:xfrm>
            <a:off x="0" y="0"/>
            <a:ext cx="12191695" cy="6858000"/>
          </a:xfrm>
          <a:prstGeom prst="rect">
            <a:avLst/>
          </a:prstGeom>
        </p:spPr>
      </p:pic>
      <p:pic>
        <p:nvPicPr>
          <p:cNvPr id="6" name="anim-g4-579" descr="C:\Users\user\projects\younes-training\arduino3\.pptx-cache\s75-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رفعنا base من ١٥٠ إلى ٢٥٥ فصار الروبوت يخرج في المنعطفات… لماذا؟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يقطع مسافة أكبر بين قراءتين، فيتجاوز الخط قبل أن يصحح</a:t>
            </a:r>
            <a:endParaRPr lang="ar-SA" sz="2500" dirty="0"/>
          </a:p>
        </p:txBody>
      </p:sp>
      <p:sp>
        <p:nvSpPr>
          <p:cNvPr id="9" name="anim-g1-580"/>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581"/>
          <p:cNvSpPr/>
          <p:nvPr/>
        </p:nvSpPr>
        <p:spPr>
          <a:xfrm>
            <a:off x="10231831" y="2194560"/>
            <a:ext cx="954024" cy="954024"/>
          </a:xfrm>
          <a:prstGeom prst="roundRect">
            <a:avLst>
              <a:gd name="adj" fmla="val 11502"/>
            </a:avLst>
          </a:prstGeom>
          <a:solidFill>
            <a:srgbClr val="2E9E6B"/>
          </a:solidFill>
          <a:ln/>
        </p:spPr>
      </p:sp>
      <p:sp>
        <p:nvSpPr>
          <p:cNvPr id="11" name="anim-g1-58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58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يقطع مسافة أكبر بين قراءتين، فيتجاوز الخط قبل أن يصحح</a:t>
            </a:r>
            <a:endParaRPr lang="ar-SA" sz="2400" dirty="0"/>
          </a:p>
        </p:txBody>
      </p:sp>
      <p:sp>
        <p:nvSpPr>
          <p:cNvPr id="13" name="anim-g1-58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الأردوينو يقرأ ويقرر بالسرعة نفسها، لكن السيارة تبتعد أكثر في كل دورة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الحساسات لا تعمل في السرعات العالية</a:t>
            </a:r>
            <a:endParaRPr lang="ar-SA" sz="2500" dirty="0"/>
          </a:p>
        </p:txBody>
      </p:sp>
      <p:sp>
        <p:nvSpPr>
          <p:cNvPr id="18" name="anim-g1-585"/>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586"/>
          <p:cNvSpPr/>
          <p:nvPr/>
        </p:nvSpPr>
        <p:spPr>
          <a:xfrm>
            <a:off x="10231831" y="3569208"/>
            <a:ext cx="954024" cy="954024"/>
          </a:xfrm>
          <a:prstGeom prst="roundRect">
            <a:avLst>
              <a:gd name="adj" fmla="val 11502"/>
            </a:avLst>
          </a:prstGeom>
          <a:solidFill>
            <a:srgbClr val="A3A9BA"/>
          </a:solidFill>
          <a:ln/>
        </p:spPr>
      </p:sp>
      <p:sp>
        <p:nvSpPr>
          <p:cNvPr id="20" name="anim-g1-58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58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الحساسات لا تعمل في السرعات العالية</a:t>
            </a:r>
            <a:endParaRPr lang="ar-SA" sz="2400" dirty="0"/>
          </a:p>
        </p:txBody>
      </p:sp>
      <p:sp>
        <p:nvSpPr>
          <p:cNvPr id="22" name="anim-g1-58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الحساسات تقرأ آلاف المرات في الثانية، والمشكلة في سرعة الحركة لا القراءة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البطارية لا تتحمل</a:t>
            </a:r>
            <a:endParaRPr lang="ar-SA" sz="2500" dirty="0"/>
          </a:p>
        </p:txBody>
      </p:sp>
      <p:sp>
        <p:nvSpPr>
          <p:cNvPr id="27" name="anim-g1-590"/>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591"/>
          <p:cNvSpPr/>
          <p:nvPr/>
        </p:nvSpPr>
        <p:spPr>
          <a:xfrm>
            <a:off x="10231831" y="4943856"/>
            <a:ext cx="954024" cy="954024"/>
          </a:xfrm>
          <a:prstGeom prst="roundRect">
            <a:avLst>
              <a:gd name="adj" fmla="val 11502"/>
            </a:avLst>
          </a:prstGeom>
          <a:solidFill>
            <a:srgbClr val="A3A9BA"/>
          </a:solidFill>
          <a:ln/>
        </p:spPr>
      </p:sp>
      <p:sp>
        <p:nvSpPr>
          <p:cNvPr id="29" name="anim-g1-59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59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البطارية لا تتحمل</a:t>
            </a:r>
            <a:endParaRPr lang="ar-SA" sz="2400" dirty="0"/>
          </a:p>
        </p:txBody>
      </p:sp>
      <p:sp>
        <p:nvSpPr>
          <p:cNvPr id="31" name="anim-g1-59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قد تضعف البطارية، لكنها ليست سبب الخروج في المنعطف</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🤖٢ روبوت تتبع الخط  ·  ٧٦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C:\Users\user\projects\younes-training\arduino3\.pptx-cache\s7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C:\Users\user\projects\younes-training\arduino3\.pptx-cache\s7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عينان ترى، وشرط يقرر، وذاكرة تُنقذ…</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والروبوت الثاني يقود نفسه لأول مرة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🤖٢ روبوت تتبع الخط  ·  ٧٩</a:t>
            </a:r>
            <a:endParaRPr lang="ar-SA"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٧</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٧</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التحكم الذكي PID</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من روبوت يتمايل… إلى روبوت ينساب كالقطار</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التحكم الذكي PID  ·  ٨٠</a:t>
            </a:r>
            <a:endParaRPr lang="ar-SA"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95"/>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596"/>
          <p:cNvSpPr/>
          <p:nvPr/>
        </p:nvSpPr>
        <p:spPr>
          <a:xfrm>
            <a:off x="10573207" y="2109978"/>
            <a:ext cx="566928" cy="566928"/>
          </a:xfrm>
          <a:prstGeom prst="ellipse">
            <a:avLst/>
          </a:prstGeom>
          <a:solidFill>
            <a:srgbClr val="D9AE4B"/>
          </a:solidFill>
          <a:ln/>
        </p:spPr>
      </p:sp>
      <p:sp>
        <p:nvSpPr>
          <p:cNvPr id="7" name="anim-g1-597"/>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98"/>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معنى P وI وD بأمثلة من الحياة</a:t>
            </a:r>
            <a:endParaRPr lang="ar-SA" sz="2400" dirty="0"/>
          </a:p>
        </p:txBody>
      </p:sp>
      <p:sp>
        <p:nvSpPr>
          <p:cNvPr id="9" name="anim-g2-599"/>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600"/>
          <p:cNvSpPr/>
          <p:nvPr/>
        </p:nvSpPr>
        <p:spPr>
          <a:xfrm>
            <a:off x="10573207" y="3166110"/>
            <a:ext cx="566928" cy="566928"/>
          </a:xfrm>
          <a:prstGeom prst="ellipse">
            <a:avLst/>
          </a:prstGeom>
          <a:solidFill>
            <a:srgbClr val="D9AE4B"/>
          </a:solidFill>
          <a:ln/>
        </p:spPr>
      </p:sp>
      <p:sp>
        <p:nvSpPr>
          <p:cNvPr id="11" name="anim-g2-601"/>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02"/>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تحسب الخطأ من مصفوفة الحساسات</a:t>
            </a:r>
            <a:endParaRPr lang="ar-SA" sz="2400" dirty="0"/>
          </a:p>
        </p:txBody>
      </p:sp>
      <p:sp>
        <p:nvSpPr>
          <p:cNvPr id="13" name="anim-g3-603"/>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604"/>
          <p:cNvSpPr/>
          <p:nvPr/>
        </p:nvSpPr>
        <p:spPr>
          <a:xfrm>
            <a:off x="10573207" y="4222242"/>
            <a:ext cx="566928" cy="566928"/>
          </a:xfrm>
          <a:prstGeom prst="ellipse">
            <a:avLst/>
          </a:prstGeom>
          <a:solidFill>
            <a:srgbClr val="D9AE4B"/>
          </a:solidFill>
          <a:ln/>
        </p:spPr>
      </p:sp>
      <p:sp>
        <p:nvSpPr>
          <p:cNvPr id="15" name="anim-g3-605"/>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06"/>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تضبط Kp ثم Kd بطريقة منهجية</a:t>
            </a:r>
            <a:endParaRPr lang="ar-SA" sz="2400" dirty="0"/>
          </a:p>
        </p:txBody>
      </p:sp>
      <p:sp>
        <p:nvSpPr>
          <p:cNvPr id="17" name="anim-g4-607"/>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608"/>
          <p:cNvSpPr/>
          <p:nvPr/>
        </p:nvSpPr>
        <p:spPr>
          <a:xfrm>
            <a:off x="10573207" y="5278374"/>
            <a:ext cx="566928" cy="566928"/>
          </a:xfrm>
          <a:prstGeom prst="ellipse">
            <a:avLst/>
          </a:prstGeom>
          <a:solidFill>
            <a:srgbClr val="D9AE4B"/>
          </a:solidFill>
          <a:ln/>
        </p:spPr>
      </p:sp>
      <p:sp>
        <p:nvSpPr>
          <p:cNvPr id="19" name="anim-g4-609"/>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10"/>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تقيس التحسن بزمن اللفة ومتوسط الخطأ</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التحكم الذكي PID  ·  ٨١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ثلاثة حروف… ثلاثة أسئلة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P وI وD بلغة الحياة</a:t>
            </a:r>
            <a:endParaRPr lang="ar-SA" sz="3800" dirty="0"/>
          </a:p>
        </p:txBody>
      </p:sp>
      <p:sp>
        <p:nvSpPr>
          <p:cNvPr id="5" name="anim-g1-61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12"/>
          <p:cNvSpPr/>
          <p:nvPr/>
        </p:nvSpPr>
        <p:spPr>
          <a:xfrm>
            <a:off x="10527487" y="2267712"/>
            <a:ext cx="566928" cy="566928"/>
          </a:xfrm>
          <a:prstGeom prst="roundRect">
            <a:avLst>
              <a:gd name="adj" fmla="val 32258"/>
            </a:avLst>
          </a:prstGeom>
          <a:solidFill>
            <a:srgbClr val="F7E6BC"/>
          </a:solidFill>
          <a:ln/>
        </p:spPr>
      </p:sp>
      <p:sp>
        <p:nvSpPr>
          <p:cNvPr id="7" name="anim-g1-61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1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P · التناسبي</a:t>
            </a:r>
            <a:endParaRPr lang="ar-SA" sz="2200" dirty="0"/>
          </a:p>
        </p:txBody>
      </p:sp>
      <p:sp>
        <p:nvSpPr>
          <p:cNvPr id="9" name="anim-g1-61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كم ابتعدتُ الآن؟ أصحّح بقدر البعد. كمن يمسك مقود الدراجة: انحراف صغير، لفّة صغيرة</a:t>
            </a:r>
            <a:endParaRPr lang="ar-SA" sz="1900" dirty="0"/>
          </a:p>
        </p:txBody>
      </p:sp>
      <p:sp>
        <p:nvSpPr>
          <p:cNvPr id="10" name="anim-g2-61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17"/>
          <p:cNvSpPr/>
          <p:nvPr/>
        </p:nvSpPr>
        <p:spPr>
          <a:xfrm>
            <a:off x="6920789" y="2267712"/>
            <a:ext cx="566928" cy="566928"/>
          </a:xfrm>
          <a:prstGeom prst="roundRect">
            <a:avLst>
              <a:gd name="adj" fmla="val 32258"/>
            </a:avLst>
          </a:prstGeom>
          <a:solidFill>
            <a:srgbClr val="F7E6BC"/>
          </a:solidFill>
          <a:ln/>
        </p:spPr>
      </p:sp>
      <p:sp>
        <p:nvSpPr>
          <p:cNvPr id="12" name="anim-g2-61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1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I · التكاملي</a:t>
            </a:r>
            <a:endParaRPr lang="ar-SA" sz="2200" dirty="0"/>
          </a:p>
        </p:txBody>
      </p:sp>
      <p:sp>
        <p:nvSpPr>
          <p:cNvPr id="14" name="anim-g2-62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هل أبقى بعيدًا منذ مدة؟ أزيد التصحيح تدريجيًا. نادرًا ما نحتاجه في تتبع الخط</a:t>
            </a:r>
            <a:endParaRPr lang="ar-SA" sz="1900" dirty="0"/>
          </a:p>
        </p:txBody>
      </p:sp>
      <p:sp>
        <p:nvSpPr>
          <p:cNvPr id="15" name="anim-g3-62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22"/>
          <p:cNvSpPr/>
          <p:nvPr/>
        </p:nvSpPr>
        <p:spPr>
          <a:xfrm>
            <a:off x="3314090" y="2267712"/>
            <a:ext cx="566928" cy="566928"/>
          </a:xfrm>
          <a:prstGeom prst="roundRect">
            <a:avLst>
              <a:gd name="adj" fmla="val 32258"/>
            </a:avLst>
          </a:prstGeom>
          <a:solidFill>
            <a:srgbClr val="F7E6BC"/>
          </a:solidFill>
          <a:ln/>
        </p:spPr>
      </p:sp>
      <p:sp>
        <p:nvSpPr>
          <p:cNvPr id="17" name="anim-g3-62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2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D · التفاضلي</a:t>
            </a:r>
            <a:endParaRPr lang="ar-SA" sz="2200" dirty="0"/>
          </a:p>
        </p:txBody>
      </p:sp>
      <p:sp>
        <p:nvSpPr>
          <p:cNvPr id="19" name="anim-g3-62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هل أقترب بسرعة؟ أفرمل التصحيح قبل أن أتجاوز. هو «الحكمة» التي تمنع التمايل</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التحكم الذكي PID  ·  ٨٢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من أين يأتي الخطأ؟</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خمسة حساسات… رقم واحد</a:t>
            </a:r>
            <a:endParaRPr lang="ar-SA" sz="3800" dirty="0"/>
          </a:p>
        </p:txBody>
      </p:sp>
      <p:sp>
        <p:nvSpPr>
          <p:cNvPr id="5" name="anim-g1-62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27"/>
          <p:cNvSpPr/>
          <p:nvPr/>
        </p:nvSpPr>
        <p:spPr>
          <a:xfrm>
            <a:off x="10527487" y="2267712"/>
            <a:ext cx="566928" cy="566928"/>
          </a:xfrm>
          <a:prstGeom prst="roundRect">
            <a:avLst>
              <a:gd name="adj" fmla="val 32258"/>
            </a:avLst>
          </a:prstGeom>
          <a:solidFill>
            <a:srgbClr val="F7E6BC"/>
          </a:solidFill>
          <a:ln/>
        </p:spPr>
      </p:sp>
      <p:sp>
        <p:nvSpPr>
          <p:cNvPr id="7" name="anim-g1-62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2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أوزان</a:t>
            </a:r>
            <a:endParaRPr lang="ar-SA" sz="2200" dirty="0"/>
          </a:p>
        </p:txBody>
      </p:sp>
      <p:sp>
        <p:nvSpPr>
          <p:cNvPr id="9" name="anim-g1-63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الحساسات من اليسار: −٢، −١، ٠، +١، +٢</a:t>
            </a:r>
            <a:endParaRPr lang="ar-SA" sz="1900" dirty="0"/>
          </a:p>
        </p:txBody>
      </p:sp>
      <p:sp>
        <p:nvSpPr>
          <p:cNvPr id="10" name="anim-g2-63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32"/>
          <p:cNvSpPr/>
          <p:nvPr/>
        </p:nvSpPr>
        <p:spPr>
          <a:xfrm>
            <a:off x="6920789" y="2267712"/>
            <a:ext cx="566928" cy="566928"/>
          </a:xfrm>
          <a:prstGeom prst="roundRect">
            <a:avLst>
              <a:gd name="adj" fmla="val 32258"/>
            </a:avLst>
          </a:prstGeom>
          <a:solidFill>
            <a:srgbClr val="F7E6BC"/>
          </a:solidFill>
          <a:ln/>
        </p:spPr>
      </p:sp>
      <p:sp>
        <p:nvSpPr>
          <p:cNvPr id="12" name="anim-g2-63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3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المجموع</a:t>
            </a:r>
            <a:endParaRPr lang="ar-SA" sz="2200" dirty="0"/>
          </a:p>
        </p:txBody>
      </p:sp>
      <p:sp>
        <p:nvSpPr>
          <p:cNvPr id="14" name="anim-g2-63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الخطأ = مجموع (القراءة × الوزن) للحساسات التي ترى الأسود</a:t>
            </a:r>
            <a:endParaRPr lang="ar-SA" sz="1900" dirty="0"/>
          </a:p>
        </p:txBody>
      </p:sp>
      <p:sp>
        <p:nvSpPr>
          <p:cNvPr id="15" name="anim-g3-63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37"/>
          <p:cNvSpPr/>
          <p:nvPr/>
        </p:nvSpPr>
        <p:spPr>
          <a:xfrm>
            <a:off x="3314090" y="2267712"/>
            <a:ext cx="566928" cy="566928"/>
          </a:xfrm>
          <a:prstGeom prst="roundRect">
            <a:avLst>
              <a:gd name="adj" fmla="val 32258"/>
            </a:avLst>
          </a:prstGeom>
          <a:solidFill>
            <a:srgbClr val="F7E6BC"/>
          </a:solidFill>
          <a:ln/>
        </p:spPr>
      </p:sp>
      <p:sp>
        <p:nvSpPr>
          <p:cNvPr id="17" name="anim-g3-63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3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المعنى</a:t>
            </a:r>
            <a:endParaRPr lang="ar-SA" sz="2200" dirty="0"/>
          </a:p>
        </p:txBody>
      </p:sp>
      <p:sp>
        <p:nvSpPr>
          <p:cNvPr id="19" name="anim-g3-64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صفر: الخط في المنتصف. موجب: الخط يمينًا. سالب: يسارًا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التحكم الذكي PID  ·  ٨٣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C:\Users\user\projects\younes-training\arduino3\.pptx-cache\s8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pic>
        <p:nvPicPr>
          <p:cNvPr id="2" name="Image 0" descr="C:\Users\user\projects\younes-training\arduino3\.pptx-cache\s85-0.jpg">    </p:cNvPr>
          <p:cNvPicPr>
            <a:picLocks noChangeAspect="1"/>
          </p:cNvPicPr>
          <p:nvPr/>
        </p:nvPicPr>
        <p:blipFill>
          <a:blip r:embed="rId1"/>
          <a:stretch>
            <a:fillRect/>
          </a:stretch>
        </p:blipFill>
        <p:spPr>
          <a:xfrm>
            <a:off x="0" y="0"/>
            <a:ext cx="12191695" cy="6858000"/>
          </a:xfrm>
          <a:prstGeom prst="rect">
            <a:avLst/>
          </a:prstGeom>
        </p:spPr>
      </p:pic>
      <p:pic>
        <p:nvPicPr>
          <p:cNvPr id="3" name="anim-g1-641" descr="C:\Users\user\projects\younes-training\arduino3\.pptx-cache\s85-1.jpg">    </p:cNvPr>
          <p:cNvPicPr>
            <a:picLocks noChangeAspect="1"/>
          </p:cNvPicPr>
          <p:nvPr/>
        </p:nvPicPr>
        <p:blipFill>
          <a:blip r:embed="rId2"/>
          <a:stretch>
            <a:fillRect/>
          </a:stretch>
        </p:blipFill>
        <p:spPr>
          <a:xfrm>
            <a:off x="0" y="0"/>
            <a:ext cx="12191695" cy="6858000"/>
          </a:xfrm>
          <a:prstGeom prst="rect">
            <a:avLst/>
          </a:prstGeom>
        </p:spPr>
      </p:pic>
      <p:pic>
        <p:nvPicPr>
          <p:cNvPr id="4" name="anim-g2-642" descr="C:\Users\user\projects\younes-training\arduino3\.pptx-cache\s85-2.jpg">    </p:cNvPr>
          <p:cNvPicPr>
            <a:picLocks noChangeAspect="1"/>
          </p:cNvPicPr>
          <p:nvPr/>
        </p:nvPicPr>
        <p:blipFill>
          <a:blip r:embed="rId3"/>
          <a:stretch>
            <a:fillRect/>
          </a:stretch>
        </p:blipFill>
        <p:spPr>
          <a:xfrm>
            <a:off x="0" y="0"/>
            <a:ext cx="12191695" cy="6858000"/>
          </a:xfrm>
          <a:prstGeom prst="rect">
            <a:avLst/>
          </a:prstGeom>
        </p:spPr>
      </p:pic>
      <p:pic>
        <p:nvPicPr>
          <p:cNvPr id="5" name="anim-g3-643" descr="C:\Users\user\projects\younes-training\arduino3\.pptx-cache\s85-3.jpg">    </p:cNvPr>
          <p:cNvPicPr>
            <a:picLocks noChangeAspect="1"/>
          </p:cNvPicPr>
          <p:nvPr/>
        </p:nvPicPr>
        <p:blipFill>
          <a:blip r:embed="rId4"/>
          <a:stretch>
            <a:fillRect/>
          </a:stretch>
        </p:blipFill>
        <p:spPr>
          <a:xfrm>
            <a:off x="0" y="0"/>
            <a:ext cx="12191695" cy="6858000"/>
          </a:xfrm>
          <a:prstGeom prst="rect">
            <a:avLst/>
          </a:prstGeom>
        </p:spPr>
      </p:pic>
      <p:pic>
        <p:nvPicPr>
          <p:cNvPr id="6" name="anim-g4-644" descr="C:\Users\user\projects\younes-training\arduino3\.pptx-cache\s85-4.jpg">    </p:cNvPr>
          <p:cNvPicPr>
            <a:picLocks noChangeAspect="1"/>
          </p:cNvPicPr>
          <p:nvPr/>
        </p:nvPicPr>
        <p:blipFill>
          <a:blip r:embed="rId5"/>
          <a:stretch>
            <a:fillRect/>
          </a:stretch>
        </p:blipFill>
        <p:spPr>
          <a:xfrm>
            <a:off x="0" y="0"/>
            <a:ext cx="12191695" cy="6858000"/>
          </a:xfrm>
          <a:prstGeom prst="rect">
            <a:avLst/>
          </a:prstGeom>
        </p:spPr>
      </p:pic>
      <p:pic>
        <p:nvPicPr>
          <p:cNvPr id="7" name="anim-g5-645" descr="C:\Users\user\projects\younes-training\arduino3\.pptx-cache\s85-5.jpg">    </p:cNvPr>
          <p:cNvPicPr>
            <a:picLocks noChangeAspect="1"/>
          </p:cNvPicPr>
          <p:nvPr/>
        </p:nvPicPr>
        <p:blipFill>
          <a:blip r:embed="rId6"/>
          <a:stretch>
            <a:fillRect/>
          </a:stretch>
        </p:blipFill>
        <p:spPr>
          <a:xfrm>
            <a:off x="0" y="0"/>
            <a:ext cx="12191695" cy="6858000"/>
          </a:xfrm>
          <a:prstGeom prst="rect">
            <a:avLst/>
          </a:prstGeom>
        </p:spPr>
      </p:pic>
      <p:pic>
        <p:nvPicPr>
          <p:cNvPr id="8" name="anim-g6-646" descr="C:\Users\user\projects\younes-training\arduino3\.pptx-cache\s85-6.jpg">    </p:cNvPr>
          <p:cNvPicPr>
            <a:picLocks noChangeAspect="1"/>
          </p:cNvPicPr>
          <p:nvPr/>
        </p:nvPicPr>
        <p:blipFill>
          <a:blip r:embed="rId7"/>
          <a:stretch>
            <a:fillRect/>
          </a:stretch>
        </p:blipFill>
        <p:spPr>
          <a:xfrm>
            <a:off x="0" y="0"/>
            <a:ext cx="12191695" cy="6858000"/>
          </a:xfrm>
          <a:prstGeom prst="rect">
            <a:avLst/>
          </a:prstGeom>
        </p:spPr>
      </p:pic>
      <p:pic>
        <p:nvPicPr>
          <p:cNvPr id="9" name="anim-g7-647" descr="C:\Users\user\projects\younes-training\arduino3\.pptx-cache\s85-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الطريقة المنهجية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تضبط PID في ١٠ دقائق؟</a:t>
            </a:r>
            <a:endParaRPr lang="ar-SA" sz="3800" dirty="0"/>
          </a:p>
        </p:txBody>
      </p:sp>
      <p:sp>
        <p:nvSpPr>
          <p:cNvPr id="5" name="anim-g1-648"/>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649"/>
          <p:cNvSpPr/>
          <p:nvPr/>
        </p:nvSpPr>
        <p:spPr>
          <a:xfrm>
            <a:off x="10587838" y="2011680"/>
            <a:ext cx="552298" cy="552298"/>
          </a:xfrm>
          <a:prstGeom prst="ellipse">
            <a:avLst/>
          </a:prstGeom>
          <a:solidFill>
            <a:srgbClr val="D9AE4B"/>
          </a:solidFill>
          <a:ln/>
        </p:spPr>
      </p:sp>
      <p:sp>
        <p:nvSpPr>
          <p:cNvPr id="7" name="anim-g1-650"/>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51"/>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ابدأ بسرعة منخفضة، وKd = 0</a:t>
            </a:r>
            <a:endParaRPr lang="ar-SA" sz="2200" dirty="0"/>
          </a:p>
        </p:txBody>
      </p:sp>
      <p:sp>
        <p:nvSpPr>
          <p:cNvPr id="9" name="anim-g2-652"/>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653"/>
          <p:cNvSpPr/>
          <p:nvPr/>
        </p:nvSpPr>
        <p:spPr>
          <a:xfrm>
            <a:off x="10587838" y="2856586"/>
            <a:ext cx="552298" cy="552298"/>
          </a:xfrm>
          <a:prstGeom prst="ellipse">
            <a:avLst/>
          </a:prstGeom>
          <a:solidFill>
            <a:srgbClr val="D9AE4B"/>
          </a:solidFill>
          <a:ln/>
        </p:spPr>
      </p:sp>
      <p:sp>
        <p:nvSpPr>
          <p:cNvPr id="11" name="anim-g2-654"/>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55"/>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ارفع Kp حتى يتبع الخط لكنه يتمايل قليلًا</a:t>
            </a:r>
            <a:endParaRPr lang="ar-SA" sz="2200" dirty="0"/>
          </a:p>
        </p:txBody>
      </p:sp>
      <p:sp>
        <p:nvSpPr>
          <p:cNvPr id="13" name="anim-g3-656"/>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657"/>
          <p:cNvSpPr/>
          <p:nvPr/>
        </p:nvSpPr>
        <p:spPr>
          <a:xfrm>
            <a:off x="10587838" y="3701491"/>
            <a:ext cx="552298" cy="552298"/>
          </a:xfrm>
          <a:prstGeom prst="ellipse">
            <a:avLst/>
          </a:prstGeom>
          <a:solidFill>
            <a:srgbClr val="D9AE4B"/>
          </a:solidFill>
          <a:ln/>
        </p:spPr>
      </p:sp>
      <p:sp>
        <p:nvSpPr>
          <p:cNvPr id="15" name="anim-g3-658"/>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59"/>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ارفع Kd تدريجيًا حتى يختفي التمايل</a:t>
            </a:r>
            <a:endParaRPr lang="ar-SA" sz="2200" dirty="0"/>
          </a:p>
        </p:txBody>
      </p:sp>
      <p:sp>
        <p:nvSpPr>
          <p:cNvPr id="17" name="anim-g4-660"/>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661"/>
          <p:cNvSpPr/>
          <p:nvPr/>
        </p:nvSpPr>
        <p:spPr>
          <a:xfrm>
            <a:off x="10587838" y="4546397"/>
            <a:ext cx="552298" cy="552298"/>
          </a:xfrm>
          <a:prstGeom prst="ellipse">
            <a:avLst/>
          </a:prstGeom>
          <a:solidFill>
            <a:srgbClr val="D9AE4B"/>
          </a:solidFill>
          <a:ln/>
        </p:spPr>
      </p:sp>
      <p:sp>
        <p:nvSpPr>
          <p:cNvPr id="19" name="anim-g4-662"/>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63"/>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ارفع السرعة… وأعد الخطوتين ٢ و٣</a:t>
            </a:r>
            <a:endParaRPr lang="ar-SA" sz="2200" dirty="0"/>
          </a:p>
        </p:txBody>
      </p:sp>
      <p:sp>
        <p:nvSpPr>
          <p:cNvPr id="21" name="anim-g5-664"/>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665"/>
          <p:cNvSpPr/>
          <p:nvPr/>
        </p:nvSpPr>
        <p:spPr>
          <a:xfrm>
            <a:off x="10587838" y="5391302"/>
            <a:ext cx="552298" cy="552298"/>
          </a:xfrm>
          <a:prstGeom prst="ellipse">
            <a:avLst/>
          </a:prstGeom>
          <a:solidFill>
            <a:srgbClr val="D9AE4B"/>
          </a:solidFill>
          <a:ln/>
        </p:spPr>
      </p:sp>
      <p:sp>
        <p:nvSpPr>
          <p:cNvPr id="23" name="anim-g5-666"/>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667"/>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سجّل كل تجربة: Kp وKd وزمن اللفة</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التحكم الذكي PID  ·  ٨٦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C:\Users\user\projects\younes-training\arduino3\.pptx-cache\s87-0.jpg">    </p:cNvPr>
          <p:cNvPicPr>
            <a:picLocks noChangeAspect="1"/>
          </p:cNvPicPr>
          <p:nvPr/>
        </p:nvPicPr>
        <p:blipFill>
          <a:blip r:embed="rId1"/>
          <a:stretch>
            <a:fillRect/>
          </a:stretch>
        </p:blipFill>
        <p:spPr>
          <a:xfrm>
            <a:off x="0" y="0"/>
            <a:ext cx="12191695" cy="6858000"/>
          </a:xfrm>
          <a:prstGeom prst="rect">
            <a:avLst/>
          </a:prstGeom>
        </p:spPr>
      </p:pic>
      <p:pic>
        <p:nvPicPr>
          <p:cNvPr id="3" name="anim-g1-668" descr="C:\Users\user\projects\younes-training\arduino3\.pptx-cache\s87-1.jpg">    </p:cNvPr>
          <p:cNvPicPr>
            <a:picLocks noChangeAspect="1"/>
          </p:cNvPicPr>
          <p:nvPr/>
        </p:nvPicPr>
        <p:blipFill>
          <a:blip r:embed="rId2"/>
          <a:stretch>
            <a:fillRect/>
          </a:stretch>
        </p:blipFill>
        <p:spPr>
          <a:xfrm>
            <a:off x="0" y="0"/>
            <a:ext cx="12191695" cy="6858000"/>
          </a:xfrm>
          <a:prstGeom prst="rect">
            <a:avLst/>
          </a:prstGeom>
        </p:spPr>
      </p:pic>
      <p:pic>
        <p:nvPicPr>
          <p:cNvPr id="4" name="anim-g2-669" descr="C:\Users\user\projects\younes-training\arduino3\.pptx-cache\s87-2.jpg">    </p:cNvPr>
          <p:cNvPicPr>
            <a:picLocks noChangeAspect="1"/>
          </p:cNvPicPr>
          <p:nvPr/>
        </p:nvPicPr>
        <p:blipFill>
          <a:blip r:embed="rId3"/>
          <a:stretch>
            <a:fillRect/>
          </a:stretch>
        </p:blipFill>
        <p:spPr>
          <a:xfrm>
            <a:off x="0" y="0"/>
            <a:ext cx="12191695" cy="6858000"/>
          </a:xfrm>
          <a:prstGeom prst="rect">
            <a:avLst/>
          </a:prstGeom>
        </p:spPr>
      </p:pic>
      <p:pic>
        <p:nvPicPr>
          <p:cNvPr id="5" name="anim-g3-670" descr="C:\Users\user\projects\younes-training\arduino3\.pptx-cache\s87-3.jpg">    </p:cNvPr>
          <p:cNvPicPr>
            <a:picLocks noChangeAspect="1"/>
          </p:cNvPicPr>
          <p:nvPr/>
        </p:nvPicPr>
        <p:blipFill>
          <a:blip r:embed="rId4"/>
          <a:stretch>
            <a:fillRect/>
          </a:stretch>
        </p:blipFill>
        <p:spPr>
          <a:xfrm>
            <a:off x="0" y="0"/>
            <a:ext cx="12191695" cy="6858000"/>
          </a:xfrm>
          <a:prstGeom prst="rect">
            <a:avLst/>
          </a:prstGeom>
        </p:spPr>
      </p:pic>
      <p:pic>
        <p:nvPicPr>
          <p:cNvPr id="6" name="anim-g4-671" descr="C:\Users\user\projects\younes-training\arduino3\.pptx-cache\s87-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روبوتك يتبع الخط لكنه يتمايل كالثعبان… ماذا تغيّر أولًا؟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ارفع Kp أكثر</a:t>
            </a:r>
            <a:endParaRPr lang="ar-SA" sz="2500" dirty="0"/>
          </a:p>
        </p:txBody>
      </p:sp>
      <p:sp>
        <p:nvSpPr>
          <p:cNvPr id="9" name="anim-g1-672"/>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673"/>
          <p:cNvSpPr/>
          <p:nvPr/>
        </p:nvSpPr>
        <p:spPr>
          <a:xfrm>
            <a:off x="10231831" y="2194560"/>
            <a:ext cx="954024" cy="954024"/>
          </a:xfrm>
          <a:prstGeom prst="roundRect">
            <a:avLst>
              <a:gd name="adj" fmla="val 11502"/>
            </a:avLst>
          </a:prstGeom>
          <a:solidFill>
            <a:srgbClr val="A3A9BA"/>
          </a:solidFill>
          <a:ln/>
        </p:spPr>
      </p:sp>
      <p:sp>
        <p:nvSpPr>
          <p:cNvPr id="11" name="anim-g1-674"/>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675"/>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ارفع Kp أكثر</a:t>
            </a:r>
            <a:endParaRPr lang="ar-SA" sz="2400" dirty="0"/>
          </a:p>
        </p:txBody>
      </p:sp>
      <p:sp>
        <p:nvSpPr>
          <p:cNvPr id="13" name="anim-g1-676"/>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Kp الأكبر يزيد التمايل غالبًا</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ارفع Kd قليلًا</a:t>
            </a:r>
            <a:endParaRPr lang="ar-SA" sz="2500" dirty="0"/>
          </a:p>
        </p:txBody>
      </p:sp>
      <p:sp>
        <p:nvSpPr>
          <p:cNvPr id="18" name="anim-g1-677"/>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678"/>
          <p:cNvSpPr/>
          <p:nvPr/>
        </p:nvSpPr>
        <p:spPr>
          <a:xfrm>
            <a:off x="10231831" y="3569208"/>
            <a:ext cx="954024" cy="954024"/>
          </a:xfrm>
          <a:prstGeom prst="roundRect">
            <a:avLst>
              <a:gd name="adj" fmla="val 11502"/>
            </a:avLst>
          </a:prstGeom>
          <a:solidFill>
            <a:srgbClr val="2E9E6B"/>
          </a:solidFill>
          <a:ln/>
        </p:spPr>
      </p:sp>
      <p:sp>
        <p:nvSpPr>
          <p:cNvPr id="20" name="anim-g1-679"/>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680"/>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ارفع Kd قليلًا</a:t>
            </a:r>
            <a:endParaRPr lang="ar-SA" sz="2400" dirty="0"/>
          </a:p>
        </p:txBody>
      </p:sp>
      <p:sp>
        <p:nvSpPr>
          <p:cNvPr id="22" name="anim-g1-681"/>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D يرى الاقتراب السريع من الخط فيفرمل التصحيح قبل التجاوز</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خفّض السرعة إلى النصف دائمًا</a:t>
            </a:r>
            <a:endParaRPr lang="ar-SA" sz="2500" dirty="0"/>
          </a:p>
        </p:txBody>
      </p:sp>
      <p:sp>
        <p:nvSpPr>
          <p:cNvPr id="27" name="anim-g1-682"/>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683"/>
          <p:cNvSpPr/>
          <p:nvPr/>
        </p:nvSpPr>
        <p:spPr>
          <a:xfrm>
            <a:off x="10231831" y="4943856"/>
            <a:ext cx="954024" cy="954024"/>
          </a:xfrm>
          <a:prstGeom prst="roundRect">
            <a:avLst>
              <a:gd name="adj" fmla="val 11502"/>
            </a:avLst>
          </a:prstGeom>
          <a:solidFill>
            <a:srgbClr val="A3A9BA"/>
          </a:solidFill>
          <a:ln/>
        </p:spPr>
      </p:sp>
      <p:sp>
        <p:nvSpPr>
          <p:cNvPr id="29" name="anim-g1-684"/>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685"/>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خفّض السرعة إلى النصف دائمًا</a:t>
            </a:r>
            <a:endParaRPr lang="ar-SA" sz="2400" dirty="0"/>
          </a:p>
        </p:txBody>
      </p:sp>
      <p:sp>
        <p:nvSpPr>
          <p:cNvPr id="31" name="anim-g1-686"/>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قد يساعد، لكنه يخسر الزمن؛ الحل الذكي في Kd</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التحكم الذكي PID  ·  ٨٨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pic>
        <p:nvPicPr>
          <p:cNvPr id="2" name="Image 0" descr="C:\Users\user\projects\younes-training\arduino3\.pptx-cache\s8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pic>
        <p:nvPicPr>
          <p:cNvPr id="2" name="Image 0" descr="C:\Users\user\projects\younes-training\arduino3\.pptx-cache\s9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P يصحح بقدر الخطأ، وD يتنبأ فيكبح…</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والنتيجة روبوت أسرع وأنعم بالقطع نفسها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التحكم الذكي PID  ·  ٩١</a:t>
            </a:r>
            <a:endParaRPr lang="ar-SA"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٨</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٨</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🤖٣ روبوت تجنب العوائق</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رأس يلتفت كالبومة… وعقل يختار الطريق الأوسع</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🤖٣ روبوت تجنب العوائق  ·  ٩٢</a:t>
            </a:r>
            <a:endParaRPr lang="ar-SA"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87"/>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688"/>
          <p:cNvSpPr/>
          <p:nvPr/>
        </p:nvSpPr>
        <p:spPr>
          <a:xfrm>
            <a:off x="10573207" y="2109978"/>
            <a:ext cx="566928" cy="566928"/>
          </a:xfrm>
          <a:prstGeom prst="ellipse">
            <a:avLst/>
          </a:prstGeom>
          <a:solidFill>
            <a:srgbClr val="D9AE4B"/>
          </a:solidFill>
          <a:ln/>
        </p:spPr>
      </p:sp>
      <p:sp>
        <p:nvSpPr>
          <p:cNvPr id="7" name="anim-g1-689"/>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90"/>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تركّب حساس المسافة على سيرفو وتصنع «رادارًا»</a:t>
            </a:r>
            <a:endParaRPr lang="ar-SA" sz="2400" dirty="0"/>
          </a:p>
        </p:txBody>
      </p:sp>
      <p:sp>
        <p:nvSpPr>
          <p:cNvPr id="9" name="anim-g2-691"/>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692"/>
          <p:cNvSpPr/>
          <p:nvPr/>
        </p:nvSpPr>
        <p:spPr>
          <a:xfrm>
            <a:off x="10573207" y="3166110"/>
            <a:ext cx="566928" cy="566928"/>
          </a:xfrm>
          <a:prstGeom prst="ellipse">
            <a:avLst/>
          </a:prstGeom>
          <a:solidFill>
            <a:srgbClr val="D9AE4B"/>
          </a:solidFill>
          <a:ln/>
        </p:spPr>
      </p:sp>
      <p:sp>
        <p:nvSpPr>
          <p:cNvPr id="11" name="anim-g2-693"/>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94"/>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دالة look تقيس في أي اتجاه</a:t>
            </a:r>
            <a:endParaRPr lang="ar-SA" sz="2400" dirty="0"/>
          </a:p>
        </p:txBody>
      </p:sp>
      <p:sp>
        <p:nvSpPr>
          <p:cNvPr id="13" name="anim-g3-695"/>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696"/>
          <p:cNvSpPr/>
          <p:nvPr/>
        </p:nvSpPr>
        <p:spPr>
          <a:xfrm>
            <a:off x="10573207" y="4222242"/>
            <a:ext cx="566928" cy="566928"/>
          </a:xfrm>
          <a:prstGeom prst="ellipse">
            <a:avLst/>
          </a:prstGeom>
          <a:solidFill>
            <a:srgbClr val="D9AE4B"/>
          </a:solidFill>
          <a:ln/>
        </p:spPr>
      </p:sp>
      <p:sp>
        <p:nvSpPr>
          <p:cNvPr id="15" name="anim-g3-697"/>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98"/>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تبرمج قرار «أين الطريق أوسع؟»</a:t>
            </a:r>
            <a:endParaRPr lang="ar-SA" sz="2400" dirty="0"/>
          </a:p>
        </p:txBody>
      </p:sp>
      <p:sp>
        <p:nvSpPr>
          <p:cNvPr id="17" name="anim-g4-699"/>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00"/>
          <p:cNvSpPr/>
          <p:nvPr/>
        </p:nvSpPr>
        <p:spPr>
          <a:xfrm>
            <a:off x="10573207" y="5278374"/>
            <a:ext cx="566928" cy="566928"/>
          </a:xfrm>
          <a:prstGeom prst="ellipse">
            <a:avLst/>
          </a:prstGeom>
          <a:solidFill>
            <a:srgbClr val="D9AE4B"/>
          </a:solidFill>
          <a:ln/>
        </p:spPr>
      </p:sp>
      <p:sp>
        <p:nvSpPr>
          <p:cNvPr id="19" name="anim-g4-701"/>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02"/>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تعرف حدود الحساس وكيف تتغلب عليها</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🤖٣ روبوت تجنب العوائق  ·  ٩٣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رادار؟</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عين ثابتة… أم عين تلتفت؟</a:t>
            </a:r>
            <a:endParaRPr lang="ar-SA" sz="3800" dirty="0"/>
          </a:p>
        </p:txBody>
      </p:sp>
      <p:sp>
        <p:nvSpPr>
          <p:cNvPr id="5" name="anim-g1-703"/>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04"/>
          <p:cNvSpPr/>
          <p:nvPr/>
        </p:nvSpPr>
        <p:spPr>
          <a:xfrm>
            <a:off x="10527487" y="2267712"/>
            <a:ext cx="566928" cy="566928"/>
          </a:xfrm>
          <a:prstGeom prst="roundRect">
            <a:avLst>
              <a:gd name="adj" fmla="val 32258"/>
            </a:avLst>
          </a:prstGeom>
          <a:solidFill>
            <a:srgbClr val="F7E6BC"/>
          </a:solidFill>
          <a:ln/>
        </p:spPr>
      </p:sp>
      <p:sp>
        <p:nvSpPr>
          <p:cNvPr id="7" name="anim-g1-70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06"/>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عين ثابتة</a:t>
            </a:r>
            <a:endParaRPr lang="ar-SA" sz="2200" dirty="0"/>
          </a:p>
        </p:txBody>
      </p:sp>
      <p:sp>
        <p:nvSpPr>
          <p:cNvPr id="9" name="anim-g1-707"/>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ترى العائق أمامها فقط، فتستدير دائمًا للجهة نفسها حتى لو كانت مسدودة</a:t>
            </a:r>
            <a:endParaRPr lang="ar-SA" sz="1900" dirty="0"/>
          </a:p>
        </p:txBody>
      </p:sp>
      <p:sp>
        <p:nvSpPr>
          <p:cNvPr id="10" name="anim-g2-708"/>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09"/>
          <p:cNvSpPr/>
          <p:nvPr/>
        </p:nvSpPr>
        <p:spPr>
          <a:xfrm>
            <a:off x="5117440" y="2267712"/>
            <a:ext cx="566928" cy="566928"/>
          </a:xfrm>
          <a:prstGeom prst="roundRect">
            <a:avLst>
              <a:gd name="adj" fmla="val 32258"/>
            </a:avLst>
          </a:prstGeom>
          <a:solidFill>
            <a:srgbClr val="F7E6BC"/>
          </a:solidFill>
          <a:ln/>
        </p:spPr>
      </p:sp>
      <p:sp>
        <p:nvSpPr>
          <p:cNvPr id="12" name="anim-g2-710"/>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11"/>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عين تلتفت</a:t>
            </a:r>
            <a:endParaRPr lang="ar-SA" sz="2200" dirty="0"/>
          </a:p>
        </p:txBody>
      </p:sp>
      <p:sp>
        <p:nvSpPr>
          <p:cNvPr id="14" name="anim-g2-712"/>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تنظر يمينًا ثم يسارًا، وتقارن المسافتين، وتختار الأوسع</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🤖٣ روبوت تجنب العوائق  ·  ٩٤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pic>
        <p:nvPicPr>
          <p:cNvPr id="2" name="Image 0" descr="C:\Users\user\projects\younes-training\arduino3\.pptx-cache\s95-0.jpg">    </p:cNvPr>
          <p:cNvPicPr>
            <a:picLocks noChangeAspect="1"/>
          </p:cNvPicPr>
          <p:nvPr/>
        </p:nvPicPr>
        <p:blipFill>
          <a:blip r:embed="rId1"/>
          <a:stretch>
            <a:fillRect/>
          </a:stretch>
        </p:blipFill>
        <p:spPr>
          <a:xfrm>
            <a:off x="0" y="0"/>
            <a:ext cx="12191695" cy="6858000"/>
          </a:xfrm>
          <a:prstGeom prst="rect">
            <a:avLst/>
          </a:prstGeom>
        </p:spPr>
      </p:pic>
      <p:pic>
        <p:nvPicPr>
          <p:cNvPr id="3" name="anim-g1-713" descr="C:\Users\user\projects\younes-training\arduino3\.pptx-cache\s95-1.jpg">    </p:cNvPr>
          <p:cNvPicPr>
            <a:picLocks noChangeAspect="1"/>
          </p:cNvPicPr>
          <p:nvPr/>
        </p:nvPicPr>
        <p:blipFill>
          <a:blip r:embed="rId2"/>
          <a:stretch>
            <a:fillRect/>
          </a:stretch>
        </p:blipFill>
        <p:spPr>
          <a:xfrm>
            <a:off x="0" y="0"/>
            <a:ext cx="12191695" cy="6858000"/>
          </a:xfrm>
          <a:prstGeom prst="rect">
            <a:avLst/>
          </a:prstGeom>
        </p:spPr>
      </p:pic>
      <p:pic>
        <p:nvPicPr>
          <p:cNvPr id="4" name="anim-g2-714" descr="C:\Users\user\projects\younes-training\arduino3\.pptx-cache\s95-2.jpg">    </p:cNvPr>
          <p:cNvPicPr>
            <a:picLocks noChangeAspect="1"/>
          </p:cNvPicPr>
          <p:nvPr/>
        </p:nvPicPr>
        <p:blipFill>
          <a:blip r:embed="rId3"/>
          <a:stretch>
            <a:fillRect/>
          </a:stretch>
        </p:blipFill>
        <p:spPr>
          <a:xfrm>
            <a:off x="0" y="0"/>
            <a:ext cx="12191695" cy="6858000"/>
          </a:xfrm>
          <a:prstGeom prst="rect">
            <a:avLst/>
          </a:prstGeom>
        </p:spPr>
      </p:pic>
      <p:pic>
        <p:nvPicPr>
          <p:cNvPr id="5" name="anim-g3-715" descr="C:\Users\user\projects\younes-training\arduino3\.pptx-cache\s95-3.jpg">    </p:cNvPr>
          <p:cNvPicPr>
            <a:picLocks noChangeAspect="1"/>
          </p:cNvPicPr>
          <p:nvPr/>
        </p:nvPicPr>
        <p:blipFill>
          <a:blip r:embed="rId4"/>
          <a:stretch>
            <a:fillRect/>
          </a:stretch>
        </p:blipFill>
        <p:spPr>
          <a:xfrm>
            <a:off x="0" y="0"/>
            <a:ext cx="12191695" cy="6858000"/>
          </a:xfrm>
          <a:prstGeom prst="rect">
            <a:avLst/>
          </a:prstGeom>
        </p:spPr>
      </p:pic>
      <p:pic>
        <p:nvPicPr>
          <p:cNvPr id="6" name="anim-g4-716" descr="C:\Users\user\projects\younes-training\arduino3\.pptx-cache\s95-4.jpg">    </p:cNvPr>
          <p:cNvPicPr>
            <a:picLocks noChangeAspect="1"/>
          </p:cNvPicPr>
          <p:nvPr/>
        </p:nvPicPr>
        <p:blipFill>
          <a:blip r:embed="rId5"/>
          <a:stretch>
            <a:fillRect/>
          </a:stretch>
        </p:blipFill>
        <p:spPr>
          <a:xfrm>
            <a:off x="0" y="0"/>
            <a:ext cx="12191695" cy="6858000"/>
          </a:xfrm>
          <a:prstGeom prst="rect">
            <a:avLst/>
          </a:prstGeom>
        </p:spPr>
      </p:pic>
      <p:pic>
        <p:nvPicPr>
          <p:cNvPr id="7" name="anim-g5-717" descr="C:\Users\user\projects\younes-training\arduino3\.pptx-cache\s95-5.jpg">    </p:cNvPr>
          <p:cNvPicPr>
            <a:picLocks noChangeAspect="1"/>
          </p:cNvPicPr>
          <p:nvPr/>
        </p:nvPicPr>
        <p:blipFill>
          <a:blip r:embed="rId6"/>
          <a:stretch>
            <a:fillRect/>
          </a:stretch>
        </p:blipFill>
        <p:spPr>
          <a:xfrm>
            <a:off x="0" y="0"/>
            <a:ext cx="12191695" cy="6858000"/>
          </a:xfrm>
          <a:prstGeom prst="rect">
            <a:avLst/>
          </a:prstGeom>
        </p:spPr>
      </p:pic>
      <p:pic>
        <p:nvPicPr>
          <p:cNvPr id="8" name="anim-g6-718" descr="C:\Users\user\projects\younes-training\arduino3\.pptx-cache\s95-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pic>
        <p:nvPicPr>
          <p:cNvPr id="2" name="Image 0" descr="C:\Users\user\projects\younes-training\arduino3\.pptx-cache\s9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C:\Users\user\projects\younes-training\arduino3\.pptx-cache\s97-0.jpg">    </p:cNvPr>
          <p:cNvPicPr>
            <a:picLocks noChangeAspect="1"/>
          </p:cNvPicPr>
          <p:nvPr/>
        </p:nvPicPr>
        <p:blipFill>
          <a:blip r:embed="rId1"/>
          <a:stretch>
            <a:fillRect/>
          </a:stretch>
        </p:blipFill>
        <p:spPr>
          <a:xfrm>
            <a:off x="0" y="0"/>
            <a:ext cx="12191695" cy="6858000"/>
          </a:xfrm>
          <a:prstGeom prst="rect">
            <a:avLst/>
          </a:prstGeom>
        </p:spPr>
      </p:pic>
      <p:pic>
        <p:nvPicPr>
          <p:cNvPr id="3" name="anim-g1-719" descr="C:\Users\user\projects\younes-training\arduino3\.pptx-cache\s97-1.jpg">    </p:cNvPr>
          <p:cNvPicPr>
            <a:picLocks noChangeAspect="1"/>
          </p:cNvPicPr>
          <p:nvPr/>
        </p:nvPicPr>
        <p:blipFill>
          <a:blip r:embed="rId2"/>
          <a:stretch>
            <a:fillRect/>
          </a:stretch>
        </p:blipFill>
        <p:spPr>
          <a:xfrm>
            <a:off x="0" y="0"/>
            <a:ext cx="12191695" cy="6858000"/>
          </a:xfrm>
          <a:prstGeom prst="rect">
            <a:avLst/>
          </a:prstGeom>
        </p:spPr>
      </p:pic>
      <p:pic>
        <p:nvPicPr>
          <p:cNvPr id="4" name="anim-g2-720" descr="C:\Users\user\projects\younes-training\arduino3\.pptx-cache\s97-2.jpg">    </p:cNvPr>
          <p:cNvPicPr>
            <a:picLocks noChangeAspect="1"/>
          </p:cNvPicPr>
          <p:nvPr/>
        </p:nvPicPr>
        <p:blipFill>
          <a:blip r:embed="rId3"/>
          <a:stretch>
            <a:fillRect/>
          </a:stretch>
        </p:blipFill>
        <p:spPr>
          <a:xfrm>
            <a:off x="0" y="0"/>
            <a:ext cx="12191695" cy="6858000"/>
          </a:xfrm>
          <a:prstGeom prst="rect">
            <a:avLst/>
          </a:prstGeom>
        </p:spPr>
      </p:pic>
      <p:pic>
        <p:nvPicPr>
          <p:cNvPr id="5" name="anim-g3-721" descr="C:\Users\user\projects\younes-training\arduino3\.pptx-cache\s97-3.jpg">    </p:cNvPr>
          <p:cNvPicPr>
            <a:picLocks noChangeAspect="1"/>
          </p:cNvPicPr>
          <p:nvPr/>
        </p:nvPicPr>
        <p:blipFill>
          <a:blip r:embed="rId4"/>
          <a:stretch>
            <a:fillRect/>
          </a:stretch>
        </p:blipFill>
        <p:spPr>
          <a:xfrm>
            <a:off x="0" y="0"/>
            <a:ext cx="12191695" cy="6858000"/>
          </a:xfrm>
          <a:prstGeom prst="rect">
            <a:avLst/>
          </a:prstGeom>
        </p:spPr>
      </p:pic>
      <p:pic>
        <p:nvPicPr>
          <p:cNvPr id="6" name="anim-g4-722" descr="C:\Users\user\projects\younes-training\arduino3\.pptx-cache\s97-4.jpg">    </p:cNvPr>
          <p:cNvPicPr>
            <a:picLocks noChangeAspect="1"/>
          </p:cNvPicPr>
          <p:nvPr/>
        </p:nvPicPr>
        <p:blipFill>
          <a:blip r:embed="rId5"/>
          <a:stretch>
            <a:fillRect/>
          </a:stretch>
        </p:blipFill>
        <p:spPr>
          <a:xfrm>
            <a:off x="0" y="0"/>
            <a:ext cx="12191695" cy="6858000"/>
          </a:xfrm>
          <a:prstGeom prst="rect">
            <a:avLst/>
          </a:prstGeom>
        </p:spPr>
      </p:pic>
      <p:pic>
        <p:nvPicPr>
          <p:cNvPr id="7" name="anim-g5-723" descr="C:\Users\user\projects\younes-training\arduino3\.pptx-cache\s97-5.jpg">    </p:cNvPr>
          <p:cNvPicPr>
            <a:picLocks noChangeAspect="1"/>
          </p:cNvPicPr>
          <p:nvPr/>
        </p:nvPicPr>
        <p:blipFill>
          <a:blip r:embed="rId6"/>
          <a:stretch>
            <a:fillRect/>
          </a:stretch>
        </p:blipFill>
        <p:spPr>
          <a:xfrm>
            <a:off x="0" y="0"/>
            <a:ext cx="12191695" cy="6858000"/>
          </a:xfrm>
          <a:prstGeom prst="rect">
            <a:avLst/>
          </a:prstGeom>
        </p:spPr>
      </p:pic>
      <p:pic>
        <p:nvPicPr>
          <p:cNvPr id="8" name="anim-g6-724" descr="C:\Users\user\projects\younes-training\arduino3\.pptx-cache\s97-6.jpg">    </p:cNvPr>
          <p:cNvPicPr>
            <a:picLocks noChangeAspect="1"/>
          </p:cNvPicPr>
          <p:nvPr/>
        </p:nvPicPr>
        <p:blipFill>
          <a:blip r:embed="rId7"/>
          <a:stretch>
            <a:fillRect/>
          </a:stretch>
        </p:blipFill>
        <p:spPr>
          <a:xfrm>
            <a:off x="0" y="0"/>
            <a:ext cx="12191695" cy="6858000"/>
          </a:xfrm>
          <a:prstGeom prst="rect">
            <a:avLst/>
          </a:prstGeom>
        </p:spPr>
      </p:pic>
      <p:pic>
        <p:nvPicPr>
          <p:cNvPr id="9" name="anim-g7-725" descr="C:\Users\user\projects\younes-training\arduino3\.pptx-cache\s97-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حدود الحساس</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متى لا يرى الرادار؟</a:t>
            </a:r>
            <a:endParaRPr lang="ar-SA" sz="3800" dirty="0"/>
          </a:p>
        </p:txBody>
      </p:sp>
      <p:sp>
        <p:nvSpPr>
          <p:cNvPr id="5" name="anim-g1-72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27"/>
          <p:cNvSpPr/>
          <p:nvPr/>
        </p:nvSpPr>
        <p:spPr>
          <a:xfrm>
            <a:off x="10527487" y="2267712"/>
            <a:ext cx="566928" cy="566928"/>
          </a:xfrm>
          <a:prstGeom prst="roundRect">
            <a:avLst>
              <a:gd name="adj" fmla="val 32258"/>
            </a:avLst>
          </a:prstGeom>
          <a:solidFill>
            <a:srgbClr val="F7E6BC"/>
          </a:solidFill>
          <a:ln/>
        </p:spPr>
      </p:sp>
      <p:sp>
        <p:nvSpPr>
          <p:cNvPr id="7" name="anim-g1-72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2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السطوح المائلة</a:t>
            </a:r>
            <a:endParaRPr lang="ar-SA" sz="2200" dirty="0"/>
          </a:p>
        </p:txBody>
      </p:sp>
      <p:sp>
        <p:nvSpPr>
          <p:cNvPr id="9" name="anim-g1-73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ترتد الموجة بعيدًا فلا تعود، فيظن الطريق مفتوحًا</a:t>
            </a:r>
            <a:endParaRPr lang="ar-SA" sz="1900" dirty="0"/>
          </a:p>
        </p:txBody>
      </p:sp>
      <p:sp>
        <p:nvSpPr>
          <p:cNvPr id="10" name="anim-g2-73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32"/>
          <p:cNvSpPr/>
          <p:nvPr/>
        </p:nvSpPr>
        <p:spPr>
          <a:xfrm>
            <a:off x="6920789" y="2267712"/>
            <a:ext cx="566928" cy="566928"/>
          </a:xfrm>
          <a:prstGeom prst="roundRect">
            <a:avLst>
              <a:gd name="adj" fmla="val 32258"/>
            </a:avLst>
          </a:prstGeom>
          <a:solidFill>
            <a:srgbClr val="F7E6BC"/>
          </a:solidFill>
          <a:ln/>
        </p:spPr>
      </p:sp>
      <p:sp>
        <p:nvSpPr>
          <p:cNvPr id="12" name="anim-g2-73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3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الأشياء الناعمة</a:t>
            </a:r>
            <a:endParaRPr lang="ar-SA" sz="2200" dirty="0"/>
          </a:p>
        </p:txBody>
      </p:sp>
      <p:sp>
        <p:nvSpPr>
          <p:cNvPr id="14" name="anim-g2-73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القماش والإسفنج يمتصان الصوت</a:t>
            </a:r>
            <a:endParaRPr lang="ar-SA" sz="1900" dirty="0"/>
          </a:p>
        </p:txBody>
      </p:sp>
      <p:sp>
        <p:nvSpPr>
          <p:cNvPr id="15" name="anim-g3-73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37"/>
          <p:cNvSpPr/>
          <p:nvPr/>
        </p:nvSpPr>
        <p:spPr>
          <a:xfrm>
            <a:off x="3314090" y="2267712"/>
            <a:ext cx="566928" cy="566928"/>
          </a:xfrm>
          <a:prstGeom prst="roundRect">
            <a:avLst>
              <a:gd name="adj" fmla="val 32258"/>
            </a:avLst>
          </a:prstGeom>
          <a:solidFill>
            <a:srgbClr val="F7E6BC"/>
          </a:solidFill>
          <a:ln/>
        </p:spPr>
      </p:sp>
      <p:sp>
        <p:nvSpPr>
          <p:cNvPr id="17" name="anim-g3-73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3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الأشياء الرفيعة</a:t>
            </a:r>
            <a:endParaRPr lang="ar-SA" sz="2200" dirty="0"/>
          </a:p>
        </p:txBody>
      </p:sp>
      <p:sp>
        <p:nvSpPr>
          <p:cNvPr id="19" name="anim-g3-74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رجل الكرسي قد تفوت المخروط الصوتي</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🤖٣ روبوت تجنب العوائق  ·  ٩٨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pic>
        <p:nvPicPr>
          <p:cNvPr id="2" name="Image 0" descr="C:\Users\user\projects\younes-training\arduino3\.pptx-cache\s99-0.jpg">    </p:cNvPr>
          <p:cNvPicPr>
            <a:picLocks noChangeAspect="1"/>
          </p:cNvPicPr>
          <p:nvPr/>
        </p:nvPicPr>
        <p:blipFill>
          <a:blip r:embed="rId1"/>
          <a:stretch>
            <a:fillRect/>
          </a:stretch>
        </p:blipFill>
        <p:spPr>
          <a:xfrm>
            <a:off x="0" y="0"/>
            <a:ext cx="12191695" cy="6858000"/>
          </a:xfrm>
          <a:prstGeom prst="rect">
            <a:avLst/>
          </a:prstGeom>
        </p:spPr>
      </p:pic>
      <p:pic>
        <p:nvPicPr>
          <p:cNvPr id="3" name="anim-g1-741" descr="C:\Users\user\projects\younes-training\arduino3\.pptx-cache\s99-1.jpg">    </p:cNvPr>
          <p:cNvPicPr>
            <a:picLocks noChangeAspect="1"/>
          </p:cNvPicPr>
          <p:nvPr/>
        </p:nvPicPr>
        <p:blipFill>
          <a:blip r:embed="rId2"/>
          <a:stretch>
            <a:fillRect/>
          </a:stretch>
        </p:blipFill>
        <p:spPr>
          <a:xfrm>
            <a:off x="0" y="0"/>
            <a:ext cx="12191695" cy="6858000"/>
          </a:xfrm>
          <a:prstGeom prst="rect">
            <a:avLst/>
          </a:prstGeom>
        </p:spPr>
      </p:pic>
      <p:pic>
        <p:nvPicPr>
          <p:cNvPr id="4" name="anim-g2-742" descr="C:\Users\user\projects\younes-training\arduino3\.pptx-cache\s99-2.jpg">    </p:cNvPr>
          <p:cNvPicPr>
            <a:picLocks noChangeAspect="1"/>
          </p:cNvPicPr>
          <p:nvPr/>
        </p:nvPicPr>
        <p:blipFill>
          <a:blip r:embed="rId3"/>
          <a:stretch>
            <a:fillRect/>
          </a:stretch>
        </p:blipFill>
        <p:spPr>
          <a:xfrm>
            <a:off x="0" y="0"/>
            <a:ext cx="12191695" cy="6858000"/>
          </a:xfrm>
          <a:prstGeom prst="rect">
            <a:avLst/>
          </a:prstGeom>
        </p:spPr>
      </p:pic>
      <p:pic>
        <p:nvPicPr>
          <p:cNvPr id="5" name="anim-g3-743" descr="C:\Users\user\projects\younes-training\arduino3\.pptx-cache\s99-3.jpg">    </p:cNvPr>
          <p:cNvPicPr>
            <a:picLocks noChangeAspect="1"/>
          </p:cNvPicPr>
          <p:nvPr/>
        </p:nvPicPr>
        <p:blipFill>
          <a:blip r:embed="rId4"/>
          <a:stretch>
            <a:fillRect/>
          </a:stretch>
        </p:blipFill>
        <p:spPr>
          <a:xfrm>
            <a:off x="0" y="0"/>
            <a:ext cx="12191695" cy="6858000"/>
          </a:xfrm>
          <a:prstGeom prst="rect">
            <a:avLst/>
          </a:prstGeom>
        </p:spPr>
      </p:pic>
      <p:pic>
        <p:nvPicPr>
          <p:cNvPr id="6" name="anim-g4-744" descr="C:\Users\user\projects\younes-training\arduino3\.pptx-cache\s99-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قاس الروبوت: يمين = ٢٠ سم، يسار = ٨٠ سم… ماذا يفعل؟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يستدير يسارًا</a:t>
            </a:r>
            <a:endParaRPr lang="ar-SA" sz="2500" dirty="0"/>
          </a:p>
        </p:txBody>
      </p:sp>
      <p:sp>
        <p:nvSpPr>
          <p:cNvPr id="9" name="anim-g1-745"/>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746"/>
          <p:cNvSpPr/>
          <p:nvPr/>
        </p:nvSpPr>
        <p:spPr>
          <a:xfrm>
            <a:off x="10231831" y="2194560"/>
            <a:ext cx="954024" cy="954024"/>
          </a:xfrm>
          <a:prstGeom prst="roundRect">
            <a:avLst>
              <a:gd name="adj" fmla="val 11502"/>
            </a:avLst>
          </a:prstGeom>
          <a:solidFill>
            <a:srgbClr val="2E9E6B"/>
          </a:solidFill>
          <a:ln/>
        </p:spPr>
      </p:sp>
      <p:sp>
        <p:nvSpPr>
          <p:cNvPr id="11" name="anim-g1-74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74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يستدير يسارًا</a:t>
            </a:r>
            <a:endParaRPr lang="ar-SA" sz="2400" dirty="0"/>
          </a:p>
        </p:txBody>
      </p:sp>
      <p:sp>
        <p:nvSpPr>
          <p:cNvPr id="13" name="anim-g1-74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اليسار أوسع (٨٠ &gt; ٢٠)، فينفّذ drive(-180, 180)</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يستدير يمينًا</a:t>
            </a:r>
            <a:endParaRPr lang="ar-SA" sz="2500" dirty="0"/>
          </a:p>
        </p:txBody>
      </p:sp>
      <p:sp>
        <p:nvSpPr>
          <p:cNvPr id="18" name="anim-g1-750"/>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751"/>
          <p:cNvSpPr/>
          <p:nvPr/>
        </p:nvSpPr>
        <p:spPr>
          <a:xfrm>
            <a:off x="10231831" y="3569208"/>
            <a:ext cx="954024" cy="954024"/>
          </a:xfrm>
          <a:prstGeom prst="roundRect">
            <a:avLst>
              <a:gd name="adj" fmla="val 11502"/>
            </a:avLst>
          </a:prstGeom>
          <a:solidFill>
            <a:srgbClr val="A3A9BA"/>
          </a:solidFill>
          <a:ln/>
        </p:spPr>
      </p:sp>
      <p:sp>
        <p:nvSpPr>
          <p:cNvPr id="20" name="anim-g1-75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75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يستدير يمينًا</a:t>
            </a:r>
            <a:endParaRPr lang="ar-SA" sz="2400" dirty="0"/>
          </a:p>
        </p:txBody>
      </p:sp>
      <p:sp>
        <p:nvSpPr>
          <p:cNvPr id="22" name="anim-g1-75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لو كان اليمين أوسع</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يتقدم للأمام</a:t>
            </a:r>
            <a:endParaRPr lang="ar-SA" sz="2500" dirty="0"/>
          </a:p>
        </p:txBody>
      </p:sp>
      <p:sp>
        <p:nvSpPr>
          <p:cNvPr id="27" name="anim-g1-755"/>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756"/>
          <p:cNvSpPr/>
          <p:nvPr/>
        </p:nvSpPr>
        <p:spPr>
          <a:xfrm>
            <a:off x="10231831" y="4943856"/>
            <a:ext cx="954024" cy="954024"/>
          </a:xfrm>
          <a:prstGeom prst="roundRect">
            <a:avLst>
              <a:gd name="adj" fmla="val 11502"/>
            </a:avLst>
          </a:prstGeom>
          <a:solidFill>
            <a:srgbClr val="A3A9BA"/>
          </a:solidFill>
          <a:ln/>
        </p:spPr>
      </p:sp>
      <p:sp>
        <p:nvSpPr>
          <p:cNvPr id="29" name="anim-g1-75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75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يتقدم للأمام</a:t>
            </a:r>
            <a:endParaRPr lang="ar-SA" sz="2400" dirty="0"/>
          </a:p>
        </p:txBody>
      </p:sp>
      <p:sp>
        <p:nvSpPr>
          <p:cNvPr id="31" name="anim-g1-75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الأمام مسدود، لهذا وقف ونظر أصلًا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🤖٣ روبوت تجنب العوائق  ·  ١٠٠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pic>
        <p:nvPicPr>
          <p:cNvPr id="2" name="Image 0" descr="C:\Users\user\projects\younes-training\arduino3\.pptx-cache\s1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Image 0" descr="C:\Users\user\projects\younes-training\arduino3\.pptx-cache\s1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رأس يلتفت، ومقارنة بين رقمين، وقرار…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والروبوت الثالث يجد طريقه بين العوائق</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🤖٣ روبوت تجنب العوائق  ·  ١٠٣</a:t>
            </a:r>
            <a:endParaRPr lang="ar-SA" sz="1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٩</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٩</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🤖٤ الروبوت المدمج</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يتبع الخط… يرى العائق… يلتف حوله… ويعود إلى خطه</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🤖٤ الروبوت المدمج  ·  ١٠٤</a:t>
            </a:r>
            <a:endParaRPr lang="ar-SA" sz="1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760"/>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61"/>
          <p:cNvSpPr/>
          <p:nvPr/>
        </p:nvSpPr>
        <p:spPr>
          <a:xfrm>
            <a:off x="10573207" y="2109978"/>
            <a:ext cx="566928" cy="566928"/>
          </a:xfrm>
          <a:prstGeom prst="ellipse">
            <a:avLst/>
          </a:prstGeom>
          <a:solidFill>
            <a:srgbClr val="D9AE4B"/>
          </a:solidFill>
          <a:ln/>
        </p:spPr>
      </p:sp>
      <p:sp>
        <p:nvSpPr>
          <p:cNvPr id="7" name="anim-g1-762"/>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63"/>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مهارتين في برنامج واحد دون أن تتعارضا</a:t>
            </a:r>
            <a:endParaRPr lang="ar-SA" sz="2400" dirty="0"/>
          </a:p>
        </p:txBody>
      </p:sp>
      <p:sp>
        <p:nvSpPr>
          <p:cNvPr id="9" name="anim-g2-764"/>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65"/>
          <p:cNvSpPr/>
          <p:nvPr/>
        </p:nvSpPr>
        <p:spPr>
          <a:xfrm>
            <a:off x="10573207" y="3166110"/>
            <a:ext cx="566928" cy="566928"/>
          </a:xfrm>
          <a:prstGeom prst="ellipse">
            <a:avLst/>
          </a:prstGeom>
          <a:solidFill>
            <a:srgbClr val="D9AE4B"/>
          </a:solidFill>
          <a:ln/>
        </p:spPr>
      </p:sp>
      <p:sp>
        <p:nvSpPr>
          <p:cNvPr id="11" name="anim-g2-766"/>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67"/>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تقسم الكود إلى دوال: followLine وavoid</a:t>
            </a:r>
            <a:endParaRPr lang="ar-SA" sz="2400" dirty="0"/>
          </a:p>
        </p:txBody>
      </p:sp>
      <p:sp>
        <p:nvSpPr>
          <p:cNvPr id="13" name="anim-g3-768"/>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69"/>
          <p:cNvSpPr/>
          <p:nvPr/>
        </p:nvSpPr>
        <p:spPr>
          <a:xfrm>
            <a:off x="10573207" y="4222242"/>
            <a:ext cx="566928" cy="566928"/>
          </a:xfrm>
          <a:prstGeom prst="ellipse">
            <a:avLst/>
          </a:prstGeom>
          <a:solidFill>
            <a:srgbClr val="D9AE4B"/>
          </a:solidFill>
          <a:ln/>
        </p:spPr>
      </p:sp>
      <p:sp>
        <p:nvSpPr>
          <p:cNvPr id="15" name="anim-g3-770"/>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71"/>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تحدد الأولوية: أي حساس يقرر أولًا؟</a:t>
            </a:r>
            <a:endParaRPr lang="ar-SA" sz="2400" dirty="0"/>
          </a:p>
        </p:txBody>
      </p:sp>
      <p:sp>
        <p:nvSpPr>
          <p:cNvPr id="17" name="anim-g4-772"/>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73"/>
          <p:cNvSpPr/>
          <p:nvPr/>
        </p:nvSpPr>
        <p:spPr>
          <a:xfrm>
            <a:off x="10573207" y="5278374"/>
            <a:ext cx="566928" cy="566928"/>
          </a:xfrm>
          <a:prstGeom prst="ellipse">
            <a:avLst/>
          </a:prstGeom>
          <a:solidFill>
            <a:srgbClr val="D9AE4B"/>
          </a:solidFill>
          <a:ln/>
        </p:spPr>
      </p:sp>
      <p:sp>
        <p:nvSpPr>
          <p:cNvPr id="19" name="anim-g4-774"/>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75"/>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تبرمج مناورة الالتفاف والعودة إلى الخط</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🤖٤ الروبوت المدمج  ·  ١٠٥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سر الدمج</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يتكلم أولًا؟</a:t>
            </a:r>
            <a:endParaRPr lang="ar-SA" sz="3800" dirty="0"/>
          </a:p>
        </p:txBody>
      </p:sp>
      <p:sp>
        <p:nvSpPr>
          <p:cNvPr id="5" name="anim-g1-77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77"/>
          <p:cNvSpPr/>
          <p:nvPr/>
        </p:nvSpPr>
        <p:spPr>
          <a:xfrm>
            <a:off x="10527487" y="2267712"/>
            <a:ext cx="566928" cy="566928"/>
          </a:xfrm>
          <a:prstGeom prst="roundRect">
            <a:avLst>
              <a:gd name="adj" fmla="val 32258"/>
            </a:avLst>
          </a:prstGeom>
          <a:solidFill>
            <a:srgbClr val="F7E6BC"/>
          </a:solidFill>
          <a:ln/>
        </p:spPr>
      </p:sp>
      <p:sp>
        <p:nvSpPr>
          <p:cNvPr id="7" name="anim-g1-77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7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الأولوية للأمان</a:t>
            </a:r>
            <a:endParaRPr lang="ar-SA" sz="2200" dirty="0"/>
          </a:p>
        </p:txBody>
      </p:sp>
      <p:sp>
        <p:nvSpPr>
          <p:cNvPr id="9" name="anim-g1-78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إن رأت العين عائقًا قريبًا، فهي تقرر، وتسكت حساسات الخط</a:t>
            </a:r>
            <a:endParaRPr lang="ar-SA" sz="1900" dirty="0"/>
          </a:p>
        </p:txBody>
      </p:sp>
      <p:sp>
        <p:nvSpPr>
          <p:cNvPr id="10" name="anim-g2-78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82"/>
          <p:cNvSpPr/>
          <p:nvPr/>
        </p:nvSpPr>
        <p:spPr>
          <a:xfrm>
            <a:off x="6920789" y="2267712"/>
            <a:ext cx="566928" cy="566928"/>
          </a:xfrm>
          <a:prstGeom prst="roundRect">
            <a:avLst>
              <a:gd name="adj" fmla="val 32258"/>
            </a:avLst>
          </a:prstGeom>
          <a:solidFill>
            <a:srgbClr val="F7E6BC"/>
          </a:solidFill>
          <a:ln/>
        </p:spPr>
      </p:sp>
      <p:sp>
        <p:nvSpPr>
          <p:cNvPr id="12" name="anim-g2-78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8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وإلا فالخط</a:t>
            </a:r>
            <a:endParaRPr lang="ar-SA" sz="2200" dirty="0"/>
          </a:p>
        </p:txBody>
      </p:sp>
      <p:sp>
        <p:nvSpPr>
          <p:cNvPr id="14" name="anim-g2-78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عائق؟ اتبع الخط كما في المحور السادس</a:t>
            </a:r>
            <a:endParaRPr lang="ar-SA" sz="1900" dirty="0"/>
          </a:p>
        </p:txBody>
      </p:sp>
      <p:sp>
        <p:nvSpPr>
          <p:cNvPr id="15" name="anim-g3-78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87"/>
          <p:cNvSpPr/>
          <p:nvPr/>
        </p:nvSpPr>
        <p:spPr>
          <a:xfrm>
            <a:off x="3314090" y="2267712"/>
            <a:ext cx="566928" cy="566928"/>
          </a:xfrm>
          <a:prstGeom prst="roundRect">
            <a:avLst>
              <a:gd name="adj" fmla="val 32258"/>
            </a:avLst>
          </a:prstGeom>
          <a:solidFill>
            <a:srgbClr val="F7E6BC"/>
          </a:solidFill>
          <a:ln/>
        </p:spPr>
      </p:sp>
      <p:sp>
        <p:nvSpPr>
          <p:cNvPr id="17" name="anim-g3-78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8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دالة لكل مهارة</a:t>
            </a:r>
            <a:endParaRPr lang="ar-SA" sz="2200" dirty="0"/>
          </a:p>
        </p:txBody>
      </p:sp>
      <p:sp>
        <p:nvSpPr>
          <p:cNvPr id="19" name="anim-g3-79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مهارة في دالة مستقلة، وloop يختار بينها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🤖٤ الروبوت المدمج  ·  ١٠٦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المناورة في أربع حركات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يلتف حول العائق ويعود؟</a:t>
            </a:r>
            <a:endParaRPr lang="ar-SA" sz="3800" dirty="0"/>
          </a:p>
        </p:txBody>
      </p:sp>
      <p:sp>
        <p:nvSpPr>
          <p:cNvPr id="5" name="anim-g1-791"/>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92"/>
          <p:cNvSpPr/>
          <p:nvPr/>
        </p:nvSpPr>
        <p:spPr>
          <a:xfrm>
            <a:off x="10527487" y="2267712"/>
            <a:ext cx="566928" cy="566928"/>
          </a:xfrm>
          <a:prstGeom prst="roundRect">
            <a:avLst>
              <a:gd name="adj" fmla="val 32258"/>
            </a:avLst>
          </a:prstGeom>
          <a:solidFill>
            <a:srgbClr val="F7E6BC"/>
          </a:solidFill>
          <a:ln/>
        </p:spPr>
      </p:sp>
      <p:sp>
        <p:nvSpPr>
          <p:cNvPr id="7" name="anim-g1-79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94"/>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استدر</a:t>
            </a:r>
            <a:endParaRPr lang="ar-SA" sz="2200" dirty="0"/>
          </a:p>
        </p:txBody>
      </p:sp>
      <p:sp>
        <p:nvSpPr>
          <p:cNvPr id="9" name="anim-g1-795"/>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يمينًا نحو ربع دورة</a:t>
            </a:r>
            <a:endParaRPr lang="ar-SA" sz="1900" dirty="0"/>
          </a:p>
        </p:txBody>
      </p:sp>
      <p:sp>
        <p:nvSpPr>
          <p:cNvPr id="10" name="anim-g2-796"/>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97"/>
          <p:cNvSpPr/>
          <p:nvPr/>
        </p:nvSpPr>
        <p:spPr>
          <a:xfrm>
            <a:off x="7822463" y="2267712"/>
            <a:ext cx="566928" cy="566928"/>
          </a:xfrm>
          <a:prstGeom prst="roundRect">
            <a:avLst>
              <a:gd name="adj" fmla="val 32258"/>
            </a:avLst>
          </a:prstGeom>
          <a:solidFill>
            <a:srgbClr val="F7E6BC"/>
          </a:solidFill>
          <a:ln/>
        </p:spPr>
      </p:sp>
      <p:sp>
        <p:nvSpPr>
          <p:cNvPr id="12" name="anim-g2-798"/>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99"/>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التف</a:t>
            </a:r>
            <a:endParaRPr lang="ar-SA" sz="2200" dirty="0"/>
          </a:p>
        </p:txBody>
      </p:sp>
      <p:sp>
        <p:nvSpPr>
          <p:cNvPr id="14" name="anim-g2-800"/>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قوس نحو اليسار</a:t>
            </a:r>
            <a:endParaRPr lang="ar-SA" sz="1900" dirty="0"/>
          </a:p>
        </p:txBody>
      </p:sp>
      <p:sp>
        <p:nvSpPr>
          <p:cNvPr id="15" name="anim-g3-801"/>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02"/>
          <p:cNvSpPr/>
          <p:nvPr/>
        </p:nvSpPr>
        <p:spPr>
          <a:xfrm>
            <a:off x="5117440" y="2267712"/>
            <a:ext cx="566928" cy="566928"/>
          </a:xfrm>
          <a:prstGeom prst="roundRect">
            <a:avLst>
              <a:gd name="adj" fmla="val 32258"/>
            </a:avLst>
          </a:prstGeom>
          <a:solidFill>
            <a:srgbClr val="F7E6BC"/>
          </a:solidFill>
          <a:ln/>
        </p:spPr>
      </p:sp>
      <p:sp>
        <p:nvSpPr>
          <p:cNvPr id="17" name="anim-g3-803"/>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04"/>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ابحث</a:t>
            </a:r>
            <a:endParaRPr lang="ar-SA" sz="2200" dirty="0"/>
          </a:p>
        </p:txBody>
      </p:sp>
      <p:sp>
        <p:nvSpPr>
          <p:cNvPr id="19" name="anim-g3-805"/>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حتى ترى الحساسات الخط</a:t>
            </a:r>
            <a:endParaRPr lang="ar-SA" sz="1900" dirty="0"/>
          </a:p>
        </p:txBody>
      </p:sp>
      <p:sp>
        <p:nvSpPr>
          <p:cNvPr id="20" name="anim-g4-806"/>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807"/>
          <p:cNvSpPr/>
          <p:nvPr/>
        </p:nvSpPr>
        <p:spPr>
          <a:xfrm>
            <a:off x="2412416" y="2267712"/>
            <a:ext cx="566928" cy="566928"/>
          </a:xfrm>
          <a:prstGeom prst="roundRect">
            <a:avLst>
              <a:gd name="adj" fmla="val 32258"/>
            </a:avLst>
          </a:prstGeom>
          <a:solidFill>
            <a:srgbClr val="F7E6BC"/>
          </a:solidFill>
          <a:ln/>
        </p:spPr>
      </p:sp>
      <p:sp>
        <p:nvSpPr>
          <p:cNvPr id="22" name="anim-g4-808"/>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809"/>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استقم</a:t>
            </a:r>
            <a:endParaRPr lang="ar-SA" sz="2200" dirty="0"/>
          </a:p>
        </p:txBody>
      </p:sp>
      <p:sp>
        <p:nvSpPr>
          <p:cNvPr id="24" name="anim-g4-810"/>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دُر حتى يصبح الأوسط فوق الخط</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🤖٤ الروبوت المدمج  ·  ١٠٧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pic>
        <p:nvPicPr>
          <p:cNvPr id="2" name="Image 0" descr="C:\Users\user\projects\younes-training\arduino3\.pptx-cache\s1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pic>
        <p:nvPicPr>
          <p:cNvPr id="2" name="Image 0" descr="C:\Users\user\projects\younes-training\arduino3\.pptx-cache\s109-0.jpg">    </p:cNvPr>
          <p:cNvPicPr>
            <a:picLocks noChangeAspect="1"/>
          </p:cNvPicPr>
          <p:nvPr/>
        </p:nvPicPr>
        <p:blipFill>
          <a:blip r:embed="rId1"/>
          <a:stretch>
            <a:fillRect/>
          </a:stretch>
        </p:blipFill>
        <p:spPr>
          <a:xfrm>
            <a:off x="0" y="0"/>
            <a:ext cx="12191695" cy="6858000"/>
          </a:xfrm>
          <a:prstGeom prst="rect">
            <a:avLst/>
          </a:prstGeom>
        </p:spPr>
      </p:pic>
      <p:pic>
        <p:nvPicPr>
          <p:cNvPr id="3" name="anim-g1-811" descr="C:\Users\user\projects\younes-training\arduino3\.pptx-cache\s109-1.jpg">    </p:cNvPr>
          <p:cNvPicPr>
            <a:picLocks noChangeAspect="1"/>
          </p:cNvPicPr>
          <p:nvPr/>
        </p:nvPicPr>
        <p:blipFill>
          <a:blip r:embed="rId2"/>
          <a:stretch>
            <a:fillRect/>
          </a:stretch>
        </p:blipFill>
        <p:spPr>
          <a:xfrm>
            <a:off x="0" y="0"/>
            <a:ext cx="12191695" cy="6858000"/>
          </a:xfrm>
          <a:prstGeom prst="rect">
            <a:avLst/>
          </a:prstGeom>
        </p:spPr>
      </p:pic>
      <p:pic>
        <p:nvPicPr>
          <p:cNvPr id="4" name="anim-g2-812" descr="C:\Users\user\projects\younes-training\arduino3\.pptx-cache\s109-2.jpg">    </p:cNvPr>
          <p:cNvPicPr>
            <a:picLocks noChangeAspect="1"/>
          </p:cNvPicPr>
          <p:nvPr/>
        </p:nvPicPr>
        <p:blipFill>
          <a:blip r:embed="rId3"/>
          <a:stretch>
            <a:fillRect/>
          </a:stretch>
        </p:blipFill>
        <p:spPr>
          <a:xfrm>
            <a:off x="0" y="0"/>
            <a:ext cx="12191695" cy="6858000"/>
          </a:xfrm>
          <a:prstGeom prst="rect">
            <a:avLst/>
          </a:prstGeom>
        </p:spPr>
      </p:pic>
      <p:pic>
        <p:nvPicPr>
          <p:cNvPr id="5" name="anim-g3-813" descr="C:\Users\user\projects\younes-training\arduino3\.pptx-cache\s109-3.jpg">    </p:cNvPr>
          <p:cNvPicPr>
            <a:picLocks noChangeAspect="1"/>
          </p:cNvPicPr>
          <p:nvPr/>
        </p:nvPicPr>
        <p:blipFill>
          <a:blip r:embed="rId4"/>
          <a:stretch>
            <a:fillRect/>
          </a:stretch>
        </p:blipFill>
        <p:spPr>
          <a:xfrm>
            <a:off x="0" y="0"/>
            <a:ext cx="12191695" cy="6858000"/>
          </a:xfrm>
          <a:prstGeom prst="rect">
            <a:avLst/>
          </a:prstGeom>
        </p:spPr>
      </p:pic>
      <p:pic>
        <p:nvPicPr>
          <p:cNvPr id="6" name="anim-g4-814" descr="C:\Users\user\projects\younes-training\arduino3\.pptx-cache\s109-4.jpg">    </p:cNvPr>
          <p:cNvPicPr>
            <a:picLocks noChangeAspect="1"/>
          </p:cNvPicPr>
          <p:nvPr/>
        </p:nvPicPr>
        <p:blipFill>
          <a:blip r:embed="rId5"/>
          <a:stretch>
            <a:fillRect/>
          </a:stretch>
        </p:blipFill>
        <p:spPr>
          <a:xfrm>
            <a:off x="0" y="0"/>
            <a:ext cx="12191695" cy="6858000"/>
          </a:xfrm>
          <a:prstGeom prst="rect">
            <a:avLst/>
          </a:prstGeom>
        </p:spPr>
      </p:pic>
      <p:pic>
        <p:nvPicPr>
          <p:cNvPr id="7" name="anim-g5-815" descr="C:\Users\user\projects\younes-training\arduino3\.pptx-cache\s109-5.jpg">    </p:cNvPr>
          <p:cNvPicPr>
            <a:picLocks noChangeAspect="1"/>
          </p:cNvPicPr>
          <p:nvPr/>
        </p:nvPicPr>
        <p:blipFill>
          <a:blip r:embed="rId6"/>
          <a:stretch>
            <a:fillRect/>
          </a:stretch>
        </p:blipFill>
        <p:spPr>
          <a:xfrm>
            <a:off x="0" y="0"/>
            <a:ext cx="12191695" cy="6858000"/>
          </a:xfrm>
          <a:prstGeom prst="rect">
            <a:avLst/>
          </a:prstGeom>
        </p:spPr>
      </p:pic>
      <p:pic>
        <p:nvPicPr>
          <p:cNvPr id="8" name="anim-g6-816" descr="C:\Users\user\projects\younes-training\arduino3\.pptx-cache\s109-6.jpg">    </p:cNvPr>
          <p:cNvPicPr>
            <a:picLocks noChangeAspect="1"/>
          </p:cNvPicPr>
          <p:nvPr/>
        </p:nvPicPr>
        <p:blipFill>
          <a:blip r:embed="rId7"/>
          <a:stretch>
            <a:fillRect/>
          </a:stretch>
        </p:blipFill>
        <p:spPr>
          <a:xfrm>
            <a:off x="0" y="0"/>
            <a:ext cx="12191695" cy="6858000"/>
          </a:xfrm>
          <a:prstGeom prst="rect">
            <a:avLst/>
          </a:prstGeom>
        </p:spPr>
      </p:pic>
      <p:pic>
        <p:nvPicPr>
          <p:cNvPr id="9" name="anim-g7-817" descr="C:\Users\user\projects\younes-training\arduino3\.pptx-cache\s109-7.jpg">    </p:cNvPr>
          <p:cNvPicPr>
            <a:picLocks noChangeAspect="1"/>
          </p:cNvPicPr>
          <p:nvPr/>
        </p:nvPicPr>
        <p:blipFill>
          <a:blip r:embed="rId8"/>
          <a:stretch>
            <a:fillRect/>
          </a:stretch>
        </p:blipFill>
        <p:spPr>
          <a:xfrm>
            <a:off x="0" y="0"/>
            <a:ext cx="12191695" cy="6858000"/>
          </a:xfrm>
          <a:prstGeom prst="rect">
            <a:avLst/>
          </a:prstGeom>
        </p:spPr>
      </p:pic>
      <p:pic>
        <p:nvPicPr>
          <p:cNvPr id="10" name="anim-g8-818" descr="C:\Users\user\projects\younes-training\arduino3\.pptx-cache\s109-8.jpg">    </p:cNvPr>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Image 0" descr="C:\Users\user\projects\younes-training\arduino3\.pptx-cache\s110-0.jpg">    </p:cNvPr>
          <p:cNvPicPr>
            <a:picLocks noChangeAspect="1"/>
          </p:cNvPicPr>
          <p:nvPr/>
        </p:nvPicPr>
        <p:blipFill>
          <a:blip r:embed="rId1"/>
          <a:stretch>
            <a:fillRect/>
          </a:stretch>
        </p:blipFill>
        <p:spPr>
          <a:xfrm>
            <a:off x="0" y="0"/>
            <a:ext cx="12191695" cy="6858000"/>
          </a:xfrm>
          <a:prstGeom prst="rect">
            <a:avLst/>
          </a:prstGeom>
        </p:spPr>
      </p:pic>
      <p:pic>
        <p:nvPicPr>
          <p:cNvPr id="3" name="anim-g1-819" descr="C:\Users\user\projects\younes-training\arduino3\.pptx-cache\s110-1.jpg">    </p:cNvPr>
          <p:cNvPicPr>
            <a:picLocks noChangeAspect="1"/>
          </p:cNvPicPr>
          <p:nvPr/>
        </p:nvPicPr>
        <p:blipFill>
          <a:blip r:embed="rId2"/>
          <a:stretch>
            <a:fillRect/>
          </a:stretch>
        </p:blipFill>
        <p:spPr>
          <a:xfrm>
            <a:off x="0" y="0"/>
            <a:ext cx="12191695" cy="6858000"/>
          </a:xfrm>
          <a:prstGeom prst="rect">
            <a:avLst/>
          </a:prstGeom>
        </p:spPr>
      </p:pic>
      <p:pic>
        <p:nvPicPr>
          <p:cNvPr id="4" name="anim-g2-820" descr="C:\Users\user\projects\younes-training\arduino3\.pptx-cache\s110-2.jpg">    </p:cNvPr>
          <p:cNvPicPr>
            <a:picLocks noChangeAspect="1"/>
          </p:cNvPicPr>
          <p:nvPr/>
        </p:nvPicPr>
        <p:blipFill>
          <a:blip r:embed="rId3"/>
          <a:stretch>
            <a:fillRect/>
          </a:stretch>
        </p:blipFill>
        <p:spPr>
          <a:xfrm>
            <a:off x="0" y="0"/>
            <a:ext cx="12191695" cy="6858000"/>
          </a:xfrm>
          <a:prstGeom prst="rect">
            <a:avLst/>
          </a:prstGeom>
        </p:spPr>
      </p:pic>
      <p:pic>
        <p:nvPicPr>
          <p:cNvPr id="5" name="anim-g3-821" descr="C:\Users\user\projects\younes-training\arduino3\.pptx-cache\s110-3.jpg">    </p:cNvPr>
          <p:cNvPicPr>
            <a:picLocks noChangeAspect="1"/>
          </p:cNvPicPr>
          <p:nvPr/>
        </p:nvPicPr>
        <p:blipFill>
          <a:blip r:embed="rId4"/>
          <a:stretch>
            <a:fillRect/>
          </a:stretch>
        </p:blipFill>
        <p:spPr>
          <a:xfrm>
            <a:off x="0" y="0"/>
            <a:ext cx="12191695" cy="6858000"/>
          </a:xfrm>
          <a:prstGeom prst="rect">
            <a:avLst/>
          </a:prstGeom>
        </p:spPr>
      </p:pic>
      <p:pic>
        <p:nvPicPr>
          <p:cNvPr id="6" name="anim-g4-822" descr="C:\Users\user\projects\younes-training\arduino3\.pptx-cache\s11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وضعنا عائقًا كبيرًا جدًا، فاصطدم به الروبوت أثناء القوس… ما الحل؟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نُسرّع الروبوت</a:t>
            </a:r>
            <a:endParaRPr lang="ar-SA" sz="2500" dirty="0"/>
          </a:p>
        </p:txBody>
      </p:sp>
      <p:sp>
        <p:nvSpPr>
          <p:cNvPr id="9" name="anim-g1-823"/>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824"/>
          <p:cNvSpPr/>
          <p:nvPr/>
        </p:nvSpPr>
        <p:spPr>
          <a:xfrm>
            <a:off x="10231831" y="2194560"/>
            <a:ext cx="954024" cy="954024"/>
          </a:xfrm>
          <a:prstGeom prst="roundRect">
            <a:avLst>
              <a:gd name="adj" fmla="val 11502"/>
            </a:avLst>
          </a:prstGeom>
          <a:solidFill>
            <a:srgbClr val="A3A9BA"/>
          </a:solidFill>
          <a:ln/>
        </p:spPr>
      </p:sp>
      <p:sp>
        <p:nvSpPr>
          <p:cNvPr id="11" name="anim-g1-82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826"/>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نُسرّع الروبوت</a:t>
            </a:r>
            <a:endParaRPr lang="ar-SA" sz="2400" dirty="0"/>
          </a:p>
        </p:txBody>
      </p:sp>
      <p:sp>
        <p:nvSpPr>
          <p:cNvPr id="13" name="anim-g1-827"/>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السرعة لا تغيّر شكل القوس</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نحذف دالة avoid</a:t>
            </a:r>
            <a:endParaRPr lang="ar-SA" sz="2500" dirty="0"/>
          </a:p>
        </p:txBody>
      </p:sp>
      <p:sp>
        <p:nvSpPr>
          <p:cNvPr id="18" name="anim-g1-828"/>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829"/>
          <p:cNvSpPr/>
          <p:nvPr/>
        </p:nvSpPr>
        <p:spPr>
          <a:xfrm>
            <a:off x="10231831" y="3569208"/>
            <a:ext cx="954024" cy="954024"/>
          </a:xfrm>
          <a:prstGeom prst="roundRect">
            <a:avLst>
              <a:gd name="adj" fmla="val 11502"/>
            </a:avLst>
          </a:prstGeom>
          <a:solidFill>
            <a:srgbClr val="A3A9BA"/>
          </a:solidFill>
          <a:ln/>
        </p:spPr>
      </p:sp>
      <p:sp>
        <p:nvSpPr>
          <p:cNvPr id="20" name="anim-g1-830"/>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831"/>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نحذف دالة avoid</a:t>
            </a:r>
            <a:endParaRPr lang="ar-SA" sz="2400" dirty="0"/>
          </a:p>
        </p:txBody>
      </p:sp>
      <p:sp>
        <p:nvSpPr>
          <p:cNvPr id="22" name="anim-g1-832"/>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بدونها يصطدم دائمًا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نوسّع القوس: نقرّب سرعتي العجلتين مثل drive(140, 200)</a:t>
            </a:r>
            <a:endParaRPr lang="ar-SA" sz="2500" dirty="0"/>
          </a:p>
        </p:txBody>
      </p:sp>
      <p:sp>
        <p:nvSpPr>
          <p:cNvPr id="27" name="anim-g1-833"/>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834"/>
          <p:cNvSpPr/>
          <p:nvPr/>
        </p:nvSpPr>
        <p:spPr>
          <a:xfrm>
            <a:off x="10231831" y="4943856"/>
            <a:ext cx="954024" cy="954024"/>
          </a:xfrm>
          <a:prstGeom prst="roundRect">
            <a:avLst>
              <a:gd name="adj" fmla="val 11502"/>
            </a:avLst>
          </a:prstGeom>
          <a:solidFill>
            <a:srgbClr val="2E9E6B"/>
          </a:solidFill>
          <a:ln/>
        </p:spPr>
      </p:sp>
      <p:sp>
        <p:nvSpPr>
          <p:cNvPr id="29" name="anim-g1-835"/>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836"/>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نوسّع القوس: نقرّب سرعتي العجلتين مثل drive(140, 200)</a:t>
            </a:r>
            <a:endParaRPr lang="ar-SA" sz="2400" dirty="0"/>
          </a:p>
        </p:txBody>
      </p:sp>
      <p:sp>
        <p:nvSpPr>
          <p:cNvPr id="31" name="anim-g1-837"/>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كلما تقاربت السرعتان كبر نصف قطر الدوران (R = v ÷ ω من المحور الثاني!)</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🤖٤ الروبوت المدمج  ·  ١١١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Image 0" descr="C:\Users\user\projects\younes-training\arduino3\.pptx-cache\s1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pic>
        <p:nvPicPr>
          <p:cNvPr id="2" name="Image 0" descr="C:\Users\user\projects\younes-training\arduino3\.pptx-cache\s1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مهارتان أُتقنتا وحدهما…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ثم اجتمعتا بأولوية واضحة: هكذا تُبنى الروبوتات المعقدة من خطوات بسيطة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🤖٤ الروبوت المدمج  ·  ١١٤</a:t>
            </a:r>
            <a:endParaRPr lang="ar-SA" sz="1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١٠</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١٠</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🤖٥ روبوت السومو</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حلبة دائرية، وروبوتان، وقاعدة واحدة: ادفع خصمك خارجها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🤖٥ روبوت السومو  ·  ١١٥</a:t>
            </a:r>
            <a:endParaRPr lang="ar-SA" sz="1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838"/>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839"/>
          <p:cNvSpPr/>
          <p:nvPr/>
        </p:nvSpPr>
        <p:spPr>
          <a:xfrm>
            <a:off x="10573207" y="2109978"/>
            <a:ext cx="566928" cy="566928"/>
          </a:xfrm>
          <a:prstGeom prst="ellipse">
            <a:avLst/>
          </a:prstGeom>
          <a:solidFill>
            <a:srgbClr val="D9AE4B"/>
          </a:solidFill>
          <a:ln/>
        </p:spPr>
      </p:sp>
      <p:sp>
        <p:nvSpPr>
          <p:cNvPr id="7" name="anim-g1-840"/>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841"/>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تعرف قوانين الميني سومو الأساسية</a:t>
            </a:r>
            <a:endParaRPr lang="ar-SA" sz="2400" dirty="0"/>
          </a:p>
        </p:txBody>
      </p:sp>
      <p:sp>
        <p:nvSpPr>
          <p:cNvPr id="9" name="anim-g2-842"/>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843"/>
          <p:cNvSpPr/>
          <p:nvPr/>
        </p:nvSpPr>
        <p:spPr>
          <a:xfrm>
            <a:off x="10573207" y="3166110"/>
            <a:ext cx="566928" cy="566928"/>
          </a:xfrm>
          <a:prstGeom prst="ellipse">
            <a:avLst/>
          </a:prstGeom>
          <a:solidFill>
            <a:srgbClr val="D9AE4B"/>
          </a:solidFill>
          <a:ln/>
        </p:spPr>
      </p:sp>
      <p:sp>
        <p:nvSpPr>
          <p:cNvPr id="11" name="anim-g2-844"/>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845"/>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تستخدم حساسات الخط لكشف حافة الحلبة البيضاء</a:t>
            </a:r>
            <a:endParaRPr lang="ar-SA" sz="2400" dirty="0"/>
          </a:p>
        </p:txBody>
      </p:sp>
      <p:sp>
        <p:nvSpPr>
          <p:cNvPr id="13" name="anim-g3-846"/>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847"/>
          <p:cNvSpPr/>
          <p:nvPr/>
        </p:nvSpPr>
        <p:spPr>
          <a:xfrm>
            <a:off x="10573207" y="4222242"/>
            <a:ext cx="566928" cy="566928"/>
          </a:xfrm>
          <a:prstGeom prst="ellipse">
            <a:avLst/>
          </a:prstGeom>
          <a:solidFill>
            <a:srgbClr val="D9AE4B"/>
          </a:solidFill>
          <a:ln/>
        </p:spPr>
      </p:sp>
      <p:sp>
        <p:nvSpPr>
          <p:cNvPr id="15" name="anim-g3-848"/>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849"/>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تبرمج ثلاثة سلوكيات: ابحث، هاجم، احذر الحافة</a:t>
            </a:r>
            <a:endParaRPr lang="ar-SA" sz="2400" dirty="0"/>
          </a:p>
        </p:txBody>
      </p:sp>
      <p:sp>
        <p:nvSpPr>
          <p:cNvPr id="17" name="anim-g4-850"/>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851"/>
          <p:cNvSpPr/>
          <p:nvPr/>
        </p:nvSpPr>
        <p:spPr>
          <a:xfrm>
            <a:off x="10573207" y="5278374"/>
            <a:ext cx="566928" cy="566928"/>
          </a:xfrm>
          <a:prstGeom prst="ellipse">
            <a:avLst/>
          </a:prstGeom>
          <a:solidFill>
            <a:srgbClr val="D9AE4B"/>
          </a:solidFill>
          <a:ln/>
        </p:spPr>
      </p:sp>
      <p:sp>
        <p:nvSpPr>
          <p:cNvPr id="19" name="anim-g4-852"/>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53"/>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تصمم روبوتًا قويًا ميكانيكيًا لا يُدفع بسهولة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🤖٥ روبوت السومو  ·  ١١٦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قوانين الميني سومو</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الحلبة والروبوت والنزال</a:t>
            </a:r>
            <a:endParaRPr lang="ar-SA" sz="3800" dirty="0"/>
          </a:p>
        </p:txBody>
      </p:sp>
      <p:sp>
        <p:nvSpPr>
          <p:cNvPr id="5" name="anim-g1-854"/>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55"/>
          <p:cNvSpPr/>
          <p:nvPr/>
        </p:nvSpPr>
        <p:spPr>
          <a:xfrm>
            <a:off x="10527487" y="2267712"/>
            <a:ext cx="566928" cy="566928"/>
          </a:xfrm>
          <a:prstGeom prst="roundRect">
            <a:avLst>
              <a:gd name="adj" fmla="val 32258"/>
            </a:avLst>
          </a:prstGeom>
          <a:solidFill>
            <a:srgbClr val="F7E6BC"/>
          </a:solidFill>
          <a:ln/>
        </p:spPr>
      </p:sp>
      <p:sp>
        <p:nvSpPr>
          <p:cNvPr id="7" name="anim-g1-85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57"/>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الحلبة «دوهيو»</a:t>
            </a:r>
            <a:endParaRPr lang="ar-SA" sz="2200" dirty="0"/>
          </a:p>
        </p:txBody>
      </p:sp>
      <p:sp>
        <p:nvSpPr>
          <p:cNvPr id="9" name="anim-g1-858"/>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دائرة سوداء قطرها ٧٧ سم، يحيط بها شريط أبيض عرضه ٢٫٥ سم</a:t>
            </a:r>
            <a:endParaRPr lang="ar-SA" sz="1900" dirty="0"/>
          </a:p>
        </p:txBody>
      </p:sp>
      <p:sp>
        <p:nvSpPr>
          <p:cNvPr id="10" name="anim-g2-859"/>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60"/>
          <p:cNvSpPr/>
          <p:nvPr/>
        </p:nvSpPr>
        <p:spPr>
          <a:xfrm>
            <a:off x="6920789" y="2267712"/>
            <a:ext cx="566928" cy="566928"/>
          </a:xfrm>
          <a:prstGeom prst="roundRect">
            <a:avLst>
              <a:gd name="adj" fmla="val 32258"/>
            </a:avLst>
          </a:prstGeom>
          <a:solidFill>
            <a:srgbClr val="F7E6BC"/>
          </a:solidFill>
          <a:ln/>
        </p:spPr>
      </p:sp>
      <p:sp>
        <p:nvSpPr>
          <p:cNvPr id="12" name="anim-g2-861"/>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62"/>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الروبوت</a:t>
            </a:r>
            <a:endParaRPr lang="ar-SA" sz="2200" dirty="0"/>
          </a:p>
        </p:txBody>
      </p:sp>
      <p:sp>
        <p:nvSpPr>
          <p:cNvPr id="14" name="anim-g2-863"/>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يزيد على ١٠ × ١٠ سم، ووزنه ٥٠٠ غرام على الأكثر، ويعمل وحده بلا تحكم</a:t>
            </a:r>
            <a:endParaRPr lang="ar-SA" sz="1900" dirty="0"/>
          </a:p>
        </p:txBody>
      </p:sp>
      <p:sp>
        <p:nvSpPr>
          <p:cNvPr id="15" name="anim-g3-864"/>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65"/>
          <p:cNvSpPr/>
          <p:nvPr/>
        </p:nvSpPr>
        <p:spPr>
          <a:xfrm>
            <a:off x="3314090" y="2267712"/>
            <a:ext cx="566928" cy="566928"/>
          </a:xfrm>
          <a:prstGeom prst="roundRect">
            <a:avLst>
              <a:gd name="adj" fmla="val 32258"/>
            </a:avLst>
          </a:prstGeom>
          <a:solidFill>
            <a:srgbClr val="F7E6BC"/>
          </a:solidFill>
          <a:ln/>
        </p:spPr>
      </p:sp>
      <p:sp>
        <p:nvSpPr>
          <p:cNvPr id="17" name="anim-g3-866"/>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67"/>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النزال</a:t>
            </a:r>
            <a:endParaRPr lang="ar-SA" sz="2200" dirty="0"/>
          </a:p>
        </p:txBody>
      </p:sp>
      <p:sp>
        <p:nvSpPr>
          <p:cNvPr id="19" name="anim-g3-868"/>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ينتظر الروبوت ٥ ثوانٍ بعد البدء، والفائز من يسجل نقطتين أولًا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🤖٥ روبوت السومو  ·  ١١٧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عقل المصارع</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ثلاثة سلوكيات… بترتيب أولوية</a:t>
            </a:r>
            <a:endParaRPr lang="ar-SA" sz="3800" dirty="0"/>
          </a:p>
        </p:txBody>
      </p:sp>
      <p:sp>
        <p:nvSpPr>
          <p:cNvPr id="5" name="anim-g1-86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70"/>
          <p:cNvSpPr/>
          <p:nvPr/>
        </p:nvSpPr>
        <p:spPr>
          <a:xfrm>
            <a:off x="10527487" y="2267712"/>
            <a:ext cx="566928" cy="566928"/>
          </a:xfrm>
          <a:prstGeom prst="roundRect">
            <a:avLst>
              <a:gd name="adj" fmla="val 32258"/>
            </a:avLst>
          </a:prstGeom>
          <a:solidFill>
            <a:srgbClr val="F7E6BC"/>
          </a:solidFill>
          <a:ln/>
        </p:spPr>
      </p:sp>
      <p:sp>
        <p:nvSpPr>
          <p:cNvPr id="7" name="anim-g1-87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7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١. احذر الحافة</a:t>
            </a:r>
            <a:endParaRPr lang="ar-SA" sz="2200" dirty="0"/>
          </a:p>
        </p:txBody>
      </p:sp>
      <p:sp>
        <p:nvSpPr>
          <p:cNvPr id="9" name="anim-g1-87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حساس الخط يرى الأبيض؟ ارجع واستدر فورًا. الخروج خسارة</a:t>
            </a:r>
            <a:endParaRPr lang="ar-SA" sz="1900" dirty="0"/>
          </a:p>
        </p:txBody>
      </p:sp>
      <p:sp>
        <p:nvSpPr>
          <p:cNvPr id="10" name="anim-g2-87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75"/>
          <p:cNvSpPr/>
          <p:nvPr/>
        </p:nvSpPr>
        <p:spPr>
          <a:xfrm>
            <a:off x="6920789" y="2267712"/>
            <a:ext cx="566928" cy="566928"/>
          </a:xfrm>
          <a:prstGeom prst="roundRect">
            <a:avLst>
              <a:gd name="adj" fmla="val 32258"/>
            </a:avLst>
          </a:prstGeom>
          <a:solidFill>
            <a:srgbClr val="F7E6BC"/>
          </a:solidFill>
          <a:ln/>
        </p:spPr>
      </p:sp>
      <p:sp>
        <p:nvSpPr>
          <p:cNvPr id="12" name="anim-g2-87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7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٢. هاجم</a:t>
            </a:r>
            <a:endParaRPr lang="ar-SA" sz="2200" dirty="0"/>
          </a:p>
        </p:txBody>
      </p:sp>
      <p:sp>
        <p:nvSpPr>
          <p:cNvPr id="14" name="anim-g2-87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حساس المسافة يرى الخصم؟ اندفع بأقصى قوة</a:t>
            </a:r>
            <a:endParaRPr lang="ar-SA" sz="1900" dirty="0"/>
          </a:p>
        </p:txBody>
      </p:sp>
      <p:sp>
        <p:nvSpPr>
          <p:cNvPr id="15" name="anim-g3-87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80"/>
          <p:cNvSpPr/>
          <p:nvPr/>
        </p:nvSpPr>
        <p:spPr>
          <a:xfrm>
            <a:off x="3314090" y="2267712"/>
            <a:ext cx="566928" cy="566928"/>
          </a:xfrm>
          <a:prstGeom prst="roundRect">
            <a:avLst>
              <a:gd name="adj" fmla="val 32258"/>
            </a:avLst>
          </a:prstGeom>
          <a:solidFill>
            <a:srgbClr val="F7E6BC"/>
          </a:solidFill>
          <a:ln/>
        </p:spPr>
      </p:sp>
      <p:sp>
        <p:nvSpPr>
          <p:cNvPr id="17" name="anim-g3-88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8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 ابحث</a:t>
            </a:r>
            <a:endParaRPr lang="ar-SA" sz="2200" dirty="0"/>
          </a:p>
        </p:txBody>
      </p:sp>
      <p:sp>
        <p:nvSpPr>
          <p:cNvPr id="19" name="anim-g3-88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خطر ولا خصم؟ دُر في مكانك حتى تراه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🤖٥ روبوت السومو  ·  ١١٨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pic>
        <p:nvPicPr>
          <p:cNvPr id="2" name="Image 0" descr="C:\Users\user\projects\younes-training\arduino3\.pptx-cache\s1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pic>
        <p:nvPicPr>
          <p:cNvPr id="2" name="Image 0" descr="C:\Users\user\projects\younes-training\arduino3\.pptx-cache\s120-0.jpg">    </p:cNvPr>
          <p:cNvPicPr>
            <a:picLocks noChangeAspect="1"/>
          </p:cNvPicPr>
          <p:nvPr/>
        </p:nvPicPr>
        <p:blipFill>
          <a:blip r:embed="rId1"/>
          <a:stretch>
            <a:fillRect/>
          </a:stretch>
        </p:blipFill>
        <p:spPr>
          <a:xfrm>
            <a:off x="0" y="0"/>
            <a:ext cx="12191695" cy="6858000"/>
          </a:xfrm>
          <a:prstGeom prst="rect">
            <a:avLst/>
          </a:prstGeom>
        </p:spPr>
      </p:pic>
      <p:pic>
        <p:nvPicPr>
          <p:cNvPr id="3" name="anim-g1-884" descr="C:\Users\user\projects\younes-training\arduino3\.pptx-cache\s120-1.jpg">    </p:cNvPr>
          <p:cNvPicPr>
            <a:picLocks noChangeAspect="1"/>
          </p:cNvPicPr>
          <p:nvPr/>
        </p:nvPicPr>
        <p:blipFill>
          <a:blip r:embed="rId2"/>
          <a:stretch>
            <a:fillRect/>
          </a:stretch>
        </p:blipFill>
        <p:spPr>
          <a:xfrm>
            <a:off x="0" y="0"/>
            <a:ext cx="12191695" cy="6858000"/>
          </a:xfrm>
          <a:prstGeom prst="rect">
            <a:avLst/>
          </a:prstGeom>
        </p:spPr>
      </p:pic>
      <p:pic>
        <p:nvPicPr>
          <p:cNvPr id="4" name="anim-g2-885" descr="C:\Users\user\projects\younes-training\arduino3\.pptx-cache\s120-2.jpg">    </p:cNvPr>
          <p:cNvPicPr>
            <a:picLocks noChangeAspect="1"/>
          </p:cNvPicPr>
          <p:nvPr/>
        </p:nvPicPr>
        <p:blipFill>
          <a:blip r:embed="rId3"/>
          <a:stretch>
            <a:fillRect/>
          </a:stretch>
        </p:blipFill>
        <p:spPr>
          <a:xfrm>
            <a:off x="0" y="0"/>
            <a:ext cx="12191695" cy="6858000"/>
          </a:xfrm>
          <a:prstGeom prst="rect">
            <a:avLst/>
          </a:prstGeom>
        </p:spPr>
      </p:pic>
      <p:pic>
        <p:nvPicPr>
          <p:cNvPr id="5" name="anim-g3-886" descr="C:\Users\user\projects\younes-training\arduino3\.pptx-cache\s120-3.jpg">    </p:cNvPr>
          <p:cNvPicPr>
            <a:picLocks noChangeAspect="1"/>
          </p:cNvPicPr>
          <p:nvPr/>
        </p:nvPicPr>
        <p:blipFill>
          <a:blip r:embed="rId4"/>
          <a:stretch>
            <a:fillRect/>
          </a:stretch>
        </p:blipFill>
        <p:spPr>
          <a:xfrm>
            <a:off x="0" y="0"/>
            <a:ext cx="12191695" cy="6858000"/>
          </a:xfrm>
          <a:prstGeom prst="rect">
            <a:avLst/>
          </a:prstGeom>
        </p:spPr>
      </p:pic>
      <p:pic>
        <p:nvPicPr>
          <p:cNvPr id="6" name="anim-g4-887" descr="C:\Users\user\projects\younes-training\arduino3\.pptx-cache\s120-4.jpg">    </p:cNvPr>
          <p:cNvPicPr>
            <a:picLocks noChangeAspect="1"/>
          </p:cNvPicPr>
          <p:nvPr/>
        </p:nvPicPr>
        <p:blipFill>
          <a:blip r:embed="rId5"/>
          <a:stretch>
            <a:fillRect/>
          </a:stretch>
        </p:blipFill>
        <p:spPr>
          <a:xfrm>
            <a:off x="0" y="0"/>
            <a:ext cx="12191695" cy="6858000"/>
          </a:xfrm>
          <a:prstGeom prst="rect">
            <a:avLst/>
          </a:prstGeom>
        </p:spPr>
      </p:pic>
      <p:pic>
        <p:nvPicPr>
          <p:cNvPr id="7" name="anim-g5-888" descr="C:\Users\user\projects\younes-training\arduino3\.pptx-cache\s120-5.jpg">    </p:cNvPr>
          <p:cNvPicPr>
            <a:picLocks noChangeAspect="1"/>
          </p:cNvPicPr>
          <p:nvPr/>
        </p:nvPicPr>
        <p:blipFill>
          <a:blip r:embed="rId6"/>
          <a:stretch>
            <a:fillRect/>
          </a:stretch>
        </p:blipFill>
        <p:spPr>
          <a:xfrm>
            <a:off x="0" y="0"/>
            <a:ext cx="12191695" cy="6858000"/>
          </a:xfrm>
          <a:prstGeom prst="rect">
            <a:avLst/>
          </a:prstGeom>
        </p:spPr>
      </p:pic>
      <p:pic>
        <p:nvPicPr>
          <p:cNvPr id="8" name="anim-g6-889" descr="C:\Users\user\projects\younes-training\arduino3\.pptx-cache\s120-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name="Slide 1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الفوز يبدأ من الورشة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تصميم ميكانيكي لا يُهزم</a:t>
            </a:r>
            <a:endParaRPr lang="ar-SA" sz="3800" dirty="0"/>
          </a:p>
        </p:txBody>
      </p:sp>
      <p:sp>
        <p:nvSpPr>
          <p:cNvPr id="5" name="anim-g1-890"/>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91"/>
          <p:cNvSpPr/>
          <p:nvPr/>
        </p:nvSpPr>
        <p:spPr>
          <a:xfrm>
            <a:off x="10527487" y="2267712"/>
            <a:ext cx="566928" cy="566928"/>
          </a:xfrm>
          <a:prstGeom prst="roundRect">
            <a:avLst>
              <a:gd name="adj" fmla="val 32258"/>
            </a:avLst>
          </a:prstGeom>
          <a:solidFill>
            <a:srgbClr val="F7E6BC"/>
          </a:solidFill>
          <a:ln/>
        </p:spPr>
      </p:sp>
      <p:sp>
        <p:nvSpPr>
          <p:cNvPr id="7" name="anim-g1-89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93"/>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شفرة أمامية منخفضة</a:t>
            </a:r>
            <a:endParaRPr lang="ar-SA" sz="2200" dirty="0"/>
          </a:p>
        </p:txBody>
      </p:sp>
      <p:sp>
        <p:nvSpPr>
          <p:cNvPr id="9" name="anim-g1-894"/>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صفيحة مائلة تلامس الأرض تقريبًا، فتنزلق تحت الخصم وترفعه</a:t>
            </a:r>
            <a:endParaRPr lang="ar-SA" sz="1900" dirty="0"/>
          </a:p>
        </p:txBody>
      </p:sp>
      <p:sp>
        <p:nvSpPr>
          <p:cNvPr id="10" name="anim-g2-895"/>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96"/>
          <p:cNvSpPr/>
          <p:nvPr/>
        </p:nvSpPr>
        <p:spPr>
          <a:xfrm>
            <a:off x="6920789" y="2267712"/>
            <a:ext cx="566928" cy="566928"/>
          </a:xfrm>
          <a:prstGeom prst="roundRect">
            <a:avLst>
              <a:gd name="adj" fmla="val 32258"/>
            </a:avLst>
          </a:prstGeom>
          <a:solidFill>
            <a:srgbClr val="F7E6BC"/>
          </a:solidFill>
          <a:ln/>
        </p:spPr>
      </p:sp>
      <p:sp>
        <p:nvSpPr>
          <p:cNvPr id="12" name="anim-g2-897"/>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98"/>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الوزن إلى الحد</a:t>
            </a:r>
            <a:endParaRPr lang="ar-SA" sz="2200" dirty="0"/>
          </a:p>
        </p:txBody>
      </p:sp>
      <p:sp>
        <p:nvSpPr>
          <p:cNvPr id="14" name="anim-g2-899"/>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استغل الـ ٥٠٠ غرام كاملة، والوزن منخفض فوق العجلات</a:t>
            </a:r>
            <a:endParaRPr lang="ar-SA" sz="1900" dirty="0"/>
          </a:p>
        </p:txBody>
      </p:sp>
      <p:sp>
        <p:nvSpPr>
          <p:cNvPr id="15" name="anim-g3-900"/>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01"/>
          <p:cNvSpPr/>
          <p:nvPr/>
        </p:nvSpPr>
        <p:spPr>
          <a:xfrm>
            <a:off x="3314090" y="2267712"/>
            <a:ext cx="566928" cy="566928"/>
          </a:xfrm>
          <a:prstGeom prst="roundRect">
            <a:avLst>
              <a:gd name="adj" fmla="val 32258"/>
            </a:avLst>
          </a:prstGeom>
          <a:solidFill>
            <a:srgbClr val="F7E6BC"/>
          </a:solidFill>
          <a:ln/>
        </p:spPr>
      </p:sp>
      <p:sp>
        <p:nvSpPr>
          <p:cNvPr id="17" name="anim-g3-902"/>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03"/>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عجلات تمسك الأرض</a:t>
            </a:r>
            <a:endParaRPr lang="ar-SA" sz="2200" dirty="0"/>
          </a:p>
        </p:txBody>
      </p:sp>
      <p:sp>
        <p:nvSpPr>
          <p:cNvPr id="19" name="anim-g3-904"/>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مطاط لين ونظيف. العجلات المغبرة تنزلق</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🤖٥ روبوت السومو  ·  ١٢١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pic>
        <p:nvPicPr>
          <p:cNvPr id="2" name="Image 0" descr="C:\Users\user\projects\younes-training\arduino3\.pptx-cache\s122-0.jpg">    </p:cNvPr>
          <p:cNvPicPr>
            <a:picLocks noChangeAspect="1"/>
          </p:cNvPicPr>
          <p:nvPr/>
        </p:nvPicPr>
        <p:blipFill>
          <a:blip r:embed="rId1"/>
          <a:stretch>
            <a:fillRect/>
          </a:stretch>
        </p:blipFill>
        <p:spPr>
          <a:xfrm>
            <a:off x="0" y="0"/>
            <a:ext cx="12191695" cy="6858000"/>
          </a:xfrm>
          <a:prstGeom prst="rect">
            <a:avLst/>
          </a:prstGeom>
        </p:spPr>
      </p:pic>
      <p:pic>
        <p:nvPicPr>
          <p:cNvPr id="3" name="anim-g1-905" descr="C:\Users\user\projects\younes-training\arduino3\.pptx-cache\s122-1.jpg">    </p:cNvPr>
          <p:cNvPicPr>
            <a:picLocks noChangeAspect="1"/>
          </p:cNvPicPr>
          <p:nvPr/>
        </p:nvPicPr>
        <p:blipFill>
          <a:blip r:embed="rId2"/>
          <a:stretch>
            <a:fillRect/>
          </a:stretch>
        </p:blipFill>
        <p:spPr>
          <a:xfrm>
            <a:off x="0" y="0"/>
            <a:ext cx="12191695" cy="6858000"/>
          </a:xfrm>
          <a:prstGeom prst="rect">
            <a:avLst/>
          </a:prstGeom>
        </p:spPr>
      </p:pic>
      <p:pic>
        <p:nvPicPr>
          <p:cNvPr id="4" name="anim-g2-906" descr="C:\Users\user\projects\younes-training\arduino3\.pptx-cache\s122-2.jpg">    </p:cNvPr>
          <p:cNvPicPr>
            <a:picLocks noChangeAspect="1"/>
          </p:cNvPicPr>
          <p:nvPr/>
        </p:nvPicPr>
        <p:blipFill>
          <a:blip r:embed="rId3"/>
          <a:stretch>
            <a:fillRect/>
          </a:stretch>
        </p:blipFill>
        <p:spPr>
          <a:xfrm>
            <a:off x="0" y="0"/>
            <a:ext cx="12191695" cy="6858000"/>
          </a:xfrm>
          <a:prstGeom prst="rect">
            <a:avLst/>
          </a:prstGeom>
        </p:spPr>
      </p:pic>
      <p:pic>
        <p:nvPicPr>
          <p:cNvPr id="5" name="anim-g3-907" descr="C:\Users\user\projects\younes-training\arduino3\.pptx-cache\s122-3.jpg">    </p:cNvPr>
          <p:cNvPicPr>
            <a:picLocks noChangeAspect="1"/>
          </p:cNvPicPr>
          <p:nvPr/>
        </p:nvPicPr>
        <p:blipFill>
          <a:blip r:embed="rId4"/>
          <a:stretch>
            <a:fillRect/>
          </a:stretch>
        </p:blipFill>
        <p:spPr>
          <a:xfrm>
            <a:off x="0" y="0"/>
            <a:ext cx="12191695" cy="6858000"/>
          </a:xfrm>
          <a:prstGeom prst="rect">
            <a:avLst/>
          </a:prstGeom>
        </p:spPr>
      </p:pic>
      <p:pic>
        <p:nvPicPr>
          <p:cNvPr id="6" name="anim-g4-908" descr="C:\Users\user\projects\younes-training\arduino3\.pptx-cache\s12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روبوتك يخرج من الحلبة وحده أحيانًا وهو يطارد خصمه… لماذا؟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المحركات أقوى من اللازم</a:t>
            </a:r>
            <a:endParaRPr lang="ar-SA" sz="2500" dirty="0"/>
          </a:p>
        </p:txBody>
      </p:sp>
      <p:sp>
        <p:nvSpPr>
          <p:cNvPr id="9" name="anim-g1-909"/>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910"/>
          <p:cNvSpPr/>
          <p:nvPr/>
        </p:nvSpPr>
        <p:spPr>
          <a:xfrm>
            <a:off x="10231831" y="2194560"/>
            <a:ext cx="954024" cy="954024"/>
          </a:xfrm>
          <a:prstGeom prst="roundRect">
            <a:avLst>
              <a:gd name="adj" fmla="val 11502"/>
            </a:avLst>
          </a:prstGeom>
          <a:solidFill>
            <a:srgbClr val="A3A9BA"/>
          </a:solidFill>
          <a:ln/>
        </p:spPr>
      </p:sp>
      <p:sp>
        <p:nvSpPr>
          <p:cNvPr id="11" name="anim-g1-911"/>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912"/>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المحركات أقوى من اللازم</a:t>
            </a:r>
            <a:endParaRPr lang="ar-SA" sz="2400" dirty="0"/>
          </a:p>
        </p:txBody>
      </p:sp>
      <p:sp>
        <p:nvSpPr>
          <p:cNvPr id="13" name="anim-g1-913"/>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القوة ليست المشكلة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فحص الحافة ليس أول شرط في loop</a:t>
            </a:r>
            <a:endParaRPr lang="ar-SA" sz="2500" dirty="0"/>
          </a:p>
        </p:txBody>
      </p:sp>
      <p:sp>
        <p:nvSpPr>
          <p:cNvPr id="18" name="anim-g1-914"/>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915"/>
          <p:cNvSpPr/>
          <p:nvPr/>
        </p:nvSpPr>
        <p:spPr>
          <a:xfrm>
            <a:off x="10231831" y="3569208"/>
            <a:ext cx="954024" cy="954024"/>
          </a:xfrm>
          <a:prstGeom prst="roundRect">
            <a:avLst>
              <a:gd name="adj" fmla="val 11502"/>
            </a:avLst>
          </a:prstGeom>
          <a:solidFill>
            <a:srgbClr val="2E9E6B"/>
          </a:solidFill>
          <a:ln/>
        </p:spPr>
      </p:sp>
      <p:sp>
        <p:nvSpPr>
          <p:cNvPr id="20" name="anim-g1-916"/>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917"/>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فحص الحافة ليس أول شرط في loop</a:t>
            </a:r>
            <a:endParaRPr lang="ar-SA" sz="2400" dirty="0"/>
          </a:p>
        </p:txBody>
      </p:sp>
      <p:sp>
        <p:nvSpPr>
          <p:cNvPr id="22" name="anim-g1-918"/>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إن جاء الهجوم قبل فحص الحافة، يتجاهل الروبوت الأبيض وهو مندفع</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الخصم أذكى</a:t>
            </a:r>
            <a:endParaRPr lang="ar-SA" sz="2500" dirty="0"/>
          </a:p>
        </p:txBody>
      </p:sp>
      <p:sp>
        <p:nvSpPr>
          <p:cNvPr id="27" name="anim-g1-919"/>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920"/>
          <p:cNvSpPr/>
          <p:nvPr/>
        </p:nvSpPr>
        <p:spPr>
          <a:xfrm>
            <a:off x="10231831" y="4943856"/>
            <a:ext cx="954024" cy="954024"/>
          </a:xfrm>
          <a:prstGeom prst="roundRect">
            <a:avLst>
              <a:gd name="adj" fmla="val 11502"/>
            </a:avLst>
          </a:prstGeom>
          <a:solidFill>
            <a:srgbClr val="A3A9BA"/>
          </a:solidFill>
          <a:ln/>
        </p:spPr>
      </p:sp>
      <p:sp>
        <p:nvSpPr>
          <p:cNvPr id="29" name="anim-g1-921"/>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922"/>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الخصم أذكى</a:t>
            </a:r>
            <a:endParaRPr lang="ar-SA" sz="2400" dirty="0"/>
          </a:p>
        </p:txBody>
      </p:sp>
      <p:sp>
        <p:nvSpPr>
          <p:cNvPr id="31" name="anim-g1-923"/>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الخروج هنا خطأ في ترتيب الأولويات، لا ذكاء الخصم</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🤖٥ روبوت السومو  ·  ١٢٣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pic>
        <p:nvPicPr>
          <p:cNvPr id="2" name="Image 0" descr="C:\Users\user\projects\younes-training\arduino3\.pptx-cache\s1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pic>
        <p:nvPicPr>
          <p:cNvPr id="2" name="Image 0" descr="C:\Users\user\projects\younes-training\arduino3\.pptx-cache\s1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احذر الحافة، ثم هاجم، ثم ابحث…</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ثلاثة أسطر بترتيب صحيح تصنع مصارعًا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🤖٥ روبوت السومو  ·  ١٢٦</a:t>
            </a:r>
            <a:endParaRPr lang="ar-SA" sz="12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🤖٦ روبوت المتاهة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ضع يدك اليمنى على الجدار… ولا ترفعها حتى تخرج</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🤖٦ روبوت المتاهة  ·  ١٢٧</a:t>
            </a:r>
            <a:endParaRPr lang="ar-SA" sz="12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924"/>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925"/>
          <p:cNvSpPr/>
          <p:nvPr/>
        </p:nvSpPr>
        <p:spPr>
          <a:xfrm>
            <a:off x="10573207" y="2109978"/>
            <a:ext cx="566928" cy="566928"/>
          </a:xfrm>
          <a:prstGeom prst="ellipse">
            <a:avLst/>
          </a:prstGeom>
          <a:solidFill>
            <a:srgbClr val="D9AE4B"/>
          </a:solidFill>
          <a:ln/>
        </p:spPr>
      </p:sp>
      <p:sp>
        <p:nvSpPr>
          <p:cNvPr id="7" name="anim-g1-926"/>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927"/>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قاعدة اليد اليمنى ولماذا تنجح</a:t>
            </a:r>
            <a:endParaRPr lang="ar-SA" sz="2400" dirty="0"/>
          </a:p>
        </p:txBody>
      </p:sp>
      <p:sp>
        <p:nvSpPr>
          <p:cNvPr id="9" name="anim-g2-928"/>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929"/>
          <p:cNvSpPr/>
          <p:nvPr/>
        </p:nvSpPr>
        <p:spPr>
          <a:xfrm>
            <a:off x="10573207" y="3166110"/>
            <a:ext cx="566928" cy="566928"/>
          </a:xfrm>
          <a:prstGeom prst="ellipse">
            <a:avLst/>
          </a:prstGeom>
          <a:solidFill>
            <a:srgbClr val="D9AE4B"/>
          </a:solidFill>
          <a:ln/>
        </p:spPr>
      </p:sp>
      <p:sp>
        <p:nvSpPr>
          <p:cNvPr id="11" name="anim-g2-930"/>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931"/>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تحوّل القاعدة إلى أربعة شروط مرتبة</a:t>
            </a:r>
            <a:endParaRPr lang="ar-SA" sz="2400" dirty="0"/>
          </a:p>
        </p:txBody>
      </p:sp>
      <p:sp>
        <p:nvSpPr>
          <p:cNvPr id="13" name="anim-g3-932"/>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933"/>
          <p:cNvSpPr/>
          <p:nvPr/>
        </p:nvSpPr>
        <p:spPr>
          <a:xfrm>
            <a:off x="10573207" y="4222242"/>
            <a:ext cx="566928" cy="566928"/>
          </a:xfrm>
          <a:prstGeom prst="ellipse">
            <a:avLst/>
          </a:prstGeom>
          <a:solidFill>
            <a:srgbClr val="D9AE4B"/>
          </a:solidFill>
          <a:ln/>
        </p:spPr>
      </p:sp>
      <p:sp>
        <p:nvSpPr>
          <p:cNvPr id="15" name="anim-g3-934"/>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935"/>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تقيس الجدران بحساسات المسافة</a:t>
            </a:r>
            <a:endParaRPr lang="ar-SA" sz="2400" dirty="0"/>
          </a:p>
        </p:txBody>
      </p:sp>
      <p:sp>
        <p:nvSpPr>
          <p:cNvPr id="17" name="anim-g4-936"/>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937"/>
          <p:cNvSpPr/>
          <p:nvPr/>
        </p:nvSpPr>
        <p:spPr>
          <a:xfrm>
            <a:off x="10573207" y="5278374"/>
            <a:ext cx="566928" cy="566928"/>
          </a:xfrm>
          <a:prstGeom prst="ellipse">
            <a:avLst/>
          </a:prstGeom>
          <a:solidFill>
            <a:srgbClr val="D9AE4B"/>
          </a:solidFill>
          <a:ln/>
        </p:spPr>
      </p:sp>
      <p:sp>
        <p:nvSpPr>
          <p:cNvPr id="19" name="anim-g4-938"/>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939"/>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تعرف متى تفشل القاعدة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🤖٦ روبوت المتاهة  ·  ١٢٨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50047" y="457200"/>
            <a:ext cx="3218688" cy="457200"/>
          </a:xfrm>
          <a:prstGeom prst="roundRect">
            <a:avLst>
              <a:gd name="adj" fmla="val 50000"/>
            </a:avLst>
          </a:prstGeom>
          <a:solidFill>
            <a:srgbClr val="F6EBCF"/>
          </a:solidFill>
          <a:ln/>
        </p:spPr>
      </p:sp>
      <p:sp>
        <p:nvSpPr>
          <p:cNvPr id="3" name="Text 1"/>
          <p:cNvSpPr/>
          <p:nvPr/>
        </p:nvSpPr>
        <p:spPr>
          <a:xfrm>
            <a:off x="8150047" y="457200"/>
            <a:ext cx="321868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القاعدة بأربع جمل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عقل متتبع الجدار</a:t>
            </a:r>
            <a:endParaRPr lang="ar-SA" sz="3800" dirty="0"/>
          </a:p>
        </p:txBody>
      </p:sp>
      <p:sp>
        <p:nvSpPr>
          <p:cNvPr id="5" name="anim-g1-940"/>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41"/>
          <p:cNvSpPr/>
          <p:nvPr/>
        </p:nvSpPr>
        <p:spPr>
          <a:xfrm>
            <a:off x="10527487" y="2267712"/>
            <a:ext cx="566928" cy="566928"/>
          </a:xfrm>
          <a:prstGeom prst="roundRect">
            <a:avLst>
              <a:gd name="adj" fmla="val 32258"/>
            </a:avLst>
          </a:prstGeom>
          <a:solidFill>
            <a:srgbClr val="F7E6BC"/>
          </a:solidFill>
          <a:ln/>
        </p:spPr>
      </p:sp>
      <p:sp>
        <p:nvSpPr>
          <p:cNvPr id="7" name="anim-g1-94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43"/>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١. اليمين مفتوح؟</a:t>
            </a:r>
            <a:endParaRPr lang="ar-SA" sz="2200" dirty="0"/>
          </a:p>
        </p:txBody>
      </p:sp>
      <p:sp>
        <p:nvSpPr>
          <p:cNvPr id="9" name="anim-g1-944"/>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انعطف يمينًا وتقدّم</a:t>
            </a:r>
            <a:endParaRPr lang="ar-SA" sz="1900" dirty="0"/>
          </a:p>
        </p:txBody>
      </p:sp>
      <p:sp>
        <p:nvSpPr>
          <p:cNvPr id="10" name="anim-g2-945"/>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46"/>
          <p:cNvSpPr/>
          <p:nvPr/>
        </p:nvSpPr>
        <p:spPr>
          <a:xfrm>
            <a:off x="7822463" y="2267712"/>
            <a:ext cx="566928" cy="566928"/>
          </a:xfrm>
          <a:prstGeom prst="roundRect">
            <a:avLst>
              <a:gd name="adj" fmla="val 32258"/>
            </a:avLst>
          </a:prstGeom>
          <a:solidFill>
            <a:srgbClr val="F7E6BC"/>
          </a:solidFill>
          <a:ln/>
        </p:spPr>
      </p:sp>
      <p:sp>
        <p:nvSpPr>
          <p:cNvPr id="12" name="anim-g2-947"/>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48"/>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٢. وإلا الأمام؟</a:t>
            </a:r>
            <a:endParaRPr lang="ar-SA" sz="2200" dirty="0"/>
          </a:p>
        </p:txBody>
      </p:sp>
      <p:sp>
        <p:nvSpPr>
          <p:cNvPr id="14" name="anim-g2-949"/>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تقدّم</a:t>
            </a:r>
            <a:endParaRPr lang="ar-SA" sz="1900" dirty="0"/>
          </a:p>
        </p:txBody>
      </p:sp>
      <p:sp>
        <p:nvSpPr>
          <p:cNvPr id="15" name="anim-g3-950"/>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51"/>
          <p:cNvSpPr/>
          <p:nvPr/>
        </p:nvSpPr>
        <p:spPr>
          <a:xfrm>
            <a:off x="5117440" y="2267712"/>
            <a:ext cx="566928" cy="566928"/>
          </a:xfrm>
          <a:prstGeom prst="roundRect">
            <a:avLst>
              <a:gd name="adj" fmla="val 32258"/>
            </a:avLst>
          </a:prstGeom>
          <a:solidFill>
            <a:srgbClr val="F7E6BC"/>
          </a:solidFill>
          <a:ln/>
        </p:spPr>
      </p:sp>
      <p:sp>
        <p:nvSpPr>
          <p:cNvPr id="17" name="anim-g3-952"/>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53"/>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 وإلا اليسار؟</a:t>
            </a:r>
            <a:endParaRPr lang="ar-SA" sz="2200" dirty="0"/>
          </a:p>
        </p:txBody>
      </p:sp>
      <p:sp>
        <p:nvSpPr>
          <p:cNvPr id="19" name="anim-g3-954"/>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انعطف يسارًا وتقدّم</a:t>
            </a:r>
            <a:endParaRPr lang="ar-SA" sz="1900" dirty="0"/>
          </a:p>
        </p:txBody>
      </p:sp>
      <p:sp>
        <p:nvSpPr>
          <p:cNvPr id="20" name="anim-g4-955"/>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956"/>
          <p:cNvSpPr/>
          <p:nvPr/>
        </p:nvSpPr>
        <p:spPr>
          <a:xfrm>
            <a:off x="2412416" y="2267712"/>
            <a:ext cx="566928" cy="566928"/>
          </a:xfrm>
          <a:prstGeom prst="roundRect">
            <a:avLst>
              <a:gd name="adj" fmla="val 32258"/>
            </a:avLst>
          </a:prstGeom>
          <a:solidFill>
            <a:srgbClr val="F7E6BC"/>
          </a:solidFill>
          <a:ln/>
        </p:spPr>
      </p:sp>
      <p:sp>
        <p:nvSpPr>
          <p:cNvPr id="22" name="anim-g4-957"/>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958"/>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٤. وإلا</a:t>
            </a:r>
            <a:endParaRPr lang="ar-SA" sz="2200" dirty="0"/>
          </a:p>
        </p:txBody>
      </p:sp>
      <p:sp>
        <p:nvSpPr>
          <p:cNvPr id="24" name="anim-g4-959"/>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طريق مسدود: ارجع</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🤖٦ روبوت المتاهة  ·  ١٢٩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pic>
        <p:nvPicPr>
          <p:cNvPr id="2" name="Image 0" descr="C:\Users\user\projects\younes-training\arduino3\.pptx-cache\s1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pic>
        <p:nvPicPr>
          <p:cNvPr id="2" name="Image 0" descr="C:\Users\user\projects\younes-training\arduino3\.pptx-cache\s131-0.jpg">    </p:cNvPr>
          <p:cNvPicPr>
            <a:picLocks noChangeAspect="1"/>
          </p:cNvPicPr>
          <p:nvPr/>
        </p:nvPicPr>
        <p:blipFill>
          <a:blip r:embed="rId1"/>
          <a:stretch>
            <a:fillRect/>
          </a:stretch>
        </p:blipFill>
        <p:spPr>
          <a:xfrm>
            <a:off x="0" y="0"/>
            <a:ext cx="12191695" cy="6858000"/>
          </a:xfrm>
          <a:prstGeom prst="rect">
            <a:avLst/>
          </a:prstGeom>
        </p:spPr>
      </p:pic>
      <p:pic>
        <p:nvPicPr>
          <p:cNvPr id="3" name="anim-g1-960" descr="C:\Users\user\projects\younes-training\arduino3\.pptx-cache\s131-1.jpg">    </p:cNvPr>
          <p:cNvPicPr>
            <a:picLocks noChangeAspect="1"/>
          </p:cNvPicPr>
          <p:nvPr/>
        </p:nvPicPr>
        <p:blipFill>
          <a:blip r:embed="rId2"/>
          <a:stretch>
            <a:fillRect/>
          </a:stretch>
        </p:blipFill>
        <p:spPr>
          <a:xfrm>
            <a:off x="0" y="0"/>
            <a:ext cx="12191695" cy="6858000"/>
          </a:xfrm>
          <a:prstGeom prst="rect">
            <a:avLst/>
          </a:prstGeom>
        </p:spPr>
      </p:pic>
      <p:pic>
        <p:nvPicPr>
          <p:cNvPr id="4" name="anim-g2-961" descr="C:\Users\user\projects\younes-training\arduino3\.pptx-cache\s131-2.jpg">    </p:cNvPr>
          <p:cNvPicPr>
            <a:picLocks noChangeAspect="1"/>
          </p:cNvPicPr>
          <p:nvPr/>
        </p:nvPicPr>
        <p:blipFill>
          <a:blip r:embed="rId3"/>
          <a:stretch>
            <a:fillRect/>
          </a:stretch>
        </p:blipFill>
        <p:spPr>
          <a:xfrm>
            <a:off x="0" y="0"/>
            <a:ext cx="12191695" cy="6858000"/>
          </a:xfrm>
          <a:prstGeom prst="rect">
            <a:avLst/>
          </a:prstGeom>
        </p:spPr>
      </p:pic>
      <p:pic>
        <p:nvPicPr>
          <p:cNvPr id="5" name="anim-g3-962" descr="C:\Users\user\projects\younes-training\arduino3\.pptx-cache\s131-3.jpg">    </p:cNvPr>
          <p:cNvPicPr>
            <a:picLocks noChangeAspect="1"/>
          </p:cNvPicPr>
          <p:nvPr/>
        </p:nvPicPr>
        <p:blipFill>
          <a:blip r:embed="rId4"/>
          <a:stretch>
            <a:fillRect/>
          </a:stretch>
        </p:blipFill>
        <p:spPr>
          <a:xfrm>
            <a:off x="0" y="0"/>
            <a:ext cx="12191695" cy="6858000"/>
          </a:xfrm>
          <a:prstGeom prst="rect">
            <a:avLst/>
          </a:prstGeom>
        </p:spPr>
      </p:pic>
      <p:pic>
        <p:nvPicPr>
          <p:cNvPr id="6" name="anim-g4-963" descr="C:\Users\user\projects\younes-training\arduino3\.pptx-cache\s131-4.jpg">    </p:cNvPr>
          <p:cNvPicPr>
            <a:picLocks noChangeAspect="1"/>
          </p:cNvPicPr>
          <p:nvPr/>
        </p:nvPicPr>
        <p:blipFill>
          <a:blip r:embed="rId5"/>
          <a:stretch>
            <a:fillRect/>
          </a:stretch>
        </p:blipFill>
        <p:spPr>
          <a:xfrm>
            <a:off x="0" y="0"/>
            <a:ext cx="12191695" cy="6858000"/>
          </a:xfrm>
          <a:prstGeom prst="rect">
            <a:avLst/>
          </a:prstGeom>
        </p:spPr>
      </p:pic>
      <p:pic>
        <p:nvPicPr>
          <p:cNvPr id="7" name="anim-g5-964" descr="C:\Users\user\projects\younes-training\arduino3\.pptx-cache\s131-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حدود القاعدة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متى لا تنجح اليد اليمنى؟</a:t>
            </a:r>
            <a:endParaRPr lang="ar-SA" sz="3800" dirty="0"/>
          </a:p>
        </p:txBody>
      </p:sp>
      <p:sp>
        <p:nvSpPr>
          <p:cNvPr id="5" name="anim-g1-965"/>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66"/>
          <p:cNvSpPr/>
          <p:nvPr/>
        </p:nvSpPr>
        <p:spPr>
          <a:xfrm>
            <a:off x="10527487" y="2267712"/>
            <a:ext cx="566928" cy="566928"/>
          </a:xfrm>
          <a:prstGeom prst="roundRect">
            <a:avLst>
              <a:gd name="adj" fmla="val 32258"/>
            </a:avLst>
          </a:prstGeom>
          <a:solidFill>
            <a:srgbClr val="F7E6BC"/>
          </a:solidFill>
          <a:ln/>
        </p:spPr>
      </p:sp>
      <p:sp>
        <p:nvSpPr>
          <p:cNvPr id="7" name="anim-g1-96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68"/>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الجزر</a:t>
            </a:r>
            <a:endParaRPr lang="ar-SA" sz="2200" dirty="0"/>
          </a:p>
        </p:txBody>
      </p:sp>
      <p:sp>
        <p:nvSpPr>
          <p:cNvPr id="9" name="anim-g1-969"/>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إن كان المخرج داخل جدار منفصل عن الجدار الخارجي، يدور الروبوت حوله للأبد</a:t>
            </a:r>
            <a:endParaRPr lang="ar-SA" sz="1900" dirty="0"/>
          </a:p>
        </p:txBody>
      </p:sp>
      <p:sp>
        <p:nvSpPr>
          <p:cNvPr id="10" name="anim-g2-970"/>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71"/>
          <p:cNvSpPr/>
          <p:nvPr/>
        </p:nvSpPr>
        <p:spPr>
          <a:xfrm>
            <a:off x="6920789" y="2267712"/>
            <a:ext cx="566928" cy="566928"/>
          </a:xfrm>
          <a:prstGeom prst="roundRect">
            <a:avLst>
              <a:gd name="adj" fmla="val 32258"/>
            </a:avLst>
          </a:prstGeom>
          <a:solidFill>
            <a:srgbClr val="F7E6BC"/>
          </a:solidFill>
          <a:ln/>
        </p:spPr>
      </p:sp>
      <p:sp>
        <p:nvSpPr>
          <p:cNvPr id="12" name="anim-g2-972"/>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73"/>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ليست الأقصر</a:t>
            </a:r>
            <a:endParaRPr lang="ar-SA" sz="2200" dirty="0"/>
          </a:p>
        </p:txBody>
      </p:sp>
      <p:sp>
        <p:nvSpPr>
          <p:cNvPr id="14" name="anim-g2-974"/>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تضمن الوصول لا السرعة، فتدخل طرقًا مسدودة كثيرة</a:t>
            </a:r>
            <a:endParaRPr lang="ar-SA" sz="1900" dirty="0"/>
          </a:p>
        </p:txBody>
      </p:sp>
      <p:sp>
        <p:nvSpPr>
          <p:cNvPr id="15" name="anim-g3-975"/>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76"/>
          <p:cNvSpPr/>
          <p:nvPr/>
        </p:nvSpPr>
        <p:spPr>
          <a:xfrm>
            <a:off x="3314090" y="2267712"/>
            <a:ext cx="566928" cy="566928"/>
          </a:xfrm>
          <a:prstGeom prst="roundRect">
            <a:avLst>
              <a:gd name="adj" fmla="val 32258"/>
            </a:avLst>
          </a:prstGeom>
          <a:solidFill>
            <a:srgbClr val="F7E6BC"/>
          </a:solidFill>
          <a:ln/>
        </p:spPr>
      </p:sp>
      <p:sp>
        <p:nvSpPr>
          <p:cNvPr id="17" name="anim-g3-977"/>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78"/>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الحل المتقدم</a:t>
            </a:r>
            <a:endParaRPr lang="ar-SA" sz="2200" dirty="0"/>
          </a:p>
        </p:txBody>
      </p:sp>
      <p:sp>
        <p:nvSpPr>
          <p:cNvPr id="19" name="anim-g3-979"/>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خوارزميات تتذكر الخريطة، مثل Flood Fill في مسابقات Micromouse</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🤖٦ روبوت المتاهة  ·  ١٣٢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pic>
        <p:nvPicPr>
          <p:cNvPr id="2" name="Image 0" descr="C:\Users\user\projects\younes-training\arduino3\.pptx-cache\s133-0.jpg">    </p:cNvPr>
          <p:cNvPicPr>
            <a:picLocks noChangeAspect="1"/>
          </p:cNvPicPr>
          <p:nvPr/>
        </p:nvPicPr>
        <p:blipFill>
          <a:blip r:embed="rId1"/>
          <a:stretch>
            <a:fillRect/>
          </a:stretch>
        </p:blipFill>
        <p:spPr>
          <a:xfrm>
            <a:off x="0" y="0"/>
            <a:ext cx="12191695" cy="6858000"/>
          </a:xfrm>
          <a:prstGeom prst="rect">
            <a:avLst/>
          </a:prstGeom>
        </p:spPr>
      </p:pic>
      <p:pic>
        <p:nvPicPr>
          <p:cNvPr id="3" name="anim-g1-980" descr="C:\Users\user\projects\younes-training\arduino3\.pptx-cache\s133-1.jpg">    </p:cNvPr>
          <p:cNvPicPr>
            <a:picLocks noChangeAspect="1"/>
          </p:cNvPicPr>
          <p:nvPr/>
        </p:nvPicPr>
        <p:blipFill>
          <a:blip r:embed="rId2"/>
          <a:stretch>
            <a:fillRect/>
          </a:stretch>
        </p:blipFill>
        <p:spPr>
          <a:xfrm>
            <a:off x="0" y="0"/>
            <a:ext cx="12191695" cy="6858000"/>
          </a:xfrm>
          <a:prstGeom prst="rect">
            <a:avLst/>
          </a:prstGeom>
        </p:spPr>
      </p:pic>
      <p:pic>
        <p:nvPicPr>
          <p:cNvPr id="4" name="anim-g2-981" descr="C:\Users\user\projects\younes-training\arduino3\.pptx-cache\s133-2.jpg">    </p:cNvPr>
          <p:cNvPicPr>
            <a:picLocks noChangeAspect="1"/>
          </p:cNvPicPr>
          <p:nvPr/>
        </p:nvPicPr>
        <p:blipFill>
          <a:blip r:embed="rId3"/>
          <a:stretch>
            <a:fillRect/>
          </a:stretch>
        </p:blipFill>
        <p:spPr>
          <a:xfrm>
            <a:off x="0" y="0"/>
            <a:ext cx="12191695" cy="6858000"/>
          </a:xfrm>
          <a:prstGeom prst="rect">
            <a:avLst/>
          </a:prstGeom>
        </p:spPr>
      </p:pic>
      <p:pic>
        <p:nvPicPr>
          <p:cNvPr id="5" name="anim-g3-982" descr="C:\Users\user\projects\younes-training\arduino3\.pptx-cache\s133-3.jpg">    </p:cNvPr>
          <p:cNvPicPr>
            <a:picLocks noChangeAspect="1"/>
          </p:cNvPicPr>
          <p:nvPr/>
        </p:nvPicPr>
        <p:blipFill>
          <a:blip r:embed="rId4"/>
          <a:stretch>
            <a:fillRect/>
          </a:stretch>
        </p:blipFill>
        <p:spPr>
          <a:xfrm>
            <a:off x="0" y="0"/>
            <a:ext cx="12191695" cy="6858000"/>
          </a:xfrm>
          <a:prstGeom prst="rect">
            <a:avLst/>
          </a:prstGeom>
        </p:spPr>
      </p:pic>
      <p:pic>
        <p:nvPicPr>
          <p:cNvPr id="6" name="anim-g4-983" descr="C:\Users\user\projects\younes-training\arduino3\.pptx-cache\s13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وصل الروبوت إلى تقاطع: اليمين مسدود، والأمام واليسار مفتوحان… ماذا يفعل؟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يتقدم للأمام</a:t>
            </a:r>
            <a:endParaRPr lang="ar-SA" sz="2500" dirty="0"/>
          </a:p>
        </p:txBody>
      </p:sp>
      <p:sp>
        <p:nvSpPr>
          <p:cNvPr id="9" name="anim-g1-984"/>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985"/>
          <p:cNvSpPr/>
          <p:nvPr/>
        </p:nvSpPr>
        <p:spPr>
          <a:xfrm>
            <a:off x="10231831" y="2194560"/>
            <a:ext cx="954024" cy="954024"/>
          </a:xfrm>
          <a:prstGeom prst="roundRect">
            <a:avLst>
              <a:gd name="adj" fmla="val 11502"/>
            </a:avLst>
          </a:prstGeom>
          <a:solidFill>
            <a:srgbClr val="2E9E6B"/>
          </a:solidFill>
          <a:ln/>
        </p:spPr>
      </p:sp>
      <p:sp>
        <p:nvSpPr>
          <p:cNvPr id="11" name="anim-g1-98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98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يتقدم للأمام</a:t>
            </a:r>
            <a:endParaRPr lang="ar-SA" sz="2400" dirty="0"/>
          </a:p>
        </p:txBody>
      </p:sp>
      <p:sp>
        <p:nvSpPr>
          <p:cNvPr id="13" name="anim-g1-98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القاعدة الثانية تُنفّذ: الأمام قبل اليسار</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ينعطف يسارًا</a:t>
            </a:r>
            <a:endParaRPr lang="ar-SA" sz="2500" dirty="0"/>
          </a:p>
        </p:txBody>
      </p:sp>
      <p:sp>
        <p:nvSpPr>
          <p:cNvPr id="18" name="anim-g1-989"/>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990"/>
          <p:cNvSpPr/>
          <p:nvPr/>
        </p:nvSpPr>
        <p:spPr>
          <a:xfrm>
            <a:off x="10231831" y="3569208"/>
            <a:ext cx="954024" cy="954024"/>
          </a:xfrm>
          <a:prstGeom prst="roundRect">
            <a:avLst>
              <a:gd name="adj" fmla="val 11502"/>
            </a:avLst>
          </a:prstGeom>
          <a:solidFill>
            <a:srgbClr val="A3A9BA"/>
          </a:solidFill>
          <a:ln/>
        </p:spPr>
      </p:sp>
      <p:sp>
        <p:nvSpPr>
          <p:cNvPr id="20" name="anim-g1-99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99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ينعطف يسارًا</a:t>
            </a:r>
            <a:endParaRPr lang="ar-SA" sz="2400" dirty="0"/>
          </a:p>
        </p:txBody>
      </p:sp>
      <p:sp>
        <p:nvSpPr>
          <p:cNvPr id="22" name="anim-g1-99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اليسار ثالث في الترتيب</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يرجع للخلف</a:t>
            </a:r>
            <a:endParaRPr lang="ar-SA" sz="2500" dirty="0"/>
          </a:p>
        </p:txBody>
      </p:sp>
      <p:sp>
        <p:nvSpPr>
          <p:cNvPr id="27" name="anim-g1-994"/>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995"/>
          <p:cNvSpPr/>
          <p:nvPr/>
        </p:nvSpPr>
        <p:spPr>
          <a:xfrm>
            <a:off x="10231831" y="4943856"/>
            <a:ext cx="954024" cy="954024"/>
          </a:xfrm>
          <a:prstGeom prst="roundRect">
            <a:avLst>
              <a:gd name="adj" fmla="val 11502"/>
            </a:avLst>
          </a:prstGeom>
          <a:solidFill>
            <a:srgbClr val="A3A9BA"/>
          </a:solidFill>
          <a:ln/>
        </p:spPr>
      </p:sp>
      <p:sp>
        <p:nvSpPr>
          <p:cNvPr id="29" name="anim-g1-99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99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يرجع للخلف</a:t>
            </a:r>
            <a:endParaRPr lang="ar-SA" sz="2400" dirty="0"/>
          </a:p>
        </p:txBody>
      </p:sp>
      <p:sp>
        <p:nvSpPr>
          <p:cNvPr id="31" name="anim-g1-99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الرجوع فقط حين يُسد كل شيء</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🤖٦ روبوت المتاهة  ·  ١٣٤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pic>
        <p:nvPicPr>
          <p:cNvPr id="2" name="Image 0" descr="C:\Users\user\projects\younes-training\arduino3\.pptx-cache\s1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pic>
        <p:nvPicPr>
          <p:cNvPr id="2" name="Image 0" descr="C:\Users\user\projects\younes-training\arduino3\.pptx-cache\s1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قاعدة بسيطة بترتيب صارم…</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تُخرجك من أي متاهة متصلة الجدران: هذه قوة الخوارزمية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🤖٦ روبوت المتاهة  ·  ١٣٧</a:t>
            </a:r>
            <a:endParaRPr lang="ar-SA" sz="12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إلى العالمية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كيف تأخذ فريقك من الفصل… إلى منصة التتويج؟</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المسابقات العالمية  ·  ١٣٨</a:t>
            </a:r>
            <a:endParaRPr lang="ar-SA" sz="12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99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000"/>
          <p:cNvSpPr/>
          <p:nvPr/>
        </p:nvSpPr>
        <p:spPr>
          <a:xfrm>
            <a:off x="10573207" y="2109978"/>
            <a:ext cx="566928" cy="566928"/>
          </a:xfrm>
          <a:prstGeom prst="ellipse">
            <a:avLst/>
          </a:prstGeom>
          <a:solidFill>
            <a:srgbClr val="D9AE4B"/>
          </a:solidFill>
          <a:ln/>
        </p:spPr>
      </p:sp>
      <p:sp>
        <p:nvSpPr>
          <p:cNvPr id="7" name="anim-g1-100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00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تعرف أشهر مسابقات الروبوت العالمية وفئاتها</a:t>
            </a:r>
            <a:endParaRPr lang="ar-SA" sz="2400" dirty="0"/>
          </a:p>
        </p:txBody>
      </p:sp>
      <p:sp>
        <p:nvSpPr>
          <p:cNvPr id="9" name="anim-g2-100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004"/>
          <p:cNvSpPr/>
          <p:nvPr/>
        </p:nvSpPr>
        <p:spPr>
          <a:xfrm>
            <a:off x="10573207" y="3166110"/>
            <a:ext cx="566928" cy="566928"/>
          </a:xfrm>
          <a:prstGeom prst="ellipse">
            <a:avLst/>
          </a:prstGeom>
          <a:solidFill>
            <a:srgbClr val="D9AE4B"/>
          </a:solidFill>
          <a:ln/>
        </p:spPr>
      </p:sp>
      <p:sp>
        <p:nvSpPr>
          <p:cNvPr id="11" name="anim-g2-100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0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تختار المسابقة المناسبة لأعمار طلابك</a:t>
            </a:r>
            <a:endParaRPr lang="ar-SA" sz="2400" dirty="0"/>
          </a:p>
        </p:txBody>
      </p:sp>
      <p:sp>
        <p:nvSpPr>
          <p:cNvPr id="13" name="anim-g3-100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008"/>
          <p:cNvSpPr/>
          <p:nvPr/>
        </p:nvSpPr>
        <p:spPr>
          <a:xfrm>
            <a:off x="10573207" y="4222242"/>
            <a:ext cx="566928" cy="566928"/>
          </a:xfrm>
          <a:prstGeom prst="ellipse">
            <a:avLst/>
          </a:prstGeom>
          <a:solidFill>
            <a:srgbClr val="D9AE4B"/>
          </a:solidFill>
          <a:ln/>
        </p:spPr>
      </p:sp>
      <p:sp>
        <p:nvSpPr>
          <p:cNvPr id="15" name="anim-g3-100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01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فريقًا بأدوار واضحة</a:t>
            </a:r>
            <a:endParaRPr lang="ar-SA" sz="2400" dirty="0"/>
          </a:p>
        </p:txBody>
      </p:sp>
      <p:sp>
        <p:nvSpPr>
          <p:cNvPr id="17" name="anim-g4-101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012"/>
          <p:cNvSpPr/>
          <p:nvPr/>
        </p:nvSpPr>
        <p:spPr>
          <a:xfrm>
            <a:off x="10573207" y="5278374"/>
            <a:ext cx="566928" cy="566928"/>
          </a:xfrm>
          <a:prstGeom prst="ellipse">
            <a:avLst/>
          </a:prstGeom>
          <a:solidFill>
            <a:srgbClr val="D9AE4B"/>
          </a:solidFill>
          <a:ln/>
        </p:spPr>
      </p:sp>
      <p:sp>
        <p:nvSpPr>
          <p:cNvPr id="19" name="anim-g4-101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01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تخطط لموسم المسابقة من البداية إلى يوم البطولة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المسابقات العالمية  ·  ١٣٩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50047" y="457200"/>
            <a:ext cx="3218688" cy="457200"/>
          </a:xfrm>
          <a:prstGeom prst="roundRect">
            <a:avLst>
              <a:gd name="adj" fmla="val 50000"/>
            </a:avLst>
          </a:prstGeom>
          <a:solidFill>
            <a:srgbClr val="F6EBCF"/>
          </a:solidFill>
          <a:ln/>
        </p:spPr>
      </p:sp>
      <p:sp>
        <p:nvSpPr>
          <p:cNvPr id="3" name="Text 1"/>
          <p:cNvSpPr/>
          <p:nvPr/>
        </p:nvSpPr>
        <p:spPr>
          <a:xfrm>
            <a:off x="8150047" y="457200"/>
            <a:ext cx="321868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أشهر المسابقات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أين يتنافس طلاب العالم؟</a:t>
            </a:r>
            <a:endParaRPr lang="ar-SA" sz="3800" dirty="0"/>
          </a:p>
        </p:txBody>
      </p:sp>
      <p:sp>
        <p:nvSpPr>
          <p:cNvPr id="5" name="anim-g1-1015"/>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16"/>
          <p:cNvSpPr/>
          <p:nvPr/>
        </p:nvSpPr>
        <p:spPr>
          <a:xfrm>
            <a:off x="10527487" y="2267712"/>
            <a:ext cx="566928" cy="566928"/>
          </a:xfrm>
          <a:prstGeom prst="roundRect">
            <a:avLst>
              <a:gd name="adj" fmla="val 32258"/>
            </a:avLst>
          </a:prstGeom>
          <a:solidFill>
            <a:srgbClr val="F7E6BC"/>
          </a:solidFill>
          <a:ln/>
        </p:spPr>
      </p:sp>
      <p:sp>
        <p:nvSpPr>
          <p:cNvPr id="7" name="anim-g1-101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18"/>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WRO</a:t>
            </a:r>
            <a:endParaRPr lang="ar-SA" sz="2200" dirty="0"/>
          </a:p>
        </p:txBody>
      </p:sp>
      <p:sp>
        <p:nvSpPr>
          <p:cNvPr id="9" name="anim-g1-1019"/>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الأولمبياد العالمي للروبوت: مهام على حلبة، وفئة «مهندسو المستقبل» لسيارة ذاتية القيادة</a:t>
            </a:r>
            <a:endParaRPr lang="ar-SA" sz="1900" dirty="0"/>
          </a:p>
        </p:txBody>
      </p:sp>
      <p:sp>
        <p:nvSpPr>
          <p:cNvPr id="10" name="anim-g2-1020"/>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21"/>
          <p:cNvSpPr/>
          <p:nvPr/>
        </p:nvSpPr>
        <p:spPr>
          <a:xfrm>
            <a:off x="6920789" y="2267712"/>
            <a:ext cx="566928" cy="566928"/>
          </a:xfrm>
          <a:prstGeom prst="roundRect">
            <a:avLst>
              <a:gd name="adj" fmla="val 32258"/>
            </a:avLst>
          </a:prstGeom>
          <a:solidFill>
            <a:srgbClr val="F7E6BC"/>
          </a:solidFill>
          <a:ln/>
        </p:spPr>
      </p:sp>
      <p:sp>
        <p:nvSpPr>
          <p:cNvPr id="12" name="anim-g2-1022"/>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23"/>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RoboCup Junior</a:t>
            </a:r>
            <a:endParaRPr lang="ar-SA" sz="2200" dirty="0"/>
          </a:p>
        </p:txBody>
      </p:sp>
      <p:sp>
        <p:nvSpPr>
          <p:cNvPr id="14" name="anim-g2-1024"/>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الإنقاذ (تتبع خط بعوائق: محورنا التاسع!)، وكرة القدم، والعروض</a:t>
            </a:r>
            <a:endParaRPr lang="ar-SA" sz="1900" dirty="0"/>
          </a:p>
        </p:txBody>
      </p:sp>
      <p:sp>
        <p:nvSpPr>
          <p:cNvPr id="15" name="anim-g3-1025"/>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26"/>
          <p:cNvSpPr/>
          <p:nvPr/>
        </p:nvSpPr>
        <p:spPr>
          <a:xfrm>
            <a:off x="3314090" y="2267712"/>
            <a:ext cx="566928" cy="566928"/>
          </a:xfrm>
          <a:prstGeom prst="roundRect">
            <a:avLst>
              <a:gd name="adj" fmla="val 32258"/>
            </a:avLst>
          </a:prstGeom>
          <a:solidFill>
            <a:srgbClr val="F7E6BC"/>
          </a:solidFill>
          <a:ln/>
        </p:spPr>
      </p:sp>
      <p:sp>
        <p:nvSpPr>
          <p:cNvPr id="17" name="anim-g3-1027"/>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28"/>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FIRST LEGO League</a:t>
            </a:r>
            <a:endParaRPr lang="ar-SA" sz="2200" dirty="0"/>
          </a:p>
        </p:txBody>
      </p:sp>
      <p:sp>
        <p:nvSpPr>
          <p:cNvPr id="19" name="anim-g3-1029"/>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مهام روبوت بالليغو مع مشروع ابتكار وقيم فريق</a:t>
            </a:r>
            <a:endParaRPr lang="ar-SA" sz="1900" dirty="0"/>
          </a:p>
        </p:txBody>
      </p:sp>
      <p:sp>
        <p:nvSpPr>
          <p:cNvPr id="20" name="anim-g4-1030"/>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031"/>
          <p:cNvSpPr/>
          <p:nvPr/>
        </p:nvSpPr>
        <p:spPr>
          <a:xfrm>
            <a:off x="10527487" y="4393692"/>
            <a:ext cx="566928" cy="566928"/>
          </a:xfrm>
          <a:prstGeom prst="roundRect">
            <a:avLst>
              <a:gd name="adj" fmla="val 32258"/>
            </a:avLst>
          </a:prstGeom>
          <a:solidFill>
            <a:srgbClr val="F7E6BC"/>
          </a:solidFill>
          <a:ln/>
        </p:spPr>
      </p:sp>
      <p:sp>
        <p:nvSpPr>
          <p:cNvPr id="22" name="anim-g4-1032"/>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033"/>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بطولات السومو</a:t>
            </a:r>
            <a:endParaRPr lang="ar-SA" sz="2200" dirty="0"/>
          </a:p>
        </p:txBody>
      </p:sp>
      <p:sp>
        <p:nvSpPr>
          <p:cNvPr id="24" name="anim-g4-1034"/>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محلية وإقليمية كثيرة، والأسهل للبداية</a:t>
            </a:r>
            <a:endParaRPr lang="ar-SA" sz="1900" dirty="0"/>
          </a:p>
        </p:txBody>
      </p:sp>
      <p:sp>
        <p:nvSpPr>
          <p:cNvPr id="25" name="anim-g5-1035"/>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1036"/>
          <p:cNvSpPr/>
          <p:nvPr/>
        </p:nvSpPr>
        <p:spPr>
          <a:xfrm>
            <a:off x="6920789" y="4393692"/>
            <a:ext cx="566928" cy="566928"/>
          </a:xfrm>
          <a:prstGeom prst="roundRect">
            <a:avLst>
              <a:gd name="adj" fmla="val 32258"/>
            </a:avLst>
          </a:prstGeom>
          <a:solidFill>
            <a:srgbClr val="F7E6BC"/>
          </a:solidFill>
          <a:ln/>
        </p:spPr>
      </p:sp>
      <p:sp>
        <p:nvSpPr>
          <p:cNvPr id="27" name="anim-g5-1037"/>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1038"/>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Micromouse</a:t>
            </a:r>
            <a:endParaRPr lang="ar-SA" sz="2200" dirty="0"/>
          </a:p>
        </p:txBody>
      </p:sp>
      <p:sp>
        <p:nvSpPr>
          <p:cNvPr id="29" name="anim-g5-1039"/>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متاهة بالسرعة القصوى، للمتقدمين</a:t>
            </a:r>
            <a:endParaRPr lang="ar-SA" sz="1900" dirty="0"/>
          </a:p>
        </p:txBody>
      </p:sp>
      <p:sp>
        <p:nvSpPr>
          <p:cNvPr id="30" name="anim-g6-1040"/>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1041"/>
          <p:cNvSpPr/>
          <p:nvPr/>
        </p:nvSpPr>
        <p:spPr>
          <a:xfrm>
            <a:off x="3314090" y="4393692"/>
            <a:ext cx="566928" cy="566928"/>
          </a:xfrm>
          <a:prstGeom prst="roundRect">
            <a:avLst>
              <a:gd name="adj" fmla="val 32258"/>
            </a:avLst>
          </a:prstGeom>
          <a:solidFill>
            <a:srgbClr val="F7E6BC"/>
          </a:solidFill>
          <a:ln/>
        </p:spPr>
      </p:sp>
      <p:sp>
        <p:nvSpPr>
          <p:cNvPr id="32" name="anim-g6-1042"/>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1043"/>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بطولة مدرستك</a:t>
            </a:r>
            <a:endParaRPr lang="ar-SA" sz="2200" dirty="0"/>
          </a:p>
        </p:txBody>
      </p:sp>
      <p:sp>
        <p:nvSpPr>
          <p:cNvPr id="34" name="anim-g6-1044"/>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ابدأ بها: «سباق الأبطال» من المحور القادم</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المسابقات العالمية  ·  ١٤٠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name="Slide 1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F6EBCF"/>
          </a:solidFill>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من دورتنا إلى المسابقة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يقابل كل محور؟</a:t>
            </a:r>
            <a:endParaRPr lang="ar-SA" sz="3800" dirty="0"/>
          </a:p>
        </p:txBody>
      </p:sp>
      <p:sp>
        <p:nvSpPr>
          <p:cNvPr id="5" name="anim-g1-1045"/>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46"/>
          <p:cNvSpPr/>
          <p:nvPr/>
        </p:nvSpPr>
        <p:spPr>
          <a:xfrm>
            <a:off x="10527487" y="2267712"/>
            <a:ext cx="566928" cy="566928"/>
          </a:xfrm>
          <a:prstGeom prst="roundRect">
            <a:avLst>
              <a:gd name="adj" fmla="val 32258"/>
            </a:avLst>
          </a:prstGeom>
          <a:solidFill>
            <a:srgbClr val="F7E6BC"/>
          </a:solidFill>
          <a:ln/>
        </p:spPr>
      </p:sp>
      <p:sp>
        <p:nvSpPr>
          <p:cNvPr id="7" name="anim-g1-104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48"/>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تتبع الخط وPID</a:t>
            </a:r>
            <a:endParaRPr lang="ar-SA" sz="2200" dirty="0"/>
          </a:p>
        </p:txBody>
      </p:sp>
      <p:sp>
        <p:nvSpPr>
          <p:cNvPr id="9" name="anim-g1-1049"/>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الإنقاذ في RoboCup Junior، وحلبات السرعة</a:t>
            </a:r>
            <a:endParaRPr lang="ar-SA" sz="1900" dirty="0"/>
          </a:p>
        </p:txBody>
      </p:sp>
      <p:sp>
        <p:nvSpPr>
          <p:cNvPr id="10" name="anim-g2-1050"/>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51"/>
          <p:cNvSpPr/>
          <p:nvPr/>
        </p:nvSpPr>
        <p:spPr>
          <a:xfrm>
            <a:off x="6920789" y="2267712"/>
            <a:ext cx="566928" cy="566928"/>
          </a:xfrm>
          <a:prstGeom prst="roundRect">
            <a:avLst>
              <a:gd name="adj" fmla="val 32258"/>
            </a:avLst>
          </a:prstGeom>
          <a:solidFill>
            <a:srgbClr val="F7E6BC"/>
          </a:solidFill>
          <a:ln/>
        </p:spPr>
      </p:sp>
      <p:sp>
        <p:nvSpPr>
          <p:cNvPr id="12" name="anim-g2-1052"/>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53"/>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الروبوت المدمج</a:t>
            </a:r>
            <a:endParaRPr lang="ar-SA" sz="2200" dirty="0"/>
          </a:p>
        </p:txBody>
      </p:sp>
      <p:sp>
        <p:nvSpPr>
          <p:cNvPr id="14" name="anim-g2-1054"/>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العوائق فوق الخط في تحدي الإنقاذ</a:t>
            </a:r>
            <a:endParaRPr lang="ar-SA" sz="1900" dirty="0"/>
          </a:p>
        </p:txBody>
      </p:sp>
      <p:sp>
        <p:nvSpPr>
          <p:cNvPr id="15" name="anim-g3-1055"/>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56"/>
          <p:cNvSpPr/>
          <p:nvPr/>
        </p:nvSpPr>
        <p:spPr>
          <a:xfrm>
            <a:off x="3314090" y="2267712"/>
            <a:ext cx="566928" cy="566928"/>
          </a:xfrm>
          <a:prstGeom prst="roundRect">
            <a:avLst>
              <a:gd name="adj" fmla="val 32258"/>
            </a:avLst>
          </a:prstGeom>
          <a:solidFill>
            <a:srgbClr val="F7E6BC"/>
          </a:solidFill>
          <a:ln/>
        </p:spPr>
      </p:sp>
      <p:sp>
        <p:nvSpPr>
          <p:cNvPr id="17" name="anim-g3-1057"/>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58"/>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الرادار والدفع التفاضلي</a:t>
            </a:r>
            <a:endParaRPr lang="ar-SA" sz="2200" dirty="0"/>
          </a:p>
        </p:txBody>
      </p:sp>
      <p:sp>
        <p:nvSpPr>
          <p:cNvPr id="19" name="anim-g3-1059"/>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مهندسو المستقبل في WRO: سيارة تقود نفسها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المسابقات العالمية  ·  ١٤١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name="Slide 1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50047" y="457200"/>
            <a:ext cx="3218688" cy="457200"/>
          </a:xfrm>
          <a:prstGeom prst="roundRect">
            <a:avLst>
              <a:gd name="adj" fmla="val 50000"/>
            </a:avLst>
          </a:prstGeom>
          <a:solidFill>
            <a:srgbClr val="F6EBCF"/>
          </a:solidFill>
          <a:ln/>
        </p:spPr>
      </p:sp>
      <p:sp>
        <p:nvSpPr>
          <p:cNvPr id="3" name="Text 1"/>
          <p:cNvSpPr/>
          <p:nvPr/>
        </p:nvSpPr>
        <p:spPr>
          <a:xfrm>
            <a:off x="8150047" y="457200"/>
            <a:ext cx="321868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الفريق المثالي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أربعة أدوار… وكل عضو يشرح كل شيء</a:t>
            </a:r>
            <a:endParaRPr lang="ar-SA" sz="3800" dirty="0"/>
          </a:p>
        </p:txBody>
      </p:sp>
      <p:sp>
        <p:nvSpPr>
          <p:cNvPr id="5" name="anim-g1-1060"/>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61"/>
          <p:cNvSpPr/>
          <p:nvPr/>
        </p:nvSpPr>
        <p:spPr>
          <a:xfrm>
            <a:off x="10527487" y="2267712"/>
            <a:ext cx="566928" cy="566928"/>
          </a:xfrm>
          <a:prstGeom prst="roundRect">
            <a:avLst>
              <a:gd name="adj" fmla="val 32258"/>
            </a:avLst>
          </a:prstGeom>
          <a:solidFill>
            <a:srgbClr val="F7E6BC"/>
          </a:solidFill>
          <a:ln/>
        </p:spPr>
      </p:sp>
      <p:sp>
        <p:nvSpPr>
          <p:cNvPr id="7" name="anim-g1-106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63"/>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المهندس الميكانيكي</a:t>
            </a:r>
            <a:endParaRPr lang="ar-SA" sz="2200" dirty="0"/>
          </a:p>
        </p:txBody>
      </p:sp>
      <p:sp>
        <p:nvSpPr>
          <p:cNvPr id="9" name="anim-g1-1064"/>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الهيكل والعجلات والمتانة</a:t>
            </a:r>
            <a:endParaRPr lang="ar-SA" sz="1900" dirty="0"/>
          </a:p>
        </p:txBody>
      </p:sp>
      <p:sp>
        <p:nvSpPr>
          <p:cNvPr id="10" name="anim-g2-1065"/>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66"/>
          <p:cNvSpPr/>
          <p:nvPr/>
        </p:nvSpPr>
        <p:spPr>
          <a:xfrm>
            <a:off x="7822463" y="2267712"/>
            <a:ext cx="566928" cy="566928"/>
          </a:xfrm>
          <a:prstGeom prst="roundRect">
            <a:avLst>
              <a:gd name="adj" fmla="val 32258"/>
            </a:avLst>
          </a:prstGeom>
          <a:solidFill>
            <a:srgbClr val="F7E6BC"/>
          </a:solidFill>
          <a:ln/>
        </p:spPr>
      </p:sp>
      <p:sp>
        <p:nvSpPr>
          <p:cNvPr id="12" name="anim-g2-1067"/>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68"/>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المهندس الكهربائي</a:t>
            </a:r>
            <a:endParaRPr lang="ar-SA" sz="2200" dirty="0"/>
          </a:p>
        </p:txBody>
      </p:sp>
      <p:sp>
        <p:nvSpPr>
          <p:cNvPr id="14" name="anim-g2-1069"/>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الأسلاك والطاقة والحساسات</a:t>
            </a:r>
            <a:endParaRPr lang="ar-SA" sz="1900" dirty="0"/>
          </a:p>
        </p:txBody>
      </p:sp>
      <p:sp>
        <p:nvSpPr>
          <p:cNvPr id="15" name="anim-g3-1070"/>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71"/>
          <p:cNvSpPr/>
          <p:nvPr/>
        </p:nvSpPr>
        <p:spPr>
          <a:xfrm>
            <a:off x="5117440" y="2267712"/>
            <a:ext cx="566928" cy="566928"/>
          </a:xfrm>
          <a:prstGeom prst="roundRect">
            <a:avLst>
              <a:gd name="adj" fmla="val 32258"/>
            </a:avLst>
          </a:prstGeom>
          <a:solidFill>
            <a:srgbClr val="F7E6BC"/>
          </a:solidFill>
          <a:ln/>
        </p:spPr>
      </p:sp>
      <p:sp>
        <p:nvSpPr>
          <p:cNvPr id="17" name="anim-g3-1072"/>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73"/>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المبرمج</a:t>
            </a:r>
            <a:endParaRPr lang="ar-SA" sz="2200" dirty="0"/>
          </a:p>
        </p:txBody>
      </p:sp>
      <p:sp>
        <p:nvSpPr>
          <p:cNvPr id="19" name="anim-g3-1074"/>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الكود والضبط</a:t>
            </a:r>
            <a:endParaRPr lang="ar-SA" sz="1900" dirty="0"/>
          </a:p>
        </p:txBody>
      </p:sp>
      <p:sp>
        <p:nvSpPr>
          <p:cNvPr id="20" name="anim-g4-1075"/>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076"/>
          <p:cNvSpPr/>
          <p:nvPr/>
        </p:nvSpPr>
        <p:spPr>
          <a:xfrm>
            <a:off x="2412416" y="2267712"/>
            <a:ext cx="566928" cy="566928"/>
          </a:xfrm>
          <a:prstGeom prst="roundRect">
            <a:avLst>
              <a:gd name="adj" fmla="val 32258"/>
            </a:avLst>
          </a:prstGeom>
          <a:solidFill>
            <a:srgbClr val="F7E6BC"/>
          </a:solidFill>
          <a:ln/>
        </p:spPr>
      </p:sp>
      <p:sp>
        <p:nvSpPr>
          <p:cNvPr id="22" name="anim-g4-1077"/>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078"/>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قائد الفريق</a:t>
            </a:r>
            <a:endParaRPr lang="ar-SA" sz="2200" dirty="0"/>
          </a:p>
        </p:txBody>
      </p:sp>
      <p:sp>
        <p:nvSpPr>
          <p:cNvPr id="24" name="anim-g4-1079"/>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الجدول والتوثيق والعرض</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المسابقات العالمية  ·  ١٤٢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pic>
        <p:nvPicPr>
          <p:cNvPr id="2" name="Image 0" descr="C:\Users\user\projects\younes-training\arduino3\.pptx-cache\s1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pic>
        <p:nvPicPr>
          <p:cNvPr id="2" name="Image 0" descr="C:\Users\user\projects\younes-training\arduino3\.pptx-cache\s1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أسرار الفرق الفائزة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 لا تجده في كتيّب القوانين</a:t>
            </a:r>
            <a:endParaRPr lang="ar-SA" sz="3800" dirty="0"/>
          </a:p>
        </p:txBody>
      </p:sp>
      <p:sp>
        <p:nvSpPr>
          <p:cNvPr id="5" name="anim-g1-1080"/>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81"/>
          <p:cNvSpPr/>
          <p:nvPr/>
        </p:nvSpPr>
        <p:spPr>
          <a:xfrm>
            <a:off x="10527487" y="2267712"/>
            <a:ext cx="566928" cy="566928"/>
          </a:xfrm>
          <a:prstGeom prst="roundRect">
            <a:avLst>
              <a:gd name="adj" fmla="val 32258"/>
            </a:avLst>
          </a:prstGeom>
          <a:solidFill>
            <a:srgbClr val="F7E6BC"/>
          </a:solidFill>
          <a:ln/>
        </p:spPr>
      </p:sp>
      <p:sp>
        <p:nvSpPr>
          <p:cNvPr id="7" name="anim-g1-108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83"/>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الإضاءة تختلف</a:t>
            </a:r>
            <a:endParaRPr lang="ar-SA" sz="2200" dirty="0"/>
          </a:p>
        </p:txBody>
      </p:sp>
      <p:sp>
        <p:nvSpPr>
          <p:cNvPr id="9" name="anim-g1-1084"/>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اضبط الحساسات في قاعة المسابقة نفسها قبل الجولة</a:t>
            </a:r>
            <a:endParaRPr lang="ar-SA" sz="1900" dirty="0"/>
          </a:p>
        </p:txBody>
      </p:sp>
      <p:sp>
        <p:nvSpPr>
          <p:cNvPr id="10" name="anim-g2-1085"/>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86"/>
          <p:cNvSpPr/>
          <p:nvPr/>
        </p:nvSpPr>
        <p:spPr>
          <a:xfrm>
            <a:off x="6920789" y="2267712"/>
            <a:ext cx="566928" cy="566928"/>
          </a:xfrm>
          <a:prstGeom prst="roundRect">
            <a:avLst>
              <a:gd name="adj" fmla="val 32258"/>
            </a:avLst>
          </a:prstGeom>
          <a:solidFill>
            <a:srgbClr val="F7E6BC"/>
          </a:solidFill>
          <a:ln/>
        </p:spPr>
      </p:sp>
      <p:sp>
        <p:nvSpPr>
          <p:cNvPr id="12" name="anim-g2-1087"/>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88"/>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البطارية الكاملة</a:t>
            </a:r>
            <a:endParaRPr lang="ar-SA" sz="2200" dirty="0"/>
          </a:p>
        </p:txBody>
      </p:sp>
      <p:sp>
        <p:nvSpPr>
          <p:cNvPr id="14" name="anim-g2-1089"/>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الضبط على بطارية مشحونة دائمًا، فالسرعة تتغير مع ضعفها</a:t>
            </a:r>
            <a:endParaRPr lang="ar-SA" sz="1900" dirty="0"/>
          </a:p>
        </p:txBody>
      </p:sp>
      <p:sp>
        <p:nvSpPr>
          <p:cNvPr id="15" name="anim-g3-1090"/>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91"/>
          <p:cNvSpPr/>
          <p:nvPr/>
        </p:nvSpPr>
        <p:spPr>
          <a:xfrm>
            <a:off x="3314090" y="2267712"/>
            <a:ext cx="566928" cy="566928"/>
          </a:xfrm>
          <a:prstGeom prst="roundRect">
            <a:avLst>
              <a:gd name="adj" fmla="val 32258"/>
            </a:avLst>
          </a:prstGeom>
          <a:solidFill>
            <a:srgbClr val="F7E6BC"/>
          </a:solidFill>
          <a:ln/>
        </p:spPr>
      </p:sp>
      <p:sp>
        <p:nvSpPr>
          <p:cNvPr id="17" name="anim-g3-1092"/>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93"/>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الروح الرياضية</a:t>
            </a:r>
            <a:endParaRPr lang="ar-SA" sz="2200" dirty="0"/>
          </a:p>
        </p:txBody>
      </p:sp>
      <p:sp>
        <p:nvSpPr>
          <p:cNvPr id="19" name="anim-g3-1094"/>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الحكام يلاحظون الفريق الذي يساعد غيره ويحترم القرار</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المسابقات العالمية  ·  ١٤٥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name="Slide 1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وصلتم قاعة البطولة فصار الروبوت يخرج عن الخط، مع أنه كان ممتازًا في المدرسة… ما أول ما تفعل؟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تغيّر الكود كله</a:t>
            </a:r>
            <a:endParaRPr lang="ar-SA" sz="2500" dirty="0"/>
          </a:p>
        </p:txBody>
      </p:sp>
      <p:sp>
        <p:nvSpPr>
          <p:cNvPr id="9" name="anim-g1-109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096"/>
          <p:cNvSpPr/>
          <p:nvPr/>
        </p:nvSpPr>
        <p:spPr>
          <a:xfrm>
            <a:off x="10231831" y="2194560"/>
            <a:ext cx="954024" cy="954024"/>
          </a:xfrm>
          <a:prstGeom prst="roundRect">
            <a:avLst>
              <a:gd name="adj" fmla="val 11502"/>
            </a:avLst>
          </a:prstGeom>
          <a:solidFill>
            <a:srgbClr val="A3A9BA"/>
          </a:solidFill>
          <a:ln/>
        </p:spPr>
      </p:sp>
      <p:sp>
        <p:nvSpPr>
          <p:cNvPr id="11" name="anim-g1-109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09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تغيّر الكود كله</a:t>
            </a:r>
            <a:endParaRPr lang="ar-SA" sz="2400" dirty="0"/>
          </a:p>
        </p:txBody>
      </p:sp>
      <p:sp>
        <p:nvSpPr>
          <p:cNvPr id="13" name="anim-g1-109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الكود كان يعمل؛ المشكلة على الأرجح في البيئة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تعيد معايرة الحساسات تحت إضاءة القاعة</a:t>
            </a:r>
            <a:endParaRPr lang="ar-SA" sz="2500" dirty="0"/>
          </a:p>
        </p:txBody>
      </p:sp>
      <p:sp>
        <p:nvSpPr>
          <p:cNvPr id="18" name="anim-g1-1100"/>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101"/>
          <p:cNvSpPr/>
          <p:nvPr/>
        </p:nvSpPr>
        <p:spPr>
          <a:xfrm>
            <a:off x="10231831" y="3569208"/>
            <a:ext cx="954024" cy="954024"/>
          </a:xfrm>
          <a:prstGeom prst="roundRect">
            <a:avLst>
              <a:gd name="adj" fmla="val 11502"/>
            </a:avLst>
          </a:prstGeom>
          <a:solidFill>
            <a:srgbClr val="2E9E6B"/>
          </a:solidFill>
          <a:ln/>
        </p:spPr>
      </p:sp>
      <p:sp>
        <p:nvSpPr>
          <p:cNvPr id="20" name="anim-g1-110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10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تعيد معايرة الحساسات تحت إضاءة القاعة</a:t>
            </a:r>
            <a:endParaRPr lang="ar-SA" sz="2400" dirty="0"/>
          </a:p>
        </p:txBody>
      </p:sp>
      <p:sp>
        <p:nvSpPr>
          <p:cNvPr id="22" name="anim-g1-110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الإضاءة وسطح الحلبة يغيّران قراءات IR. المعايرة في المكان أول خطوة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تنسحب من المسابقة</a:t>
            </a:r>
            <a:endParaRPr lang="ar-SA" sz="2500" dirty="0"/>
          </a:p>
        </p:txBody>
      </p:sp>
      <p:sp>
        <p:nvSpPr>
          <p:cNvPr id="27" name="anim-g1-1105"/>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106"/>
          <p:cNvSpPr/>
          <p:nvPr/>
        </p:nvSpPr>
        <p:spPr>
          <a:xfrm>
            <a:off x="10231831" y="4943856"/>
            <a:ext cx="954024" cy="954024"/>
          </a:xfrm>
          <a:prstGeom prst="roundRect">
            <a:avLst>
              <a:gd name="adj" fmla="val 11502"/>
            </a:avLst>
          </a:prstGeom>
          <a:solidFill>
            <a:srgbClr val="A3A9BA"/>
          </a:solidFill>
          <a:ln/>
        </p:spPr>
      </p:sp>
      <p:sp>
        <p:nvSpPr>
          <p:cNvPr id="29" name="anim-g1-110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10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تنسحب من المسابقة</a:t>
            </a:r>
            <a:endParaRPr lang="ar-SA" sz="2400" dirty="0"/>
          </a:p>
        </p:txBody>
      </p:sp>
      <p:sp>
        <p:nvSpPr>
          <p:cNvPr id="31" name="anim-g1-110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المشكلة شائعة ولها حل في دقائق</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المسابقات العالمية  ·  ١٤٦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pic>
        <p:nvPicPr>
          <p:cNvPr id="2" name="Image 0" descr="C:\Users\user\projects\younes-training\arduino3\.pptx-cache\s1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pic>
        <p:nvPicPr>
          <p:cNvPr id="2" name="Image 0" descr="C:\Users\user\projects\younes-training\arduino3\.pptx-cache\s1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المعرفة عندكم…</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والفوز يصنعه التنظيم والتجربة والروح الرياضية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المسابقات العالمية  ·  ١٤٩</a:t>
            </a:r>
            <a:endParaRPr lang="ar-SA" sz="1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سباق الأبطال</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ست محطات… وروبوت واحد… ويوم لا يُنسى</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الختام  ·  ١٥٠</a:t>
            </a:r>
            <a:endParaRPr lang="ar-SA" sz="12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pic>
        <p:nvPicPr>
          <p:cNvPr id="2" name="Image 0" descr="C:\Users\user\projects\younes-training\arduino3\.pptx-cache\s15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فعالية الختام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سباق الأبطال: أربع محطات في يوم واحد</a:t>
            </a:r>
            <a:endParaRPr lang="ar-SA" sz="3200" dirty="0"/>
          </a:p>
        </p:txBody>
      </p:sp>
      <p:sp>
        <p:nvSpPr>
          <p:cNvPr id="5" name="anim-g1-1110"/>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11"/>
          <p:cNvSpPr/>
          <p:nvPr/>
        </p:nvSpPr>
        <p:spPr>
          <a:xfrm>
            <a:off x="10362895" y="2404872"/>
            <a:ext cx="731520" cy="731520"/>
          </a:xfrm>
          <a:prstGeom prst="roundRect">
            <a:avLst>
              <a:gd name="adj" fmla="val 25000"/>
            </a:avLst>
          </a:prstGeom>
          <a:solidFill>
            <a:srgbClr val="F7E6BC"/>
          </a:solidFill>
          <a:ln/>
        </p:spPr>
      </p:sp>
      <p:sp>
        <p:nvSpPr>
          <p:cNvPr id="7" name="anim-g1-1112"/>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113"/>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محطة الخط</a:t>
            </a:r>
            <a:endParaRPr lang="ar-SA" sz="2300" dirty="0"/>
          </a:p>
        </p:txBody>
      </p:sp>
      <p:sp>
        <p:nvSpPr>
          <p:cNvPr id="9" name="anim-g1-1114"/>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أسرع لفة على حلبة البطولة</a:t>
            </a:r>
            <a:endParaRPr lang="ar-SA" sz="2100" dirty="0"/>
          </a:p>
        </p:txBody>
      </p:sp>
      <p:sp>
        <p:nvSpPr>
          <p:cNvPr id="10" name="anim-g2-1115"/>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16"/>
          <p:cNvSpPr/>
          <p:nvPr/>
        </p:nvSpPr>
        <p:spPr>
          <a:xfrm>
            <a:off x="7657871" y="2404872"/>
            <a:ext cx="731520" cy="731520"/>
          </a:xfrm>
          <a:prstGeom prst="roundRect">
            <a:avLst>
              <a:gd name="adj" fmla="val 25000"/>
            </a:avLst>
          </a:prstGeom>
          <a:solidFill>
            <a:srgbClr val="F7E6BC"/>
          </a:solidFill>
          <a:ln/>
        </p:spPr>
      </p:sp>
      <p:sp>
        <p:nvSpPr>
          <p:cNvPr id="12" name="anim-g2-1117"/>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118"/>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محطة الإنقاذ</a:t>
            </a:r>
            <a:endParaRPr lang="ar-SA" sz="2300" dirty="0"/>
          </a:p>
        </p:txBody>
      </p:sp>
      <p:sp>
        <p:nvSpPr>
          <p:cNvPr id="14" name="anim-g2-1119"/>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خط بعائقين: الإكمال والزمن</a:t>
            </a:r>
            <a:endParaRPr lang="ar-SA" sz="2100" dirty="0"/>
          </a:p>
        </p:txBody>
      </p:sp>
      <p:sp>
        <p:nvSpPr>
          <p:cNvPr id="15" name="anim-g3-1120"/>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21"/>
          <p:cNvSpPr/>
          <p:nvPr/>
        </p:nvSpPr>
        <p:spPr>
          <a:xfrm>
            <a:off x="4952848" y="2404872"/>
            <a:ext cx="731520" cy="731520"/>
          </a:xfrm>
          <a:prstGeom prst="roundRect">
            <a:avLst>
              <a:gd name="adj" fmla="val 25000"/>
            </a:avLst>
          </a:prstGeom>
          <a:solidFill>
            <a:srgbClr val="F7E6BC"/>
          </a:solidFill>
          <a:ln/>
        </p:spPr>
      </p:sp>
      <p:sp>
        <p:nvSpPr>
          <p:cNvPr id="17" name="anim-g3-1122"/>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1123"/>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محطة السومو</a:t>
            </a:r>
            <a:endParaRPr lang="ar-SA" sz="2300" dirty="0"/>
          </a:p>
        </p:txBody>
      </p:sp>
      <p:sp>
        <p:nvSpPr>
          <p:cNvPr id="19" name="anim-g3-1124"/>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دوري بين الفرق</a:t>
            </a:r>
            <a:endParaRPr lang="ar-SA" sz="2100" dirty="0"/>
          </a:p>
        </p:txBody>
      </p:sp>
      <p:sp>
        <p:nvSpPr>
          <p:cNvPr id="20" name="anim-g4-1125"/>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126"/>
          <p:cNvSpPr/>
          <p:nvPr/>
        </p:nvSpPr>
        <p:spPr>
          <a:xfrm>
            <a:off x="2247824" y="2404872"/>
            <a:ext cx="731520" cy="731520"/>
          </a:xfrm>
          <a:prstGeom prst="roundRect">
            <a:avLst>
              <a:gd name="adj" fmla="val 25000"/>
            </a:avLst>
          </a:prstGeom>
          <a:solidFill>
            <a:srgbClr val="F7E6BC"/>
          </a:solidFill>
          <a:ln/>
        </p:spPr>
      </p:sp>
      <p:sp>
        <p:nvSpPr>
          <p:cNvPr id="22" name="anim-g4-1127"/>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1128"/>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محطة المتاهة</a:t>
            </a:r>
            <a:endParaRPr lang="ar-SA" sz="2300" dirty="0"/>
          </a:p>
        </p:txBody>
      </p:sp>
      <p:sp>
        <p:nvSpPr>
          <p:cNvPr id="24" name="anim-g4-1129"/>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من يخرج أولًا؟</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59391" y="457200"/>
            <a:ext cx="1609344" cy="457200"/>
          </a:xfrm>
          <a:prstGeom prst="roundRect">
            <a:avLst>
              <a:gd name="adj" fmla="val 50000"/>
            </a:avLst>
          </a:prstGeom>
          <a:solidFill>
            <a:srgbClr val="F6EBCF"/>
          </a:solidFill>
          <a:ln/>
        </p:spPr>
      </p:sp>
      <p:sp>
        <p:nvSpPr>
          <p:cNvPr id="3" name="Text 1"/>
          <p:cNvSpPr/>
          <p:nvPr/>
        </p:nvSpPr>
        <p:spPr>
          <a:xfrm>
            <a:off x="9759391" y="457200"/>
            <a:ext cx="160934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للمعلم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بطاقة تقييم «سباق الأبطال»</a:t>
            </a:r>
            <a:endParaRPr lang="ar-SA" sz="3800" dirty="0"/>
          </a:p>
        </p:txBody>
      </p:sp>
      <p:sp>
        <p:nvSpPr>
          <p:cNvPr id="5" name="Shape 3"/>
          <p:cNvSpPr/>
          <p:nvPr/>
        </p:nvSpPr>
        <p:spPr>
          <a:xfrm>
            <a:off x="8939013" y="1874520"/>
            <a:ext cx="2429722" cy="548640"/>
          </a:xfrm>
          <a:prstGeom prst="roundRect">
            <a:avLst>
              <a:gd name="adj" fmla="val 20000"/>
            </a:avLst>
          </a:prstGeom>
          <a:solidFill>
            <a:srgbClr val="101B45"/>
          </a:solidFill>
          <a:ln/>
        </p:spPr>
      </p:sp>
      <p:sp>
        <p:nvSpPr>
          <p:cNvPr id="6" name="Text 4"/>
          <p:cNvSpPr/>
          <p:nvPr/>
        </p:nvSpPr>
        <p:spPr>
          <a:xfrm>
            <a:off x="8939013" y="1874520"/>
            <a:ext cx="24297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المعيار</a:t>
            </a:r>
            <a:endParaRPr lang="ar-SA" sz="1900" dirty="0"/>
          </a:p>
        </p:txBody>
      </p:sp>
      <p:sp>
        <p:nvSpPr>
          <p:cNvPr id="7" name="Shape 5"/>
          <p:cNvSpPr/>
          <p:nvPr/>
        </p:nvSpPr>
        <p:spPr>
          <a:xfrm>
            <a:off x="5184702" y="1874520"/>
            <a:ext cx="3644583" cy="548640"/>
          </a:xfrm>
          <a:prstGeom prst="roundRect">
            <a:avLst>
              <a:gd name="adj" fmla="val 20000"/>
            </a:avLst>
          </a:prstGeom>
          <a:solidFill>
            <a:srgbClr val="101B45"/>
          </a:solidFill>
          <a:ln/>
        </p:spPr>
      </p:sp>
      <p:sp>
        <p:nvSpPr>
          <p:cNvPr id="8" name="Text 6"/>
          <p:cNvSpPr/>
          <p:nvPr/>
        </p:nvSpPr>
        <p:spPr>
          <a:xfrm>
            <a:off x="5184702" y="1874520"/>
            <a:ext cx="364458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يحتاج دعمًا</a:t>
            </a:r>
            <a:endParaRPr lang="ar-SA" sz="1900" dirty="0"/>
          </a:p>
        </p:txBody>
      </p:sp>
      <p:sp>
        <p:nvSpPr>
          <p:cNvPr id="9" name="Shape 7"/>
          <p:cNvSpPr/>
          <p:nvPr/>
        </p:nvSpPr>
        <p:spPr>
          <a:xfrm>
            <a:off x="822960" y="1874520"/>
            <a:ext cx="4252014" cy="548640"/>
          </a:xfrm>
          <a:prstGeom prst="roundRect">
            <a:avLst>
              <a:gd name="adj" fmla="val 20000"/>
            </a:avLst>
          </a:prstGeom>
          <a:solidFill>
            <a:srgbClr val="101B45"/>
          </a:solidFill>
          <a:ln/>
        </p:spPr>
      </p:sp>
      <p:sp>
        <p:nvSpPr>
          <p:cNvPr id="10" name="Text 8"/>
          <p:cNvSpPr/>
          <p:nvPr/>
        </p:nvSpPr>
        <p:spPr>
          <a:xfrm>
            <a:off x="822960" y="1874520"/>
            <a:ext cx="425201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متميز</a:t>
            </a:r>
            <a:endParaRPr lang="ar-SA" sz="1900" dirty="0"/>
          </a:p>
        </p:txBody>
      </p:sp>
      <p:sp>
        <p:nvSpPr>
          <p:cNvPr id="11" name="anim-g1-1130"/>
          <p:cNvSpPr/>
          <p:nvPr/>
        </p:nvSpPr>
        <p:spPr>
          <a:xfrm>
            <a:off x="8939013" y="2514600"/>
            <a:ext cx="2429722" cy="797814"/>
          </a:xfrm>
          <a:prstGeom prst="roundRect">
            <a:avLst>
              <a:gd name="adj" fmla="val 13754"/>
            </a:avLst>
          </a:prstGeom>
          <a:solidFill>
            <a:srgbClr val="FBF3DF"/>
          </a:solidFill>
          <a:ln w="12700">
            <a:solidFill>
              <a:srgbClr val="EFDDAF"/>
            </a:solidFill>
            <a:prstDash val="solid"/>
          </a:ln>
        </p:spPr>
      </p:sp>
      <p:sp>
        <p:nvSpPr>
          <p:cNvPr id="12" name="anim-g1-1131"/>
          <p:cNvSpPr/>
          <p:nvPr/>
        </p:nvSpPr>
        <p:spPr>
          <a:xfrm>
            <a:off x="9076173" y="2514600"/>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السيارة</a:t>
            </a:r>
            <a:endParaRPr lang="ar-SA" sz="2100" dirty="0"/>
          </a:p>
        </p:txBody>
      </p:sp>
      <p:sp>
        <p:nvSpPr>
          <p:cNvPr id="13" name="anim-g1-1132"/>
          <p:cNvSpPr/>
          <p:nvPr/>
        </p:nvSpPr>
        <p:spPr>
          <a:xfrm>
            <a:off x="5184702" y="2514600"/>
            <a:ext cx="3644583" cy="797814"/>
          </a:xfrm>
          <a:prstGeom prst="roundRect">
            <a:avLst>
              <a:gd name="adj" fmla="val 13754"/>
            </a:avLst>
          </a:prstGeom>
          <a:solidFill>
            <a:srgbClr val="FFFFFF"/>
          </a:solidFill>
          <a:ln w="12700">
            <a:solidFill>
              <a:srgbClr val="E4DCC8"/>
            </a:solidFill>
            <a:prstDash val="solid"/>
          </a:ln>
        </p:spPr>
      </p:sp>
      <p:sp>
        <p:nvSpPr>
          <p:cNvPr id="14" name="anim-g1-1133"/>
          <p:cNvSpPr/>
          <p:nvPr/>
        </p:nvSpPr>
        <p:spPr>
          <a:xfrm>
            <a:off x="5321862" y="2514600"/>
            <a:ext cx="337026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أسلاك متشابكة وأجزاء تهتز</a:t>
            </a:r>
            <a:endParaRPr lang="ar-SA" sz="2100" dirty="0"/>
          </a:p>
        </p:txBody>
      </p:sp>
      <p:sp>
        <p:nvSpPr>
          <p:cNvPr id="15" name="anim-g1-1134"/>
          <p:cNvSpPr/>
          <p:nvPr/>
        </p:nvSpPr>
        <p:spPr>
          <a:xfrm>
            <a:off x="822960" y="2514600"/>
            <a:ext cx="4252014" cy="797814"/>
          </a:xfrm>
          <a:prstGeom prst="roundRect">
            <a:avLst>
              <a:gd name="adj" fmla="val 13754"/>
            </a:avLst>
          </a:prstGeom>
          <a:solidFill>
            <a:srgbClr val="E6F4EC"/>
          </a:solidFill>
          <a:ln w="12700">
            <a:solidFill>
              <a:srgbClr val="CDE9D9"/>
            </a:solidFill>
            <a:prstDash val="solid"/>
          </a:ln>
        </p:spPr>
      </p:sp>
      <p:sp>
        <p:nvSpPr>
          <p:cNvPr id="16" name="anim-g1-1135"/>
          <p:cNvSpPr/>
          <p:nvPr/>
        </p:nvSpPr>
        <p:spPr>
          <a:xfrm>
            <a:off x="960120" y="2514600"/>
            <a:ext cx="3977694"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مرتبة ومتينة ومعايرة</a:t>
            </a:r>
            <a:endParaRPr lang="ar-SA" sz="2100" dirty="0"/>
          </a:p>
        </p:txBody>
      </p:sp>
      <p:sp>
        <p:nvSpPr>
          <p:cNvPr id="17" name="anim-g2-1136"/>
          <p:cNvSpPr/>
          <p:nvPr/>
        </p:nvSpPr>
        <p:spPr>
          <a:xfrm>
            <a:off x="8939013" y="3422142"/>
            <a:ext cx="2429722" cy="797814"/>
          </a:xfrm>
          <a:prstGeom prst="roundRect">
            <a:avLst>
              <a:gd name="adj" fmla="val 13754"/>
            </a:avLst>
          </a:prstGeom>
          <a:solidFill>
            <a:srgbClr val="FBF3DF"/>
          </a:solidFill>
          <a:ln w="12700">
            <a:solidFill>
              <a:srgbClr val="EFDDAF"/>
            </a:solidFill>
            <a:prstDash val="solid"/>
          </a:ln>
        </p:spPr>
      </p:sp>
      <p:sp>
        <p:nvSpPr>
          <p:cNvPr id="18" name="anim-g2-1137"/>
          <p:cNvSpPr/>
          <p:nvPr/>
        </p:nvSpPr>
        <p:spPr>
          <a:xfrm>
            <a:off x="9076173" y="3422142"/>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الكود</a:t>
            </a:r>
            <a:endParaRPr lang="ar-SA" sz="2100" dirty="0"/>
          </a:p>
        </p:txBody>
      </p:sp>
      <p:sp>
        <p:nvSpPr>
          <p:cNvPr id="19" name="anim-g2-1138"/>
          <p:cNvSpPr/>
          <p:nvPr/>
        </p:nvSpPr>
        <p:spPr>
          <a:xfrm>
            <a:off x="5184702" y="3422142"/>
            <a:ext cx="3644583" cy="797814"/>
          </a:xfrm>
          <a:prstGeom prst="roundRect">
            <a:avLst>
              <a:gd name="adj" fmla="val 13754"/>
            </a:avLst>
          </a:prstGeom>
          <a:solidFill>
            <a:srgbClr val="FFFFFF"/>
          </a:solidFill>
          <a:ln w="12700">
            <a:solidFill>
              <a:srgbClr val="E4DCC8"/>
            </a:solidFill>
            <a:prstDash val="solid"/>
          </a:ln>
        </p:spPr>
      </p:sp>
      <p:sp>
        <p:nvSpPr>
          <p:cNvPr id="20" name="anim-g2-1139"/>
          <p:cNvSpPr/>
          <p:nvPr/>
        </p:nvSpPr>
        <p:spPr>
          <a:xfrm>
            <a:off x="5321862" y="3422142"/>
            <a:ext cx="337026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ملف واحد طويل بلا تعليقات</a:t>
            </a:r>
            <a:endParaRPr lang="ar-SA" sz="2100" dirty="0"/>
          </a:p>
        </p:txBody>
      </p:sp>
      <p:sp>
        <p:nvSpPr>
          <p:cNvPr id="21" name="anim-g2-1140"/>
          <p:cNvSpPr/>
          <p:nvPr/>
        </p:nvSpPr>
        <p:spPr>
          <a:xfrm>
            <a:off x="822960" y="3422142"/>
            <a:ext cx="4252014" cy="797814"/>
          </a:xfrm>
          <a:prstGeom prst="roundRect">
            <a:avLst>
              <a:gd name="adj" fmla="val 13754"/>
            </a:avLst>
          </a:prstGeom>
          <a:solidFill>
            <a:srgbClr val="E6F4EC"/>
          </a:solidFill>
          <a:ln w="12700">
            <a:solidFill>
              <a:srgbClr val="CDE9D9"/>
            </a:solidFill>
            <a:prstDash val="solid"/>
          </a:ln>
        </p:spPr>
      </p:sp>
      <p:sp>
        <p:nvSpPr>
          <p:cNvPr id="22" name="anim-g2-1141"/>
          <p:cNvSpPr/>
          <p:nvPr/>
        </p:nvSpPr>
        <p:spPr>
          <a:xfrm>
            <a:off x="960120" y="3422142"/>
            <a:ext cx="3977694"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دوال واضحة، وأرقام مضبوطة بالتجربة</a:t>
            </a:r>
            <a:endParaRPr lang="ar-SA" sz="2100" dirty="0"/>
          </a:p>
        </p:txBody>
      </p:sp>
      <p:sp>
        <p:nvSpPr>
          <p:cNvPr id="23" name="anim-g3-1142"/>
          <p:cNvSpPr/>
          <p:nvPr/>
        </p:nvSpPr>
        <p:spPr>
          <a:xfrm>
            <a:off x="8939013" y="4329684"/>
            <a:ext cx="2429722" cy="797814"/>
          </a:xfrm>
          <a:prstGeom prst="roundRect">
            <a:avLst>
              <a:gd name="adj" fmla="val 13754"/>
            </a:avLst>
          </a:prstGeom>
          <a:solidFill>
            <a:srgbClr val="FBF3DF"/>
          </a:solidFill>
          <a:ln w="12700">
            <a:solidFill>
              <a:srgbClr val="EFDDAF"/>
            </a:solidFill>
            <a:prstDash val="solid"/>
          </a:ln>
        </p:spPr>
      </p:sp>
      <p:sp>
        <p:nvSpPr>
          <p:cNvPr id="24" name="anim-g3-1143"/>
          <p:cNvSpPr/>
          <p:nvPr/>
        </p:nvSpPr>
        <p:spPr>
          <a:xfrm>
            <a:off x="9076173" y="4329684"/>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الضبط</a:t>
            </a:r>
            <a:endParaRPr lang="ar-SA" sz="2100" dirty="0"/>
          </a:p>
        </p:txBody>
      </p:sp>
      <p:sp>
        <p:nvSpPr>
          <p:cNvPr id="25" name="anim-g3-1144"/>
          <p:cNvSpPr/>
          <p:nvPr/>
        </p:nvSpPr>
        <p:spPr>
          <a:xfrm>
            <a:off x="5184702" y="4329684"/>
            <a:ext cx="3644583" cy="797814"/>
          </a:xfrm>
          <a:prstGeom prst="roundRect">
            <a:avLst>
              <a:gd name="adj" fmla="val 13754"/>
            </a:avLst>
          </a:prstGeom>
          <a:solidFill>
            <a:srgbClr val="FFFFFF"/>
          </a:solidFill>
          <a:ln w="12700">
            <a:solidFill>
              <a:srgbClr val="E4DCC8"/>
            </a:solidFill>
            <a:prstDash val="solid"/>
          </a:ln>
        </p:spPr>
      </p:sp>
      <p:sp>
        <p:nvSpPr>
          <p:cNvPr id="26" name="anim-g3-1145"/>
          <p:cNvSpPr/>
          <p:nvPr/>
        </p:nvSpPr>
        <p:spPr>
          <a:xfrm>
            <a:off x="5321862" y="4329684"/>
            <a:ext cx="337026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أرقام بالحظ</a:t>
            </a:r>
            <a:endParaRPr lang="ar-SA" sz="2100" dirty="0"/>
          </a:p>
        </p:txBody>
      </p:sp>
      <p:sp>
        <p:nvSpPr>
          <p:cNvPr id="27" name="anim-g3-1146"/>
          <p:cNvSpPr/>
          <p:nvPr/>
        </p:nvSpPr>
        <p:spPr>
          <a:xfrm>
            <a:off x="822960" y="4329684"/>
            <a:ext cx="4252014" cy="797814"/>
          </a:xfrm>
          <a:prstGeom prst="roundRect">
            <a:avLst>
              <a:gd name="adj" fmla="val 13754"/>
            </a:avLst>
          </a:prstGeom>
          <a:solidFill>
            <a:srgbClr val="E6F4EC"/>
          </a:solidFill>
          <a:ln w="12700">
            <a:solidFill>
              <a:srgbClr val="CDE9D9"/>
            </a:solidFill>
            <a:prstDash val="solid"/>
          </a:ln>
        </p:spPr>
      </p:sp>
      <p:sp>
        <p:nvSpPr>
          <p:cNvPr id="28" name="anim-g3-1147"/>
          <p:cNvSpPr/>
          <p:nvPr/>
        </p:nvSpPr>
        <p:spPr>
          <a:xfrm>
            <a:off x="960120" y="4329684"/>
            <a:ext cx="3977694"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جدول تجارب يثبت سبب كل رقم</a:t>
            </a:r>
            <a:endParaRPr lang="ar-SA" sz="2100" dirty="0"/>
          </a:p>
        </p:txBody>
      </p:sp>
      <p:sp>
        <p:nvSpPr>
          <p:cNvPr id="29" name="anim-g4-1148"/>
          <p:cNvSpPr/>
          <p:nvPr/>
        </p:nvSpPr>
        <p:spPr>
          <a:xfrm>
            <a:off x="8939013" y="5237226"/>
            <a:ext cx="2429722" cy="797814"/>
          </a:xfrm>
          <a:prstGeom prst="roundRect">
            <a:avLst>
              <a:gd name="adj" fmla="val 13754"/>
            </a:avLst>
          </a:prstGeom>
          <a:solidFill>
            <a:srgbClr val="FBF3DF"/>
          </a:solidFill>
          <a:ln w="12700">
            <a:solidFill>
              <a:srgbClr val="EFDDAF"/>
            </a:solidFill>
            <a:prstDash val="solid"/>
          </a:ln>
        </p:spPr>
      </p:sp>
      <p:sp>
        <p:nvSpPr>
          <p:cNvPr id="30" name="anim-g4-1149"/>
          <p:cNvSpPr/>
          <p:nvPr/>
        </p:nvSpPr>
        <p:spPr>
          <a:xfrm>
            <a:off x="9076173" y="5237226"/>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الفريق</a:t>
            </a:r>
            <a:endParaRPr lang="ar-SA" sz="2100" dirty="0"/>
          </a:p>
        </p:txBody>
      </p:sp>
      <p:sp>
        <p:nvSpPr>
          <p:cNvPr id="31" name="anim-g4-1150"/>
          <p:cNvSpPr/>
          <p:nvPr/>
        </p:nvSpPr>
        <p:spPr>
          <a:xfrm>
            <a:off x="5184702" y="5237226"/>
            <a:ext cx="3644583" cy="797814"/>
          </a:xfrm>
          <a:prstGeom prst="roundRect">
            <a:avLst>
              <a:gd name="adj" fmla="val 13754"/>
            </a:avLst>
          </a:prstGeom>
          <a:solidFill>
            <a:srgbClr val="FFFFFF"/>
          </a:solidFill>
          <a:ln w="12700">
            <a:solidFill>
              <a:srgbClr val="E4DCC8"/>
            </a:solidFill>
            <a:prstDash val="solid"/>
          </a:ln>
        </p:spPr>
      </p:sp>
      <p:sp>
        <p:nvSpPr>
          <p:cNvPr id="32" name="anim-g4-1151"/>
          <p:cNvSpPr/>
          <p:nvPr/>
        </p:nvSpPr>
        <p:spPr>
          <a:xfrm>
            <a:off x="5321862" y="5237226"/>
            <a:ext cx="337026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طالب يعمل والبقية يتفرجون</a:t>
            </a:r>
            <a:endParaRPr lang="ar-SA" sz="2100" dirty="0"/>
          </a:p>
        </p:txBody>
      </p:sp>
      <p:sp>
        <p:nvSpPr>
          <p:cNvPr id="33" name="anim-g4-1152"/>
          <p:cNvSpPr/>
          <p:nvPr/>
        </p:nvSpPr>
        <p:spPr>
          <a:xfrm>
            <a:off x="822960" y="5237226"/>
            <a:ext cx="4252014" cy="797814"/>
          </a:xfrm>
          <a:prstGeom prst="roundRect">
            <a:avLst>
              <a:gd name="adj" fmla="val 13754"/>
            </a:avLst>
          </a:prstGeom>
          <a:solidFill>
            <a:srgbClr val="E6F4EC"/>
          </a:solidFill>
          <a:ln w="12700">
            <a:solidFill>
              <a:srgbClr val="CDE9D9"/>
            </a:solidFill>
            <a:prstDash val="solid"/>
          </a:ln>
        </p:spPr>
      </p:sp>
      <p:sp>
        <p:nvSpPr>
          <p:cNvPr id="34" name="anim-g4-1153"/>
          <p:cNvSpPr/>
          <p:nvPr/>
        </p:nvSpPr>
        <p:spPr>
          <a:xfrm>
            <a:off x="960120" y="5237226"/>
            <a:ext cx="3977694"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أدوار واضحة وكل عضو يشرح</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name="Slide 1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خارطة الطريق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درّس الأكاديمية في عشرة أسابيع</a:t>
            </a:r>
            <a:endParaRPr lang="ar-SA" sz="3800" dirty="0"/>
          </a:p>
        </p:txBody>
      </p:sp>
      <p:sp>
        <p:nvSpPr>
          <p:cNvPr id="5" name="anim-g1-1154"/>
          <p:cNvSpPr/>
          <p:nvPr/>
        </p:nvSpPr>
        <p:spPr>
          <a:xfrm>
            <a:off x="822960" y="1920240"/>
            <a:ext cx="10545775" cy="594360"/>
          </a:xfrm>
          <a:prstGeom prst="roundRect">
            <a:avLst>
              <a:gd name="adj" fmla="val 24615"/>
            </a:avLst>
          </a:prstGeom>
          <a:solidFill>
            <a:srgbClr val="FFFFFF"/>
          </a:solidFill>
          <a:ln w="12700">
            <a:solidFill>
              <a:srgbClr val="E4DCC8"/>
            </a:solidFill>
            <a:prstDash val="solid"/>
          </a:ln>
        </p:spPr>
      </p:sp>
      <p:sp>
        <p:nvSpPr>
          <p:cNvPr id="6" name="anim-g1-1155"/>
          <p:cNvSpPr/>
          <p:nvPr/>
        </p:nvSpPr>
        <p:spPr>
          <a:xfrm>
            <a:off x="10728655" y="2011680"/>
            <a:ext cx="411480" cy="411480"/>
          </a:xfrm>
          <a:prstGeom prst="ellipse">
            <a:avLst/>
          </a:prstGeom>
          <a:solidFill>
            <a:srgbClr val="D9AE4B"/>
          </a:solidFill>
          <a:ln/>
        </p:spPr>
      </p:sp>
      <p:sp>
        <p:nvSpPr>
          <p:cNvPr id="7" name="anim-g1-1156"/>
          <p:cNvSpPr/>
          <p:nvPr/>
        </p:nvSpPr>
        <p:spPr>
          <a:xfrm>
            <a:off x="10728655" y="201168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157"/>
          <p:cNvSpPr/>
          <p:nvPr/>
        </p:nvSpPr>
        <p:spPr>
          <a:xfrm>
            <a:off x="1097280" y="192024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١–٢: الجسد</a:t>
            </a:r>
            <a:pPr algn="r" indent="0" marL="0">
              <a:buNone/>
            </a:pPr>
            <a:r>
              <a:rPr lang="ar-SA" altLang="en-US" sz="1800" b="1" dirty="0">
                <a:solidFill>
                  <a:srgbClr val="3B4460"/>
                </a:solidFill>
                <a:latin typeface="Cairo" pitchFamily="34" charset="0"/>
                <a:ea typeface="Cairo" pitchFamily="34" charset="-122"/>
                <a:cs typeface="Cairo" pitchFamily="34" charset="-120"/>
              </a:rPr>
              <a:t>   — التشريح والاستدارة والطاقة والتركيب</a:t>
            </a:r>
            <a:endParaRPr lang="ar-SA" sz="2200" dirty="0"/>
          </a:p>
        </p:txBody>
      </p:sp>
      <p:sp>
        <p:nvSpPr>
          <p:cNvPr id="9" name="anim-g2-1158"/>
          <p:cNvSpPr/>
          <p:nvPr/>
        </p:nvSpPr>
        <p:spPr>
          <a:xfrm>
            <a:off x="822960" y="2624328"/>
            <a:ext cx="10545775" cy="594360"/>
          </a:xfrm>
          <a:prstGeom prst="roundRect">
            <a:avLst>
              <a:gd name="adj" fmla="val 24615"/>
            </a:avLst>
          </a:prstGeom>
          <a:solidFill>
            <a:srgbClr val="FFFFFF"/>
          </a:solidFill>
          <a:ln w="12700">
            <a:solidFill>
              <a:srgbClr val="E4DCC8"/>
            </a:solidFill>
            <a:prstDash val="solid"/>
          </a:ln>
        </p:spPr>
      </p:sp>
      <p:sp>
        <p:nvSpPr>
          <p:cNvPr id="10" name="anim-g2-1159"/>
          <p:cNvSpPr/>
          <p:nvPr/>
        </p:nvSpPr>
        <p:spPr>
          <a:xfrm>
            <a:off x="10728655" y="2715768"/>
            <a:ext cx="411480" cy="411480"/>
          </a:xfrm>
          <a:prstGeom prst="ellipse">
            <a:avLst/>
          </a:prstGeom>
          <a:solidFill>
            <a:srgbClr val="D9AE4B"/>
          </a:solidFill>
          <a:ln/>
        </p:spPr>
      </p:sp>
      <p:sp>
        <p:nvSpPr>
          <p:cNvPr id="11" name="anim-g2-1160"/>
          <p:cNvSpPr/>
          <p:nvPr/>
        </p:nvSpPr>
        <p:spPr>
          <a:xfrm>
            <a:off x="10728655" y="2715768"/>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161"/>
          <p:cNvSpPr/>
          <p:nvPr/>
        </p:nvSpPr>
        <p:spPr>
          <a:xfrm>
            <a:off x="1097280" y="2624328"/>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٣: روبوت الجوال</a:t>
            </a:r>
            <a:pPr algn="r" indent="0" marL="0">
              <a:buNone/>
            </a:pPr>
            <a:r>
              <a:rPr lang="ar-SA" altLang="en-US" sz="1800" b="1" dirty="0">
                <a:solidFill>
                  <a:srgbClr val="3B4460"/>
                </a:solidFill>
                <a:latin typeface="Cairo" pitchFamily="34" charset="0"/>
                <a:ea typeface="Cairo" pitchFamily="34" charset="-122"/>
                <a:cs typeface="Cairo" pitchFamily="34" charset="-120"/>
              </a:rPr>
              <a:t>   — البلوتوث وسباق الأقماع</a:t>
            </a:r>
            <a:endParaRPr lang="ar-SA" sz="2200" dirty="0"/>
          </a:p>
        </p:txBody>
      </p:sp>
      <p:sp>
        <p:nvSpPr>
          <p:cNvPr id="13" name="anim-g3-1162"/>
          <p:cNvSpPr/>
          <p:nvPr/>
        </p:nvSpPr>
        <p:spPr>
          <a:xfrm>
            <a:off x="822960" y="3328416"/>
            <a:ext cx="10545775" cy="594360"/>
          </a:xfrm>
          <a:prstGeom prst="roundRect">
            <a:avLst>
              <a:gd name="adj" fmla="val 24615"/>
            </a:avLst>
          </a:prstGeom>
          <a:solidFill>
            <a:srgbClr val="FFFFFF"/>
          </a:solidFill>
          <a:ln w="12700">
            <a:solidFill>
              <a:srgbClr val="E4DCC8"/>
            </a:solidFill>
            <a:prstDash val="solid"/>
          </a:ln>
        </p:spPr>
      </p:sp>
      <p:sp>
        <p:nvSpPr>
          <p:cNvPr id="14" name="anim-g3-1163"/>
          <p:cNvSpPr/>
          <p:nvPr/>
        </p:nvSpPr>
        <p:spPr>
          <a:xfrm>
            <a:off x="10728655" y="3419856"/>
            <a:ext cx="411480" cy="411480"/>
          </a:xfrm>
          <a:prstGeom prst="ellipse">
            <a:avLst/>
          </a:prstGeom>
          <a:solidFill>
            <a:srgbClr val="D9AE4B"/>
          </a:solidFill>
          <a:ln/>
        </p:spPr>
      </p:sp>
      <p:sp>
        <p:nvSpPr>
          <p:cNvPr id="15" name="anim-g3-1164"/>
          <p:cNvSpPr/>
          <p:nvPr/>
        </p:nvSpPr>
        <p:spPr>
          <a:xfrm>
            <a:off x="10728655" y="3419856"/>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165"/>
          <p:cNvSpPr/>
          <p:nvPr/>
        </p:nvSpPr>
        <p:spPr>
          <a:xfrm>
            <a:off x="1097280" y="3328416"/>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الأسابيع ٤–٥: الخط</a:t>
            </a:r>
            <a:pPr algn="r" indent="0" marL="0">
              <a:buNone/>
            </a:pPr>
            <a:r>
              <a:rPr lang="ar-SA" altLang="en-US" sz="1800" b="1" dirty="0">
                <a:solidFill>
                  <a:srgbClr val="3B4460"/>
                </a:solidFill>
                <a:latin typeface="Cairo" pitchFamily="34" charset="0"/>
                <a:ea typeface="Cairo" pitchFamily="34" charset="-122"/>
                <a:cs typeface="Cairo" pitchFamily="34" charset="-120"/>
              </a:rPr>
              <a:t>   — الحساسات ثم PID</a:t>
            </a:r>
            <a:endParaRPr lang="ar-SA" sz="2200" dirty="0"/>
          </a:p>
        </p:txBody>
      </p:sp>
      <p:sp>
        <p:nvSpPr>
          <p:cNvPr id="17" name="anim-g4-1166"/>
          <p:cNvSpPr/>
          <p:nvPr/>
        </p:nvSpPr>
        <p:spPr>
          <a:xfrm>
            <a:off x="822960" y="4032504"/>
            <a:ext cx="10545775" cy="594360"/>
          </a:xfrm>
          <a:prstGeom prst="roundRect">
            <a:avLst>
              <a:gd name="adj" fmla="val 24615"/>
            </a:avLst>
          </a:prstGeom>
          <a:solidFill>
            <a:srgbClr val="FFFFFF"/>
          </a:solidFill>
          <a:ln w="12700">
            <a:solidFill>
              <a:srgbClr val="E4DCC8"/>
            </a:solidFill>
            <a:prstDash val="solid"/>
          </a:ln>
        </p:spPr>
      </p:sp>
      <p:sp>
        <p:nvSpPr>
          <p:cNvPr id="18" name="anim-g4-1167"/>
          <p:cNvSpPr/>
          <p:nvPr/>
        </p:nvSpPr>
        <p:spPr>
          <a:xfrm>
            <a:off x="10728655" y="4123944"/>
            <a:ext cx="411480" cy="411480"/>
          </a:xfrm>
          <a:prstGeom prst="ellipse">
            <a:avLst/>
          </a:prstGeom>
          <a:solidFill>
            <a:srgbClr val="D9AE4B"/>
          </a:solidFill>
          <a:ln/>
        </p:spPr>
      </p:sp>
      <p:sp>
        <p:nvSpPr>
          <p:cNvPr id="19" name="anim-g4-1168"/>
          <p:cNvSpPr/>
          <p:nvPr/>
        </p:nvSpPr>
        <p:spPr>
          <a:xfrm>
            <a:off x="10728655" y="4123944"/>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169"/>
          <p:cNvSpPr/>
          <p:nvPr/>
        </p:nvSpPr>
        <p:spPr>
          <a:xfrm>
            <a:off x="1097280" y="4032504"/>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الأسابيع ٦–٧: العوائق والدمج</a:t>
            </a:r>
            <a:pPr algn="r" indent="0" marL="0">
              <a:buNone/>
            </a:pPr>
            <a:r>
              <a:rPr lang="ar-SA" altLang="en-US" sz="1800" b="1" dirty="0">
                <a:solidFill>
                  <a:srgbClr val="3B4460"/>
                </a:solidFill>
                <a:latin typeface="Cairo" pitchFamily="34" charset="0"/>
                <a:ea typeface="Cairo" pitchFamily="34" charset="-122"/>
                <a:cs typeface="Cairo" pitchFamily="34" charset="-120"/>
              </a:rPr>
              <a:t>   — الرادار ثم حلبة الإنقاذ</a:t>
            </a:r>
            <a:endParaRPr lang="ar-SA" sz="2200" dirty="0"/>
          </a:p>
        </p:txBody>
      </p:sp>
      <p:sp>
        <p:nvSpPr>
          <p:cNvPr id="21" name="anim-g5-1170"/>
          <p:cNvSpPr/>
          <p:nvPr/>
        </p:nvSpPr>
        <p:spPr>
          <a:xfrm>
            <a:off x="822960" y="4736592"/>
            <a:ext cx="10545775" cy="594360"/>
          </a:xfrm>
          <a:prstGeom prst="roundRect">
            <a:avLst>
              <a:gd name="adj" fmla="val 24615"/>
            </a:avLst>
          </a:prstGeom>
          <a:solidFill>
            <a:srgbClr val="FFFFFF"/>
          </a:solidFill>
          <a:ln w="12700">
            <a:solidFill>
              <a:srgbClr val="E4DCC8"/>
            </a:solidFill>
            <a:prstDash val="solid"/>
          </a:ln>
        </p:spPr>
      </p:sp>
      <p:sp>
        <p:nvSpPr>
          <p:cNvPr id="22" name="anim-g5-1171"/>
          <p:cNvSpPr/>
          <p:nvPr/>
        </p:nvSpPr>
        <p:spPr>
          <a:xfrm>
            <a:off x="10728655" y="4828032"/>
            <a:ext cx="411480" cy="411480"/>
          </a:xfrm>
          <a:prstGeom prst="ellipse">
            <a:avLst/>
          </a:prstGeom>
          <a:solidFill>
            <a:srgbClr val="D9AE4B"/>
          </a:solidFill>
          <a:ln/>
        </p:spPr>
      </p:sp>
      <p:sp>
        <p:nvSpPr>
          <p:cNvPr id="23" name="anim-g5-1172"/>
          <p:cNvSpPr/>
          <p:nvPr/>
        </p:nvSpPr>
        <p:spPr>
          <a:xfrm>
            <a:off x="10728655" y="4828032"/>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1173"/>
          <p:cNvSpPr/>
          <p:nvPr/>
        </p:nvSpPr>
        <p:spPr>
          <a:xfrm>
            <a:off x="1097280" y="4736592"/>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الأسابيع ٨–٩: السومو والمتاهة</a:t>
            </a:r>
            <a:pPr algn="r" indent="0" marL="0">
              <a:buNone/>
            </a:pPr>
            <a:r>
              <a:rPr lang="ar-SA" altLang="en-US" sz="1800" b="1" dirty="0">
                <a:solidFill>
                  <a:srgbClr val="3B4460"/>
                </a:solidFill>
                <a:latin typeface="Cairo" pitchFamily="34" charset="0"/>
                <a:ea typeface="Cairo" pitchFamily="34" charset="-122"/>
                <a:cs typeface="Cairo" pitchFamily="34" charset="-120"/>
              </a:rPr>
              <a:t>   — بطولة مصغرة</a:t>
            </a:r>
            <a:endParaRPr lang="ar-SA" sz="2200" dirty="0"/>
          </a:p>
        </p:txBody>
      </p:sp>
      <p:sp>
        <p:nvSpPr>
          <p:cNvPr id="25" name="anim-g6-1174"/>
          <p:cNvSpPr/>
          <p:nvPr/>
        </p:nvSpPr>
        <p:spPr>
          <a:xfrm>
            <a:off x="822960" y="5440680"/>
            <a:ext cx="10545775" cy="594360"/>
          </a:xfrm>
          <a:prstGeom prst="roundRect">
            <a:avLst>
              <a:gd name="adj" fmla="val 24615"/>
            </a:avLst>
          </a:prstGeom>
          <a:solidFill>
            <a:srgbClr val="FFFFFF"/>
          </a:solidFill>
          <a:ln w="12700">
            <a:solidFill>
              <a:srgbClr val="E4DCC8"/>
            </a:solidFill>
            <a:prstDash val="solid"/>
          </a:ln>
        </p:spPr>
      </p:sp>
      <p:sp>
        <p:nvSpPr>
          <p:cNvPr id="26" name="anim-g6-1175"/>
          <p:cNvSpPr/>
          <p:nvPr/>
        </p:nvSpPr>
        <p:spPr>
          <a:xfrm>
            <a:off x="10728655" y="5532120"/>
            <a:ext cx="411480" cy="411480"/>
          </a:xfrm>
          <a:prstGeom prst="ellipse">
            <a:avLst/>
          </a:prstGeom>
          <a:solidFill>
            <a:srgbClr val="D9AE4B"/>
          </a:solidFill>
          <a:ln/>
        </p:spPr>
      </p:sp>
      <p:sp>
        <p:nvSpPr>
          <p:cNvPr id="27" name="anim-g6-1176"/>
          <p:cNvSpPr/>
          <p:nvPr/>
        </p:nvSpPr>
        <p:spPr>
          <a:xfrm>
            <a:off x="10728655" y="553212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٦</a:t>
            </a:r>
            <a:endParaRPr lang="ar-SA" sz="2000" dirty="0"/>
          </a:p>
        </p:txBody>
      </p:sp>
      <p:sp>
        <p:nvSpPr>
          <p:cNvPr id="28" name="anim-g6-1177"/>
          <p:cNvSpPr/>
          <p:nvPr/>
        </p:nvSpPr>
        <p:spPr>
          <a:xfrm>
            <a:off x="1097280" y="544068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١٠: سباق الأبطال</a:t>
            </a:r>
            <a:pPr algn="r" indent="0" marL="0">
              <a:buNone/>
            </a:pPr>
            <a:r>
              <a:rPr lang="ar-SA" altLang="en-US" sz="1800" b="1" dirty="0">
                <a:solidFill>
                  <a:srgbClr val="3B4460"/>
                </a:solidFill>
                <a:latin typeface="Cairo" pitchFamily="34" charset="0"/>
                <a:ea typeface="Cairo" pitchFamily="34" charset="-122"/>
                <a:cs typeface="Cairo" pitchFamily="34" charset="-120"/>
              </a:rPr>
              <a:t>   — الفعالية الختامية</a:t>
            </a:r>
            <a:endParaRPr lang="ar-SA" sz="22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مصادر مجانية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رافقك بعد الأكاديمية</a:t>
            </a:r>
            <a:endParaRPr lang="ar-SA" sz="3800" dirty="0"/>
          </a:p>
        </p:txBody>
      </p:sp>
      <p:sp>
        <p:nvSpPr>
          <p:cNvPr id="5" name="anim-g1-1178"/>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79"/>
          <p:cNvSpPr/>
          <p:nvPr/>
        </p:nvSpPr>
        <p:spPr>
          <a:xfrm>
            <a:off x="10527487" y="2267712"/>
            <a:ext cx="566928" cy="566928"/>
          </a:xfrm>
          <a:prstGeom prst="roundRect">
            <a:avLst>
              <a:gd name="adj" fmla="val 32258"/>
            </a:avLst>
          </a:prstGeom>
          <a:solidFill>
            <a:srgbClr val="F7E6BC"/>
          </a:solidFill>
          <a:ln/>
        </p:spPr>
      </p:sp>
      <p:sp>
        <p:nvSpPr>
          <p:cNvPr id="7" name="anim-g1-118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81"/>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Tinkercad · Wokwi</a:t>
            </a:r>
            <a:endParaRPr lang="ar-SA" sz="2200" dirty="0"/>
          </a:p>
        </p:txBody>
      </p:sp>
      <p:sp>
        <p:nvSpPr>
          <p:cNvPr id="9" name="anim-g1-1182"/>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محاكاة الكود والدوائر قبل التركيب</a:t>
            </a:r>
            <a:endParaRPr lang="ar-SA" sz="1900" dirty="0"/>
          </a:p>
        </p:txBody>
      </p:sp>
      <p:sp>
        <p:nvSpPr>
          <p:cNvPr id="10" name="anim-g2-1183"/>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84"/>
          <p:cNvSpPr/>
          <p:nvPr/>
        </p:nvSpPr>
        <p:spPr>
          <a:xfrm>
            <a:off x="5117440" y="2267712"/>
            <a:ext cx="566928" cy="566928"/>
          </a:xfrm>
          <a:prstGeom prst="roundRect">
            <a:avLst>
              <a:gd name="adj" fmla="val 32258"/>
            </a:avLst>
          </a:prstGeom>
          <a:solidFill>
            <a:srgbClr val="F7E6BC"/>
          </a:solidFill>
          <a:ln/>
        </p:spPr>
      </p:sp>
      <p:sp>
        <p:nvSpPr>
          <p:cNvPr id="12" name="anim-g2-1185"/>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86"/>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MIT App Inventor</a:t>
            </a:r>
            <a:endParaRPr lang="ar-SA" sz="2200" dirty="0"/>
          </a:p>
        </p:txBody>
      </p:sp>
      <p:sp>
        <p:nvSpPr>
          <p:cNvPr id="14" name="anim-g2-1187"/>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تطبيق تحكم يصممه طلابك</a:t>
            </a:r>
            <a:endParaRPr lang="ar-SA" sz="1900" dirty="0"/>
          </a:p>
        </p:txBody>
      </p:sp>
      <p:sp>
        <p:nvSpPr>
          <p:cNvPr id="15" name="anim-g3-1188"/>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89"/>
          <p:cNvSpPr/>
          <p:nvPr/>
        </p:nvSpPr>
        <p:spPr>
          <a:xfrm>
            <a:off x="10527487" y="4393692"/>
            <a:ext cx="566928" cy="566928"/>
          </a:xfrm>
          <a:prstGeom prst="roundRect">
            <a:avLst>
              <a:gd name="adj" fmla="val 32258"/>
            </a:avLst>
          </a:prstGeom>
          <a:solidFill>
            <a:srgbClr val="F7E6BC"/>
          </a:solidFill>
          <a:ln/>
        </p:spPr>
      </p:sp>
      <p:sp>
        <p:nvSpPr>
          <p:cNvPr id="17" name="anim-g3-1190"/>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91"/>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مواقع المسابقات الرسمية</a:t>
            </a:r>
            <a:endParaRPr lang="ar-SA" sz="2200" dirty="0"/>
          </a:p>
        </p:txBody>
      </p:sp>
      <p:sp>
        <p:nvSpPr>
          <p:cNvPr id="19" name="anim-g3-1192"/>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WRO وRoboCup Junior: القوانين وأمثلة الحلبات</a:t>
            </a:r>
            <a:endParaRPr lang="ar-SA" sz="1900" dirty="0"/>
          </a:p>
        </p:txBody>
      </p:sp>
      <p:sp>
        <p:nvSpPr>
          <p:cNvPr id="20" name="anim-g4-1193"/>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194"/>
          <p:cNvSpPr/>
          <p:nvPr/>
        </p:nvSpPr>
        <p:spPr>
          <a:xfrm>
            <a:off x="5117440" y="4393692"/>
            <a:ext cx="566928" cy="566928"/>
          </a:xfrm>
          <a:prstGeom prst="roundRect">
            <a:avLst>
              <a:gd name="adj" fmla="val 32258"/>
            </a:avLst>
          </a:prstGeom>
          <a:solidFill>
            <a:srgbClr val="F7E6BC"/>
          </a:solidFill>
          <a:ln/>
        </p:spPr>
      </p:sp>
      <p:sp>
        <p:nvSpPr>
          <p:cNvPr id="22" name="anim-g4-1195"/>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196"/>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كتب أ. محمد زيتون</a:t>
            </a:r>
            <a:endParaRPr lang="ar-SA" sz="2200" dirty="0"/>
          </a:p>
        </p:txBody>
      </p:sp>
      <p:sp>
        <p:nvSpPr>
          <p:cNvPr id="24" name="anim-g4-1197"/>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«رحلة عبر الأردوينو» و«أردوينو بلا قيود»</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أكاديمية سيارة الروبوت</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ختامي — ثلاث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روبوتي الأول مع طلابي</a:t>
            </a:r>
            <a:endParaRPr lang="ar-SA" sz="3800" dirty="0"/>
          </a:p>
        </p:txBody>
      </p:sp>
      <p:sp>
        <p:nvSpPr>
          <p:cNvPr id="5" name="anim-g1-1198"/>
          <p:cNvSpPr/>
          <p:nvPr/>
        </p:nvSpPr>
        <p:spPr>
          <a:xfrm>
            <a:off x="10637215" y="2286000"/>
            <a:ext cx="731520" cy="731520"/>
          </a:xfrm>
          <a:prstGeom prst="ellipse">
            <a:avLst/>
          </a:prstGeom>
          <a:solidFill>
            <a:srgbClr val="D9AE4B"/>
          </a:solidFill>
          <a:ln/>
        </p:spPr>
      </p:sp>
      <p:sp>
        <p:nvSpPr>
          <p:cNvPr id="6" name="anim-g1-1199"/>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200"/>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أي روبوت من الستة ستبدأ به مع طلابك؟ ولماذا؟</a:t>
            </a:r>
            <a:endParaRPr lang="ar-SA" sz="2200" dirty="0"/>
          </a:p>
        </p:txBody>
      </p:sp>
      <p:sp>
        <p:nvSpPr>
          <p:cNvPr id="8" name="anim-g2-1201"/>
          <p:cNvSpPr/>
          <p:nvPr/>
        </p:nvSpPr>
        <p:spPr>
          <a:xfrm>
            <a:off x="10637215" y="3383280"/>
            <a:ext cx="731520" cy="731520"/>
          </a:xfrm>
          <a:prstGeom prst="ellipse">
            <a:avLst/>
          </a:prstGeom>
          <a:solidFill>
            <a:srgbClr val="D9AE4B"/>
          </a:solidFill>
          <a:ln/>
        </p:spPr>
      </p:sp>
      <p:sp>
        <p:nvSpPr>
          <p:cNvPr id="9" name="anim-g2-1202"/>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203"/>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ما المسابقة التي تحلم أن يشارك فيها فريقك؟</a:t>
            </a:r>
            <a:endParaRPr lang="ar-SA" sz="2200" dirty="0"/>
          </a:p>
        </p:txBody>
      </p:sp>
      <p:sp>
        <p:nvSpPr>
          <p:cNvPr id="11" name="anim-g3-1204"/>
          <p:cNvSpPr/>
          <p:nvPr/>
        </p:nvSpPr>
        <p:spPr>
          <a:xfrm>
            <a:off x="10637215" y="4480560"/>
            <a:ext cx="731520" cy="731520"/>
          </a:xfrm>
          <a:prstGeom prst="ellipse">
            <a:avLst/>
          </a:prstGeom>
          <a:solidFill>
            <a:srgbClr val="D9AE4B"/>
          </a:solidFill>
          <a:ln/>
        </p:spPr>
      </p:sp>
      <p:sp>
        <p:nvSpPr>
          <p:cNvPr id="12" name="anim-g3-1205"/>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206"/>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ما أول خطوة ستفعلها هذا الأسبوع؟</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3:00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٣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الختام  ·  ١٥٦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59656" y="1188720"/>
            <a:ext cx="307238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559656" y="118872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رسالة الأكاديمية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حين يرى طالبك سيارة صنعها تتبع الخط وحدها…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يدرك أنه لا يستهلك التقنية، بل يصنعها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أكاديمية سيارة الروبوت</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الختام  ·  ١٥٧</a:t>
            </a:r>
            <a:endParaRPr lang="ar-SA" sz="12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انطلقوا… واصنعوا مع طلابكم روبوتات تحسّ وتفكر وتتسابق</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أكاديمية سيارة الروبوت · إعداد وتقديم: أ. محمد زيتون</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158</Slides>
  <Notes>158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158</vt:i4>
      </vt:variant>
    </vt:vector>
  </HeadingPairs>
  <TitlesOfParts>
    <vt:vector size="1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أكاديمية سيارة الروبوت</dc:title>
  <dc:subject>PptxGenJS Presentation</dc:subject>
  <dc:creator>أ. محمد زيتون</dc:creator>
  <cp:lastModifiedBy>أ. محمد زيتون</cp:lastModifiedBy>
  <cp:revision>1</cp:revision>
  <dcterms:created xsi:type="dcterms:W3CDTF">2026-10-01T15:43:52Z</dcterms:created>
  <dcterms:modified xsi:type="dcterms:W3CDTF">2026-10-01T15:43:52Z</dcterms:modified>
</cp:coreProperties>
</file>